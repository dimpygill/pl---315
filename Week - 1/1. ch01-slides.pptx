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1079" autoAdjust="0"/>
  </p:normalViewPr>
  <p:slideViewPr>
    <p:cSldViewPr snapToGrid="0" snapToObjects="1">
      <p:cViewPr varScale="1">
        <p:scale>
          <a:sx n="83" d="100"/>
          <a:sy n="83" d="100"/>
        </p:scale>
        <p:origin x="108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0312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slide. Introduce the chapter by asking students the opening question directly:
"If computers only understand machine instructions — zeros and ones — how did we get from flipping switches and rewiring cables to writing programs that look almost like English?"
Tell students this chapter answers that question from the beginning. By the end they will understand: what computers actually understand, why programming languages were invented, how they evolved over 70 years, what abstraction means, what design goals language designers balance, and why C, C#, and Python are this course's three lenses.
Estimated time for this chapter: one 75-minute session.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students through the roadmap quickly — 30 seconds. This slide is a navigation anchor, not a content slide.
Key message: "We are going to build this understanding from the ground up. We don't start with C, C#, or Python. We start with the problem those languages were invented to solve."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rush past this slide. The goal is to create genuine discomfort before giving students the answer.
Ask the questions one at a time. Give students 10–15 seconds to think before moving on. You want them to feel the difficulty.
Common student reaction: "I'd just write some code." Push back gently — "What if there is no language? No Python, no C, no Java. Just the raw machine." 
The tutorial shows concrete before/after examples for each task. If students have read it, they will have answers. If not, this slide motivates them to read it.
Key message: "These questions are not hypothetical. This was the reality of programming in the 1940s. Programming languages were invented because humans genuinely could not work at the machine level at useful scale."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brief — the concepts here support the story, they are not the story.
Key message: "We are not a computer architecture course. You do not need to know how CPUs work in detail. You just need to understand that the CPU is extremely literal and extremely primitive — it needs everything spelled out in numbers. Programming languages exist to let humans work at a human level."
The four concepts — binary, machine instructions, registers, memory — give students enough vocabulary to understand why machine code is so difficult. That is their only purpose on this slide.
Anticipated question: "Do we need to memorise these?" Answer: No — understand what the gap is, not the hardware details.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conceptual core of Section 1. Spend 2–3 minutes here.
Point to the left box: "This is how humans naturally think about a problem — in terms of intent."
Point to the right box: "This is what the CPU actually needs — a sequence of primitive numbered operations."
Point to the middle: "These two things are completely incompatible. Something has to translate between them. That something is a programming language."
The right box is intentionally a simplified description, not real binary. The point is the gap in abstraction level — not the technical accuracy of the machine instructions.
This visual setup makes every subsequent discussion of language design make sense: every feature of every language is an attempt to make the left side produce the right side more reliably, more safely, or more efficiently.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problems, displayed as a grid. Walk through them left to right, top to bottom — 20 seconds each.
These six problems directly map to the six things programming languages were designed to solve. When you reach Sections 3–5, you can refer back: "Remember the silent bugs problem? That's exactly what C#'s type system addresses." or "Remember hardware lock-in? That's why FORTRAN's portability was revolutionary."
Discussion prompt if time allows: "Which of these six problems do you think was most painful for early programmers? Which one would drive you to invent something better?" Students usually say silent bugs or hardware lock-in.
The tutorial shows a table comparing each problem to a specific language solution (C#'s IndexOutOfRangeException vs C's silent corruption, Python portability vs C's per-architecture recompilation). Reference it if students want specifics.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overview slide for Section 3. The bar chart is intentionally simple — taller bars for later eras suggest growing abstraction, not just time.
Key message: "Notice that each era is darker or taller than the last. We are not just moving forward in time — we are moving upward in abstraction. Each step hides more from the programmer and handles more automatically."
The next two slides unpack specific eras. This slide establishes the overall arc before going into detail.
If students ask about Rust, Go, TypeScript, or other modern languages: "Great question — they fit here at the right edge. The evolution is ongoing. Rust (2010) is solving memory safety problems that C left unsolved. This timeline does not end in 2000."</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columns left to right. Spend about 45 seconds per column.
Machine Code column: Ask students to look at the binary example. "Would you want to write 50,000 of these lines to build a payroll system?" The point is visceral.
Assembly column: "Assembly was a real improvement — you could finally read what you wrote. But notice: one assembly line still equals exactly one machine instruction. You still have to know every register and every hardware operation. Nothing is done for you automatically."
FORTRAN column: "This is the real leap. One line — Y = A*X + B — gets compiled into dozens of machine instructions automatically. And crucially: you can now run the same source code on a different computer. That word — portability — is going to keep coming up."
The code examples are simplified for readability — they show the flavour of each era without requiring students to understand the syntax.</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covers the three eras students are most likely to know languages from.
C column: "C is the reason this course exists. It was the first language that was both readable enough for humans and close enough to the machine for systems programming. The Unix operating system — the ancestor of Linux and macOS — was written in C. That was revolutionary. But notice the cost: manual memory management. No safety net. If you forget to free memory, it leaks forever."
C++/Java column: "As programs grew to millions of lines, you needed better ways to organise code. OOP gave you that. Java added automatic memory management — the garbage collector. For the first time, you didn't have to worry about freeing memory. But that GC needs CPU time — there is now overhead that C never had."
Python/C# column: "These languages asked: what if programmer time is more valuable than machine time? What if we optimise for how quickly a human can go from idea to working program? Python is the extreme version of that bet. C# is a more measured version. Both still dominate their domains today."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important slides in the chapter. Give it 2–3 minutes.
Walk through each column left to right, reading the code aloud if helpful.
"Look at the machine code column — 12 bytes of numbers, zero human intent expressed. Now look at Python — one line that says exactly what you mean. Both produce the output '8'. But the distance between them represents 40 years of design work."
Ask the class: "What does C# gain over C? What does it give up?" (Gains: GC, type safety, no header files. Gives up: very slight control and the direct relationship with hardware.)
Ask: "Why does Python still need a different line than C# — why not just print(5+3) in C# too?" (In C# everything lives inside a class — that's a design decision about OOP, not just syntax. We'll discuss this in detail in Chapter 5.)
The key insight: "Compression. We went from 12 bytes of numbers to one line of intention. Every compression step in this table was a language design decision someone made deliberately."
If time allows: "Notice that assembly is missing from this table. That's intentional — it's covered in the evolution slide. Assembly's relationship to machine code was readability, not compression. The real compression happened with high-level languages."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heart of the chapter. Spend 3–4 minutes here.
The gas pedal analogy works very well with students. Walk through it slowly: "When you press the gas pedal, you are not thinking about the fuel injector. You are thinking about going faster. The pedal abstracts away the engine. print() does the same thing with the operating system."
Then connect it back to the evolution: "Every step we just traced in the timeline was adding a new layer of abstraction. Assembly abstracted away byte codes. FORTRAN abstracted away individual machine instructions. Python abstracts away almost everything."
Key follow-up point: "Notice the word 'hides.' Abstraction hides things. And hiding things has consequences — which is the next slide."
Anticipated question: "Is more abstraction always better?" Answer: "No — and that is the central tension of language design. Next section explores that."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visual of the main idea — present it top-down or bottom-up depending on your style.
Bottom-up approach (recommended): "Start at the hardware. Billions of switches. Now someone invented mnemonics — assembly. Now someone invented compilers — C. Now someone invented runtimes and GC — Python and C#. Now libraries abstract away even more. Each rung hides the one below it."
Top-down approach: "You write print('Hello'). That calls a library. The library calls the language runtime. The runtime calls the OS. The OS calls the hardware. There are five layers of abstraction between your one line of code and the electricity."
The indentation is intentional — wider bars at higher levels suggest that higher-level languages cover more ground with less code.
Key question to ask: "Where do C, C#, and Python sit on this ladder?" (C = level 3. C# = level 4. Python = level 4-5.) "That difference is exactly why they feel different to program in."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practical payoff of the abstraction concept. Walk through it row by row — 30 seconds each.
Emphasise the pattern: every row has green AND red. Every gain comes with a cost. This is not a failure of design — it is the nature of abstraction.
"There is no row that says 'you gain everything and give up nothing.' That is the central truth of language design. Every language is a set of negotiated trade-offs."
Connect to the course: "For the next 11 chapters, we will be looking at specific trade-offs in specific places — type systems, memory models, scope rules, paradigms. This table is the pattern that every chapter follows."
The C# → Python row is worth pausing on: "Python gives you dynamic flexibility and concise syntax. What it gives up is compile-time type checking. That means bugs that C# would catch on day one, Python only shows you when that code path actually runs — possibly in production. Is that acceptable? It depends entirely on what you're building."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transition from "why languages exist" to "how they differ." From here on, we are in language design territory.
Do not rush through all eight goals. Instead, pick two or three and go deeper. Recommended: Readability (students have an intuition), Safety (connects to the buffer overflow discussion earlier), and Performance (everyone cares about speed).
The key message: "These goals sound like obvious things everyone would want. But the reason different languages exist is that you cannot have all of them at the same level simultaneously. Choosing to maximise readability means accepting some cost elsewhere. Choosing to maximise performance means accepting some cost elsewhere."
The next slide shows the specific tensions between goals — preview that for students: "The next slide will show you exactly how these goals pull against each other in our three languages."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conceptual payoff of Section 5. It makes abstract trade-off language concrete.
Walk through each row. For each one, ask: "Does this trade-off make sense? Can you see why a language designer might choose one side or the other?"
Row 1 (Control vs Safety): "C's pointers give you complete control over memory — and complete responsibility. Python removes pointers entirely. That is not an accident. Guido van Rossum made an explicit decision: programmer safety is more important than hardware access."
Row 2 (Speed vs Productivity): "C is about 150 times faster than Python for computational tasks. Python typically takes 5 times fewer lines to write the same logic. Which one is better? Depends entirely on whether your bottleneck is CPU time or programmer time."
Row 3 (Static vs Dynamic): "C# catches type errors before you run the program. Python only shows you type errors when that line of code actually executes — possibly weeks after you wrote it, possibly in production. Is that acceptable? Again: it depends on what you're building."
Row 5 (Safety vs Flexibility, pacemaker example): "A garbage collector pauses to clean up memory. Usually a few milliseconds. In a pacemaker or a braking system, a few milliseconds pause at the wrong moment is a human life. That is why embedded systems still use C despite its risks."
This table is a reference students will come back to. Tell them: "Every chapter in this course is a deeper look at one of these rows."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introduction of the three course languages. It should feel like a reveal — "Now we know why languages exist and what they are trying to do. Let us meet the three we will use all quarter."
Read the philosophy line for each language out loud:
- "Trust the programmer" — C
- "Productive and safe" — C#
- "Readability counts" — Python
Then say: "Notice these are not technical descriptions. They are design philosophies. They tell you what the language designer valued most. Every technical feature of each language follows from its philosophy."
Important caveat to deliver: "We did not choose these because they are the best three languages in the world. We chose them because they make the most different design choices. C and Python are almost polar opposites on most of the trade-off rows we just saw. C# sits deliberately between them. That contrast is what gives us material to work with."
Tell students: "By the end of the course, when someone asks you why Python uses dynamic typing, you will not just say 'because Python does.' You will say 'because Guido van Rossum decided readability was more important than compile-time error detection, and dynamic typing is the consequence of that decision.'"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a reference slide — it should stay up for 2–3 minutes while students absorb it, and you walk through selected rows.
Do not read every row. Instead, highlight the most instructive contrasts:
Row 1 (Philosophy): "Three sentences. Three philosophies. Everything else in this table follows from these three choices."
Row 4 (Memory): "C: you allocate it, you free it. C# and Python: the runtime handles it. This one difference is responsible for an enormous number of C bugs that don't exist in the other two languages."
Row 8 (Performance): "C is the fastest. Python is the slowest. The difference is real — for processing 10 million numbers, C finishes in 0.1 seconds and Python takes about 15 seconds. But Python got you there in one line. C needed six."
Row 9 (Writability): "Low, High, Highest. This is the inverse of the safety/control trade-off. The most writable language gives up the most control."
Tell students: "This table is going to grow as we go through the course. Each chapter adds depth to one or two of these rows. By week twelve, you will be able to explain every cell with examples."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closing slide for Chapter 1. It deserves 3–4 minutes.
Read the question out loud: "Why did this language make this design choice — and what did it cost?"
"This question is the entire course. Every chapter, every topic, every example exists to help you answer this question for different features of C, C#, and Python."
Walk through the three sub-questions:
01: "Features are not arbitrary. print() exists because writing to the screen in machine code was a multi-step nightmare. GC exists because manual memory management caused catastrophic bugs. Every feature was invented to solve a specific problem."
02: "When you understand which design goal a feature serves, you understand the intent behind it. C's pointers serve performance and control. Python's dynamic typing serves writability and expressiveness. C#'s nullable reference types serve reliability."
03: "Every trade-off is the most important thing. The designer of C# knew that GC adds some overhead. They decided that was acceptable. The designer of C knew that manual memory management was dangerous. They decided that was acceptable. Understanding why they made those calls is what this course is about."
Close the chapter: "You now have the foundation for everything that follows. By the end of this course, you will be able to sit down with any programming language you have never seen before and ask these three questions — and get useful answers."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works well as a discussion prompt. For each misconception, ask the class first: "Who has heard this before? Who believes this?" Then give the correction.
Misconception 1 is the most important. Students come in with a language hierarchy in their heads — Python on top, C at the bottom. Dislodging that mental model early is crucial for the rest of the course.
Misconception 3 (C is outdated) — be prepared for pushback. Some students will be surprised that C is still number 1 or 2 on TIOBE. The car analogy works: "Cars were invented in 1885. Are they outdated? They are still the right tool for the problem they solve."
Misconception 4 (Python has no types) — this is a common confusion between dynamic typing and untyped. Live demo if you have a terminal handy: type "hello" + 5 in Python and show the TypeError. It makes the point immediately.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closing roadmap gives students context for why Chapter 1 matters — not just as an introduction, but as the conceptual framework for everything that follows.
Point to each chapter and connect it back to today's trade-off table: "Chapter 5 on type systems is the technical deep-dive into that Static vs Dynamic typing row we saw today. Chapter 9–10 on memory management is the full story of that Control vs Safety row."
Tell students: "Every chapter will use the same three questions we closed with today: What problem does this feature solve? Which design goal does it serve? What trade-off did the designer accept? You will hear those three questions in every session."
Close the session: "You now have the vocabulary, the mental model, and the analytical framework to study programming language design. See you next week — we start with syntax, and you will see immediately why the choices Python and C made are not cosmetic differences."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Remind students:
1. The Chapter 1 interactive tutorial is available in Canvas — it covers the same material with code examples, the abstraction ladder, the design goals, all three languages, and eight practice quiz questions with instant feedback.
2. Before the next session, read the Chapter 2 tutorial on Syntax, Tokens, and Grammars. Come ready to discuss why Python chose indentation-based scope and C chose curly braces.
3. If anything from today was unclear, reach out: dgill@clark.edu, STEM Building Room 113.</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A2B5E"/>
          </a:solidFill>
          <a:ln/>
        </p:spPr>
        <p:txBody>
          <a:bodyPr/>
          <a:lstStyle/>
          <a:p>
            <a:endParaRPr lang="en-US"/>
          </a:p>
        </p:txBody>
      </p:sp>
      <p:sp>
        <p:nvSpPr>
          <p:cNvPr id="3" name="Shape 1"/>
          <p:cNvSpPr/>
          <p:nvPr/>
        </p:nvSpPr>
        <p:spPr>
          <a:xfrm>
            <a:off x="8961120" y="4114800"/>
            <a:ext cx="3657600" cy="3657600"/>
          </a:xfrm>
          <a:prstGeom prst="ellipse">
            <a:avLst/>
          </a:prstGeom>
          <a:solidFill>
            <a:srgbClr val="FFFFFF">
              <a:alpha val="8000"/>
            </a:srgbClr>
          </a:solidFill>
          <a:ln w="12700">
            <a:solidFill>
              <a:srgbClr val="FFFFFF">
                <a:alpha val="8000"/>
              </a:srgbClr>
            </a:solidFill>
            <a:prstDash val="solid"/>
          </a:ln>
        </p:spPr>
        <p:txBody>
          <a:bodyPr/>
          <a:lstStyle/>
          <a:p>
            <a:endParaRPr lang="en-US"/>
          </a:p>
        </p:txBody>
      </p:sp>
      <p:sp>
        <p:nvSpPr>
          <p:cNvPr id="4" name="Shape 2"/>
          <p:cNvSpPr/>
          <p:nvPr/>
        </p:nvSpPr>
        <p:spPr>
          <a:xfrm>
            <a:off x="9875520" y="5303520"/>
            <a:ext cx="2286000" cy="2286000"/>
          </a:xfrm>
          <a:prstGeom prst="ellipse">
            <a:avLst/>
          </a:prstGeom>
          <a:solidFill>
            <a:srgbClr val="FFFFFF">
              <a:alpha val="12000"/>
            </a:srgbClr>
          </a:solidFill>
          <a:ln w="12700">
            <a:solidFill>
              <a:srgbClr val="FFFFFF">
                <a:alpha val="12000"/>
              </a:srgbClr>
            </a:solidFill>
            <a:prstDash val="solid"/>
          </a:ln>
        </p:spPr>
        <p:txBody>
          <a:bodyPr/>
          <a:lstStyle/>
          <a:p>
            <a:endParaRPr lang="en-US"/>
          </a:p>
        </p:txBody>
      </p:sp>
      <p:sp>
        <p:nvSpPr>
          <p:cNvPr id="5" name="Text 3"/>
          <p:cNvSpPr txBox="1"/>
          <p:nvPr/>
        </p:nvSpPr>
        <p:spPr>
          <a:xfrm>
            <a:off x="640080" y="1645920"/>
            <a:ext cx="9144000" cy="201168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Why Programming</a:t>
            </a:r>
            <a:endParaRPr lang="en-US" sz="3800" dirty="0"/>
          </a:p>
          <a:p>
            <a:pPr marL="0" indent="0">
              <a:buNone/>
            </a:pPr>
            <a:r>
              <a:rPr lang="en-US" sz="3800" b="1" dirty="0">
                <a:solidFill>
                  <a:srgbClr val="FFFFFF"/>
                </a:solidFill>
                <a:latin typeface="Calibri" pitchFamily="34" charset="0"/>
                <a:ea typeface="Calibri" pitchFamily="34" charset="-122"/>
                <a:cs typeface="Calibri" pitchFamily="34" charset="-120"/>
              </a:rPr>
              <a:t>Languages Exist</a:t>
            </a:r>
            <a:endParaRPr lang="en-US" sz="3800" dirty="0"/>
          </a:p>
        </p:txBody>
      </p:sp>
      <p:sp>
        <p:nvSpPr>
          <p:cNvPr id="6" name="Text 4"/>
          <p:cNvSpPr txBox="1"/>
          <p:nvPr/>
        </p:nvSpPr>
        <p:spPr>
          <a:xfrm>
            <a:off x="640080" y="3749040"/>
            <a:ext cx="8229600" cy="731520"/>
          </a:xfrm>
          <a:prstGeom prst="rect">
            <a:avLst/>
          </a:prstGeom>
          <a:noFill/>
          <a:ln/>
        </p:spPr>
        <p:txBody>
          <a:bodyPr wrap="square" lIns="0" tIns="0" rIns="0" bIns="0" rtlCol="0" anchor="ctr"/>
          <a:lstStyle/>
          <a:p>
            <a:pPr marL="0" indent="0">
              <a:buNone/>
            </a:pPr>
            <a:r>
              <a:rPr lang="en-US" sz="1800" dirty="0">
                <a:solidFill>
                  <a:srgbClr val="B8C8F8"/>
                </a:solidFill>
                <a:latin typeface="Calibri" pitchFamily="34" charset="0"/>
                <a:ea typeface="Calibri" pitchFamily="34" charset="-122"/>
                <a:cs typeface="Calibri" pitchFamily="34" charset="-120"/>
              </a:rPr>
              <a:t>CSBS 315 · Programming Language Design · Chapter 1</a:t>
            </a:r>
            <a:endParaRPr lang="en-US" sz="1800" dirty="0"/>
          </a:p>
        </p:txBody>
      </p:sp>
      <p:sp>
        <p:nvSpPr>
          <p:cNvPr id="7" name="Text 5"/>
          <p:cNvSpPr txBox="1"/>
          <p:nvPr/>
        </p:nvSpPr>
        <p:spPr>
          <a:xfrm>
            <a:off x="640080" y="6217920"/>
            <a:ext cx="5486400" cy="365760"/>
          </a:xfrm>
          <a:prstGeom prst="rect">
            <a:avLst/>
          </a:prstGeom>
          <a:noFill/>
          <a:ln/>
        </p:spPr>
        <p:txBody>
          <a:bodyPr wrap="square" lIns="0" tIns="0" rIns="0" bIns="0" rtlCol="0" anchor="ctr"/>
          <a:lstStyle/>
          <a:p>
            <a:pPr marL="0" indent="0">
              <a:buNone/>
            </a:pPr>
            <a:r>
              <a:rPr lang="en-US" sz="1100" dirty="0">
                <a:solidFill>
                  <a:srgbClr val="7A90B8"/>
                </a:solidFill>
                <a:latin typeface="Calibri" pitchFamily="34" charset="0"/>
                <a:ea typeface="Calibri" pitchFamily="34" charset="-122"/>
                <a:cs typeface="Calibri" pitchFamily="34" charset="-120"/>
              </a:rPr>
              <a:t>CSBS 315 · Chapter 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2000" cy="960120"/>
          </a:xfrm>
          <a:prstGeom prst="rect">
            <a:avLst/>
          </a:prstGeom>
          <a:solidFill>
            <a:srgbClr val="1A2B5E"/>
          </a:solidFill>
          <a:ln/>
        </p:spPr>
        <p:txBody>
          <a:bodyPr/>
          <a:lstStyle/>
          <a:p>
            <a:endParaRPr lang="en-US"/>
          </a:p>
        </p:txBody>
      </p:sp>
      <p:sp>
        <p:nvSpPr>
          <p:cNvPr id="3" name="Text 1"/>
          <p:cNvSpPr txBox="1"/>
          <p:nvPr/>
        </p:nvSpPr>
        <p:spPr>
          <a:xfrm>
            <a:off x="411480" y="137160"/>
            <a:ext cx="1051560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What This Chapter Covers</a:t>
            </a:r>
            <a:endParaRPr lang="en-US" sz="2200" dirty="0"/>
          </a:p>
        </p:txBody>
      </p:sp>
      <p:sp>
        <p:nvSpPr>
          <p:cNvPr id="4" name="Text 2"/>
          <p:cNvSpPr txBox="1"/>
          <p:nvPr/>
        </p:nvSpPr>
        <p:spPr>
          <a:xfrm>
            <a:off x="10515600" y="292608"/>
            <a:ext cx="1417320" cy="347472"/>
          </a:xfrm>
          <a:prstGeom prst="rect">
            <a:avLst/>
          </a:prstGeom>
          <a:noFill/>
          <a:ln/>
        </p:spPr>
        <p:txBody>
          <a:bodyPr wrap="square" lIns="0" tIns="0" rIns="0" bIns="0" rtlCol="0" anchor="ctr"/>
          <a:lstStyle/>
          <a:p>
            <a:pPr marL="0" indent="0" algn="r">
              <a:buNone/>
            </a:pPr>
            <a:r>
              <a:rPr lang="en-US" sz="1000" dirty="0">
                <a:solidFill>
                  <a:srgbClr val="7A90B8"/>
                </a:solidFill>
                <a:latin typeface="Calibri" pitchFamily="34" charset="0"/>
                <a:ea typeface="Calibri" pitchFamily="34" charset="-122"/>
                <a:cs typeface="Calibri" pitchFamily="34" charset="-120"/>
              </a:rPr>
              <a:t>Chapter 1 Overview</a:t>
            </a:r>
            <a:endParaRPr lang="en-US" sz="1000" dirty="0"/>
          </a:p>
        </p:txBody>
      </p:sp>
      <p:sp>
        <p:nvSpPr>
          <p:cNvPr id="5" name="Shape 3"/>
          <p:cNvSpPr/>
          <p:nvPr/>
        </p:nvSpPr>
        <p:spPr>
          <a:xfrm>
            <a:off x="411480" y="1097280"/>
            <a:ext cx="402336" cy="402336"/>
          </a:xfrm>
          <a:prstGeom prst="rect">
            <a:avLst/>
          </a:prstGeom>
          <a:solidFill>
            <a:srgbClr val="1A2B5E"/>
          </a:solidFill>
          <a:ln w="12700">
            <a:solidFill>
              <a:srgbClr val="1A2B5E"/>
            </a:solidFill>
            <a:prstDash val="solid"/>
          </a:ln>
        </p:spPr>
        <p:txBody>
          <a:bodyPr/>
          <a:lstStyle/>
          <a:p>
            <a:endParaRPr lang="en-US"/>
          </a:p>
        </p:txBody>
      </p:sp>
      <p:sp>
        <p:nvSpPr>
          <p:cNvPr id="6" name="Text 4"/>
          <p:cNvSpPr txBox="1"/>
          <p:nvPr/>
        </p:nvSpPr>
        <p:spPr>
          <a:xfrm>
            <a:off x="411480" y="1133856"/>
            <a:ext cx="402336"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a:t>
            </a:r>
            <a:endParaRPr lang="en-US" sz="1100" dirty="0"/>
          </a:p>
        </p:txBody>
      </p:sp>
      <p:sp>
        <p:nvSpPr>
          <p:cNvPr id="7" name="Text 5"/>
          <p:cNvSpPr txBox="1"/>
          <p:nvPr/>
        </p:nvSpPr>
        <p:spPr>
          <a:xfrm>
            <a:off x="960120" y="1106424"/>
            <a:ext cx="2926080" cy="219456"/>
          </a:xfrm>
          <a:prstGeom prst="rect">
            <a:avLst/>
          </a:prstGeom>
          <a:noFill/>
          <a:ln/>
        </p:spPr>
        <p:txBody>
          <a:bodyPr wrap="square" lIns="0" tIns="0" rIns="0" bIns="0" rtlCol="0" anchor="ctr"/>
          <a:lstStyle/>
          <a:p>
            <a:pPr marL="0" indent="0">
              <a:buNone/>
            </a:pPr>
            <a:r>
              <a:rPr lang="en-US" sz="1200" b="1" dirty="0">
                <a:solidFill>
                  <a:srgbClr val="1E2A3A"/>
                </a:solidFill>
                <a:latin typeface="Calibri" pitchFamily="34" charset="0"/>
                <a:ea typeface="Calibri" pitchFamily="34" charset="-122"/>
                <a:cs typeface="Calibri" pitchFamily="34" charset="-120"/>
              </a:rPr>
              <a:t>The opening problem</a:t>
            </a:r>
            <a:endParaRPr lang="en-US" sz="1200" dirty="0"/>
          </a:p>
        </p:txBody>
      </p:sp>
      <p:sp>
        <p:nvSpPr>
          <p:cNvPr id="8" name="Text 6"/>
          <p:cNvSpPr txBox="1"/>
          <p:nvPr/>
        </p:nvSpPr>
        <p:spPr>
          <a:xfrm>
            <a:off x="960120" y="1298448"/>
            <a:ext cx="10789920" cy="201168"/>
          </a:xfrm>
          <a:prstGeom prst="rect">
            <a:avLst/>
          </a:prstGeom>
          <a:noFill/>
          <a:ln/>
        </p:spPr>
        <p:txBody>
          <a:bodyPr wrap="square" lIns="0" tIns="0" rIns="0" bIns="0" rtlCol="0" anchor="ctr"/>
          <a:lstStyle/>
          <a:p>
            <a:pPr marL="0" indent="0">
              <a:buNone/>
            </a:pPr>
            <a:r>
              <a:rPr lang="en-US" sz="1050" dirty="0">
                <a:solidFill>
                  <a:srgbClr val="5A6A82"/>
                </a:solidFill>
                <a:latin typeface="Calibri" pitchFamily="34" charset="0"/>
                <a:ea typeface="Calibri" pitchFamily="34" charset="-122"/>
                <a:cs typeface="Calibri" pitchFamily="34" charset="-120"/>
              </a:rPr>
              <a:t>What would programming look like without languages?</a:t>
            </a:r>
            <a:endParaRPr lang="en-US" sz="1050" dirty="0"/>
          </a:p>
        </p:txBody>
      </p:sp>
      <p:sp>
        <p:nvSpPr>
          <p:cNvPr id="9" name="Shape 7"/>
          <p:cNvSpPr/>
          <p:nvPr/>
        </p:nvSpPr>
        <p:spPr>
          <a:xfrm>
            <a:off x="411480" y="1801368"/>
            <a:ext cx="402336" cy="402336"/>
          </a:xfrm>
          <a:prstGeom prst="rect">
            <a:avLst/>
          </a:prstGeom>
          <a:solidFill>
            <a:srgbClr val="1A2B5E"/>
          </a:solidFill>
          <a:ln w="12700">
            <a:solidFill>
              <a:srgbClr val="1A2B5E"/>
            </a:solidFill>
            <a:prstDash val="solid"/>
          </a:ln>
        </p:spPr>
        <p:txBody>
          <a:bodyPr/>
          <a:lstStyle/>
          <a:p>
            <a:endParaRPr lang="en-US"/>
          </a:p>
        </p:txBody>
      </p:sp>
      <p:sp>
        <p:nvSpPr>
          <p:cNvPr id="10" name="Text 8"/>
          <p:cNvSpPr txBox="1"/>
          <p:nvPr/>
        </p:nvSpPr>
        <p:spPr>
          <a:xfrm>
            <a:off x="411480" y="1837944"/>
            <a:ext cx="402336"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1" name="Text 9"/>
          <p:cNvSpPr txBox="1"/>
          <p:nvPr/>
        </p:nvSpPr>
        <p:spPr>
          <a:xfrm>
            <a:off x="960120" y="1810512"/>
            <a:ext cx="2926080" cy="219456"/>
          </a:xfrm>
          <a:prstGeom prst="rect">
            <a:avLst/>
          </a:prstGeom>
          <a:noFill/>
          <a:ln/>
        </p:spPr>
        <p:txBody>
          <a:bodyPr wrap="square" lIns="0" tIns="0" rIns="0" bIns="0" rtlCol="0" anchor="ctr"/>
          <a:lstStyle/>
          <a:p>
            <a:pPr marL="0" indent="0">
              <a:buNone/>
            </a:pPr>
            <a:r>
              <a:rPr lang="en-US" sz="1200" b="1" dirty="0">
                <a:solidFill>
                  <a:srgbClr val="1E2A3A"/>
                </a:solidFill>
                <a:latin typeface="Calibri" pitchFamily="34" charset="0"/>
                <a:ea typeface="Calibri" pitchFamily="34" charset="-122"/>
                <a:cs typeface="Calibri" pitchFamily="34" charset="-120"/>
              </a:rPr>
              <a:t>What computers understand</a:t>
            </a:r>
            <a:endParaRPr lang="en-US" sz="1200" dirty="0"/>
          </a:p>
        </p:txBody>
      </p:sp>
      <p:sp>
        <p:nvSpPr>
          <p:cNvPr id="12" name="Text 10"/>
          <p:cNvSpPr txBox="1"/>
          <p:nvPr/>
        </p:nvSpPr>
        <p:spPr>
          <a:xfrm>
            <a:off x="960120" y="2002536"/>
            <a:ext cx="10789920" cy="201168"/>
          </a:xfrm>
          <a:prstGeom prst="rect">
            <a:avLst/>
          </a:prstGeom>
          <a:noFill/>
          <a:ln/>
        </p:spPr>
        <p:txBody>
          <a:bodyPr wrap="square" lIns="0" tIns="0" rIns="0" bIns="0" rtlCol="0" anchor="ctr"/>
          <a:lstStyle/>
          <a:p>
            <a:pPr marL="0" indent="0">
              <a:buNone/>
            </a:pPr>
            <a:r>
              <a:rPr lang="en-US" sz="1050" dirty="0">
                <a:solidFill>
                  <a:srgbClr val="5A6A82"/>
                </a:solidFill>
                <a:latin typeface="Calibri" pitchFamily="34" charset="0"/>
                <a:ea typeface="Calibri" pitchFamily="34" charset="-122"/>
                <a:cs typeface="Calibri" pitchFamily="34" charset="-120"/>
              </a:rPr>
              <a:t>Binary, machine instructions, the gap we need to bridge</a:t>
            </a:r>
            <a:endParaRPr lang="en-US" sz="1050" dirty="0"/>
          </a:p>
        </p:txBody>
      </p:sp>
      <p:sp>
        <p:nvSpPr>
          <p:cNvPr id="13" name="Shape 11"/>
          <p:cNvSpPr/>
          <p:nvPr/>
        </p:nvSpPr>
        <p:spPr>
          <a:xfrm>
            <a:off x="411480" y="2505456"/>
            <a:ext cx="402336" cy="402336"/>
          </a:xfrm>
          <a:prstGeom prst="rect">
            <a:avLst/>
          </a:prstGeom>
          <a:solidFill>
            <a:srgbClr val="1A2B5E"/>
          </a:solidFill>
          <a:ln w="12700">
            <a:solidFill>
              <a:srgbClr val="1A2B5E"/>
            </a:solidFill>
            <a:prstDash val="solid"/>
          </a:ln>
        </p:spPr>
        <p:txBody>
          <a:bodyPr/>
          <a:lstStyle/>
          <a:p>
            <a:endParaRPr lang="en-US"/>
          </a:p>
        </p:txBody>
      </p:sp>
      <p:sp>
        <p:nvSpPr>
          <p:cNvPr id="14" name="Text 12"/>
          <p:cNvSpPr txBox="1"/>
          <p:nvPr/>
        </p:nvSpPr>
        <p:spPr>
          <a:xfrm>
            <a:off x="411480" y="2542032"/>
            <a:ext cx="402336"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3"/>
          <p:cNvSpPr txBox="1"/>
          <p:nvPr/>
        </p:nvSpPr>
        <p:spPr>
          <a:xfrm>
            <a:off x="960120" y="2514600"/>
            <a:ext cx="2926080" cy="219456"/>
          </a:xfrm>
          <a:prstGeom prst="rect">
            <a:avLst/>
          </a:prstGeom>
          <a:noFill/>
          <a:ln/>
        </p:spPr>
        <p:txBody>
          <a:bodyPr wrap="square" lIns="0" tIns="0" rIns="0" bIns="0" rtlCol="0" anchor="ctr"/>
          <a:lstStyle/>
          <a:p>
            <a:pPr marL="0" indent="0">
              <a:buNone/>
            </a:pPr>
            <a:r>
              <a:rPr lang="en-US" sz="1200" b="1" dirty="0">
                <a:solidFill>
                  <a:srgbClr val="1E2A3A"/>
                </a:solidFill>
                <a:latin typeface="Calibri" pitchFamily="34" charset="0"/>
                <a:ea typeface="Calibri" pitchFamily="34" charset="-122"/>
                <a:cs typeface="Calibri" pitchFamily="34" charset="-120"/>
              </a:rPr>
              <a:t>Why languages exist</a:t>
            </a:r>
            <a:endParaRPr lang="en-US" sz="1200" dirty="0"/>
          </a:p>
        </p:txBody>
      </p:sp>
      <p:sp>
        <p:nvSpPr>
          <p:cNvPr id="16" name="Text 14"/>
          <p:cNvSpPr txBox="1"/>
          <p:nvPr/>
        </p:nvSpPr>
        <p:spPr>
          <a:xfrm>
            <a:off x="960120" y="2706624"/>
            <a:ext cx="10789920" cy="201168"/>
          </a:xfrm>
          <a:prstGeom prst="rect">
            <a:avLst/>
          </a:prstGeom>
          <a:noFill/>
          <a:ln/>
        </p:spPr>
        <p:txBody>
          <a:bodyPr wrap="square" lIns="0" tIns="0" rIns="0" bIns="0" rtlCol="0" anchor="ctr"/>
          <a:lstStyle/>
          <a:p>
            <a:pPr marL="0" indent="0">
              <a:buNone/>
            </a:pPr>
            <a:r>
              <a:rPr lang="en-US" sz="1050" dirty="0">
                <a:solidFill>
                  <a:srgbClr val="5A6A82"/>
                </a:solidFill>
                <a:latin typeface="Calibri" pitchFamily="34" charset="0"/>
                <a:ea typeface="Calibri" pitchFamily="34" charset="-122"/>
                <a:cs typeface="Calibri" pitchFamily="34" charset="-120"/>
              </a:rPr>
              <a:t>Six concrete problems machine code creates</a:t>
            </a:r>
            <a:endParaRPr lang="en-US" sz="1050" dirty="0"/>
          </a:p>
        </p:txBody>
      </p:sp>
      <p:sp>
        <p:nvSpPr>
          <p:cNvPr id="17" name="Shape 15"/>
          <p:cNvSpPr/>
          <p:nvPr/>
        </p:nvSpPr>
        <p:spPr>
          <a:xfrm>
            <a:off x="411480" y="3209544"/>
            <a:ext cx="402336" cy="402336"/>
          </a:xfrm>
          <a:prstGeom prst="rect">
            <a:avLst/>
          </a:prstGeom>
          <a:solidFill>
            <a:srgbClr val="1A2B5E"/>
          </a:solidFill>
          <a:ln w="12700">
            <a:solidFill>
              <a:srgbClr val="1A2B5E"/>
            </a:solidFill>
            <a:prstDash val="solid"/>
          </a:ln>
        </p:spPr>
        <p:txBody>
          <a:bodyPr/>
          <a:lstStyle/>
          <a:p>
            <a:endParaRPr lang="en-US"/>
          </a:p>
        </p:txBody>
      </p:sp>
      <p:sp>
        <p:nvSpPr>
          <p:cNvPr id="18" name="Text 16"/>
          <p:cNvSpPr txBox="1"/>
          <p:nvPr/>
        </p:nvSpPr>
        <p:spPr>
          <a:xfrm>
            <a:off x="411480" y="3246120"/>
            <a:ext cx="402336"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7"/>
          <p:cNvSpPr txBox="1"/>
          <p:nvPr/>
        </p:nvSpPr>
        <p:spPr>
          <a:xfrm>
            <a:off x="960120" y="3218688"/>
            <a:ext cx="2926080" cy="219456"/>
          </a:xfrm>
          <a:prstGeom prst="rect">
            <a:avLst/>
          </a:prstGeom>
          <a:noFill/>
          <a:ln/>
        </p:spPr>
        <p:txBody>
          <a:bodyPr wrap="square" lIns="0" tIns="0" rIns="0" bIns="0" rtlCol="0" anchor="ctr"/>
          <a:lstStyle/>
          <a:p>
            <a:pPr marL="0" indent="0">
              <a:buNone/>
            </a:pPr>
            <a:r>
              <a:rPr lang="en-US" sz="1200" b="1" dirty="0">
                <a:solidFill>
                  <a:srgbClr val="1E2A3A"/>
                </a:solidFill>
                <a:latin typeface="Calibri" pitchFamily="34" charset="0"/>
                <a:ea typeface="Calibri" pitchFamily="34" charset="-122"/>
                <a:cs typeface="Calibri" pitchFamily="34" charset="-120"/>
              </a:rPr>
              <a:t>The evolution</a:t>
            </a:r>
            <a:endParaRPr lang="en-US" sz="1200" dirty="0"/>
          </a:p>
        </p:txBody>
      </p:sp>
      <p:sp>
        <p:nvSpPr>
          <p:cNvPr id="20" name="Text 18"/>
          <p:cNvSpPr txBox="1"/>
          <p:nvPr/>
        </p:nvSpPr>
        <p:spPr>
          <a:xfrm>
            <a:off x="960120" y="3410712"/>
            <a:ext cx="10789920" cy="201168"/>
          </a:xfrm>
          <a:prstGeom prst="rect">
            <a:avLst/>
          </a:prstGeom>
          <a:noFill/>
          <a:ln/>
        </p:spPr>
        <p:txBody>
          <a:bodyPr wrap="square" lIns="0" tIns="0" rIns="0" bIns="0" rtlCol="0" anchor="ctr"/>
          <a:lstStyle/>
          <a:p>
            <a:pPr marL="0" indent="0">
              <a:buNone/>
            </a:pPr>
            <a:r>
              <a:rPr lang="en-US" sz="1050" dirty="0">
                <a:solidFill>
                  <a:srgbClr val="5A6A82"/>
                </a:solidFill>
                <a:latin typeface="Calibri" pitchFamily="34" charset="0"/>
                <a:ea typeface="Calibri" pitchFamily="34" charset="-122"/>
                <a:cs typeface="Calibri" pitchFamily="34" charset="-120"/>
              </a:rPr>
              <a:t>Machine code → Assembly → High-level → Modern</a:t>
            </a:r>
            <a:endParaRPr lang="en-US" sz="1050" dirty="0"/>
          </a:p>
        </p:txBody>
      </p:sp>
      <p:sp>
        <p:nvSpPr>
          <p:cNvPr id="21" name="Shape 19"/>
          <p:cNvSpPr/>
          <p:nvPr/>
        </p:nvSpPr>
        <p:spPr>
          <a:xfrm>
            <a:off x="411480" y="3913632"/>
            <a:ext cx="402336" cy="402336"/>
          </a:xfrm>
          <a:prstGeom prst="rect">
            <a:avLst/>
          </a:prstGeom>
          <a:solidFill>
            <a:srgbClr val="1A2B5E"/>
          </a:solidFill>
          <a:ln w="12700">
            <a:solidFill>
              <a:srgbClr val="1A2B5E"/>
            </a:solidFill>
            <a:prstDash val="solid"/>
          </a:ln>
        </p:spPr>
        <p:txBody>
          <a:bodyPr/>
          <a:lstStyle/>
          <a:p>
            <a:endParaRPr lang="en-US"/>
          </a:p>
        </p:txBody>
      </p:sp>
      <p:sp>
        <p:nvSpPr>
          <p:cNvPr id="22" name="Text 20"/>
          <p:cNvSpPr txBox="1"/>
          <p:nvPr/>
        </p:nvSpPr>
        <p:spPr>
          <a:xfrm>
            <a:off x="411480" y="3950208"/>
            <a:ext cx="402336"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3" name="Text 21"/>
          <p:cNvSpPr txBox="1"/>
          <p:nvPr/>
        </p:nvSpPr>
        <p:spPr>
          <a:xfrm>
            <a:off x="960120" y="3922776"/>
            <a:ext cx="2926080" cy="219456"/>
          </a:xfrm>
          <a:prstGeom prst="rect">
            <a:avLst/>
          </a:prstGeom>
          <a:noFill/>
          <a:ln/>
        </p:spPr>
        <p:txBody>
          <a:bodyPr wrap="square" lIns="0" tIns="0" rIns="0" bIns="0" rtlCol="0" anchor="ctr"/>
          <a:lstStyle/>
          <a:p>
            <a:pPr marL="0" indent="0">
              <a:buNone/>
            </a:pPr>
            <a:r>
              <a:rPr lang="en-US" sz="1200" b="1" dirty="0">
                <a:solidFill>
                  <a:srgbClr val="1E2A3A"/>
                </a:solidFill>
                <a:latin typeface="Calibri" pitchFamily="34" charset="0"/>
                <a:ea typeface="Calibri" pitchFamily="34" charset="-122"/>
                <a:cs typeface="Calibri" pitchFamily="34" charset="-120"/>
              </a:rPr>
              <a:t>Abstraction</a:t>
            </a:r>
            <a:endParaRPr lang="en-US" sz="1200" dirty="0"/>
          </a:p>
        </p:txBody>
      </p:sp>
      <p:sp>
        <p:nvSpPr>
          <p:cNvPr id="24" name="Text 22"/>
          <p:cNvSpPr txBox="1"/>
          <p:nvPr/>
        </p:nvSpPr>
        <p:spPr>
          <a:xfrm>
            <a:off x="960120" y="4114800"/>
            <a:ext cx="10789920" cy="201168"/>
          </a:xfrm>
          <a:prstGeom prst="rect">
            <a:avLst/>
          </a:prstGeom>
          <a:noFill/>
          <a:ln/>
        </p:spPr>
        <p:txBody>
          <a:bodyPr wrap="square" lIns="0" tIns="0" rIns="0" bIns="0" rtlCol="0" anchor="ctr"/>
          <a:lstStyle/>
          <a:p>
            <a:pPr marL="0" indent="0">
              <a:buNone/>
            </a:pPr>
            <a:r>
              <a:rPr lang="en-US" sz="1050" dirty="0">
                <a:solidFill>
                  <a:srgbClr val="5A6A82"/>
                </a:solidFill>
                <a:latin typeface="Calibri" pitchFamily="34" charset="0"/>
                <a:ea typeface="Calibri" pitchFamily="34" charset="-122"/>
                <a:cs typeface="Calibri" pitchFamily="34" charset="-120"/>
              </a:rPr>
              <a:t>The single most important concept in language design</a:t>
            </a:r>
            <a:endParaRPr lang="en-US" sz="1050" dirty="0"/>
          </a:p>
        </p:txBody>
      </p:sp>
      <p:sp>
        <p:nvSpPr>
          <p:cNvPr id="25" name="Shape 23"/>
          <p:cNvSpPr/>
          <p:nvPr/>
        </p:nvSpPr>
        <p:spPr>
          <a:xfrm>
            <a:off x="411480" y="4617720"/>
            <a:ext cx="402336" cy="402336"/>
          </a:xfrm>
          <a:prstGeom prst="rect">
            <a:avLst/>
          </a:prstGeom>
          <a:solidFill>
            <a:srgbClr val="1A2B5E"/>
          </a:solidFill>
          <a:ln w="12700">
            <a:solidFill>
              <a:srgbClr val="1A2B5E"/>
            </a:solidFill>
            <a:prstDash val="solid"/>
          </a:ln>
        </p:spPr>
        <p:txBody>
          <a:bodyPr/>
          <a:lstStyle/>
          <a:p>
            <a:endParaRPr lang="en-US"/>
          </a:p>
        </p:txBody>
      </p:sp>
      <p:sp>
        <p:nvSpPr>
          <p:cNvPr id="26" name="Text 24"/>
          <p:cNvSpPr txBox="1"/>
          <p:nvPr/>
        </p:nvSpPr>
        <p:spPr>
          <a:xfrm>
            <a:off x="411480" y="4654296"/>
            <a:ext cx="402336"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7" name="Text 25"/>
          <p:cNvSpPr txBox="1"/>
          <p:nvPr/>
        </p:nvSpPr>
        <p:spPr>
          <a:xfrm>
            <a:off x="960120" y="4626864"/>
            <a:ext cx="2926080" cy="219456"/>
          </a:xfrm>
          <a:prstGeom prst="rect">
            <a:avLst/>
          </a:prstGeom>
          <a:noFill/>
          <a:ln/>
        </p:spPr>
        <p:txBody>
          <a:bodyPr wrap="square" lIns="0" tIns="0" rIns="0" bIns="0" rtlCol="0" anchor="ctr"/>
          <a:lstStyle/>
          <a:p>
            <a:pPr marL="0" indent="0">
              <a:buNone/>
            </a:pPr>
            <a:r>
              <a:rPr lang="en-US" sz="1200" b="1" dirty="0">
                <a:solidFill>
                  <a:srgbClr val="1E2A3A"/>
                </a:solidFill>
                <a:latin typeface="Calibri" pitchFamily="34" charset="0"/>
                <a:ea typeface="Calibri" pitchFamily="34" charset="-122"/>
                <a:cs typeface="Calibri" pitchFamily="34" charset="-120"/>
              </a:rPr>
              <a:t>Design goals</a:t>
            </a:r>
            <a:endParaRPr lang="en-US" sz="1200" dirty="0"/>
          </a:p>
        </p:txBody>
      </p:sp>
      <p:sp>
        <p:nvSpPr>
          <p:cNvPr id="28" name="Text 26"/>
          <p:cNvSpPr txBox="1"/>
          <p:nvPr/>
        </p:nvSpPr>
        <p:spPr>
          <a:xfrm>
            <a:off x="960120" y="4818888"/>
            <a:ext cx="10789920" cy="201168"/>
          </a:xfrm>
          <a:prstGeom prst="rect">
            <a:avLst/>
          </a:prstGeom>
          <a:noFill/>
          <a:ln/>
        </p:spPr>
        <p:txBody>
          <a:bodyPr wrap="square" lIns="0" tIns="0" rIns="0" bIns="0" rtlCol="0" anchor="ctr"/>
          <a:lstStyle/>
          <a:p>
            <a:pPr marL="0" indent="0">
              <a:buNone/>
            </a:pPr>
            <a:r>
              <a:rPr lang="en-US" sz="1050" dirty="0">
                <a:solidFill>
                  <a:srgbClr val="5A6A82"/>
                </a:solidFill>
                <a:latin typeface="Calibri" pitchFamily="34" charset="0"/>
                <a:ea typeface="Calibri" pitchFamily="34" charset="-122"/>
                <a:cs typeface="Calibri" pitchFamily="34" charset="-120"/>
              </a:rPr>
              <a:t>Readability, safety, performance — and why they conflict</a:t>
            </a:r>
            <a:endParaRPr lang="en-US" sz="1050" dirty="0"/>
          </a:p>
        </p:txBody>
      </p:sp>
      <p:sp>
        <p:nvSpPr>
          <p:cNvPr id="29" name="Shape 27"/>
          <p:cNvSpPr/>
          <p:nvPr/>
        </p:nvSpPr>
        <p:spPr>
          <a:xfrm>
            <a:off x="411480" y="5321808"/>
            <a:ext cx="402336" cy="402336"/>
          </a:xfrm>
          <a:prstGeom prst="rect">
            <a:avLst/>
          </a:prstGeom>
          <a:solidFill>
            <a:srgbClr val="1A2B5E"/>
          </a:solidFill>
          <a:ln w="12700">
            <a:solidFill>
              <a:srgbClr val="1A2B5E"/>
            </a:solidFill>
            <a:prstDash val="solid"/>
          </a:ln>
        </p:spPr>
        <p:txBody>
          <a:bodyPr/>
          <a:lstStyle/>
          <a:p>
            <a:endParaRPr lang="en-US"/>
          </a:p>
        </p:txBody>
      </p:sp>
      <p:sp>
        <p:nvSpPr>
          <p:cNvPr id="30" name="Text 28"/>
          <p:cNvSpPr txBox="1"/>
          <p:nvPr/>
        </p:nvSpPr>
        <p:spPr>
          <a:xfrm>
            <a:off x="411480" y="5358384"/>
            <a:ext cx="402336"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6–7</a:t>
            </a:r>
            <a:endParaRPr lang="en-US" sz="1100" dirty="0"/>
          </a:p>
        </p:txBody>
      </p:sp>
      <p:sp>
        <p:nvSpPr>
          <p:cNvPr id="31" name="Text 29"/>
          <p:cNvSpPr txBox="1"/>
          <p:nvPr/>
        </p:nvSpPr>
        <p:spPr>
          <a:xfrm>
            <a:off x="960120" y="5330952"/>
            <a:ext cx="2926080" cy="219456"/>
          </a:xfrm>
          <a:prstGeom prst="rect">
            <a:avLst/>
          </a:prstGeom>
          <a:noFill/>
          <a:ln/>
        </p:spPr>
        <p:txBody>
          <a:bodyPr wrap="square" lIns="0" tIns="0" rIns="0" bIns="0" rtlCol="0" anchor="ctr"/>
          <a:lstStyle/>
          <a:p>
            <a:pPr marL="0" indent="0">
              <a:buNone/>
            </a:pPr>
            <a:r>
              <a:rPr lang="en-US" sz="1200" b="1" dirty="0">
                <a:solidFill>
                  <a:srgbClr val="1E2A3A"/>
                </a:solidFill>
                <a:latin typeface="Calibri" pitchFamily="34" charset="0"/>
                <a:ea typeface="Calibri" pitchFamily="34" charset="-122"/>
                <a:cs typeface="Calibri" pitchFamily="34" charset="-120"/>
              </a:rPr>
              <a:t>Our three languages</a:t>
            </a:r>
            <a:endParaRPr lang="en-US" sz="1200" dirty="0"/>
          </a:p>
        </p:txBody>
      </p:sp>
      <p:sp>
        <p:nvSpPr>
          <p:cNvPr id="32" name="Text 30"/>
          <p:cNvSpPr txBox="1"/>
          <p:nvPr/>
        </p:nvSpPr>
        <p:spPr>
          <a:xfrm>
            <a:off x="960120" y="5522976"/>
            <a:ext cx="10789920" cy="201168"/>
          </a:xfrm>
          <a:prstGeom prst="rect">
            <a:avLst/>
          </a:prstGeom>
          <a:noFill/>
          <a:ln/>
        </p:spPr>
        <p:txBody>
          <a:bodyPr wrap="square" lIns="0" tIns="0" rIns="0" bIns="0" rtlCol="0" anchor="ctr"/>
          <a:lstStyle/>
          <a:p>
            <a:pPr marL="0" indent="0">
              <a:buNone/>
            </a:pPr>
            <a:r>
              <a:rPr lang="en-US" sz="1050" dirty="0">
                <a:solidFill>
                  <a:srgbClr val="5A6A82"/>
                </a:solidFill>
                <a:latin typeface="Calibri" pitchFamily="34" charset="0"/>
                <a:ea typeface="Calibri" pitchFamily="34" charset="-122"/>
                <a:cs typeface="Calibri" pitchFamily="34" charset="-120"/>
              </a:rPr>
              <a:t>C, C#, Python — why these three, and what they contrast</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1A2B5E"/>
          </a:solidFill>
          <a:ln/>
        </p:spPr>
        <p:txBody>
          <a:bodyPr/>
          <a:lstStyle/>
          <a:p>
            <a:endParaRPr lang="en-US"/>
          </a:p>
        </p:txBody>
      </p:sp>
      <p:sp>
        <p:nvSpPr>
          <p:cNvPr id="3" name="Shape 1"/>
          <p:cNvSpPr/>
          <p:nvPr/>
        </p:nvSpPr>
        <p:spPr>
          <a:xfrm>
            <a:off x="3657600" y="0"/>
            <a:ext cx="8503920" cy="6858000"/>
          </a:xfrm>
          <a:prstGeom prst="rect">
            <a:avLst/>
          </a:prstGeom>
          <a:solidFill>
            <a:srgbClr val="F4F6FC"/>
          </a:solidFill>
          <a:ln/>
        </p:spPr>
        <p:txBody>
          <a:bodyPr/>
          <a:lstStyle/>
          <a:p>
            <a:endParaRPr lang="en-US"/>
          </a:p>
        </p:txBody>
      </p:sp>
      <p:sp>
        <p:nvSpPr>
          <p:cNvPr id="4" name="Text 2"/>
          <p:cNvSpPr txBox="1"/>
          <p:nvPr/>
        </p:nvSpPr>
        <p:spPr>
          <a:xfrm>
            <a:off x="228600" y="2560320"/>
            <a:ext cx="3200400" cy="365760"/>
          </a:xfrm>
          <a:prstGeom prst="rect">
            <a:avLst/>
          </a:prstGeom>
          <a:noFill/>
          <a:ln/>
        </p:spPr>
        <p:txBody>
          <a:bodyPr wrap="square" lIns="0" tIns="0" rIns="0" bIns="0" rtlCol="0" anchor="ctr"/>
          <a:lstStyle/>
          <a:p>
            <a:pPr marL="0" indent="0">
              <a:buNone/>
            </a:pPr>
            <a:r>
              <a:rPr lang="en-US" sz="1100" dirty="0">
                <a:solidFill>
                  <a:srgbClr val="7A90B8"/>
                </a:solidFill>
                <a:latin typeface="Calibri" pitchFamily="34" charset="0"/>
                <a:ea typeface="Calibri" pitchFamily="34" charset="-122"/>
                <a:cs typeface="Calibri" pitchFamily="34" charset="-120"/>
              </a:rPr>
              <a:t>Section 0</a:t>
            </a:r>
            <a:endParaRPr lang="en-US" sz="1100" dirty="0"/>
          </a:p>
        </p:txBody>
      </p:sp>
      <p:sp>
        <p:nvSpPr>
          <p:cNvPr id="5" name="Text 3"/>
          <p:cNvSpPr txBox="1"/>
          <p:nvPr/>
        </p:nvSpPr>
        <p:spPr>
          <a:xfrm>
            <a:off x="228600" y="2926080"/>
            <a:ext cx="3200400" cy="1645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The Opening Problem</a:t>
            </a:r>
            <a:endParaRPr lang="en-US" sz="2200" dirty="0"/>
          </a:p>
        </p:txBody>
      </p:sp>
      <p:sp>
        <p:nvSpPr>
          <p:cNvPr id="6" name="Text 4"/>
          <p:cNvSpPr txBox="1"/>
          <p:nvPr/>
        </p:nvSpPr>
        <p:spPr>
          <a:xfrm>
            <a:off x="4023360" y="2560320"/>
            <a:ext cx="7863840" cy="1463040"/>
          </a:xfrm>
          <a:prstGeom prst="rect">
            <a:avLst/>
          </a:prstGeom>
          <a:noFill/>
          <a:ln/>
        </p:spPr>
        <p:txBody>
          <a:bodyPr wrap="square" lIns="0" tIns="0" rIns="0" bIns="0" rtlCol="0" anchor="ctr"/>
          <a:lstStyle/>
          <a:p>
            <a:pPr marL="0" indent="0">
              <a:buNone/>
            </a:pPr>
            <a:r>
              <a:rPr lang="en-US" sz="1800" dirty="0">
                <a:solidFill>
                  <a:srgbClr val="1E2A3A"/>
                </a:solidFill>
                <a:latin typeface="Calibri" pitchFamily="34" charset="0"/>
                <a:ea typeface="Calibri" pitchFamily="34" charset="-122"/>
                <a:cs typeface="Calibri" pitchFamily="34" charset="-120"/>
              </a:rPr>
              <a:t>What would programming look like without any programming language at all?</a:t>
            </a:r>
            <a:endParaRPr lang="en-US" sz="1800" dirty="0"/>
          </a:p>
        </p:txBody>
      </p:sp>
      <p:sp>
        <p:nvSpPr>
          <p:cNvPr id="7" name="Text 5"/>
          <p:cNvSpPr txBox="1"/>
          <p:nvPr/>
        </p:nvSpPr>
        <p:spPr>
          <a:xfrm>
            <a:off x="4023360" y="1371600"/>
            <a:ext cx="7863840" cy="274320"/>
          </a:xfrm>
          <a:prstGeom prst="rect">
            <a:avLst/>
          </a:prstGeom>
          <a:noFill/>
          <a:ln/>
        </p:spPr>
        <p:txBody>
          <a:bodyPr wrap="square" lIns="0" tIns="0" rIns="0" bIns="0" rtlCol="0" anchor="ctr"/>
          <a:lstStyle/>
          <a:p>
            <a:pPr marL="0" indent="0">
              <a:buNone/>
            </a:pPr>
            <a:r>
              <a:rPr lang="en-US" sz="1300" b="1" dirty="0">
                <a:solidFill>
                  <a:srgbClr val="1E2A3A"/>
                </a:solidFill>
                <a:latin typeface="Calibri" pitchFamily="34" charset="0"/>
                <a:ea typeface="Calibri" pitchFamily="34" charset="-122"/>
                <a:cs typeface="Calibri" pitchFamily="34" charset="-120"/>
              </a:rPr>
              <a:t>Consider this scenario:</a:t>
            </a:r>
            <a:endParaRPr lang="en-US" sz="1300" dirty="0"/>
          </a:p>
        </p:txBody>
      </p:sp>
      <p:sp>
        <p:nvSpPr>
          <p:cNvPr id="8" name="Text 6"/>
          <p:cNvSpPr txBox="1"/>
          <p:nvPr/>
        </p:nvSpPr>
        <p:spPr>
          <a:xfrm>
            <a:off x="4023360" y="1783080"/>
            <a:ext cx="7772400" cy="475488"/>
          </a:xfrm>
          <a:prstGeom prst="rect">
            <a:avLst/>
          </a:prstGeom>
          <a:noFill/>
          <a:ln/>
        </p:spPr>
        <p:txBody>
          <a:bodyPr wrap="square" lIns="0" tIns="0" rIns="0" bIns="0" rtlCol="0" anchor="ctr"/>
          <a:lstStyle/>
          <a:p>
            <a:pPr marL="0" indent="0">
              <a:buNone/>
            </a:pPr>
            <a:r>
              <a:rPr lang="en-US" sz="1300" dirty="0">
                <a:solidFill>
                  <a:srgbClr val="1E2A3A"/>
                </a:solidFill>
                <a:latin typeface="Calibri" pitchFamily="34" charset="0"/>
                <a:ea typeface="Calibri" pitchFamily="34" charset="-122"/>
                <a:cs typeface="Calibri" pitchFamily="34" charset="-120"/>
              </a:rPr>
              <a:t>→  How would you tell a computer to add two numbers?</a:t>
            </a:r>
            <a:endParaRPr lang="en-US" sz="1300" dirty="0"/>
          </a:p>
        </p:txBody>
      </p:sp>
      <p:sp>
        <p:nvSpPr>
          <p:cNvPr id="9" name="Text 7"/>
          <p:cNvSpPr txBox="1"/>
          <p:nvPr/>
        </p:nvSpPr>
        <p:spPr>
          <a:xfrm>
            <a:off x="4023360" y="2404872"/>
            <a:ext cx="7772400" cy="475488"/>
          </a:xfrm>
          <a:prstGeom prst="rect">
            <a:avLst/>
          </a:prstGeom>
          <a:noFill/>
          <a:ln/>
        </p:spPr>
        <p:txBody>
          <a:bodyPr wrap="square" lIns="0" tIns="0" rIns="0" bIns="0" rtlCol="0" anchor="ctr"/>
          <a:lstStyle/>
          <a:p>
            <a:pPr marL="0" indent="0">
              <a:buNone/>
            </a:pPr>
            <a:r>
              <a:rPr lang="en-US" sz="1300" dirty="0">
                <a:solidFill>
                  <a:srgbClr val="1E2A3A"/>
                </a:solidFill>
                <a:latin typeface="Calibri" pitchFamily="34" charset="0"/>
                <a:ea typeface="Calibri" pitchFamily="34" charset="-122"/>
                <a:cs typeface="Calibri" pitchFamily="34" charset="-120"/>
              </a:rPr>
              <a:t>→  How would you store a piece of information — like a name?</a:t>
            </a:r>
            <a:endParaRPr lang="en-US" sz="1300" dirty="0"/>
          </a:p>
        </p:txBody>
      </p:sp>
      <p:sp>
        <p:nvSpPr>
          <p:cNvPr id="10" name="Text 8"/>
          <p:cNvSpPr txBox="1"/>
          <p:nvPr/>
        </p:nvSpPr>
        <p:spPr>
          <a:xfrm>
            <a:off x="4041648" y="4855464"/>
            <a:ext cx="7772400" cy="475488"/>
          </a:xfrm>
          <a:prstGeom prst="rect">
            <a:avLst/>
          </a:prstGeom>
          <a:noFill/>
          <a:ln/>
        </p:spPr>
        <p:txBody>
          <a:bodyPr wrap="square" lIns="0" tIns="0" rIns="0" bIns="0" rtlCol="0" anchor="ctr"/>
          <a:lstStyle/>
          <a:p>
            <a:pPr marL="0" indent="0">
              <a:buNone/>
            </a:pPr>
            <a:r>
              <a:rPr lang="en-US" sz="1300" dirty="0">
                <a:solidFill>
                  <a:srgbClr val="1E2A3A"/>
                </a:solidFill>
                <a:latin typeface="Calibri" pitchFamily="34" charset="0"/>
                <a:ea typeface="Calibri" pitchFamily="34" charset="-122"/>
                <a:cs typeface="Calibri" pitchFamily="34" charset="-120"/>
              </a:rPr>
              <a:t>→  How would you make a decision: "if this, then that"?</a:t>
            </a:r>
            <a:endParaRPr lang="en-US" sz="1300" dirty="0"/>
          </a:p>
        </p:txBody>
      </p:sp>
      <p:sp>
        <p:nvSpPr>
          <p:cNvPr id="11" name="Text 9"/>
          <p:cNvSpPr txBox="1"/>
          <p:nvPr/>
        </p:nvSpPr>
        <p:spPr>
          <a:xfrm>
            <a:off x="4023360" y="3648456"/>
            <a:ext cx="7772400" cy="475488"/>
          </a:xfrm>
          <a:prstGeom prst="rect">
            <a:avLst/>
          </a:prstGeom>
          <a:noFill/>
          <a:ln/>
        </p:spPr>
        <p:txBody>
          <a:bodyPr wrap="square" lIns="0" tIns="0" rIns="0" bIns="0" rtlCol="0" anchor="ctr"/>
          <a:lstStyle/>
          <a:p>
            <a:pPr marL="0" indent="0">
              <a:buNone/>
            </a:pPr>
            <a:r>
              <a:rPr lang="en-US" sz="1300" dirty="0">
                <a:solidFill>
                  <a:srgbClr val="1E2A3A"/>
                </a:solidFill>
                <a:latin typeface="Calibri" pitchFamily="34" charset="0"/>
                <a:ea typeface="Calibri" pitchFamily="34" charset="-122"/>
                <a:cs typeface="Calibri" pitchFamily="34" charset="-120"/>
              </a:rPr>
              <a:t>→  How would you repeat an operation ten times?</a:t>
            </a:r>
            <a:endParaRPr lang="en-US" sz="1300" dirty="0"/>
          </a:p>
        </p:txBody>
      </p:sp>
      <p:sp>
        <p:nvSpPr>
          <p:cNvPr id="12" name="Text 10"/>
          <p:cNvSpPr txBox="1"/>
          <p:nvPr/>
        </p:nvSpPr>
        <p:spPr>
          <a:xfrm>
            <a:off x="4023360" y="4270248"/>
            <a:ext cx="7772400" cy="475488"/>
          </a:xfrm>
          <a:prstGeom prst="rect">
            <a:avLst/>
          </a:prstGeom>
          <a:noFill/>
          <a:ln/>
        </p:spPr>
        <p:txBody>
          <a:bodyPr wrap="square" lIns="0" tIns="0" rIns="0" bIns="0" rtlCol="0" anchor="ctr"/>
          <a:lstStyle/>
          <a:p>
            <a:pPr marL="0" indent="0">
              <a:buNone/>
            </a:pPr>
            <a:r>
              <a:rPr lang="en-US" sz="1300" dirty="0">
                <a:solidFill>
                  <a:srgbClr val="1E2A3A"/>
                </a:solidFill>
                <a:latin typeface="Calibri" pitchFamily="34" charset="0"/>
                <a:ea typeface="Calibri" pitchFamily="34" charset="-122"/>
                <a:cs typeface="Calibri" pitchFamily="34" charset="-120"/>
              </a:rPr>
              <a:t>→  What would happen when you made a mistake?</a:t>
            </a:r>
            <a:endParaRPr lang="en-US" sz="1300" dirty="0"/>
          </a:p>
        </p:txBody>
      </p:sp>
      <p:sp>
        <p:nvSpPr>
          <p:cNvPr id="13" name="Shape 11"/>
          <p:cNvSpPr/>
          <p:nvPr/>
        </p:nvSpPr>
        <p:spPr>
          <a:xfrm>
            <a:off x="3959352" y="5824728"/>
            <a:ext cx="36576" cy="658368"/>
          </a:xfrm>
          <a:prstGeom prst="rect">
            <a:avLst/>
          </a:prstGeom>
          <a:solidFill>
            <a:srgbClr val="2E5BFF"/>
          </a:solidFill>
          <a:ln w="12700">
            <a:solidFill>
              <a:srgbClr val="2E5BFF"/>
            </a:solidFill>
            <a:prstDash val="solid"/>
          </a:ln>
        </p:spPr>
        <p:txBody>
          <a:bodyPr/>
          <a:lstStyle/>
          <a:p>
            <a:endParaRPr lang="en-US"/>
          </a:p>
        </p:txBody>
      </p:sp>
      <p:sp>
        <p:nvSpPr>
          <p:cNvPr id="14" name="Shape 12"/>
          <p:cNvSpPr/>
          <p:nvPr/>
        </p:nvSpPr>
        <p:spPr>
          <a:xfrm>
            <a:off x="4032504" y="5806440"/>
            <a:ext cx="7827264" cy="658368"/>
          </a:xfrm>
          <a:prstGeom prst="rect">
            <a:avLst/>
          </a:prstGeom>
          <a:solidFill>
            <a:srgbClr val="EFF6FF"/>
          </a:solidFill>
          <a:ln w="12700">
            <a:solidFill>
              <a:srgbClr val="BFDBFE"/>
            </a:solidFill>
            <a:prstDash val="solid"/>
          </a:ln>
        </p:spPr>
        <p:txBody>
          <a:bodyPr/>
          <a:lstStyle/>
          <a:p>
            <a:endParaRPr lang="en-US"/>
          </a:p>
        </p:txBody>
      </p:sp>
      <p:sp>
        <p:nvSpPr>
          <p:cNvPr id="15" name="Text 13"/>
          <p:cNvSpPr txBox="1"/>
          <p:nvPr/>
        </p:nvSpPr>
        <p:spPr>
          <a:xfrm>
            <a:off x="4142232" y="5916168"/>
            <a:ext cx="7589520" cy="475488"/>
          </a:xfrm>
          <a:prstGeom prst="rect">
            <a:avLst/>
          </a:prstGeom>
          <a:noFill/>
          <a:ln/>
        </p:spPr>
        <p:txBody>
          <a:bodyPr wrap="square" lIns="0" tIns="0" rIns="0" bIns="0" rtlCol="0" anchor="ctr"/>
          <a:lstStyle/>
          <a:p>
            <a:pPr marL="0" indent="0">
              <a:buNone/>
            </a:pPr>
            <a:r>
              <a:rPr lang="en-US" sz="1200" dirty="0">
                <a:solidFill>
                  <a:srgbClr val="1E3A8A"/>
                </a:solidFill>
                <a:latin typeface="Calibri" pitchFamily="34" charset="0"/>
                <a:ea typeface="Calibri" pitchFamily="34" charset="-122"/>
                <a:cs typeface="Calibri" pitchFamily="34" charset="-120"/>
              </a:rPr>
              <a:t>Every one of these tasks had to be solved manually before programming languages existed. This chapter shows you exactly how — and why that drove the invention of languages.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2000" cy="960120"/>
          </a:xfrm>
          <a:prstGeom prst="rect">
            <a:avLst/>
          </a:prstGeom>
          <a:solidFill>
            <a:srgbClr val="1A2B5E"/>
          </a:solidFill>
          <a:ln/>
        </p:spPr>
        <p:txBody>
          <a:bodyPr/>
          <a:lstStyle/>
          <a:p>
            <a:endParaRPr lang="en-US"/>
          </a:p>
        </p:txBody>
      </p:sp>
      <p:sp>
        <p:nvSpPr>
          <p:cNvPr id="3" name="Text 1"/>
          <p:cNvSpPr txBox="1"/>
          <p:nvPr/>
        </p:nvSpPr>
        <p:spPr>
          <a:xfrm>
            <a:off x="411480" y="137160"/>
            <a:ext cx="1051560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What a Computer Actually Understands</a:t>
            </a:r>
            <a:endParaRPr lang="en-US" sz="2200" dirty="0"/>
          </a:p>
        </p:txBody>
      </p:sp>
      <p:sp>
        <p:nvSpPr>
          <p:cNvPr id="4" name="Text 2"/>
          <p:cNvSpPr txBox="1"/>
          <p:nvPr/>
        </p:nvSpPr>
        <p:spPr>
          <a:xfrm>
            <a:off x="10515600" y="292608"/>
            <a:ext cx="1417320" cy="347472"/>
          </a:xfrm>
          <a:prstGeom prst="rect">
            <a:avLst/>
          </a:prstGeom>
          <a:noFill/>
          <a:ln/>
        </p:spPr>
        <p:txBody>
          <a:bodyPr wrap="square" lIns="0" tIns="0" rIns="0" bIns="0" rtlCol="0" anchor="ctr"/>
          <a:lstStyle/>
          <a:p>
            <a:pPr marL="0" indent="0" algn="r">
              <a:buNone/>
            </a:pPr>
            <a:r>
              <a:rPr lang="en-US" sz="1000" dirty="0">
                <a:solidFill>
                  <a:srgbClr val="7A90B8"/>
                </a:solidFill>
                <a:latin typeface="Calibri" pitchFamily="34" charset="0"/>
                <a:ea typeface="Calibri" pitchFamily="34" charset="-122"/>
                <a:cs typeface="Calibri" pitchFamily="34" charset="-120"/>
              </a:rPr>
              <a:t>Section 1</a:t>
            </a:r>
            <a:endParaRPr lang="en-US" sz="1000" dirty="0"/>
          </a:p>
        </p:txBody>
      </p:sp>
      <p:sp>
        <p:nvSpPr>
          <p:cNvPr id="5" name="Text 3"/>
          <p:cNvSpPr txBox="1"/>
          <p:nvPr/>
        </p:nvSpPr>
        <p:spPr>
          <a:xfrm>
            <a:off x="411480" y="1051560"/>
            <a:ext cx="11338560" cy="320040"/>
          </a:xfrm>
          <a:prstGeom prst="rect">
            <a:avLst/>
          </a:prstGeom>
          <a:noFill/>
          <a:ln/>
        </p:spPr>
        <p:txBody>
          <a:bodyPr wrap="square" lIns="0" tIns="0" rIns="0" bIns="0" rtlCol="0" anchor="ctr"/>
          <a:lstStyle/>
          <a:p>
            <a:pPr marL="0" indent="0">
              <a:buNone/>
            </a:pPr>
            <a:r>
              <a:rPr lang="en-US" sz="1400" dirty="0">
                <a:solidFill>
                  <a:srgbClr val="1E2A3A"/>
                </a:solidFill>
                <a:latin typeface="Calibri" pitchFamily="34" charset="0"/>
                <a:ea typeface="Calibri" pitchFamily="34" charset="-122"/>
                <a:cs typeface="Calibri" pitchFamily="34" charset="-120"/>
              </a:rPr>
              <a:t>A CPU understands exactly one thing:</a:t>
            </a:r>
            <a:endParaRPr lang="en-US" sz="1400" dirty="0"/>
          </a:p>
        </p:txBody>
      </p:sp>
      <p:sp>
        <p:nvSpPr>
          <p:cNvPr id="6" name="Text 4"/>
          <p:cNvSpPr txBox="1"/>
          <p:nvPr/>
        </p:nvSpPr>
        <p:spPr>
          <a:xfrm>
            <a:off x="411480" y="1325880"/>
            <a:ext cx="11338560" cy="411480"/>
          </a:xfrm>
          <a:prstGeom prst="rect">
            <a:avLst/>
          </a:prstGeom>
          <a:noFill/>
          <a:ln/>
        </p:spPr>
        <p:txBody>
          <a:bodyPr wrap="square" lIns="0" tIns="0" rIns="0" bIns="0" rtlCol="0" anchor="ctr"/>
          <a:lstStyle/>
          <a:p>
            <a:pPr marL="0" indent="0">
              <a:buNone/>
            </a:pPr>
            <a:r>
              <a:rPr lang="en-US" sz="1600" b="1" dirty="0">
                <a:solidFill>
                  <a:srgbClr val="1A2B5E"/>
                </a:solidFill>
                <a:latin typeface="Calibri" pitchFamily="34" charset="0"/>
                <a:ea typeface="Calibri" pitchFamily="34" charset="-122"/>
                <a:cs typeface="Calibri" pitchFamily="34" charset="-120"/>
              </a:rPr>
              <a:t>binary — sequences of 0s and 1s representing electrical signals that are either on or off.</a:t>
            </a:r>
            <a:endParaRPr lang="en-US" sz="1600" dirty="0"/>
          </a:p>
        </p:txBody>
      </p:sp>
      <p:sp>
        <p:nvSpPr>
          <p:cNvPr id="7" name="Shape 5"/>
          <p:cNvSpPr/>
          <p:nvPr/>
        </p:nvSpPr>
        <p:spPr>
          <a:xfrm>
            <a:off x="411480" y="1874520"/>
            <a:ext cx="5577840" cy="1234440"/>
          </a:xfrm>
          <a:prstGeom prst="rect">
            <a:avLst/>
          </a:prstGeom>
          <a:solidFill>
            <a:srgbClr val="F4F6FC"/>
          </a:solidFill>
          <a:ln w="12700">
            <a:solidFill>
              <a:srgbClr val="F4F6FC"/>
            </a:solidFill>
            <a:prstDash val="solid"/>
          </a:ln>
        </p:spPr>
        <p:txBody>
          <a:bodyPr/>
          <a:lstStyle/>
          <a:p>
            <a:endParaRPr lang="en-US"/>
          </a:p>
        </p:txBody>
      </p:sp>
      <p:sp>
        <p:nvSpPr>
          <p:cNvPr id="8" name="Shape 6"/>
          <p:cNvSpPr/>
          <p:nvPr/>
        </p:nvSpPr>
        <p:spPr>
          <a:xfrm>
            <a:off x="411480" y="1874520"/>
            <a:ext cx="5577840" cy="1234440"/>
          </a:xfrm>
          <a:prstGeom prst="rect">
            <a:avLst/>
          </a:prstGeom>
          <a:solidFill>
            <a:srgbClr val="F4F6FC"/>
          </a:solidFill>
          <a:ln w="12700">
            <a:solidFill>
              <a:srgbClr val="D0DAF0"/>
            </a:solidFill>
            <a:prstDash val="solid"/>
          </a:ln>
        </p:spPr>
        <p:txBody>
          <a:bodyPr/>
          <a:lstStyle/>
          <a:p>
            <a:endParaRPr lang="en-US"/>
          </a:p>
        </p:txBody>
      </p:sp>
      <p:sp>
        <p:nvSpPr>
          <p:cNvPr id="9" name="Text 7"/>
          <p:cNvSpPr txBox="1"/>
          <p:nvPr/>
        </p:nvSpPr>
        <p:spPr>
          <a:xfrm>
            <a:off x="548640" y="1965960"/>
            <a:ext cx="5303520" cy="256032"/>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Binary</a:t>
            </a:r>
            <a:endParaRPr lang="en-US" sz="1200" dirty="0"/>
          </a:p>
        </p:txBody>
      </p:sp>
      <p:sp>
        <p:nvSpPr>
          <p:cNvPr id="10" name="Text 8"/>
          <p:cNvSpPr txBox="1"/>
          <p:nvPr/>
        </p:nvSpPr>
        <p:spPr>
          <a:xfrm>
            <a:off x="548640" y="2221992"/>
            <a:ext cx="5303520" cy="777240"/>
          </a:xfrm>
          <a:prstGeom prst="rect">
            <a:avLst/>
          </a:prstGeom>
          <a:noFill/>
          <a:ln/>
        </p:spPr>
        <p:txBody>
          <a:bodyPr wrap="square" lIns="0" tIns="0" rIns="0" bIns="0" rtlCol="0" anchor="ctr"/>
          <a:lstStyle/>
          <a:p>
            <a:pPr marL="0" indent="0">
              <a:buNone/>
            </a:pPr>
            <a:r>
              <a:rPr lang="en-US" sz="1150" dirty="0">
                <a:solidFill>
                  <a:srgbClr val="1E2A3A"/>
                </a:solidFill>
                <a:latin typeface="Calibri" pitchFamily="34" charset="0"/>
                <a:ea typeface="Calibri" pitchFamily="34" charset="-122"/>
                <a:cs typeface="Calibri" pitchFamily="34" charset="-120"/>
              </a:rPr>
              <a:t>The only language a CPU speaks — 0s and 1s. Like a light switch: on or off.</a:t>
            </a:r>
            <a:endParaRPr lang="en-US" sz="1150" dirty="0"/>
          </a:p>
        </p:txBody>
      </p:sp>
      <p:sp>
        <p:nvSpPr>
          <p:cNvPr id="11" name="Shape 9"/>
          <p:cNvSpPr/>
          <p:nvPr/>
        </p:nvSpPr>
        <p:spPr>
          <a:xfrm>
            <a:off x="411480" y="3291840"/>
            <a:ext cx="5577840" cy="1234440"/>
          </a:xfrm>
          <a:prstGeom prst="rect">
            <a:avLst/>
          </a:prstGeom>
          <a:solidFill>
            <a:srgbClr val="F4F6FC"/>
          </a:solidFill>
          <a:ln w="12700">
            <a:solidFill>
              <a:srgbClr val="F4F6FC"/>
            </a:solidFill>
            <a:prstDash val="solid"/>
          </a:ln>
        </p:spPr>
        <p:txBody>
          <a:bodyPr/>
          <a:lstStyle/>
          <a:p>
            <a:endParaRPr lang="en-US"/>
          </a:p>
        </p:txBody>
      </p:sp>
      <p:sp>
        <p:nvSpPr>
          <p:cNvPr id="12" name="Shape 10"/>
          <p:cNvSpPr/>
          <p:nvPr/>
        </p:nvSpPr>
        <p:spPr>
          <a:xfrm>
            <a:off x="411480" y="3291840"/>
            <a:ext cx="5577840" cy="1234440"/>
          </a:xfrm>
          <a:prstGeom prst="rect">
            <a:avLst/>
          </a:prstGeom>
          <a:solidFill>
            <a:srgbClr val="F4F6FC"/>
          </a:solidFill>
          <a:ln w="12700">
            <a:solidFill>
              <a:srgbClr val="D0DAF0"/>
            </a:solidFill>
            <a:prstDash val="solid"/>
          </a:ln>
        </p:spPr>
        <p:txBody>
          <a:bodyPr/>
          <a:lstStyle/>
          <a:p>
            <a:endParaRPr lang="en-US"/>
          </a:p>
        </p:txBody>
      </p:sp>
      <p:sp>
        <p:nvSpPr>
          <p:cNvPr id="13" name="Text 11"/>
          <p:cNvSpPr txBox="1"/>
          <p:nvPr/>
        </p:nvSpPr>
        <p:spPr>
          <a:xfrm>
            <a:off x="548640" y="3383280"/>
            <a:ext cx="5303520" cy="256032"/>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Machine instructions</a:t>
            </a:r>
            <a:endParaRPr lang="en-US" sz="1200" dirty="0"/>
          </a:p>
        </p:txBody>
      </p:sp>
      <p:sp>
        <p:nvSpPr>
          <p:cNvPr id="14" name="Text 12"/>
          <p:cNvSpPr txBox="1"/>
          <p:nvPr/>
        </p:nvSpPr>
        <p:spPr>
          <a:xfrm>
            <a:off x="548640" y="3639312"/>
            <a:ext cx="5303520" cy="777240"/>
          </a:xfrm>
          <a:prstGeom prst="rect">
            <a:avLst/>
          </a:prstGeom>
          <a:noFill/>
          <a:ln/>
        </p:spPr>
        <p:txBody>
          <a:bodyPr wrap="square" lIns="0" tIns="0" rIns="0" bIns="0" rtlCol="0" anchor="ctr"/>
          <a:lstStyle/>
          <a:p>
            <a:pPr marL="0" indent="0">
              <a:buNone/>
            </a:pPr>
            <a:r>
              <a:rPr lang="en-US" sz="1150" dirty="0">
                <a:solidFill>
                  <a:srgbClr val="1E2A3A"/>
                </a:solidFill>
                <a:latin typeface="Calibri" pitchFamily="34" charset="0"/>
                <a:ea typeface="Calibri" pitchFamily="34" charset="-122"/>
                <a:cs typeface="Calibri" pitchFamily="34" charset="-120"/>
              </a:rPr>
              <a:t>Binary patterns commanding one primitive action: move data, add numbers, compare, jump.</a:t>
            </a:r>
            <a:endParaRPr lang="en-US" sz="1150" dirty="0"/>
          </a:p>
        </p:txBody>
      </p:sp>
      <p:sp>
        <p:nvSpPr>
          <p:cNvPr id="15" name="Shape 13"/>
          <p:cNvSpPr/>
          <p:nvPr/>
        </p:nvSpPr>
        <p:spPr>
          <a:xfrm>
            <a:off x="6309360" y="1874520"/>
            <a:ext cx="5577840" cy="1234440"/>
          </a:xfrm>
          <a:prstGeom prst="rect">
            <a:avLst/>
          </a:prstGeom>
          <a:solidFill>
            <a:srgbClr val="F4F6FC"/>
          </a:solidFill>
          <a:ln w="12700">
            <a:solidFill>
              <a:srgbClr val="F4F6FC"/>
            </a:solidFill>
            <a:prstDash val="solid"/>
          </a:ln>
        </p:spPr>
        <p:txBody>
          <a:bodyPr/>
          <a:lstStyle/>
          <a:p>
            <a:endParaRPr lang="en-US"/>
          </a:p>
        </p:txBody>
      </p:sp>
      <p:sp>
        <p:nvSpPr>
          <p:cNvPr id="16" name="Shape 14"/>
          <p:cNvSpPr/>
          <p:nvPr/>
        </p:nvSpPr>
        <p:spPr>
          <a:xfrm>
            <a:off x="6309360" y="1874520"/>
            <a:ext cx="5577840" cy="1234440"/>
          </a:xfrm>
          <a:prstGeom prst="rect">
            <a:avLst/>
          </a:prstGeom>
          <a:solidFill>
            <a:srgbClr val="F4F6FC"/>
          </a:solidFill>
          <a:ln w="12700">
            <a:solidFill>
              <a:srgbClr val="D0DAF0"/>
            </a:solidFill>
            <a:prstDash val="solid"/>
          </a:ln>
        </p:spPr>
        <p:txBody>
          <a:bodyPr/>
          <a:lstStyle/>
          <a:p>
            <a:endParaRPr lang="en-US"/>
          </a:p>
        </p:txBody>
      </p:sp>
      <p:sp>
        <p:nvSpPr>
          <p:cNvPr id="17" name="Text 15"/>
          <p:cNvSpPr txBox="1"/>
          <p:nvPr/>
        </p:nvSpPr>
        <p:spPr>
          <a:xfrm>
            <a:off x="6446520" y="1965960"/>
            <a:ext cx="5303520" cy="256032"/>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Registers</a:t>
            </a:r>
            <a:endParaRPr lang="en-US" sz="1200" dirty="0"/>
          </a:p>
        </p:txBody>
      </p:sp>
      <p:sp>
        <p:nvSpPr>
          <p:cNvPr id="18" name="Text 16"/>
          <p:cNvSpPr txBox="1"/>
          <p:nvPr/>
        </p:nvSpPr>
        <p:spPr>
          <a:xfrm>
            <a:off x="6446520" y="2221992"/>
            <a:ext cx="5303520" cy="777240"/>
          </a:xfrm>
          <a:prstGeom prst="rect">
            <a:avLst/>
          </a:prstGeom>
          <a:noFill/>
          <a:ln/>
        </p:spPr>
        <p:txBody>
          <a:bodyPr wrap="square" lIns="0" tIns="0" rIns="0" bIns="0" rtlCol="0" anchor="ctr"/>
          <a:lstStyle/>
          <a:p>
            <a:pPr marL="0" indent="0">
              <a:buNone/>
            </a:pPr>
            <a:r>
              <a:rPr lang="en-US" sz="1150" dirty="0">
                <a:solidFill>
                  <a:srgbClr val="1E2A3A"/>
                </a:solidFill>
                <a:latin typeface="Calibri" pitchFamily="34" charset="0"/>
                <a:ea typeface="Calibri" pitchFamily="34" charset="-122"/>
                <a:cs typeface="Calibri" pitchFamily="34" charset="-120"/>
              </a:rPr>
              <a:t>Tiny storage slots inside the CPU — its "hands." The CPU can only work with what it holds.</a:t>
            </a:r>
            <a:endParaRPr lang="en-US" sz="1150" dirty="0"/>
          </a:p>
        </p:txBody>
      </p:sp>
      <p:sp>
        <p:nvSpPr>
          <p:cNvPr id="19" name="Shape 17"/>
          <p:cNvSpPr/>
          <p:nvPr/>
        </p:nvSpPr>
        <p:spPr>
          <a:xfrm>
            <a:off x="6309360" y="3291840"/>
            <a:ext cx="5577840" cy="1234440"/>
          </a:xfrm>
          <a:prstGeom prst="rect">
            <a:avLst/>
          </a:prstGeom>
          <a:solidFill>
            <a:srgbClr val="F4F6FC"/>
          </a:solidFill>
          <a:ln w="12700">
            <a:solidFill>
              <a:srgbClr val="F4F6FC"/>
            </a:solidFill>
            <a:prstDash val="solid"/>
          </a:ln>
        </p:spPr>
        <p:txBody>
          <a:bodyPr/>
          <a:lstStyle/>
          <a:p>
            <a:endParaRPr lang="en-US"/>
          </a:p>
        </p:txBody>
      </p:sp>
      <p:sp>
        <p:nvSpPr>
          <p:cNvPr id="20" name="Shape 18"/>
          <p:cNvSpPr/>
          <p:nvPr/>
        </p:nvSpPr>
        <p:spPr>
          <a:xfrm>
            <a:off x="6309360" y="3291840"/>
            <a:ext cx="5577840" cy="1234440"/>
          </a:xfrm>
          <a:prstGeom prst="rect">
            <a:avLst/>
          </a:prstGeom>
          <a:solidFill>
            <a:srgbClr val="F4F6FC"/>
          </a:solidFill>
          <a:ln w="12700">
            <a:solidFill>
              <a:srgbClr val="D0DAF0"/>
            </a:solidFill>
            <a:prstDash val="solid"/>
          </a:ln>
        </p:spPr>
        <p:txBody>
          <a:bodyPr/>
          <a:lstStyle/>
          <a:p>
            <a:endParaRPr lang="en-US"/>
          </a:p>
        </p:txBody>
      </p:sp>
      <p:sp>
        <p:nvSpPr>
          <p:cNvPr id="21" name="Text 19"/>
          <p:cNvSpPr txBox="1"/>
          <p:nvPr/>
        </p:nvSpPr>
        <p:spPr>
          <a:xfrm>
            <a:off x="6446520" y="3383280"/>
            <a:ext cx="5303520" cy="256032"/>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Memory (RAM)</a:t>
            </a:r>
            <a:endParaRPr lang="en-US" sz="1200" dirty="0"/>
          </a:p>
        </p:txBody>
      </p:sp>
      <p:sp>
        <p:nvSpPr>
          <p:cNvPr id="22" name="Text 20"/>
          <p:cNvSpPr txBox="1"/>
          <p:nvPr/>
        </p:nvSpPr>
        <p:spPr>
          <a:xfrm>
            <a:off x="6446520" y="3639312"/>
            <a:ext cx="5303520" cy="777240"/>
          </a:xfrm>
          <a:prstGeom prst="rect">
            <a:avLst/>
          </a:prstGeom>
          <a:noFill/>
          <a:ln/>
        </p:spPr>
        <p:txBody>
          <a:bodyPr wrap="square" lIns="0" tIns="0" rIns="0" bIns="0" rtlCol="0" anchor="ctr"/>
          <a:lstStyle/>
          <a:p>
            <a:pPr marL="0" indent="0">
              <a:buNone/>
            </a:pPr>
            <a:r>
              <a:rPr lang="en-US" sz="1150" dirty="0">
                <a:solidFill>
                  <a:srgbClr val="1E2A3A"/>
                </a:solidFill>
                <a:latin typeface="Calibri" pitchFamily="34" charset="0"/>
                <a:ea typeface="Calibri" pitchFamily="34" charset="-122"/>
                <a:cs typeface="Calibri" pitchFamily="34" charset="-120"/>
              </a:rPr>
              <a:t>A long row of numbered byte slots. The CPU reads from and writes to specific addresses.</a:t>
            </a:r>
            <a:endParaRPr lang="en-US" sz="1150" dirty="0"/>
          </a:p>
        </p:txBody>
      </p:sp>
      <p:sp>
        <p:nvSpPr>
          <p:cNvPr id="23" name="Shape 21"/>
          <p:cNvSpPr/>
          <p:nvPr/>
        </p:nvSpPr>
        <p:spPr>
          <a:xfrm>
            <a:off x="411480" y="4828032"/>
            <a:ext cx="36576" cy="658368"/>
          </a:xfrm>
          <a:prstGeom prst="rect">
            <a:avLst/>
          </a:prstGeom>
          <a:solidFill>
            <a:srgbClr val="2E5BFF"/>
          </a:solidFill>
          <a:ln w="12700">
            <a:solidFill>
              <a:srgbClr val="2E5BFF"/>
            </a:solidFill>
            <a:prstDash val="solid"/>
          </a:ln>
        </p:spPr>
        <p:txBody>
          <a:bodyPr/>
          <a:lstStyle/>
          <a:p>
            <a:endParaRPr lang="en-US"/>
          </a:p>
        </p:txBody>
      </p:sp>
      <p:sp>
        <p:nvSpPr>
          <p:cNvPr id="24" name="Shape 22"/>
          <p:cNvSpPr/>
          <p:nvPr/>
        </p:nvSpPr>
        <p:spPr>
          <a:xfrm>
            <a:off x="448056" y="4828032"/>
            <a:ext cx="11301984" cy="658368"/>
          </a:xfrm>
          <a:prstGeom prst="rect">
            <a:avLst/>
          </a:prstGeom>
          <a:solidFill>
            <a:srgbClr val="EFF6FF"/>
          </a:solidFill>
          <a:ln w="12700">
            <a:solidFill>
              <a:srgbClr val="BFDBFE"/>
            </a:solidFill>
            <a:prstDash val="solid"/>
          </a:ln>
        </p:spPr>
        <p:txBody>
          <a:bodyPr/>
          <a:lstStyle/>
          <a:p>
            <a:endParaRPr lang="en-US"/>
          </a:p>
        </p:txBody>
      </p:sp>
      <p:sp>
        <p:nvSpPr>
          <p:cNvPr id="25" name="Text 23"/>
          <p:cNvSpPr txBox="1"/>
          <p:nvPr/>
        </p:nvSpPr>
        <p:spPr>
          <a:xfrm>
            <a:off x="594360" y="4919472"/>
            <a:ext cx="11064240" cy="475488"/>
          </a:xfrm>
          <a:prstGeom prst="rect">
            <a:avLst/>
          </a:prstGeom>
          <a:noFill/>
          <a:ln/>
        </p:spPr>
        <p:txBody>
          <a:bodyPr wrap="square" lIns="0" tIns="0" rIns="0" bIns="0" rtlCol="0" anchor="ctr"/>
          <a:lstStyle/>
          <a:p>
            <a:pPr marL="0" indent="0">
              <a:buNone/>
            </a:pPr>
            <a:r>
              <a:rPr lang="en-US" sz="1200" dirty="0">
                <a:solidFill>
                  <a:srgbClr val="1E3A8A"/>
                </a:solidFill>
                <a:latin typeface="Calibri" pitchFamily="34" charset="0"/>
                <a:ea typeface="Calibri" pitchFamily="34" charset="-122"/>
                <a:cs typeface="Calibri" pitchFamily="34" charset="-120"/>
              </a:rPr>
              <a:t>The gap: a human thinks "add these numbers and print the result." The CPU thinks in numbered slots and single binary operations. Programming languages bridge that gap.</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2000" cy="960120"/>
          </a:xfrm>
          <a:prstGeom prst="rect">
            <a:avLst/>
          </a:prstGeom>
          <a:solidFill>
            <a:srgbClr val="1A2B5E"/>
          </a:solidFill>
          <a:ln/>
        </p:spPr>
        <p:txBody>
          <a:bodyPr/>
          <a:lstStyle/>
          <a:p>
            <a:endParaRPr lang="en-US"/>
          </a:p>
        </p:txBody>
      </p:sp>
      <p:sp>
        <p:nvSpPr>
          <p:cNvPr id="3" name="Text 1"/>
          <p:cNvSpPr txBox="1"/>
          <p:nvPr/>
        </p:nvSpPr>
        <p:spPr>
          <a:xfrm>
            <a:off x="411480" y="137160"/>
            <a:ext cx="1051560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The Gap We Need to Bridge</a:t>
            </a:r>
            <a:endParaRPr lang="en-US" sz="2200" dirty="0"/>
          </a:p>
        </p:txBody>
      </p:sp>
      <p:sp>
        <p:nvSpPr>
          <p:cNvPr id="4" name="Text 2"/>
          <p:cNvSpPr txBox="1"/>
          <p:nvPr/>
        </p:nvSpPr>
        <p:spPr>
          <a:xfrm>
            <a:off x="10515600" y="292608"/>
            <a:ext cx="1417320" cy="347472"/>
          </a:xfrm>
          <a:prstGeom prst="rect">
            <a:avLst/>
          </a:prstGeom>
          <a:noFill/>
          <a:ln/>
        </p:spPr>
        <p:txBody>
          <a:bodyPr wrap="square" lIns="0" tIns="0" rIns="0" bIns="0" rtlCol="0" anchor="ctr"/>
          <a:lstStyle/>
          <a:p>
            <a:pPr marL="0" indent="0" algn="r">
              <a:buNone/>
            </a:pPr>
            <a:r>
              <a:rPr lang="en-US" sz="1000" dirty="0">
                <a:solidFill>
                  <a:srgbClr val="7A90B8"/>
                </a:solidFill>
                <a:latin typeface="Calibri" pitchFamily="34" charset="0"/>
                <a:ea typeface="Calibri" pitchFamily="34" charset="-122"/>
                <a:cs typeface="Calibri" pitchFamily="34" charset="-120"/>
              </a:rPr>
              <a:t>Section 1</a:t>
            </a:r>
            <a:endParaRPr lang="en-US" sz="1000" dirty="0"/>
          </a:p>
        </p:txBody>
      </p:sp>
      <p:sp>
        <p:nvSpPr>
          <p:cNvPr id="5" name="Shape 3"/>
          <p:cNvSpPr/>
          <p:nvPr/>
        </p:nvSpPr>
        <p:spPr>
          <a:xfrm>
            <a:off x="411480" y="1097280"/>
            <a:ext cx="5120640" cy="3840480"/>
          </a:xfrm>
          <a:prstGeom prst="rect">
            <a:avLst/>
          </a:prstGeom>
          <a:solidFill>
            <a:srgbClr val="EAF7EE"/>
          </a:solidFill>
          <a:ln w="12700">
            <a:solidFill>
              <a:srgbClr val="6EE7B7"/>
            </a:solidFill>
            <a:prstDash val="solid"/>
          </a:ln>
        </p:spPr>
        <p:txBody>
          <a:bodyPr/>
          <a:lstStyle/>
          <a:p>
            <a:endParaRPr lang="en-US"/>
          </a:p>
        </p:txBody>
      </p:sp>
      <p:sp>
        <p:nvSpPr>
          <p:cNvPr id="6" name="Text 4"/>
          <p:cNvSpPr txBox="1"/>
          <p:nvPr/>
        </p:nvSpPr>
        <p:spPr>
          <a:xfrm>
            <a:off x="548640" y="1234440"/>
            <a:ext cx="4846320" cy="274320"/>
          </a:xfrm>
          <a:prstGeom prst="rect">
            <a:avLst/>
          </a:prstGeom>
          <a:noFill/>
          <a:ln/>
        </p:spPr>
        <p:txBody>
          <a:bodyPr wrap="square" lIns="0" tIns="0" rIns="0" bIns="0" rtlCol="0" anchor="ctr"/>
          <a:lstStyle/>
          <a:p>
            <a:pPr marL="0" indent="0">
              <a:buNone/>
            </a:pPr>
            <a:r>
              <a:rPr lang="en-US" sz="1100" b="1" dirty="0">
                <a:solidFill>
                  <a:srgbClr val="1A7A3C"/>
                </a:solidFill>
                <a:latin typeface="Calibri" pitchFamily="34" charset="0"/>
                <a:ea typeface="Calibri" pitchFamily="34" charset="-122"/>
                <a:cs typeface="Calibri" pitchFamily="34" charset="-120"/>
              </a:rPr>
              <a:t>What a human thinks</a:t>
            </a:r>
            <a:endParaRPr lang="en-US" sz="1100" dirty="0"/>
          </a:p>
        </p:txBody>
      </p:sp>
      <p:sp>
        <p:nvSpPr>
          <p:cNvPr id="7" name="Text 5"/>
          <p:cNvSpPr txBox="1"/>
          <p:nvPr/>
        </p:nvSpPr>
        <p:spPr>
          <a:xfrm>
            <a:off x="548640" y="1600200"/>
            <a:ext cx="4846320" cy="1005840"/>
          </a:xfrm>
          <a:prstGeom prst="rect">
            <a:avLst/>
          </a:prstGeom>
          <a:noFill/>
          <a:ln/>
        </p:spPr>
        <p:txBody>
          <a:bodyPr wrap="square" lIns="0" tIns="0" rIns="0" bIns="0" rtlCol="0" anchor="ctr"/>
          <a:lstStyle/>
          <a:p>
            <a:pPr marL="0" indent="0">
              <a:buNone/>
            </a:pPr>
            <a:r>
              <a:rPr lang="en-US" sz="1500" i="1" dirty="0">
                <a:solidFill>
                  <a:srgbClr val="1A7A3C"/>
                </a:solidFill>
                <a:latin typeface="Calibri" pitchFamily="34" charset="0"/>
                <a:ea typeface="Calibri" pitchFamily="34" charset="-122"/>
                <a:cs typeface="Calibri" pitchFamily="34" charset="-120"/>
              </a:rPr>
              <a:t>"Add the student's score</a:t>
            </a:r>
            <a:endParaRPr lang="en-US" sz="1500" dirty="0"/>
          </a:p>
          <a:p>
            <a:pPr marL="0" indent="0">
              <a:buNone/>
            </a:pPr>
            <a:r>
              <a:rPr lang="en-US" sz="1500" i="1" dirty="0">
                <a:solidFill>
                  <a:srgbClr val="1A7A3C"/>
                </a:solidFill>
                <a:latin typeface="Calibri" pitchFamily="34" charset="0"/>
                <a:ea typeface="Calibri" pitchFamily="34" charset="-122"/>
                <a:cs typeface="Calibri" pitchFamily="34" charset="-120"/>
              </a:rPr>
              <a:t>to 10 and print the result."</a:t>
            </a:r>
            <a:endParaRPr lang="en-US" sz="1500" dirty="0"/>
          </a:p>
        </p:txBody>
      </p:sp>
      <p:sp>
        <p:nvSpPr>
          <p:cNvPr id="8" name="Text 6"/>
          <p:cNvSpPr txBox="1"/>
          <p:nvPr/>
        </p:nvSpPr>
        <p:spPr>
          <a:xfrm>
            <a:off x="548640" y="2834640"/>
            <a:ext cx="4846320" cy="1097280"/>
          </a:xfrm>
          <a:prstGeom prst="rect">
            <a:avLst/>
          </a:prstGeom>
          <a:noFill/>
          <a:ln/>
        </p:spPr>
        <p:txBody>
          <a:bodyPr wrap="square" lIns="0" tIns="0" rIns="0" bIns="0" rtlCol="0" anchor="ctr"/>
          <a:lstStyle/>
          <a:p>
            <a:pPr marL="0" indent="0">
              <a:buNone/>
            </a:pPr>
            <a:r>
              <a:rPr lang="en-US" sz="1200" dirty="0">
                <a:solidFill>
                  <a:srgbClr val="1A7A3C"/>
                </a:solidFill>
                <a:latin typeface="Calibri" pitchFamily="34" charset="0"/>
                <a:ea typeface="Calibri" pitchFamily="34" charset="-122"/>
                <a:cs typeface="Calibri" pitchFamily="34" charset="-120"/>
              </a:rPr>
              <a:t>Natural language</a:t>
            </a:r>
            <a:endParaRPr lang="en-US" sz="1200" dirty="0"/>
          </a:p>
          <a:p>
            <a:pPr marL="0" indent="0">
              <a:buNone/>
            </a:pPr>
            <a:r>
              <a:rPr lang="en-US" sz="1200" dirty="0">
                <a:solidFill>
                  <a:srgbClr val="1A7A3C"/>
                </a:solidFill>
                <a:latin typeface="Calibri" pitchFamily="34" charset="0"/>
                <a:ea typeface="Calibri" pitchFamily="34" charset="-122"/>
                <a:cs typeface="Calibri" pitchFamily="34" charset="-120"/>
              </a:rPr>
              <a:t>Intent-driven</a:t>
            </a:r>
            <a:endParaRPr lang="en-US" sz="1200" dirty="0"/>
          </a:p>
          <a:p>
            <a:pPr marL="0" indent="0">
              <a:buNone/>
            </a:pPr>
            <a:r>
              <a:rPr lang="en-US" sz="1200" dirty="0">
                <a:solidFill>
                  <a:srgbClr val="1A7A3C"/>
                </a:solidFill>
                <a:latin typeface="Calibri" pitchFamily="34" charset="0"/>
                <a:ea typeface="Calibri" pitchFamily="34" charset="-122"/>
                <a:cs typeface="Calibri" pitchFamily="34" charset="-120"/>
              </a:rPr>
              <a:t>Human-readable</a:t>
            </a:r>
            <a:endParaRPr lang="en-US" sz="1200" dirty="0"/>
          </a:p>
        </p:txBody>
      </p:sp>
      <p:sp>
        <p:nvSpPr>
          <p:cNvPr id="9" name="Shape 7"/>
          <p:cNvSpPr/>
          <p:nvPr/>
        </p:nvSpPr>
        <p:spPr>
          <a:xfrm>
            <a:off x="5669280" y="2834640"/>
            <a:ext cx="868680" cy="347472"/>
          </a:xfrm>
          <a:prstGeom prst="rect">
            <a:avLst/>
          </a:prstGeom>
          <a:solidFill>
            <a:srgbClr val="2E5BFF"/>
          </a:solidFill>
          <a:ln w="12700">
            <a:solidFill>
              <a:srgbClr val="2E5BFF"/>
            </a:solidFill>
            <a:prstDash val="solid"/>
          </a:ln>
        </p:spPr>
        <p:txBody>
          <a:bodyPr/>
          <a:lstStyle/>
          <a:p>
            <a:endParaRPr lang="en-US"/>
          </a:p>
        </p:txBody>
      </p:sp>
      <p:sp>
        <p:nvSpPr>
          <p:cNvPr id="10" name="Text 8"/>
          <p:cNvSpPr txBox="1"/>
          <p:nvPr/>
        </p:nvSpPr>
        <p:spPr>
          <a:xfrm>
            <a:off x="5669280" y="2880360"/>
            <a:ext cx="86868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1" name="Shape 9"/>
          <p:cNvSpPr/>
          <p:nvPr/>
        </p:nvSpPr>
        <p:spPr>
          <a:xfrm>
            <a:off x="6675120" y="1097280"/>
            <a:ext cx="5120640" cy="3840480"/>
          </a:xfrm>
          <a:prstGeom prst="rect">
            <a:avLst/>
          </a:prstGeom>
          <a:solidFill>
            <a:srgbClr val="FEF2F2"/>
          </a:solidFill>
          <a:ln w="12700">
            <a:solidFill>
              <a:srgbClr val="FCA5A5"/>
            </a:solidFill>
            <a:prstDash val="solid"/>
          </a:ln>
        </p:spPr>
        <p:txBody>
          <a:bodyPr/>
          <a:lstStyle/>
          <a:p>
            <a:endParaRPr lang="en-US"/>
          </a:p>
        </p:txBody>
      </p:sp>
      <p:sp>
        <p:nvSpPr>
          <p:cNvPr id="12" name="Text 10"/>
          <p:cNvSpPr txBox="1"/>
          <p:nvPr/>
        </p:nvSpPr>
        <p:spPr>
          <a:xfrm>
            <a:off x="6812280" y="1234440"/>
            <a:ext cx="4846320" cy="274320"/>
          </a:xfrm>
          <a:prstGeom prst="rect">
            <a:avLst/>
          </a:prstGeom>
          <a:noFill/>
          <a:ln/>
        </p:spPr>
        <p:txBody>
          <a:bodyPr wrap="square" lIns="0" tIns="0" rIns="0" bIns="0" rtlCol="0" anchor="ctr"/>
          <a:lstStyle/>
          <a:p>
            <a:pPr marL="0" indent="0">
              <a:buNone/>
            </a:pPr>
            <a:r>
              <a:rPr lang="en-US" sz="1100" b="1" dirty="0">
                <a:solidFill>
                  <a:srgbClr val="9B1C1C"/>
                </a:solidFill>
                <a:latin typeface="Calibri" pitchFamily="34" charset="0"/>
                <a:ea typeface="Calibri" pitchFamily="34" charset="-122"/>
                <a:cs typeface="Calibri" pitchFamily="34" charset="-120"/>
              </a:rPr>
              <a:t>What the CPU executes</a:t>
            </a:r>
            <a:endParaRPr lang="en-US" sz="1100" dirty="0"/>
          </a:p>
        </p:txBody>
      </p:sp>
      <p:sp>
        <p:nvSpPr>
          <p:cNvPr id="13" name="Text 11"/>
          <p:cNvSpPr txBox="1"/>
          <p:nvPr/>
        </p:nvSpPr>
        <p:spPr>
          <a:xfrm>
            <a:off x="6812280" y="1600200"/>
            <a:ext cx="4846320" cy="2194560"/>
          </a:xfrm>
          <a:prstGeom prst="rect">
            <a:avLst/>
          </a:prstGeom>
          <a:noFill/>
          <a:ln/>
        </p:spPr>
        <p:txBody>
          <a:bodyPr wrap="square" lIns="0" tIns="0" rIns="0" bIns="0" rtlCol="0" anchor="ctr"/>
          <a:lstStyle/>
          <a:p>
            <a:pPr marL="0" indent="0">
              <a:buNone/>
            </a:pPr>
            <a:r>
              <a:rPr lang="en-US" sz="1150" dirty="0">
                <a:solidFill>
                  <a:srgbClr val="9B1C1C"/>
                </a:solidFill>
                <a:latin typeface="Courier New" pitchFamily="34" charset="0"/>
                <a:ea typeface="Courier New" pitchFamily="34" charset="-122"/>
                <a:cs typeface="Courier New" pitchFamily="34" charset="-120"/>
              </a:rPr>
              <a:t>Move value into slot A</a:t>
            </a:r>
            <a:endParaRPr lang="en-US" sz="1150" dirty="0"/>
          </a:p>
          <a:p>
            <a:pPr marL="0" indent="0">
              <a:buNone/>
            </a:pPr>
            <a:r>
              <a:rPr lang="en-US" sz="1150" dirty="0">
                <a:solidFill>
                  <a:srgbClr val="9B1C1C"/>
                </a:solidFill>
                <a:latin typeface="Courier New" pitchFamily="34" charset="0"/>
                <a:ea typeface="Courier New" pitchFamily="34" charset="-122"/>
                <a:cs typeface="Courier New" pitchFamily="34" charset="-120"/>
              </a:rPr>
              <a:t>Move value into slot B</a:t>
            </a:r>
            <a:endParaRPr lang="en-US" sz="1150" dirty="0"/>
          </a:p>
          <a:p>
            <a:pPr marL="0" indent="0">
              <a:buNone/>
            </a:pPr>
            <a:r>
              <a:rPr lang="en-US" sz="1150" dirty="0">
                <a:solidFill>
                  <a:srgbClr val="9B1C1C"/>
                </a:solidFill>
                <a:latin typeface="Courier New" pitchFamily="34" charset="0"/>
                <a:ea typeface="Courier New" pitchFamily="34" charset="-122"/>
                <a:cs typeface="Courier New" pitchFamily="34" charset="-120"/>
              </a:rPr>
              <a:t>Add slot A and slot B</a:t>
            </a:r>
            <a:endParaRPr lang="en-US" sz="1150" dirty="0"/>
          </a:p>
          <a:p>
            <a:pPr marL="0" indent="0">
              <a:buNone/>
            </a:pPr>
            <a:r>
              <a:rPr lang="en-US" sz="1150" dirty="0">
                <a:solidFill>
                  <a:srgbClr val="9B1C1C"/>
                </a:solidFill>
                <a:latin typeface="Courier New" pitchFamily="34" charset="0"/>
                <a:ea typeface="Courier New" pitchFamily="34" charset="-122"/>
                <a:cs typeface="Courier New" pitchFamily="34" charset="-120"/>
              </a:rPr>
              <a:t>Store result at address 4096</a:t>
            </a:r>
            <a:endParaRPr lang="en-US" sz="1150" dirty="0"/>
          </a:p>
          <a:p>
            <a:pPr marL="0" indent="0">
              <a:buNone/>
            </a:pPr>
            <a:r>
              <a:rPr lang="en-US" sz="1150" dirty="0">
                <a:solidFill>
                  <a:srgbClr val="9B1C1C"/>
                </a:solidFill>
                <a:latin typeface="Courier New" pitchFamily="34" charset="0"/>
                <a:ea typeface="Courier New" pitchFamily="34" charset="-122"/>
                <a:cs typeface="Courier New" pitchFamily="34" charset="-120"/>
              </a:rPr>
              <a:t>Find print routine at 8320</a:t>
            </a:r>
            <a:endParaRPr lang="en-US" sz="1150" dirty="0"/>
          </a:p>
          <a:p>
            <a:pPr marL="0" indent="0">
              <a:buNone/>
            </a:pPr>
            <a:r>
              <a:rPr lang="en-US" sz="1150" dirty="0">
                <a:solidFill>
                  <a:srgbClr val="9B1C1C"/>
                </a:solidFill>
                <a:latin typeface="Courier New" pitchFamily="34" charset="0"/>
                <a:ea typeface="Courier New" pitchFamily="34" charset="-122"/>
                <a:cs typeface="Courier New" pitchFamily="34" charset="-120"/>
              </a:rPr>
              <a:t>Call print routine</a:t>
            </a:r>
            <a:endParaRPr lang="en-US" sz="1150" dirty="0"/>
          </a:p>
          <a:p>
            <a:pPr marL="0" indent="0">
              <a:buNone/>
            </a:pPr>
            <a:r>
              <a:rPr lang="en-US" sz="1150" dirty="0">
                <a:solidFill>
                  <a:srgbClr val="9B1C1C"/>
                </a:solidFill>
                <a:latin typeface="Courier New" pitchFamily="34" charset="0"/>
                <a:ea typeface="Courier New" pitchFamily="34" charset="-122"/>
                <a:cs typeface="Courier New" pitchFamily="34" charset="-120"/>
              </a:rPr>
              <a:t>Return</a:t>
            </a:r>
            <a:endParaRPr lang="en-US" sz="1150" dirty="0"/>
          </a:p>
        </p:txBody>
      </p:sp>
      <p:sp>
        <p:nvSpPr>
          <p:cNvPr id="14" name="Text 12"/>
          <p:cNvSpPr txBox="1"/>
          <p:nvPr/>
        </p:nvSpPr>
        <p:spPr>
          <a:xfrm>
            <a:off x="6812280" y="3977640"/>
            <a:ext cx="4846320" cy="822960"/>
          </a:xfrm>
          <a:prstGeom prst="rect">
            <a:avLst/>
          </a:prstGeom>
          <a:noFill/>
          <a:ln/>
        </p:spPr>
        <p:txBody>
          <a:bodyPr wrap="square" lIns="0" tIns="0" rIns="0" bIns="0" rtlCol="0" anchor="ctr"/>
          <a:lstStyle/>
          <a:p>
            <a:pPr marL="0" indent="0">
              <a:buNone/>
            </a:pPr>
            <a:r>
              <a:rPr lang="en-US" sz="1200" dirty="0">
                <a:solidFill>
                  <a:srgbClr val="9B1C1C"/>
                </a:solidFill>
                <a:latin typeface="Calibri" pitchFamily="34" charset="0"/>
                <a:ea typeface="Calibri" pitchFamily="34" charset="-122"/>
                <a:cs typeface="Calibri" pitchFamily="34" charset="-120"/>
              </a:rPr>
              <a:t>All numbers</a:t>
            </a:r>
            <a:endParaRPr lang="en-US" sz="1200" dirty="0"/>
          </a:p>
          <a:p>
            <a:pPr marL="0" indent="0">
              <a:buNone/>
            </a:pPr>
            <a:r>
              <a:rPr lang="en-US" sz="1200" dirty="0">
                <a:solidFill>
                  <a:srgbClr val="9B1C1C"/>
                </a:solidFill>
                <a:latin typeface="Calibri" pitchFamily="34" charset="0"/>
                <a:ea typeface="Calibri" pitchFamily="34" charset="-122"/>
                <a:cs typeface="Calibri" pitchFamily="34" charset="-120"/>
              </a:rPr>
              <a:t>Operation-by-operation</a:t>
            </a:r>
            <a:endParaRPr lang="en-US" sz="1200" dirty="0"/>
          </a:p>
          <a:p>
            <a:pPr marL="0" indent="0">
              <a:buNone/>
            </a:pPr>
            <a:r>
              <a:rPr lang="en-US" sz="1200" dirty="0">
                <a:solidFill>
                  <a:srgbClr val="9B1C1C"/>
                </a:solidFill>
                <a:latin typeface="Calibri" pitchFamily="34" charset="0"/>
                <a:ea typeface="Calibri" pitchFamily="34" charset="-122"/>
                <a:cs typeface="Calibri" pitchFamily="34" charset="-120"/>
              </a:rPr>
              <a:t>Zero intent expressed</a:t>
            </a:r>
            <a:endParaRPr lang="en-US" sz="1200" dirty="0"/>
          </a:p>
        </p:txBody>
      </p:sp>
      <p:sp>
        <p:nvSpPr>
          <p:cNvPr id="15" name="Text 13"/>
          <p:cNvSpPr txBox="1"/>
          <p:nvPr/>
        </p:nvSpPr>
        <p:spPr>
          <a:xfrm>
            <a:off x="411480" y="5120640"/>
            <a:ext cx="11338560" cy="457200"/>
          </a:xfrm>
          <a:prstGeom prst="rect">
            <a:avLst/>
          </a:prstGeom>
          <a:noFill/>
          <a:ln/>
        </p:spPr>
        <p:txBody>
          <a:bodyPr wrap="square" lIns="0" tIns="0" rIns="0" bIns="0" rtlCol="0" anchor="ctr"/>
          <a:lstStyle/>
          <a:p>
            <a:pPr marL="0" indent="0" algn="ctr">
              <a:buNone/>
            </a:pPr>
            <a:r>
              <a:rPr lang="en-US" sz="1300" b="1" dirty="0">
                <a:solidFill>
                  <a:srgbClr val="1A2B5E"/>
                </a:solidFill>
                <a:latin typeface="Calibri" pitchFamily="34" charset="0"/>
                <a:ea typeface="Calibri" pitchFamily="34" charset="-122"/>
                <a:cs typeface="Calibri" pitchFamily="34" charset="-120"/>
              </a:rPr>
              <a:t>A programming language fills the gap — it translates human intent into machine operations.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2000" cy="960120"/>
          </a:xfrm>
          <a:prstGeom prst="rect">
            <a:avLst/>
          </a:prstGeom>
          <a:solidFill>
            <a:srgbClr val="1A2B5E"/>
          </a:solidFill>
          <a:ln/>
        </p:spPr>
        <p:txBody>
          <a:bodyPr/>
          <a:lstStyle/>
          <a:p>
            <a:endParaRPr lang="en-US"/>
          </a:p>
        </p:txBody>
      </p:sp>
      <p:sp>
        <p:nvSpPr>
          <p:cNvPr id="3" name="Text 1"/>
          <p:cNvSpPr txBox="1"/>
          <p:nvPr/>
        </p:nvSpPr>
        <p:spPr>
          <a:xfrm>
            <a:off x="411480" y="137160"/>
            <a:ext cx="1051560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Why Machine Code Is Not Enough</a:t>
            </a:r>
            <a:endParaRPr lang="en-US" sz="2200" dirty="0"/>
          </a:p>
        </p:txBody>
      </p:sp>
      <p:sp>
        <p:nvSpPr>
          <p:cNvPr id="4" name="Text 2"/>
          <p:cNvSpPr txBox="1"/>
          <p:nvPr/>
        </p:nvSpPr>
        <p:spPr>
          <a:xfrm>
            <a:off x="10515600" y="292608"/>
            <a:ext cx="1417320" cy="347472"/>
          </a:xfrm>
          <a:prstGeom prst="rect">
            <a:avLst/>
          </a:prstGeom>
          <a:noFill/>
          <a:ln/>
        </p:spPr>
        <p:txBody>
          <a:bodyPr wrap="square" lIns="0" tIns="0" rIns="0" bIns="0" rtlCol="0" anchor="ctr"/>
          <a:lstStyle/>
          <a:p>
            <a:pPr marL="0" indent="0" algn="r">
              <a:buNone/>
            </a:pPr>
            <a:r>
              <a:rPr lang="en-US" sz="1000" dirty="0">
                <a:solidFill>
                  <a:srgbClr val="7A90B8"/>
                </a:solidFill>
                <a:latin typeface="Calibri" pitchFamily="34" charset="0"/>
                <a:ea typeface="Calibri" pitchFamily="34" charset="-122"/>
                <a:cs typeface="Calibri" pitchFamily="34" charset="-120"/>
              </a:rPr>
              <a:t>Section 2</a:t>
            </a:r>
            <a:endParaRPr lang="en-US" sz="1000" dirty="0"/>
          </a:p>
        </p:txBody>
      </p:sp>
      <p:sp>
        <p:nvSpPr>
          <p:cNvPr id="5" name="Shape 3"/>
          <p:cNvSpPr/>
          <p:nvPr/>
        </p:nvSpPr>
        <p:spPr>
          <a:xfrm>
            <a:off x="411480" y="1097280"/>
            <a:ext cx="5577840" cy="1417320"/>
          </a:xfrm>
          <a:prstGeom prst="rect">
            <a:avLst/>
          </a:prstGeom>
          <a:solidFill>
            <a:srgbClr val="FEF2F2"/>
          </a:solidFill>
          <a:ln w="12700">
            <a:solidFill>
              <a:srgbClr val="FCA5A5"/>
            </a:solidFill>
            <a:prstDash val="solid"/>
          </a:ln>
        </p:spPr>
        <p:txBody>
          <a:bodyPr/>
          <a:lstStyle/>
          <a:p>
            <a:endParaRPr lang="en-US"/>
          </a:p>
        </p:txBody>
      </p:sp>
      <p:sp>
        <p:nvSpPr>
          <p:cNvPr id="6" name="Shape 4"/>
          <p:cNvSpPr/>
          <p:nvPr/>
        </p:nvSpPr>
        <p:spPr>
          <a:xfrm>
            <a:off x="411480" y="1097280"/>
            <a:ext cx="64008" cy="1417320"/>
          </a:xfrm>
          <a:prstGeom prst="rect">
            <a:avLst/>
          </a:prstGeom>
          <a:solidFill>
            <a:srgbClr val="9B1C1C"/>
          </a:solidFill>
          <a:ln w="12700">
            <a:solidFill>
              <a:srgbClr val="9B1C1C"/>
            </a:solidFill>
            <a:prstDash val="solid"/>
          </a:ln>
        </p:spPr>
        <p:txBody>
          <a:bodyPr/>
          <a:lstStyle/>
          <a:p>
            <a:endParaRPr lang="en-US"/>
          </a:p>
        </p:txBody>
      </p:sp>
      <p:sp>
        <p:nvSpPr>
          <p:cNvPr id="7" name="Text 5"/>
          <p:cNvSpPr txBox="1"/>
          <p:nvPr/>
        </p:nvSpPr>
        <p:spPr>
          <a:xfrm>
            <a:off x="594360" y="1188720"/>
            <a:ext cx="5212080" cy="274320"/>
          </a:xfrm>
          <a:prstGeom prst="rect">
            <a:avLst/>
          </a:prstGeom>
          <a:noFill/>
          <a:ln/>
        </p:spPr>
        <p:txBody>
          <a:bodyPr wrap="square" lIns="0" tIns="0" rIns="0" bIns="0" rtlCol="0" anchor="ctr"/>
          <a:lstStyle/>
          <a:p>
            <a:pPr marL="0" indent="0">
              <a:buNone/>
            </a:pPr>
            <a:r>
              <a:rPr lang="en-US" sz="1200" b="1" dirty="0">
                <a:solidFill>
                  <a:srgbClr val="9B1C1C"/>
                </a:solidFill>
                <a:latin typeface="Calibri" pitchFamily="34" charset="0"/>
                <a:ea typeface="Calibri" pitchFamily="34" charset="-122"/>
                <a:cs typeface="Calibri" pitchFamily="34" charset="-120"/>
              </a:rPr>
              <a:t>Complexity</a:t>
            </a:r>
            <a:endParaRPr lang="en-US" sz="1200" dirty="0"/>
          </a:p>
        </p:txBody>
      </p:sp>
      <p:sp>
        <p:nvSpPr>
          <p:cNvPr id="8" name="Text 6"/>
          <p:cNvSpPr txBox="1"/>
          <p:nvPr/>
        </p:nvSpPr>
        <p:spPr>
          <a:xfrm>
            <a:off x="594360" y="1481328"/>
            <a:ext cx="5212080" cy="914400"/>
          </a:xfrm>
          <a:prstGeom prst="rect">
            <a:avLst/>
          </a:prstGeom>
          <a:noFill/>
          <a:ln/>
        </p:spPr>
        <p:txBody>
          <a:bodyPr wrap="square" lIns="0" tIns="0" rIns="0" bIns="0" rtlCol="0" anchor="ctr"/>
          <a:lstStyle/>
          <a:p>
            <a:pPr marL="0" indent="0">
              <a:buNone/>
            </a:pPr>
            <a:r>
              <a:rPr lang="en-US" sz="1100" dirty="0">
                <a:solidFill>
                  <a:srgbClr val="1E2A3A"/>
                </a:solidFill>
                <a:latin typeface="Calibri" pitchFamily="34" charset="0"/>
                <a:ea typeface="Calibri" pitchFamily="34" charset="-122"/>
                <a:cs typeface="Calibri" pitchFamily="34" charset="-120"/>
              </a:rPr>
              <a:t>One "print" operation = dozens of instructions. A real app has millions. No human can manage this reliably.</a:t>
            </a:r>
            <a:endParaRPr lang="en-US" sz="1100" dirty="0"/>
          </a:p>
        </p:txBody>
      </p:sp>
      <p:sp>
        <p:nvSpPr>
          <p:cNvPr id="9" name="Shape 7"/>
          <p:cNvSpPr/>
          <p:nvPr/>
        </p:nvSpPr>
        <p:spPr>
          <a:xfrm>
            <a:off x="6309360" y="1097280"/>
            <a:ext cx="5577840" cy="1417320"/>
          </a:xfrm>
          <a:prstGeom prst="rect">
            <a:avLst/>
          </a:prstGeom>
          <a:solidFill>
            <a:srgbClr val="FEF2F2"/>
          </a:solidFill>
          <a:ln w="12700">
            <a:solidFill>
              <a:srgbClr val="FCA5A5"/>
            </a:solidFill>
            <a:prstDash val="solid"/>
          </a:ln>
        </p:spPr>
        <p:txBody>
          <a:bodyPr/>
          <a:lstStyle/>
          <a:p>
            <a:endParaRPr lang="en-US"/>
          </a:p>
        </p:txBody>
      </p:sp>
      <p:sp>
        <p:nvSpPr>
          <p:cNvPr id="10" name="Shape 8"/>
          <p:cNvSpPr/>
          <p:nvPr/>
        </p:nvSpPr>
        <p:spPr>
          <a:xfrm>
            <a:off x="6309360" y="1097280"/>
            <a:ext cx="64008" cy="1417320"/>
          </a:xfrm>
          <a:prstGeom prst="rect">
            <a:avLst/>
          </a:prstGeom>
          <a:solidFill>
            <a:srgbClr val="9B1C1C"/>
          </a:solidFill>
          <a:ln w="12700">
            <a:solidFill>
              <a:srgbClr val="9B1C1C"/>
            </a:solidFill>
            <a:prstDash val="solid"/>
          </a:ln>
        </p:spPr>
        <p:txBody>
          <a:bodyPr/>
          <a:lstStyle/>
          <a:p>
            <a:endParaRPr lang="en-US"/>
          </a:p>
        </p:txBody>
      </p:sp>
      <p:sp>
        <p:nvSpPr>
          <p:cNvPr id="11" name="Text 9"/>
          <p:cNvSpPr txBox="1"/>
          <p:nvPr/>
        </p:nvSpPr>
        <p:spPr>
          <a:xfrm>
            <a:off x="6492240" y="1188720"/>
            <a:ext cx="5212080" cy="274320"/>
          </a:xfrm>
          <a:prstGeom prst="rect">
            <a:avLst/>
          </a:prstGeom>
          <a:noFill/>
          <a:ln/>
        </p:spPr>
        <p:txBody>
          <a:bodyPr wrap="square" lIns="0" tIns="0" rIns="0" bIns="0" rtlCol="0" anchor="ctr"/>
          <a:lstStyle/>
          <a:p>
            <a:pPr marL="0" indent="0">
              <a:buNone/>
            </a:pPr>
            <a:r>
              <a:rPr lang="en-US" sz="1200" b="1" dirty="0">
                <a:solidFill>
                  <a:srgbClr val="9B1C1C"/>
                </a:solidFill>
                <a:latin typeface="Calibri" pitchFamily="34" charset="0"/>
                <a:ea typeface="Calibri" pitchFamily="34" charset="-122"/>
                <a:cs typeface="Calibri" pitchFamily="34" charset="-120"/>
              </a:rPr>
              <a:t>Silent bugs</a:t>
            </a:r>
            <a:endParaRPr lang="en-US" sz="1200" dirty="0"/>
          </a:p>
        </p:txBody>
      </p:sp>
      <p:sp>
        <p:nvSpPr>
          <p:cNvPr id="12" name="Text 10"/>
          <p:cNvSpPr txBox="1"/>
          <p:nvPr/>
        </p:nvSpPr>
        <p:spPr>
          <a:xfrm>
            <a:off x="6492240" y="1481328"/>
            <a:ext cx="5212080" cy="914400"/>
          </a:xfrm>
          <a:prstGeom prst="rect">
            <a:avLst/>
          </a:prstGeom>
          <a:noFill/>
          <a:ln/>
        </p:spPr>
        <p:txBody>
          <a:bodyPr wrap="square" lIns="0" tIns="0" rIns="0" bIns="0" rtlCol="0" anchor="ctr"/>
          <a:lstStyle/>
          <a:p>
            <a:pPr marL="0" indent="0">
              <a:buNone/>
            </a:pPr>
            <a:r>
              <a:rPr lang="en-US" sz="1100" dirty="0">
                <a:solidFill>
                  <a:srgbClr val="1E2A3A"/>
                </a:solidFill>
                <a:latin typeface="Calibri" pitchFamily="34" charset="0"/>
                <a:ea typeface="Calibri" pitchFamily="34" charset="-122"/>
                <a:cs typeface="Calibri" pitchFamily="34" charset="-120"/>
              </a:rPr>
              <a:t>One wrong bit corrupts memory silently. The crash shows up 50 operations later with no clue where.</a:t>
            </a:r>
            <a:endParaRPr lang="en-US" sz="1100" dirty="0"/>
          </a:p>
        </p:txBody>
      </p:sp>
      <p:sp>
        <p:nvSpPr>
          <p:cNvPr id="13" name="Shape 11"/>
          <p:cNvSpPr/>
          <p:nvPr/>
        </p:nvSpPr>
        <p:spPr>
          <a:xfrm>
            <a:off x="411480" y="2724912"/>
            <a:ext cx="5577840" cy="1417320"/>
          </a:xfrm>
          <a:prstGeom prst="rect">
            <a:avLst/>
          </a:prstGeom>
          <a:solidFill>
            <a:srgbClr val="FEF2F2"/>
          </a:solidFill>
          <a:ln w="12700">
            <a:solidFill>
              <a:srgbClr val="FCA5A5"/>
            </a:solidFill>
            <a:prstDash val="solid"/>
          </a:ln>
        </p:spPr>
        <p:txBody>
          <a:bodyPr/>
          <a:lstStyle/>
          <a:p>
            <a:endParaRPr lang="en-US"/>
          </a:p>
        </p:txBody>
      </p:sp>
      <p:sp>
        <p:nvSpPr>
          <p:cNvPr id="14" name="Shape 12"/>
          <p:cNvSpPr/>
          <p:nvPr/>
        </p:nvSpPr>
        <p:spPr>
          <a:xfrm>
            <a:off x="411480" y="2724912"/>
            <a:ext cx="64008" cy="1417320"/>
          </a:xfrm>
          <a:prstGeom prst="rect">
            <a:avLst/>
          </a:prstGeom>
          <a:solidFill>
            <a:srgbClr val="9B1C1C"/>
          </a:solidFill>
          <a:ln w="12700">
            <a:solidFill>
              <a:srgbClr val="9B1C1C"/>
            </a:solidFill>
            <a:prstDash val="solid"/>
          </a:ln>
        </p:spPr>
        <p:txBody>
          <a:bodyPr/>
          <a:lstStyle/>
          <a:p>
            <a:endParaRPr lang="en-US"/>
          </a:p>
        </p:txBody>
      </p:sp>
      <p:sp>
        <p:nvSpPr>
          <p:cNvPr id="15" name="Text 13"/>
          <p:cNvSpPr txBox="1"/>
          <p:nvPr/>
        </p:nvSpPr>
        <p:spPr>
          <a:xfrm>
            <a:off x="594360" y="2816352"/>
            <a:ext cx="5212080" cy="274320"/>
          </a:xfrm>
          <a:prstGeom prst="rect">
            <a:avLst/>
          </a:prstGeom>
          <a:noFill/>
          <a:ln/>
        </p:spPr>
        <p:txBody>
          <a:bodyPr wrap="square" lIns="0" tIns="0" rIns="0" bIns="0" rtlCol="0" anchor="ctr"/>
          <a:lstStyle/>
          <a:p>
            <a:pPr marL="0" indent="0">
              <a:buNone/>
            </a:pPr>
            <a:r>
              <a:rPr lang="en-US" sz="1200" b="1" dirty="0">
                <a:solidFill>
                  <a:srgbClr val="9B1C1C"/>
                </a:solidFill>
                <a:latin typeface="Calibri" pitchFamily="34" charset="0"/>
                <a:ea typeface="Calibri" pitchFamily="34" charset="-122"/>
                <a:cs typeface="Calibri" pitchFamily="34" charset="-120"/>
              </a:rPr>
              <a:t>No readability</a:t>
            </a:r>
            <a:endParaRPr lang="en-US" sz="1200" dirty="0"/>
          </a:p>
        </p:txBody>
      </p:sp>
      <p:sp>
        <p:nvSpPr>
          <p:cNvPr id="16" name="Text 14"/>
          <p:cNvSpPr txBox="1"/>
          <p:nvPr/>
        </p:nvSpPr>
        <p:spPr>
          <a:xfrm>
            <a:off x="594360" y="3108960"/>
            <a:ext cx="5212080" cy="914400"/>
          </a:xfrm>
          <a:prstGeom prst="rect">
            <a:avLst/>
          </a:prstGeom>
          <a:noFill/>
          <a:ln/>
        </p:spPr>
        <p:txBody>
          <a:bodyPr wrap="square" lIns="0" tIns="0" rIns="0" bIns="0" rtlCol="0" anchor="ctr"/>
          <a:lstStyle/>
          <a:p>
            <a:pPr marL="0" indent="0">
              <a:buNone/>
            </a:pPr>
            <a:r>
              <a:rPr lang="en-US" sz="1100" dirty="0">
                <a:solidFill>
                  <a:srgbClr val="1E2A3A"/>
                </a:solidFill>
                <a:latin typeface="Calibri" pitchFamily="34" charset="0"/>
                <a:ea typeface="Calibri" pitchFamily="34" charset="-122"/>
                <a:cs typeface="Calibri" pitchFamily="34" charset="-120"/>
              </a:rPr>
              <a:t>Raw numbers express zero intent. A colleague six months later has no idea what the program does.</a:t>
            </a:r>
            <a:endParaRPr lang="en-US" sz="1100" dirty="0"/>
          </a:p>
        </p:txBody>
      </p:sp>
      <p:sp>
        <p:nvSpPr>
          <p:cNvPr id="17" name="Shape 15"/>
          <p:cNvSpPr/>
          <p:nvPr/>
        </p:nvSpPr>
        <p:spPr>
          <a:xfrm>
            <a:off x="6309360" y="2724912"/>
            <a:ext cx="5577840" cy="1417320"/>
          </a:xfrm>
          <a:prstGeom prst="rect">
            <a:avLst/>
          </a:prstGeom>
          <a:solidFill>
            <a:srgbClr val="FEF2F2"/>
          </a:solidFill>
          <a:ln w="12700">
            <a:solidFill>
              <a:srgbClr val="FCA5A5"/>
            </a:solidFill>
            <a:prstDash val="solid"/>
          </a:ln>
        </p:spPr>
        <p:txBody>
          <a:bodyPr/>
          <a:lstStyle/>
          <a:p>
            <a:endParaRPr lang="en-US"/>
          </a:p>
        </p:txBody>
      </p:sp>
      <p:sp>
        <p:nvSpPr>
          <p:cNvPr id="18" name="Shape 16"/>
          <p:cNvSpPr/>
          <p:nvPr/>
        </p:nvSpPr>
        <p:spPr>
          <a:xfrm>
            <a:off x="6309360" y="2724912"/>
            <a:ext cx="64008" cy="1417320"/>
          </a:xfrm>
          <a:prstGeom prst="rect">
            <a:avLst/>
          </a:prstGeom>
          <a:solidFill>
            <a:srgbClr val="9B1C1C"/>
          </a:solidFill>
          <a:ln w="12700">
            <a:solidFill>
              <a:srgbClr val="9B1C1C"/>
            </a:solidFill>
            <a:prstDash val="solid"/>
          </a:ln>
        </p:spPr>
        <p:txBody>
          <a:bodyPr/>
          <a:lstStyle/>
          <a:p>
            <a:endParaRPr lang="en-US"/>
          </a:p>
        </p:txBody>
      </p:sp>
      <p:sp>
        <p:nvSpPr>
          <p:cNvPr id="19" name="Text 17"/>
          <p:cNvSpPr txBox="1"/>
          <p:nvPr/>
        </p:nvSpPr>
        <p:spPr>
          <a:xfrm>
            <a:off x="6492240" y="2816352"/>
            <a:ext cx="5212080" cy="274320"/>
          </a:xfrm>
          <a:prstGeom prst="rect">
            <a:avLst/>
          </a:prstGeom>
          <a:noFill/>
          <a:ln/>
        </p:spPr>
        <p:txBody>
          <a:bodyPr wrap="square" lIns="0" tIns="0" rIns="0" bIns="0" rtlCol="0" anchor="ctr"/>
          <a:lstStyle/>
          <a:p>
            <a:pPr marL="0" indent="0">
              <a:buNone/>
            </a:pPr>
            <a:r>
              <a:rPr lang="en-US" sz="1200" b="1" dirty="0">
                <a:solidFill>
                  <a:srgbClr val="9B1C1C"/>
                </a:solidFill>
                <a:latin typeface="Calibri" pitchFamily="34" charset="0"/>
                <a:ea typeface="Calibri" pitchFamily="34" charset="-122"/>
                <a:cs typeface="Calibri" pitchFamily="34" charset="-120"/>
              </a:rPr>
              <a:t>Hardware lock-in</a:t>
            </a:r>
            <a:endParaRPr lang="en-US" sz="1200" dirty="0"/>
          </a:p>
        </p:txBody>
      </p:sp>
      <p:sp>
        <p:nvSpPr>
          <p:cNvPr id="20" name="Text 18"/>
          <p:cNvSpPr txBox="1"/>
          <p:nvPr/>
        </p:nvSpPr>
        <p:spPr>
          <a:xfrm>
            <a:off x="6492240" y="3108960"/>
            <a:ext cx="5212080" cy="914400"/>
          </a:xfrm>
          <a:prstGeom prst="rect">
            <a:avLst/>
          </a:prstGeom>
          <a:noFill/>
          <a:ln/>
        </p:spPr>
        <p:txBody>
          <a:bodyPr wrap="square" lIns="0" tIns="0" rIns="0" bIns="0" rtlCol="0" anchor="ctr"/>
          <a:lstStyle/>
          <a:p>
            <a:pPr marL="0" indent="0">
              <a:buNone/>
            </a:pPr>
            <a:r>
              <a:rPr lang="en-US" sz="1100" dirty="0">
                <a:solidFill>
                  <a:srgbClr val="1E2A3A"/>
                </a:solidFill>
                <a:latin typeface="Calibri" pitchFamily="34" charset="0"/>
                <a:ea typeface="Calibri" pitchFamily="34" charset="-122"/>
                <a:cs typeface="Calibri" pitchFamily="34" charset="-120"/>
              </a:rPr>
              <a:t>Code for an Intel chip won't run on an ARM chip. Every new hardware = rewrite everything.</a:t>
            </a:r>
            <a:endParaRPr lang="en-US" sz="1100" dirty="0"/>
          </a:p>
        </p:txBody>
      </p:sp>
      <p:sp>
        <p:nvSpPr>
          <p:cNvPr id="21" name="Shape 19"/>
          <p:cNvSpPr/>
          <p:nvPr/>
        </p:nvSpPr>
        <p:spPr>
          <a:xfrm>
            <a:off x="411480" y="4352544"/>
            <a:ext cx="5577840" cy="1417320"/>
          </a:xfrm>
          <a:prstGeom prst="rect">
            <a:avLst/>
          </a:prstGeom>
          <a:solidFill>
            <a:srgbClr val="FEF2F2"/>
          </a:solidFill>
          <a:ln w="12700">
            <a:solidFill>
              <a:srgbClr val="FCA5A5"/>
            </a:solidFill>
            <a:prstDash val="solid"/>
          </a:ln>
        </p:spPr>
        <p:txBody>
          <a:bodyPr/>
          <a:lstStyle/>
          <a:p>
            <a:endParaRPr lang="en-US"/>
          </a:p>
        </p:txBody>
      </p:sp>
      <p:sp>
        <p:nvSpPr>
          <p:cNvPr id="22" name="Shape 20"/>
          <p:cNvSpPr/>
          <p:nvPr/>
        </p:nvSpPr>
        <p:spPr>
          <a:xfrm>
            <a:off x="411480" y="4352544"/>
            <a:ext cx="64008" cy="1417320"/>
          </a:xfrm>
          <a:prstGeom prst="rect">
            <a:avLst/>
          </a:prstGeom>
          <a:solidFill>
            <a:srgbClr val="9B1C1C"/>
          </a:solidFill>
          <a:ln w="12700">
            <a:solidFill>
              <a:srgbClr val="9B1C1C"/>
            </a:solidFill>
            <a:prstDash val="solid"/>
          </a:ln>
        </p:spPr>
        <p:txBody>
          <a:bodyPr/>
          <a:lstStyle/>
          <a:p>
            <a:endParaRPr lang="en-US"/>
          </a:p>
        </p:txBody>
      </p:sp>
      <p:sp>
        <p:nvSpPr>
          <p:cNvPr id="23" name="Text 21"/>
          <p:cNvSpPr txBox="1"/>
          <p:nvPr/>
        </p:nvSpPr>
        <p:spPr>
          <a:xfrm>
            <a:off x="594360" y="4443984"/>
            <a:ext cx="5212080" cy="274320"/>
          </a:xfrm>
          <a:prstGeom prst="rect">
            <a:avLst/>
          </a:prstGeom>
          <a:noFill/>
          <a:ln/>
        </p:spPr>
        <p:txBody>
          <a:bodyPr wrap="square" lIns="0" tIns="0" rIns="0" bIns="0" rtlCol="0" anchor="ctr"/>
          <a:lstStyle/>
          <a:p>
            <a:pPr marL="0" indent="0">
              <a:buNone/>
            </a:pPr>
            <a:r>
              <a:rPr lang="en-US" sz="1200" b="1" dirty="0">
                <a:solidFill>
                  <a:srgbClr val="9B1C1C"/>
                </a:solidFill>
                <a:latin typeface="Calibri" pitchFamily="34" charset="0"/>
                <a:ea typeface="Calibri" pitchFamily="34" charset="-122"/>
                <a:cs typeface="Calibri" pitchFamily="34" charset="-120"/>
              </a:rPr>
              <a:t>Unmaintainable</a:t>
            </a:r>
            <a:endParaRPr lang="en-US" sz="1200" dirty="0"/>
          </a:p>
        </p:txBody>
      </p:sp>
      <p:sp>
        <p:nvSpPr>
          <p:cNvPr id="24" name="Text 22"/>
          <p:cNvSpPr txBox="1"/>
          <p:nvPr/>
        </p:nvSpPr>
        <p:spPr>
          <a:xfrm>
            <a:off x="594360" y="4736592"/>
            <a:ext cx="5212080" cy="914400"/>
          </a:xfrm>
          <a:prstGeom prst="rect">
            <a:avLst/>
          </a:prstGeom>
          <a:noFill/>
          <a:ln/>
        </p:spPr>
        <p:txBody>
          <a:bodyPr wrap="square" lIns="0" tIns="0" rIns="0" bIns="0" rtlCol="0" anchor="ctr"/>
          <a:lstStyle/>
          <a:p>
            <a:pPr marL="0" indent="0">
              <a:buNone/>
            </a:pPr>
            <a:r>
              <a:rPr lang="en-US" sz="1100" dirty="0">
                <a:solidFill>
                  <a:srgbClr val="1E2A3A"/>
                </a:solidFill>
                <a:latin typeface="Calibri" pitchFamily="34" charset="0"/>
                <a:ea typeface="Calibri" pitchFamily="34" charset="-122"/>
                <a:cs typeface="Calibri" pitchFamily="34" charset="-120"/>
              </a:rPr>
              <a:t>A small change requires recalculating addresses and offsets by hand across dozens of surrounding instructions.</a:t>
            </a:r>
            <a:endParaRPr lang="en-US" sz="1100" dirty="0"/>
          </a:p>
        </p:txBody>
      </p:sp>
      <p:sp>
        <p:nvSpPr>
          <p:cNvPr id="25" name="Shape 23"/>
          <p:cNvSpPr/>
          <p:nvPr/>
        </p:nvSpPr>
        <p:spPr>
          <a:xfrm>
            <a:off x="6309360" y="4352544"/>
            <a:ext cx="5577840" cy="1417320"/>
          </a:xfrm>
          <a:prstGeom prst="rect">
            <a:avLst/>
          </a:prstGeom>
          <a:solidFill>
            <a:srgbClr val="FEF2F2"/>
          </a:solidFill>
          <a:ln w="12700">
            <a:solidFill>
              <a:srgbClr val="FCA5A5"/>
            </a:solidFill>
            <a:prstDash val="solid"/>
          </a:ln>
        </p:spPr>
        <p:txBody>
          <a:bodyPr/>
          <a:lstStyle/>
          <a:p>
            <a:endParaRPr lang="en-US"/>
          </a:p>
        </p:txBody>
      </p:sp>
      <p:sp>
        <p:nvSpPr>
          <p:cNvPr id="26" name="Shape 24"/>
          <p:cNvSpPr/>
          <p:nvPr/>
        </p:nvSpPr>
        <p:spPr>
          <a:xfrm>
            <a:off x="6309360" y="4352544"/>
            <a:ext cx="64008" cy="1417320"/>
          </a:xfrm>
          <a:prstGeom prst="rect">
            <a:avLst/>
          </a:prstGeom>
          <a:solidFill>
            <a:srgbClr val="9B1C1C"/>
          </a:solidFill>
          <a:ln w="12700">
            <a:solidFill>
              <a:srgbClr val="9B1C1C"/>
            </a:solidFill>
            <a:prstDash val="solid"/>
          </a:ln>
        </p:spPr>
        <p:txBody>
          <a:bodyPr/>
          <a:lstStyle/>
          <a:p>
            <a:endParaRPr lang="en-US"/>
          </a:p>
        </p:txBody>
      </p:sp>
      <p:sp>
        <p:nvSpPr>
          <p:cNvPr id="27" name="Text 25"/>
          <p:cNvSpPr txBox="1"/>
          <p:nvPr/>
        </p:nvSpPr>
        <p:spPr>
          <a:xfrm>
            <a:off x="6492240" y="4443984"/>
            <a:ext cx="5212080" cy="274320"/>
          </a:xfrm>
          <a:prstGeom prst="rect">
            <a:avLst/>
          </a:prstGeom>
          <a:noFill/>
          <a:ln/>
        </p:spPr>
        <p:txBody>
          <a:bodyPr wrap="square" lIns="0" tIns="0" rIns="0" bIns="0" rtlCol="0" anchor="ctr"/>
          <a:lstStyle/>
          <a:p>
            <a:pPr marL="0" indent="0">
              <a:buNone/>
            </a:pPr>
            <a:r>
              <a:rPr lang="en-US" sz="1200" b="1" dirty="0">
                <a:solidFill>
                  <a:srgbClr val="9B1C1C"/>
                </a:solidFill>
                <a:latin typeface="Calibri" pitchFamily="34" charset="0"/>
                <a:ea typeface="Calibri" pitchFamily="34" charset="-122"/>
                <a:cs typeface="Calibri" pitchFamily="34" charset="-120"/>
              </a:rPr>
              <a:t>Low productivity</a:t>
            </a:r>
            <a:endParaRPr lang="en-US" sz="1200" dirty="0"/>
          </a:p>
        </p:txBody>
      </p:sp>
      <p:sp>
        <p:nvSpPr>
          <p:cNvPr id="28" name="Text 26"/>
          <p:cNvSpPr txBox="1"/>
          <p:nvPr/>
        </p:nvSpPr>
        <p:spPr>
          <a:xfrm>
            <a:off x="6492240" y="4736592"/>
            <a:ext cx="5212080" cy="914400"/>
          </a:xfrm>
          <a:prstGeom prst="rect">
            <a:avLst/>
          </a:prstGeom>
          <a:noFill/>
          <a:ln/>
        </p:spPr>
        <p:txBody>
          <a:bodyPr wrap="square" lIns="0" tIns="0" rIns="0" bIns="0" rtlCol="0" anchor="ctr"/>
          <a:lstStyle/>
          <a:p>
            <a:pPr marL="0" indent="0">
              <a:buNone/>
            </a:pPr>
            <a:r>
              <a:rPr lang="en-US" sz="1100" dirty="0">
                <a:solidFill>
                  <a:srgbClr val="1E2A3A"/>
                </a:solidFill>
                <a:latin typeface="Calibri" pitchFamily="34" charset="0"/>
                <a:ea typeface="Calibri" pitchFamily="34" charset="-122"/>
                <a:cs typeface="Calibri" pitchFamily="34" charset="-120"/>
              </a:rPr>
              <a:t>Simple programs take weeks. Building a modern app — millions of lines — is simply impossible at human scale.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1A2B5E"/>
          </a:solidFill>
          <a:ln/>
        </p:spPr>
        <p:txBody>
          <a:bodyPr/>
          <a:lstStyle/>
          <a:p>
            <a:endParaRPr lang="en-US"/>
          </a:p>
        </p:txBody>
      </p:sp>
      <p:sp>
        <p:nvSpPr>
          <p:cNvPr id="3" name="Shape 1"/>
          <p:cNvSpPr/>
          <p:nvPr/>
        </p:nvSpPr>
        <p:spPr>
          <a:xfrm>
            <a:off x="3657600" y="0"/>
            <a:ext cx="8503920" cy="6858000"/>
          </a:xfrm>
          <a:prstGeom prst="rect">
            <a:avLst/>
          </a:prstGeom>
          <a:solidFill>
            <a:srgbClr val="F4F6FC"/>
          </a:solidFill>
          <a:ln/>
        </p:spPr>
        <p:txBody>
          <a:bodyPr/>
          <a:lstStyle/>
          <a:p>
            <a:endParaRPr lang="en-US"/>
          </a:p>
        </p:txBody>
      </p:sp>
      <p:sp>
        <p:nvSpPr>
          <p:cNvPr id="4" name="Text 2"/>
          <p:cNvSpPr txBox="1"/>
          <p:nvPr/>
        </p:nvSpPr>
        <p:spPr>
          <a:xfrm>
            <a:off x="228600" y="2560320"/>
            <a:ext cx="3200400" cy="365760"/>
          </a:xfrm>
          <a:prstGeom prst="rect">
            <a:avLst/>
          </a:prstGeom>
          <a:noFill/>
          <a:ln/>
        </p:spPr>
        <p:txBody>
          <a:bodyPr wrap="square" lIns="0" tIns="0" rIns="0" bIns="0" rtlCol="0" anchor="ctr"/>
          <a:lstStyle/>
          <a:p>
            <a:pPr marL="0" indent="0">
              <a:buNone/>
            </a:pPr>
            <a:r>
              <a:rPr lang="en-US" sz="1100" dirty="0">
                <a:solidFill>
                  <a:srgbClr val="7A90B8"/>
                </a:solidFill>
                <a:latin typeface="Calibri" pitchFamily="34" charset="0"/>
                <a:ea typeface="Calibri" pitchFamily="34" charset="-122"/>
                <a:cs typeface="Calibri" pitchFamily="34" charset="-120"/>
              </a:rPr>
              <a:t>Section 3</a:t>
            </a:r>
            <a:endParaRPr lang="en-US" sz="1100" dirty="0"/>
          </a:p>
        </p:txBody>
      </p:sp>
      <p:sp>
        <p:nvSpPr>
          <p:cNvPr id="5" name="Text 3"/>
          <p:cNvSpPr txBox="1"/>
          <p:nvPr/>
        </p:nvSpPr>
        <p:spPr>
          <a:xfrm>
            <a:off x="228600" y="2926080"/>
            <a:ext cx="3200400" cy="1645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The Evolution</a:t>
            </a:r>
            <a:endParaRPr lang="en-US" sz="2200" dirty="0"/>
          </a:p>
        </p:txBody>
      </p:sp>
      <p:sp>
        <p:nvSpPr>
          <p:cNvPr id="6" name="Text 4"/>
          <p:cNvSpPr txBox="1"/>
          <p:nvPr/>
        </p:nvSpPr>
        <p:spPr>
          <a:xfrm>
            <a:off x="4023360" y="2560320"/>
            <a:ext cx="7863840" cy="1463040"/>
          </a:xfrm>
          <a:prstGeom prst="rect">
            <a:avLst/>
          </a:prstGeom>
          <a:noFill/>
          <a:ln/>
        </p:spPr>
        <p:txBody>
          <a:bodyPr wrap="square" lIns="0" tIns="0" rIns="0" bIns="0" rtlCol="0" anchor="ctr"/>
          <a:lstStyle/>
          <a:p>
            <a:pPr marL="0" indent="0">
              <a:buNone/>
            </a:pPr>
            <a:r>
              <a:rPr lang="en-US" sz="1800" dirty="0">
                <a:solidFill>
                  <a:srgbClr val="1E2A3A"/>
                </a:solidFill>
                <a:latin typeface="Calibri" pitchFamily="34" charset="0"/>
                <a:ea typeface="Calibri" pitchFamily="34" charset="-122"/>
                <a:cs typeface="Calibri" pitchFamily="34" charset="-120"/>
              </a:rPr>
              <a:t>Each generation solved the worst problem of the one before it — and created new ones.</a:t>
            </a:r>
            <a:endParaRPr lang="en-US" sz="1800" dirty="0"/>
          </a:p>
        </p:txBody>
      </p:sp>
      <p:sp>
        <p:nvSpPr>
          <p:cNvPr id="7" name="Text 5"/>
          <p:cNvSpPr txBox="1"/>
          <p:nvPr/>
        </p:nvSpPr>
        <p:spPr>
          <a:xfrm>
            <a:off x="4023360" y="1371600"/>
            <a:ext cx="7863840" cy="274320"/>
          </a:xfrm>
          <a:prstGeom prst="rect">
            <a:avLst/>
          </a:prstGeom>
          <a:noFill/>
          <a:ln/>
        </p:spPr>
        <p:txBody>
          <a:bodyPr wrap="square" lIns="0" tIns="0" rIns="0" bIns="0" rtlCol="0" anchor="ctr"/>
          <a:lstStyle/>
          <a:p>
            <a:pPr marL="0" indent="0">
              <a:buNone/>
            </a:pPr>
            <a:r>
              <a:rPr lang="en-US" sz="1300" b="1" dirty="0">
                <a:solidFill>
                  <a:srgbClr val="1E2A3A"/>
                </a:solidFill>
                <a:latin typeface="Calibri" pitchFamily="34" charset="0"/>
                <a:ea typeface="Calibri" pitchFamily="34" charset="-122"/>
                <a:cs typeface="Calibri" pitchFamily="34" charset="-120"/>
              </a:rPr>
              <a:t>The question at every step:</a:t>
            </a:r>
            <a:endParaRPr lang="en-US" sz="1300" dirty="0"/>
          </a:p>
        </p:txBody>
      </p:sp>
      <p:sp>
        <p:nvSpPr>
          <p:cNvPr id="8" name="Text 6"/>
          <p:cNvSpPr txBox="1"/>
          <p:nvPr/>
        </p:nvSpPr>
        <p:spPr>
          <a:xfrm>
            <a:off x="4023360" y="1691640"/>
            <a:ext cx="7863840" cy="548640"/>
          </a:xfrm>
          <a:prstGeom prst="rect">
            <a:avLst/>
          </a:prstGeom>
          <a:noFill/>
          <a:ln/>
        </p:spPr>
        <p:txBody>
          <a:bodyPr wrap="square" lIns="0" tIns="0" rIns="0" bIns="0" rtlCol="0" anchor="ctr"/>
          <a:lstStyle/>
          <a:p>
            <a:pPr marL="0" indent="0">
              <a:buNone/>
            </a:pPr>
            <a:r>
              <a:rPr lang="en-US" sz="1400" i="1" dirty="0">
                <a:solidFill>
                  <a:srgbClr val="1A2B5E"/>
                </a:solidFill>
                <a:latin typeface="Calibri" pitchFamily="34" charset="0"/>
                <a:ea typeface="Calibri" pitchFamily="34" charset="-122"/>
                <a:cs typeface="Calibri" pitchFamily="34" charset="-120"/>
              </a:rPr>
              <a:t>"What problem did this new level of abstraction solve — and what did solving it cost?"</a:t>
            </a:r>
            <a:endParaRPr lang="en-US" sz="1400" dirty="0"/>
          </a:p>
        </p:txBody>
      </p:sp>
      <p:sp>
        <p:nvSpPr>
          <p:cNvPr id="9" name="Shape 7"/>
          <p:cNvSpPr/>
          <p:nvPr/>
        </p:nvSpPr>
        <p:spPr>
          <a:xfrm>
            <a:off x="411480" y="5897880"/>
            <a:ext cx="1664208" cy="320040"/>
          </a:xfrm>
          <a:prstGeom prst="rect">
            <a:avLst/>
          </a:prstGeom>
          <a:solidFill>
            <a:srgbClr val="5A6A82"/>
          </a:solidFill>
          <a:ln w="12700">
            <a:solidFill>
              <a:srgbClr val="5A6A82"/>
            </a:solidFill>
            <a:prstDash val="solid"/>
          </a:ln>
        </p:spPr>
        <p:txBody>
          <a:bodyPr/>
          <a:lstStyle/>
          <a:p>
            <a:endParaRPr lang="en-US"/>
          </a:p>
        </p:txBody>
      </p:sp>
      <p:sp>
        <p:nvSpPr>
          <p:cNvPr id="10" name="Text 8"/>
          <p:cNvSpPr txBox="1"/>
          <p:nvPr/>
        </p:nvSpPr>
        <p:spPr>
          <a:xfrm>
            <a:off x="411480" y="5641848"/>
            <a:ext cx="1664208" cy="237744"/>
          </a:xfrm>
          <a:prstGeom prst="rect">
            <a:avLst/>
          </a:prstGeom>
          <a:noFill/>
          <a:ln/>
        </p:spPr>
        <p:txBody>
          <a:bodyPr wrap="square" lIns="0" tIns="0" rIns="0" bIns="0" rtlCol="0" anchor="ctr"/>
          <a:lstStyle/>
          <a:p>
            <a:pPr marL="0" indent="0" algn="ctr">
              <a:buNone/>
            </a:pPr>
            <a:r>
              <a:rPr lang="en-US" sz="900" dirty="0">
                <a:solidFill>
                  <a:srgbClr val="5A6A82"/>
                </a:solidFill>
                <a:latin typeface="Calibri" pitchFamily="34" charset="0"/>
                <a:ea typeface="Calibri" pitchFamily="34" charset="-122"/>
                <a:cs typeface="Calibri" pitchFamily="34" charset="-120"/>
              </a:rPr>
              <a:t>1940s</a:t>
            </a:r>
            <a:endParaRPr lang="en-US" sz="900" dirty="0"/>
          </a:p>
        </p:txBody>
      </p:sp>
      <p:sp>
        <p:nvSpPr>
          <p:cNvPr id="11" name="Text 9"/>
          <p:cNvSpPr txBox="1"/>
          <p:nvPr/>
        </p:nvSpPr>
        <p:spPr>
          <a:xfrm>
            <a:off x="411480" y="5952744"/>
            <a:ext cx="1664208" cy="21031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Machine Code</a:t>
            </a:r>
            <a:endParaRPr lang="en-US" sz="1000" dirty="0"/>
          </a:p>
        </p:txBody>
      </p:sp>
      <p:sp>
        <p:nvSpPr>
          <p:cNvPr id="12" name="Shape 10"/>
          <p:cNvSpPr/>
          <p:nvPr/>
        </p:nvSpPr>
        <p:spPr>
          <a:xfrm>
            <a:off x="2304288" y="5550408"/>
            <a:ext cx="1664208" cy="667512"/>
          </a:xfrm>
          <a:prstGeom prst="rect">
            <a:avLst/>
          </a:prstGeom>
          <a:solidFill>
            <a:srgbClr val="5A6A82"/>
          </a:solidFill>
          <a:ln w="12700">
            <a:solidFill>
              <a:srgbClr val="5A6A82"/>
            </a:solidFill>
            <a:prstDash val="solid"/>
          </a:ln>
        </p:spPr>
        <p:txBody>
          <a:bodyPr/>
          <a:lstStyle/>
          <a:p>
            <a:endParaRPr lang="en-US"/>
          </a:p>
        </p:txBody>
      </p:sp>
      <p:sp>
        <p:nvSpPr>
          <p:cNvPr id="13" name="Text 11"/>
          <p:cNvSpPr txBox="1"/>
          <p:nvPr/>
        </p:nvSpPr>
        <p:spPr>
          <a:xfrm>
            <a:off x="2304288" y="5294376"/>
            <a:ext cx="1664208" cy="237744"/>
          </a:xfrm>
          <a:prstGeom prst="rect">
            <a:avLst/>
          </a:prstGeom>
          <a:noFill/>
          <a:ln/>
        </p:spPr>
        <p:txBody>
          <a:bodyPr wrap="square" lIns="0" tIns="0" rIns="0" bIns="0" rtlCol="0" anchor="ctr"/>
          <a:lstStyle/>
          <a:p>
            <a:pPr marL="0" indent="0" algn="ctr">
              <a:buNone/>
            </a:pPr>
            <a:r>
              <a:rPr lang="en-US" sz="900" dirty="0">
                <a:solidFill>
                  <a:srgbClr val="5A6A82"/>
                </a:solidFill>
                <a:latin typeface="Calibri" pitchFamily="34" charset="0"/>
                <a:ea typeface="Calibri" pitchFamily="34" charset="-122"/>
                <a:cs typeface="Calibri" pitchFamily="34" charset="-120"/>
              </a:rPr>
              <a:t>1950s</a:t>
            </a:r>
            <a:endParaRPr lang="en-US" sz="900" dirty="0"/>
          </a:p>
        </p:txBody>
      </p:sp>
      <p:sp>
        <p:nvSpPr>
          <p:cNvPr id="14" name="Text 12"/>
          <p:cNvSpPr txBox="1"/>
          <p:nvPr/>
        </p:nvSpPr>
        <p:spPr>
          <a:xfrm>
            <a:off x="2304288" y="5605272"/>
            <a:ext cx="1664208" cy="5577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Assembly</a:t>
            </a:r>
            <a:endParaRPr lang="en-US" sz="1000" dirty="0"/>
          </a:p>
        </p:txBody>
      </p:sp>
      <p:sp>
        <p:nvSpPr>
          <p:cNvPr id="15" name="Shape 13"/>
          <p:cNvSpPr/>
          <p:nvPr/>
        </p:nvSpPr>
        <p:spPr>
          <a:xfrm>
            <a:off x="4197096" y="5202936"/>
            <a:ext cx="1664208" cy="1014984"/>
          </a:xfrm>
          <a:prstGeom prst="rect">
            <a:avLst/>
          </a:prstGeom>
          <a:solidFill>
            <a:srgbClr val="1A2B5E"/>
          </a:solidFill>
          <a:ln w="12700">
            <a:solidFill>
              <a:srgbClr val="1A2B5E"/>
            </a:solidFill>
            <a:prstDash val="solid"/>
          </a:ln>
        </p:spPr>
        <p:txBody>
          <a:bodyPr/>
          <a:lstStyle/>
          <a:p>
            <a:endParaRPr lang="en-US"/>
          </a:p>
        </p:txBody>
      </p:sp>
      <p:sp>
        <p:nvSpPr>
          <p:cNvPr id="16" name="Text 14"/>
          <p:cNvSpPr txBox="1"/>
          <p:nvPr/>
        </p:nvSpPr>
        <p:spPr>
          <a:xfrm>
            <a:off x="4197096" y="4946904"/>
            <a:ext cx="1664208" cy="237744"/>
          </a:xfrm>
          <a:prstGeom prst="rect">
            <a:avLst/>
          </a:prstGeom>
          <a:noFill/>
          <a:ln/>
        </p:spPr>
        <p:txBody>
          <a:bodyPr wrap="square" lIns="0" tIns="0" rIns="0" bIns="0" rtlCol="0" anchor="ctr"/>
          <a:lstStyle/>
          <a:p>
            <a:pPr marL="0" indent="0" algn="ctr">
              <a:buNone/>
            </a:pPr>
            <a:r>
              <a:rPr lang="en-US" sz="900" dirty="0">
                <a:solidFill>
                  <a:srgbClr val="5A6A82"/>
                </a:solidFill>
                <a:latin typeface="Calibri" pitchFamily="34" charset="0"/>
                <a:ea typeface="Calibri" pitchFamily="34" charset="-122"/>
                <a:cs typeface="Calibri" pitchFamily="34" charset="-120"/>
              </a:rPr>
              <a:t>1957–70</a:t>
            </a:r>
            <a:endParaRPr lang="en-US" sz="900" dirty="0"/>
          </a:p>
        </p:txBody>
      </p:sp>
      <p:sp>
        <p:nvSpPr>
          <p:cNvPr id="17" name="Text 15"/>
          <p:cNvSpPr txBox="1"/>
          <p:nvPr/>
        </p:nvSpPr>
        <p:spPr>
          <a:xfrm>
            <a:off x="4197096" y="5257800"/>
            <a:ext cx="1664208" cy="90525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FORTRAN / COBOL</a:t>
            </a:r>
            <a:endParaRPr lang="en-US" sz="1000" dirty="0"/>
          </a:p>
        </p:txBody>
      </p:sp>
      <p:sp>
        <p:nvSpPr>
          <p:cNvPr id="18" name="Shape 16"/>
          <p:cNvSpPr/>
          <p:nvPr/>
        </p:nvSpPr>
        <p:spPr>
          <a:xfrm>
            <a:off x="6089904" y="4855464"/>
            <a:ext cx="1664208" cy="1362456"/>
          </a:xfrm>
          <a:prstGeom prst="rect">
            <a:avLst/>
          </a:prstGeom>
          <a:solidFill>
            <a:srgbClr val="1A2B5E"/>
          </a:solidFill>
          <a:ln w="12700">
            <a:solidFill>
              <a:srgbClr val="1A2B5E"/>
            </a:solidFill>
            <a:prstDash val="solid"/>
          </a:ln>
        </p:spPr>
        <p:txBody>
          <a:bodyPr/>
          <a:lstStyle/>
          <a:p>
            <a:endParaRPr lang="en-US"/>
          </a:p>
        </p:txBody>
      </p:sp>
      <p:sp>
        <p:nvSpPr>
          <p:cNvPr id="19" name="Text 17"/>
          <p:cNvSpPr txBox="1"/>
          <p:nvPr/>
        </p:nvSpPr>
        <p:spPr>
          <a:xfrm>
            <a:off x="6089904" y="4599432"/>
            <a:ext cx="1664208" cy="237744"/>
          </a:xfrm>
          <a:prstGeom prst="rect">
            <a:avLst/>
          </a:prstGeom>
          <a:noFill/>
          <a:ln/>
        </p:spPr>
        <p:txBody>
          <a:bodyPr wrap="square" lIns="0" tIns="0" rIns="0" bIns="0" rtlCol="0" anchor="ctr"/>
          <a:lstStyle/>
          <a:p>
            <a:pPr marL="0" indent="0" algn="ctr">
              <a:buNone/>
            </a:pPr>
            <a:r>
              <a:rPr lang="en-US" sz="900" dirty="0">
                <a:solidFill>
                  <a:srgbClr val="5A6A82"/>
                </a:solidFill>
                <a:latin typeface="Calibri" pitchFamily="34" charset="0"/>
                <a:ea typeface="Calibri" pitchFamily="34" charset="-122"/>
                <a:cs typeface="Calibri" pitchFamily="34" charset="-120"/>
              </a:rPr>
              <a:t>1972</a:t>
            </a:r>
            <a:endParaRPr lang="en-US" sz="900" dirty="0"/>
          </a:p>
        </p:txBody>
      </p:sp>
      <p:sp>
        <p:nvSpPr>
          <p:cNvPr id="20" name="Text 18"/>
          <p:cNvSpPr txBox="1"/>
          <p:nvPr/>
        </p:nvSpPr>
        <p:spPr>
          <a:xfrm>
            <a:off x="6089904" y="4910328"/>
            <a:ext cx="1664208" cy="125272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21" name="Shape 19"/>
          <p:cNvSpPr/>
          <p:nvPr/>
        </p:nvSpPr>
        <p:spPr>
          <a:xfrm>
            <a:off x="7982712" y="4507992"/>
            <a:ext cx="1664208" cy="1709928"/>
          </a:xfrm>
          <a:prstGeom prst="rect">
            <a:avLst/>
          </a:prstGeom>
          <a:solidFill>
            <a:srgbClr val="2E5BFF"/>
          </a:solidFill>
          <a:ln w="12700">
            <a:solidFill>
              <a:srgbClr val="2E5BFF"/>
            </a:solidFill>
            <a:prstDash val="solid"/>
          </a:ln>
        </p:spPr>
        <p:txBody>
          <a:bodyPr/>
          <a:lstStyle/>
          <a:p>
            <a:endParaRPr lang="en-US"/>
          </a:p>
        </p:txBody>
      </p:sp>
      <p:sp>
        <p:nvSpPr>
          <p:cNvPr id="22" name="Text 20"/>
          <p:cNvSpPr txBox="1"/>
          <p:nvPr/>
        </p:nvSpPr>
        <p:spPr>
          <a:xfrm>
            <a:off x="7982712" y="4251960"/>
            <a:ext cx="1664208" cy="237744"/>
          </a:xfrm>
          <a:prstGeom prst="rect">
            <a:avLst/>
          </a:prstGeom>
          <a:noFill/>
          <a:ln/>
        </p:spPr>
        <p:txBody>
          <a:bodyPr wrap="square" lIns="0" tIns="0" rIns="0" bIns="0" rtlCol="0" anchor="ctr"/>
          <a:lstStyle/>
          <a:p>
            <a:pPr marL="0" indent="0" algn="ctr">
              <a:buNone/>
            </a:pPr>
            <a:r>
              <a:rPr lang="en-US" sz="900" dirty="0">
                <a:solidFill>
                  <a:srgbClr val="5A6A82"/>
                </a:solidFill>
                <a:latin typeface="Calibri" pitchFamily="34" charset="0"/>
                <a:ea typeface="Calibri" pitchFamily="34" charset="-122"/>
                <a:cs typeface="Calibri" pitchFamily="34" charset="-120"/>
              </a:rPr>
              <a:t>1985–95</a:t>
            </a:r>
            <a:endParaRPr lang="en-US" sz="900" dirty="0"/>
          </a:p>
        </p:txBody>
      </p:sp>
      <p:sp>
        <p:nvSpPr>
          <p:cNvPr id="23" name="Text 21"/>
          <p:cNvSpPr txBox="1"/>
          <p:nvPr/>
        </p:nvSpPr>
        <p:spPr>
          <a:xfrm>
            <a:off x="7982712" y="4562856"/>
            <a:ext cx="1664208" cy="1600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 Java</a:t>
            </a:r>
            <a:endParaRPr lang="en-US" sz="1000" dirty="0"/>
          </a:p>
        </p:txBody>
      </p:sp>
      <p:sp>
        <p:nvSpPr>
          <p:cNvPr id="24" name="Shape 22"/>
          <p:cNvSpPr/>
          <p:nvPr/>
        </p:nvSpPr>
        <p:spPr>
          <a:xfrm>
            <a:off x="9875520" y="4160520"/>
            <a:ext cx="1664208" cy="2057400"/>
          </a:xfrm>
          <a:prstGeom prst="rect">
            <a:avLst/>
          </a:prstGeom>
          <a:solidFill>
            <a:srgbClr val="2E5BFF"/>
          </a:solidFill>
          <a:ln w="12700">
            <a:solidFill>
              <a:srgbClr val="2E5BFF"/>
            </a:solidFill>
            <a:prstDash val="solid"/>
          </a:ln>
        </p:spPr>
        <p:txBody>
          <a:bodyPr/>
          <a:lstStyle/>
          <a:p>
            <a:endParaRPr lang="en-US"/>
          </a:p>
        </p:txBody>
      </p:sp>
      <p:sp>
        <p:nvSpPr>
          <p:cNvPr id="25" name="Text 23"/>
          <p:cNvSpPr txBox="1"/>
          <p:nvPr/>
        </p:nvSpPr>
        <p:spPr>
          <a:xfrm>
            <a:off x="9875520" y="3904488"/>
            <a:ext cx="1664208" cy="237744"/>
          </a:xfrm>
          <a:prstGeom prst="rect">
            <a:avLst/>
          </a:prstGeom>
          <a:noFill/>
          <a:ln/>
        </p:spPr>
        <p:txBody>
          <a:bodyPr wrap="square" lIns="0" tIns="0" rIns="0" bIns="0" rtlCol="0" anchor="ctr"/>
          <a:lstStyle/>
          <a:p>
            <a:pPr marL="0" indent="0" algn="ctr">
              <a:buNone/>
            </a:pPr>
            <a:r>
              <a:rPr lang="en-US" sz="900" dirty="0">
                <a:solidFill>
                  <a:srgbClr val="5A6A82"/>
                </a:solidFill>
                <a:latin typeface="Calibri" pitchFamily="34" charset="0"/>
                <a:ea typeface="Calibri" pitchFamily="34" charset="-122"/>
                <a:cs typeface="Calibri" pitchFamily="34" charset="-120"/>
              </a:rPr>
              <a:t>1991–2000</a:t>
            </a:r>
            <a:endParaRPr lang="en-US" sz="900" dirty="0"/>
          </a:p>
        </p:txBody>
      </p:sp>
      <p:sp>
        <p:nvSpPr>
          <p:cNvPr id="26" name="Text 24"/>
          <p:cNvSpPr txBox="1"/>
          <p:nvPr/>
        </p:nvSpPr>
        <p:spPr>
          <a:xfrm>
            <a:off x="9875520" y="4215384"/>
            <a:ext cx="1664208" cy="19476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Python, C#</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2000" cy="960120"/>
          </a:xfrm>
          <a:prstGeom prst="rect">
            <a:avLst/>
          </a:prstGeom>
          <a:solidFill>
            <a:srgbClr val="1A2B5E"/>
          </a:solidFill>
          <a:ln/>
        </p:spPr>
        <p:txBody>
          <a:bodyPr/>
          <a:lstStyle/>
          <a:p>
            <a:endParaRPr lang="en-US"/>
          </a:p>
        </p:txBody>
      </p:sp>
      <p:sp>
        <p:nvSpPr>
          <p:cNvPr id="3" name="Text 1"/>
          <p:cNvSpPr txBox="1"/>
          <p:nvPr/>
        </p:nvSpPr>
        <p:spPr>
          <a:xfrm>
            <a:off x="411480" y="137160"/>
            <a:ext cx="1051560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Evolution: The First Three Steps</a:t>
            </a:r>
            <a:endParaRPr lang="en-US" sz="2200" dirty="0"/>
          </a:p>
        </p:txBody>
      </p:sp>
      <p:sp>
        <p:nvSpPr>
          <p:cNvPr id="4" name="Text 2"/>
          <p:cNvSpPr txBox="1"/>
          <p:nvPr/>
        </p:nvSpPr>
        <p:spPr>
          <a:xfrm>
            <a:off x="10515600" y="292608"/>
            <a:ext cx="1417320" cy="347472"/>
          </a:xfrm>
          <a:prstGeom prst="rect">
            <a:avLst/>
          </a:prstGeom>
          <a:noFill/>
          <a:ln/>
        </p:spPr>
        <p:txBody>
          <a:bodyPr wrap="square" lIns="0" tIns="0" rIns="0" bIns="0" rtlCol="0" anchor="ctr"/>
          <a:lstStyle/>
          <a:p>
            <a:pPr marL="0" indent="0" algn="r">
              <a:buNone/>
            </a:pPr>
            <a:r>
              <a:rPr lang="en-US" sz="1000" dirty="0">
                <a:solidFill>
                  <a:srgbClr val="7A90B8"/>
                </a:solidFill>
                <a:latin typeface="Calibri" pitchFamily="34" charset="0"/>
                <a:ea typeface="Calibri" pitchFamily="34" charset="-122"/>
                <a:cs typeface="Calibri" pitchFamily="34" charset="-120"/>
              </a:rPr>
              <a:t>Section 3</a:t>
            </a:r>
            <a:endParaRPr lang="en-US" sz="1000" dirty="0"/>
          </a:p>
        </p:txBody>
      </p:sp>
      <p:sp>
        <p:nvSpPr>
          <p:cNvPr id="5" name="Shape 3"/>
          <p:cNvSpPr/>
          <p:nvPr/>
        </p:nvSpPr>
        <p:spPr>
          <a:xfrm>
            <a:off x="411480" y="1051560"/>
            <a:ext cx="3703320" cy="5257800"/>
          </a:xfrm>
          <a:prstGeom prst="rect">
            <a:avLst/>
          </a:prstGeom>
          <a:solidFill>
            <a:srgbClr val="F4F6FC"/>
          </a:solidFill>
          <a:ln w="12700">
            <a:solidFill>
              <a:srgbClr val="D0DAF0"/>
            </a:solidFill>
            <a:prstDash val="solid"/>
          </a:ln>
        </p:spPr>
        <p:txBody>
          <a:bodyPr/>
          <a:lstStyle/>
          <a:p>
            <a:endParaRPr lang="en-US"/>
          </a:p>
        </p:txBody>
      </p:sp>
      <p:sp>
        <p:nvSpPr>
          <p:cNvPr id="6" name="Text 4"/>
          <p:cNvSpPr txBox="1"/>
          <p:nvPr/>
        </p:nvSpPr>
        <p:spPr>
          <a:xfrm>
            <a:off x="548640" y="1143000"/>
            <a:ext cx="3383280" cy="219456"/>
          </a:xfrm>
          <a:prstGeom prst="rect">
            <a:avLst/>
          </a:prstGeom>
          <a:noFill/>
          <a:ln/>
        </p:spPr>
        <p:txBody>
          <a:bodyPr wrap="square" lIns="0" tIns="0" rIns="0" bIns="0" rtlCol="0" anchor="ctr"/>
          <a:lstStyle/>
          <a:p>
            <a:pPr marL="0" indent="0">
              <a:buNone/>
            </a:pPr>
            <a:r>
              <a:rPr lang="en-US" sz="1000" dirty="0">
                <a:solidFill>
                  <a:srgbClr val="5A6A82"/>
                </a:solidFill>
                <a:latin typeface="Calibri" pitchFamily="34" charset="0"/>
                <a:ea typeface="Calibri" pitchFamily="34" charset="-122"/>
                <a:cs typeface="Calibri" pitchFamily="34" charset="-120"/>
              </a:rPr>
              <a:t>1940s</a:t>
            </a:r>
            <a:endParaRPr lang="en-US" sz="1000" dirty="0"/>
          </a:p>
        </p:txBody>
      </p:sp>
      <p:sp>
        <p:nvSpPr>
          <p:cNvPr id="7" name="Text 5"/>
          <p:cNvSpPr txBox="1"/>
          <p:nvPr/>
        </p:nvSpPr>
        <p:spPr>
          <a:xfrm>
            <a:off x="548640" y="1371600"/>
            <a:ext cx="3383280" cy="347472"/>
          </a:xfrm>
          <a:prstGeom prst="rect">
            <a:avLst/>
          </a:prstGeom>
          <a:noFill/>
          <a:ln/>
        </p:spPr>
        <p:txBody>
          <a:bodyPr wrap="square" lIns="0" tIns="0" rIns="0" bIns="0" rtlCol="0" anchor="ctr"/>
          <a:lstStyle/>
          <a:p>
            <a:pPr marL="0" indent="0">
              <a:buNone/>
            </a:pPr>
            <a:r>
              <a:rPr lang="en-US" sz="1400" b="1" dirty="0">
                <a:solidFill>
                  <a:srgbClr val="1A2B5E"/>
                </a:solidFill>
                <a:latin typeface="Calibri" pitchFamily="34" charset="0"/>
                <a:ea typeface="Calibri" pitchFamily="34" charset="-122"/>
                <a:cs typeface="Calibri" pitchFamily="34" charset="-120"/>
              </a:rPr>
              <a:t>Machine Code</a:t>
            </a:r>
            <a:endParaRPr lang="en-US" sz="1400" dirty="0"/>
          </a:p>
        </p:txBody>
      </p:sp>
      <p:sp>
        <p:nvSpPr>
          <p:cNvPr id="8" name="Text 6"/>
          <p:cNvSpPr txBox="1"/>
          <p:nvPr/>
        </p:nvSpPr>
        <p:spPr>
          <a:xfrm>
            <a:off x="548640" y="1755648"/>
            <a:ext cx="3383280" cy="1005840"/>
          </a:xfrm>
          <a:prstGeom prst="rect">
            <a:avLst/>
          </a:prstGeom>
          <a:noFill/>
          <a:ln/>
        </p:spPr>
        <p:txBody>
          <a:bodyPr wrap="square" lIns="0" tIns="0" rIns="0" bIns="0" rtlCol="0" anchor="ctr"/>
          <a:lstStyle/>
          <a:p>
            <a:pPr marL="0" indent="0">
              <a:buNone/>
            </a:pPr>
            <a:r>
              <a:rPr lang="en-US" sz="1050" dirty="0">
                <a:solidFill>
                  <a:srgbClr val="1E2A3A"/>
                </a:solidFill>
                <a:latin typeface="Calibri" pitchFamily="34" charset="0"/>
                <a:ea typeface="Calibri" pitchFamily="34" charset="-122"/>
                <a:cs typeface="Calibri" pitchFamily="34" charset="-120"/>
              </a:rPr>
              <a:t>Programs entered as raw binary — sometimes by physically rewiring cables (ENIAC). No abstraction. Directly commanding electrical circuits.</a:t>
            </a:r>
            <a:endParaRPr lang="en-US" sz="1050" dirty="0"/>
          </a:p>
        </p:txBody>
      </p:sp>
      <p:sp>
        <p:nvSpPr>
          <p:cNvPr id="9" name="Shape 7"/>
          <p:cNvSpPr/>
          <p:nvPr/>
        </p:nvSpPr>
        <p:spPr>
          <a:xfrm>
            <a:off x="548640" y="2816352"/>
            <a:ext cx="3383280" cy="841248"/>
          </a:xfrm>
          <a:prstGeom prst="rect">
            <a:avLst/>
          </a:prstGeom>
          <a:solidFill>
            <a:srgbClr val="EEF1FA"/>
          </a:solidFill>
          <a:ln w="12700">
            <a:solidFill>
              <a:srgbClr val="D0DAF0"/>
            </a:solidFill>
            <a:prstDash val="solid"/>
          </a:ln>
        </p:spPr>
        <p:txBody>
          <a:bodyPr/>
          <a:lstStyle/>
          <a:p>
            <a:endParaRPr lang="en-US"/>
          </a:p>
        </p:txBody>
      </p:sp>
      <p:sp>
        <p:nvSpPr>
          <p:cNvPr id="10" name="Text 8"/>
          <p:cNvSpPr txBox="1"/>
          <p:nvPr/>
        </p:nvSpPr>
        <p:spPr>
          <a:xfrm>
            <a:off x="548640" y="2560320"/>
            <a:ext cx="3383280" cy="237744"/>
          </a:xfrm>
          <a:prstGeom prst="rect">
            <a:avLst/>
          </a:prstGeom>
          <a:noFill/>
          <a:ln/>
        </p:spPr>
        <p:txBody>
          <a:bodyPr wrap="square" lIns="0" tIns="0" rIns="0" bIns="0" rtlCol="0" anchor="ctr"/>
          <a:lstStyle/>
          <a:p>
            <a:pPr marL="0" indent="0">
              <a:buNone/>
            </a:pPr>
            <a:r>
              <a:rPr lang="en-US" sz="1000" dirty="0">
                <a:solidFill>
                  <a:srgbClr val="5A6A82"/>
                </a:solidFill>
                <a:latin typeface="Calibri" pitchFamily="34" charset="0"/>
                <a:ea typeface="Calibri" pitchFamily="34" charset="-122"/>
                <a:cs typeface="Calibri" pitchFamily="34" charset="-120"/>
              </a:rPr>
              <a:t>Example</a:t>
            </a:r>
            <a:endParaRPr lang="en-US" sz="1000" dirty="0"/>
          </a:p>
        </p:txBody>
      </p:sp>
      <p:sp>
        <p:nvSpPr>
          <p:cNvPr id="11" name="Text 9"/>
          <p:cNvSpPr txBox="1"/>
          <p:nvPr/>
        </p:nvSpPr>
        <p:spPr>
          <a:xfrm>
            <a:off x="658368" y="2889504"/>
            <a:ext cx="3200400" cy="694944"/>
          </a:xfrm>
          <a:prstGeom prst="rect">
            <a:avLst/>
          </a:prstGeom>
          <a:noFill/>
          <a:ln/>
        </p:spPr>
        <p:txBody>
          <a:bodyPr wrap="square" lIns="0" tIns="0" rIns="0" bIns="0" rtlCol="0" anchor="ctr"/>
          <a:lstStyle/>
          <a:p>
            <a:pPr marL="0" indent="0">
              <a:buNone/>
            </a:pPr>
            <a:r>
              <a:rPr lang="en-US" sz="1050" dirty="0">
                <a:solidFill>
                  <a:srgbClr val="1A2B5E"/>
                </a:solidFill>
                <a:latin typeface="Courier New" pitchFamily="34" charset="0"/>
                <a:ea typeface="Courier New" pitchFamily="34" charset="-122"/>
                <a:cs typeface="Courier New" pitchFamily="34" charset="-120"/>
              </a:rPr>
              <a:t>10111000 00000101</a:t>
            </a:r>
            <a:endParaRPr lang="en-US" sz="1050" dirty="0"/>
          </a:p>
          <a:p>
            <a:pPr marL="0" indent="0">
              <a:buNone/>
            </a:pPr>
            <a:r>
              <a:rPr lang="en-US" sz="1050" dirty="0">
                <a:solidFill>
                  <a:srgbClr val="1A2B5E"/>
                </a:solidFill>
                <a:latin typeface="Courier New" pitchFamily="34" charset="0"/>
                <a:ea typeface="Courier New" pitchFamily="34" charset="-122"/>
                <a:cs typeface="Courier New" pitchFamily="34" charset="-120"/>
              </a:rPr>
              <a:t>10111011 00000011</a:t>
            </a:r>
            <a:endParaRPr lang="en-US" sz="1050" dirty="0"/>
          </a:p>
          <a:p>
            <a:pPr marL="0" indent="0">
              <a:buNone/>
            </a:pPr>
            <a:r>
              <a:rPr lang="en-US" sz="1050" dirty="0">
                <a:solidFill>
                  <a:srgbClr val="1A2B5E"/>
                </a:solidFill>
                <a:latin typeface="Courier New" pitchFamily="34" charset="0"/>
                <a:ea typeface="Courier New" pitchFamily="34" charset="-122"/>
                <a:cs typeface="Courier New" pitchFamily="34" charset="-120"/>
              </a:rPr>
              <a:t>00000001 11011000</a:t>
            </a:r>
            <a:endParaRPr lang="en-US" sz="1050" dirty="0"/>
          </a:p>
        </p:txBody>
      </p:sp>
      <p:sp>
        <p:nvSpPr>
          <p:cNvPr id="12" name="Shape 10"/>
          <p:cNvSpPr/>
          <p:nvPr/>
        </p:nvSpPr>
        <p:spPr>
          <a:xfrm>
            <a:off x="548640" y="3767328"/>
            <a:ext cx="3383280" cy="347472"/>
          </a:xfrm>
          <a:prstGeom prst="rect">
            <a:avLst/>
          </a:prstGeom>
          <a:solidFill>
            <a:srgbClr val="EAF7EE"/>
          </a:solidFill>
          <a:ln w="12700">
            <a:solidFill>
              <a:srgbClr val="6EE7B7"/>
            </a:solidFill>
            <a:prstDash val="solid"/>
          </a:ln>
        </p:spPr>
        <p:txBody>
          <a:bodyPr/>
          <a:lstStyle/>
          <a:p>
            <a:endParaRPr lang="en-US"/>
          </a:p>
        </p:txBody>
      </p:sp>
      <p:sp>
        <p:nvSpPr>
          <p:cNvPr id="13" name="Text 11"/>
          <p:cNvSpPr txBox="1"/>
          <p:nvPr/>
        </p:nvSpPr>
        <p:spPr>
          <a:xfrm>
            <a:off x="640080" y="3803904"/>
            <a:ext cx="3246120" cy="274320"/>
          </a:xfrm>
          <a:prstGeom prst="rect">
            <a:avLst/>
          </a:prstGeom>
          <a:noFill/>
          <a:ln/>
        </p:spPr>
        <p:txBody>
          <a:bodyPr wrap="square" lIns="0" tIns="0" rIns="0" bIns="0" rtlCol="0" anchor="ctr"/>
          <a:lstStyle/>
          <a:p>
            <a:pPr marL="0" indent="0">
              <a:buNone/>
            </a:pPr>
            <a:r>
              <a:rPr lang="en-US" sz="1050" dirty="0">
                <a:solidFill>
                  <a:srgbClr val="1A7A3C"/>
                </a:solidFill>
                <a:latin typeface="Calibri" pitchFamily="34" charset="0"/>
                <a:ea typeface="Calibri" pitchFamily="34" charset="-122"/>
                <a:cs typeface="Calibri" pitchFamily="34" charset="-120"/>
              </a:rPr>
              <a:t>✓  Direct hardware control, maximum speed</a:t>
            </a:r>
            <a:endParaRPr lang="en-US" sz="1050" dirty="0"/>
          </a:p>
        </p:txBody>
      </p:sp>
      <p:sp>
        <p:nvSpPr>
          <p:cNvPr id="14" name="Shape 12"/>
          <p:cNvSpPr/>
          <p:nvPr/>
        </p:nvSpPr>
        <p:spPr>
          <a:xfrm>
            <a:off x="548640" y="4160520"/>
            <a:ext cx="3383280" cy="347472"/>
          </a:xfrm>
          <a:prstGeom prst="rect">
            <a:avLst/>
          </a:prstGeom>
          <a:solidFill>
            <a:srgbClr val="FEF2F2"/>
          </a:solidFill>
          <a:ln w="12700">
            <a:solidFill>
              <a:srgbClr val="FCA5A5"/>
            </a:solidFill>
            <a:prstDash val="solid"/>
          </a:ln>
        </p:spPr>
        <p:txBody>
          <a:bodyPr/>
          <a:lstStyle/>
          <a:p>
            <a:endParaRPr lang="en-US"/>
          </a:p>
        </p:txBody>
      </p:sp>
      <p:sp>
        <p:nvSpPr>
          <p:cNvPr id="15" name="Text 13"/>
          <p:cNvSpPr txBox="1"/>
          <p:nvPr/>
        </p:nvSpPr>
        <p:spPr>
          <a:xfrm>
            <a:off x="640080" y="4197096"/>
            <a:ext cx="3246120" cy="274320"/>
          </a:xfrm>
          <a:prstGeom prst="rect">
            <a:avLst/>
          </a:prstGeom>
          <a:noFill/>
          <a:ln/>
        </p:spPr>
        <p:txBody>
          <a:bodyPr wrap="square" lIns="0" tIns="0" rIns="0" bIns="0" rtlCol="0" anchor="ctr"/>
          <a:lstStyle/>
          <a:p>
            <a:pPr marL="0" indent="0">
              <a:buNone/>
            </a:pPr>
            <a:r>
              <a:rPr lang="en-US" sz="1050" dirty="0">
                <a:solidFill>
                  <a:srgbClr val="9B1C1C"/>
                </a:solidFill>
                <a:latin typeface="Calibri" pitchFamily="34" charset="0"/>
                <a:ea typeface="Calibri" pitchFamily="34" charset="-122"/>
                <a:cs typeface="Calibri" pitchFamily="34" charset="-120"/>
              </a:rPr>
              <a:t>✗  Error-prone, unreadable, non-portable, impossible to scale</a:t>
            </a:r>
            <a:endParaRPr lang="en-US" sz="1050" dirty="0"/>
          </a:p>
        </p:txBody>
      </p:sp>
      <p:sp>
        <p:nvSpPr>
          <p:cNvPr id="16" name="Shape 14"/>
          <p:cNvSpPr/>
          <p:nvPr/>
        </p:nvSpPr>
        <p:spPr>
          <a:xfrm>
            <a:off x="4343400" y="1051560"/>
            <a:ext cx="3703320" cy="5257800"/>
          </a:xfrm>
          <a:prstGeom prst="rect">
            <a:avLst/>
          </a:prstGeom>
          <a:solidFill>
            <a:srgbClr val="F4F6FC"/>
          </a:solidFill>
          <a:ln w="12700">
            <a:solidFill>
              <a:srgbClr val="D0DAF0"/>
            </a:solidFill>
            <a:prstDash val="solid"/>
          </a:ln>
        </p:spPr>
        <p:txBody>
          <a:bodyPr/>
          <a:lstStyle/>
          <a:p>
            <a:endParaRPr lang="en-US"/>
          </a:p>
        </p:txBody>
      </p:sp>
      <p:sp>
        <p:nvSpPr>
          <p:cNvPr id="17" name="Text 15"/>
          <p:cNvSpPr txBox="1"/>
          <p:nvPr/>
        </p:nvSpPr>
        <p:spPr>
          <a:xfrm>
            <a:off x="4480560" y="1143000"/>
            <a:ext cx="3383280" cy="219456"/>
          </a:xfrm>
          <a:prstGeom prst="rect">
            <a:avLst/>
          </a:prstGeom>
          <a:noFill/>
          <a:ln/>
        </p:spPr>
        <p:txBody>
          <a:bodyPr wrap="square" lIns="0" tIns="0" rIns="0" bIns="0" rtlCol="0" anchor="ctr"/>
          <a:lstStyle/>
          <a:p>
            <a:pPr marL="0" indent="0">
              <a:buNone/>
            </a:pPr>
            <a:r>
              <a:rPr lang="en-US" sz="1000" dirty="0">
                <a:solidFill>
                  <a:srgbClr val="5A6A82"/>
                </a:solidFill>
                <a:latin typeface="Calibri" pitchFamily="34" charset="0"/>
                <a:ea typeface="Calibri" pitchFamily="34" charset="-122"/>
                <a:cs typeface="Calibri" pitchFamily="34" charset="-120"/>
              </a:rPr>
              <a:t>1950s</a:t>
            </a:r>
            <a:endParaRPr lang="en-US" sz="1000" dirty="0"/>
          </a:p>
        </p:txBody>
      </p:sp>
      <p:sp>
        <p:nvSpPr>
          <p:cNvPr id="18" name="Text 16"/>
          <p:cNvSpPr txBox="1"/>
          <p:nvPr/>
        </p:nvSpPr>
        <p:spPr>
          <a:xfrm>
            <a:off x="4480560" y="1371600"/>
            <a:ext cx="3383280" cy="347472"/>
          </a:xfrm>
          <a:prstGeom prst="rect">
            <a:avLst/>
          </a:prstGeom>
          <a:noFill/>
          <a:ln/>
        </p:spPr>
        <p:txBody>
          <a:bodyPr wrap="square" lIns="0" tIns="0" rIns="0" bIns="0" rtlCol="0" anchor="ctr"/>
          <a:lstStyle/>
          <a:p>
            <a:pPr marL="0" indent="0">
              <a:buNone/>
            </a:pPr>
            <a:r>
              <a:rPr lang="en-US" sz="1400" b="1" dirty="0">
                <a:solidFill>
                  <a:srgbClr val="1A2B5E"/>
                </a:solidFill>
                <a:latin typeface="Calibri" pitchFamily="34" charset="0"/>
                <a:ea typeface="Calibri" pitchFamily="34" charset="-122"/>
                <a:cs typeface="Calibri" pitchFamily="34" charset="-120"/>
              </a:rPr>
              <a:t>Assembly Language</a:t>
            </a:r>
            <a:endParaRPr lang="en-US" sz="1400" dirty="0"/>
          </a:p>
        </p:txBody>
      </p:sp>
      <p:sp>
        <p:nvSpPr>
          <p:cNvPr id="19" name="Text 17"/>
          <p:cNvSpPr txBox="1"/>
          <p:nvPr/>
        </p:nvSpPr>
        <p:spPr>
          <a:xfrm>
            <a:off x="4480560" y="1755648"/>
            <a:ext cx="3383280" cy="1005840"/>
          </a:xfrm>
          <a:prstGeom prst="rect">
            <a:avLst/>
          </a:prstGeom>
          <a:noFill/>
          <a:ln/>
        </p:spPr>
        <p:txBody>
          <a:bodyPr wrap="square" lIns="0" tIns="0" rIns="0" bIns="0" rtlCol="0" anchor="ctr"/>
          <a:lstStyle/>
          <a:p>
            <a:pPr marL="0" indent="0">
              <a:buNone/>
            </a:pPr>
            <a:r>
              <a:rPr lang="en-US" sz="1050" dirty="0">
                <a:solidFill>
                  <a:srgbClr val="1E2A3A"/>
                </a:solidFill>
                <a:latin typeface="Calibri" pitchFamily="34" charset="0"/>
                <a:ea typeface="Calibri" pitchFamily="34" charset="-122"/>
                <a:cs typeface="Calibri" pitchFamily="34" charset="-120"/>
              </a:rPr>
              <a:t>Human-readable mnemonics replace byte codes. An assembler translates them automatically. Still 1-to-1: one assembly line = one machine instruction.</a:t>
            </a:r>
            <a:endParaRPr lang="en-US" sz="1050" dirty="0"/>
          </a:p>
        </p:txBody>
      </p:sp>
      <p:sp>
        <p:nvSpPr>
          <p:cNvPr id="20" name="Shape 18"/>
          <p:cNvSpPr/>
          <p:nvPr/>
        </p:nvSpPr>
        <p:spPr>
          <a:xfrm>
            <a:off x="4480560" y="2816352"/>
            <a:ext cx="3383280" cy="841248"/>
          </a:xfrm>
          <a:prstGeom prst="rect">
            <a:avLst/>
          </a:prstGeom>
          <a:solidFill>
            <a:srgbClr val="EEF1FA"/>
          </a:solidFill>
          <a:ln w="12700">
            <a:solidFill>
              <a:srgbClr val="D0DAF0"/>
            </a:solidFill>
            <a:prstDash val="solid"/>
          </a:ln>
        </p:spPr>
        <p:txBody>
          <a:bodyPr/>
          <a:lstStyle/>
          <a:p>
            <a:endParaRPr lang="en-US"/>
          </a:p>
        </p:txBody>
      </p:sp>
      <p:sp>
        <p:nvSpPr>
          <p:cNvPr id="21" name="Text 19"/>
          <p:cNvSpPr txBox="1"/>
          <p:nvPr/>
        </p:nvSpPr>
        <p:spPr>
          <a:xfrm>
            <a:off x="4480560" y="2560320"/>
            <a:ext cx="3383280" cy="237744"/>
          </a:xfrm>
          <a:prstGeom prst="rect">
            <a:avLst/>
          </a:prstGeom>
          <a:noFill/>
          <a:ln/>
        </p:spPr>
        <p:txBody>
          <a:bodyPr wrap="square" lIns="0" tIns="0" rIns="0" bIns="0" rtlCol="0" anchor="ctr"/>
          <a:lstStyle/>
          <a:p>
            <a:pPr marL="0" indent="0">
              <a:buNone/>
            </a:pPr>
            <a:r>
              <a:rPr lang="en-US" sz="1000" dirty="0">
                <a:solidFill>
                  <a:srgbClr val="5A6A82"/>
                </a:solidFill>
                <a:latin typeface="Calibri" pitchFamily="34" charset="0"/>
                <a:ea typeface="Calibri" pitchFamily="34" charset="-122"/>
                <a:cs typeface="Calibri" pitchFamily="34" charset="-120"/>
              </a:rPr>
              <a:t>Example</a:t>
            </a:r>
            <a:endParaRPr lang="en-US" sz="1000" dirty="0"/>
          </a:p>
        </p:txBody>
      </p:sp>
      <p:sp>
        <p:nvSpPr>
          <p:cNvPr id="22" name="Text 20"/>
          <p:cNvSpPr txBox="1"/>
          <p:nvPr/>
        </p:nvSpPr>
        <p:spPr>
          <a:xfrm>
            <a:off x="4590288" y="2889504"/>
            <a:ext cx="3200400" cy="694944"/>
          </a:xfrm>
          <a:prstGeom prst="rect">
            <a:avLst/>
          </a:prstGeom>
          <a:noFill/>
          <a:ln/>
        </p:spPr>
        <p:txBody>
          <a:bodyPr wrap="square" lIns="0" tIns="0" rIns="0" bIns="0" rtlCol="0" anchor="ctr"/>
          <a:lstStyle/>
          <a:p>
            <a:pPr marL="0" indent="0">
              <a:buNone/>
            </a:pPr>
            <a:r>
              <a:rPr lang="en-US" sz="1050" dirty="0">
                <a:solidFill>
                  <a:srgbClr val="1A2B5E"/>
                </a:solidFill>
                <a:latin typeface="Courier New" pitchFamily="34" charset="0"/>
                <a:ea typeface="Courier New" pitchFamily="34" charset="-122"/>
                <a:cs typeface="Courier New" pitchFamily="34" charset="-120"/>
              </a:rPr>
              <a:t>MOV EAX, 5</a:t>
            </a:r>
            <a:endParaRPr lang="en-US" sz="1050" dirty="0"/>
          </a:p>
          <a:p>
            <a:pPr marL="0" indent="0">
              <a:buNone/>
            </a:pPr>
            <a:r>
              <a:rPr lang="en-US" sz="1050" dirty="0">
                <a:solidFill>
                  <a:srgbClr val="1A2B5E"/>
                </a:solidFill>
                <a:latin typeface="Courier New" pitchFamily="34" charset="0"/>
                <a:ea typeface="Courier New" pitchFamily="34" charset="-122"/>
                <a:cs typeface="Courier New" pitchFamily="34" charset="-120"/>
              </a:rPr>
              <a:t>MOV EBX, 3</a:t>
            </a:r>
            <a:endParaRPr lang="en-US" sz="1050" dirty="0"/>
          </a:p>
          <a:p>
            <a:pPr marL="0" indent="0">
              <a:buNone/>
            </a:pPr>
            <a:r>
              <a:rPr lang="en-US" sz="1050" dirty="0">
                <a:solidFill>
                  <a:srgbClr val="1A2B5E"/>
                </a:solidFill>
                <a:latin typeface="Courier New" pitchFamily="34" charset="0"/>
                <a:ea typeface="Courier New" pitchFamily="34" charset="-122"/>
                <a:cs typeface="Courier New" pitchFamily="34" charset="-120"/>
              </a:rPr>
              <a:t>ADD EAX, EBX</a:t>
            </a:r>
            <a:endParaRPr lang="en-US" sz="1050" dirty="0"/>
          </a:p>
        </p:txBody>
      </p:sp>
      <p:sp>
        <p:nvSpPr>
          <p:cNvPr id="23" name="Shape 21"/>
          <p:cNvSpPr/>
          <p:nvPr/>
        </p:nvSpPr>
        <p:spPr>
          <a:xfrm>
            <a:off x="4480560" y="3767328"/>
            <a:ext cx="3383280" cy="347472"/>
          </a:xfrm>
          <a:prstGeom prst="rect">
            <a:avLst/>
          </a:prstGeom>
          <a:solidFill>
            <a:srgbClr val="EAF7EE"/>
          </a:solidFill>
          <a:ln w="12700">
            <a:solidFill>
              <a:srgbClr val="6EE7B7"/>
            </a:solidFill>
            <a:prstDash val="solid"/>
          </a:ln>
        </p:spPr>
        <p:txBody>
          <a:bodyPr/>
          <a:lstStyle/>
          <a:p>
            <a:endParaRPr lang="en-US"/>
          </a:p>
        </p:txBody>
      </p:sp>
      <p:sp>
        <p:nvSpPr>
          <p:cNvPr id="24" name="Text 22"/>
          <p:cNvSpPr txBox="1"/>
          <p:nvPr/>
        </p:nvSpPr>
        <p:spPr>
          <a:xfrm>
            <a:off x="4572000" y="3803904"/>
            <a:ext cx="3246120" cy="274320"/>
          </a:xfrm>
          <a:prstGeom prst="rect">
            <a:avLst/>
          </a:prstGeom>
          <a:noFill/>
          <a:ln/>
        </p:spPr>
        <p:txBody>
          <a:bodyPr wrap="square" lIns="0" tIns="0" rIns="0" bIns="0" rtlCol="0" anchor="ctr"/>
          <a:lstStyle/>
          <a:p>
            <a:pPr marL="0" indent="0">
              <a:buNone/>
            </a:pPr>
            <a:r>
              <a:rPr lang="en-US" sz="1050" dirty="0">
                <a:solidFill>
                  <a:srgbClr val="1A7A3C"/>
                </a:solidFill>
                <a:latin typeface="Calibri" pitchFamily="34" charset="0"/>
                <a:ea typeface="Calibri" pitchFamily="34" charset="-122"/>
                <a:cs typeface="Calibri" pitchFamily="34" charset="-120"/>
              </a:rPr>
              <a:t>✓  Readability improved. Far fewer transcription errors.</a:t>
            </a:r>
            <a:endParaRPr lang="en-US" sz="1050" dirty="0"/>
          </a:p>
        </p:txBody>
      </p:sp>
      <p:sp>
        <p:nvSpPr>
          <p:cNvPr id="25" name="Shape 23"/>
          <p:cNvSpPr/>
          <p:nvPr/>
        </p:nvSpPr>
        <p:spPr>
          <a:xfrm>
            <a:off x="4480560" y="4160520"/>
            <a:ext cx="3383280" cy="347472"/>
          </a:xfrm>
          <a:prstGeom prst="rect">
            <a:avLst/>
          </a:prstGeom>
          <a:solidFill>
            <a:srgbClr val="FEF2F2"/>
          </a:solidFill>
          <a:ln w="12700">
            <a:solidFill>
              <a:srgbClr val="FCA5A5"/>
            </a:solidFill>
            <a:prstDash val="solid"/>
          </a:ln>
        </p:spPr>
        <p:txBody>
          <a:bodyPr/>
          <a:lstStyle/>
          <a:p>
            <a:endParaRPr lang="en-US"/>
          </a:p>
        </p:txBody>
      </p:sp>
      <p:sp>
        <p:nvSpPr>
          <p:cNvPr id="26" name="Text 24"/>
          <p:cNvSpPr txBox="1"/>
          <p:nvPr/>
        </p:nvSpPr>
        <p:spPr>
          <a:xfrm>
            <a:off x="4572000" y="4197096"/>
            <a:ext cx="3246120" cy="274320"/>
          </a:xfrm>
          <a:prstGeom prst="rect">
            <a:avLst/>
          </a:prstGeom>
          <a:noFill/>
          <a:ln/>
        </p:spPr>
        <p:txBody>
          <a:bodyPr wrap="square" lIns="0" tIns="0" rIns="0" bIns="0" rtlCol="0" anchor="ctr"/>
          <a:lstStyle/>
          <a:p>
            <a:pPr marL="0" indent="0">
              <a:buNone/>
            </a:pPr>
            <a:r>
              <a:rPr lang="en-US" sz="1050" dirty="0">
                <a:solidFill>
                  <a:srgbClr val="9B1C1C"/>
                </a:solidFill>
                <a:latin typeface="Calibri" pitchFamily="34" charset="0"/>
                <a:ea typeface="Calibri" pitchFamily="34" charset="-122"/>
                <a:cs typeface="Calibri" pitchFamily="34" charset="-120"/>
              </a:rPr>
              <a:t>✗  Still hardware-specific. Still manual register management. Still verbose.</a:t>
            </a:r>
            <a:endParaRPr lang="en-US" sz="1050" dirty="0"/>
          </a:p>
        </p:txBody>
      </p:sp>
      <p:sp>
        <p:nvSpPr>
          <p:cNvPr id="27" name="Shape 25"/>
          <p:cNvSpPr/>
          <p:nvPr/>
        </p:nvSpPr>
        <p:spPr>
          <a:xfrm>
            <a:off x="8275320" y="1051560"/>
            <a:ext cx="3703320" cy="5257800"/>
          </a:xfrm>
          <a:prstGeom prst="rect">
            <a:avLst/>
          </a:prstGeom>
          <a:solidFill>
            <a:srgbClr val="F4F6FC"/>
          </a:solidFill>
          <a:ln w="12700">
            <a:solidFill>
              <a:srgbClr val="D0DAF0"/>
            </a:solidFill>
            <a:prstDash val="solid"/>
          </a:ln>
        </p:spPr>
        <p:txBody>
          <a:bodyPr/>
          <a:lstStyle/>
          <a:p>
            <a:endParaRPr lang="en-US"/>
          </a:p>
        </p:txBody>
      </p:sp>
      <p:sp>
        <p:nvSpPr>
          <p:cNvPr id="28" name="Text 26"/>
          <p:cNvSpPr txBox="1"/>
          <p:nvPr/>
        </p:nvSpPr>
        <p:spPr>
          <a:xfrm>
            <a:off x="8412480" y="1143000"/>
            <a:ext cx="3383280" cy="219456"/>
          </a:xfrm>
          <a:prstGeom prst="rect">
            <a:avLst/>
          </a:prstGeom>
          <a:noFill/>
          <a:ln/>
        </p:spPr>
        <p:txBody>
          <a:bodyPr wrap="square" lIns="0" tIns="0" rIns="0" bIns="0" rtlCol="0" anchor="ctr"/>
          <a:lstStyle/>
          <a:p>
            <a:pPr marL="0" indent="0">
              <a:buNone/>
            </a:pPr>
            <a:r>
              <a:rPr lang="en-US" sz="1000" dirty="0">
                <a:solidFill>
                  <a:srgbClr val="5A6A82"/>
                </a:solidFill>
                <a:latin typeface="Calibri" pitchFamily="34" charset="0"/>
                <a:ea typeface="Calibri" pitchFamily="34" charset="-122"/>
                <a:cs typeface="Calibri" pitchFamily="34" charset="-120"/>
              </a:rPr>
              <a:t>1957–1970</a:t>
            </a:r>
            <a:endParaRPr lang="en-US" sz="1000" dirty="0"/>
          </a:p>
        </p:txBody>
      </p:sp>
      <p:sp>
        <p:nvSpPr>
          <p:cNvPr id="29" name="Text 27"/>
          <p:cNvSpPr txBox="1"/>
          <p:nvPr/>
        </p:nvSpPr>
        <p:spPr>
          <a:xfrm>
            <a:off x="8412480" y="1371600"/>
            <a:ext cx="3383280" cy="347472"/>
          </a:xfrm>
          <a:prstGeom prst="rect">
            <a:avLst/>
          </a:prstGeom>
          <a:noFill/>
          <a:ln/>
        </p:spPr>
        <p:txBody>
          <a:bodyPr wrap="square" lIns="0" tIns="0" rIns="0" bIns="0" rtlCol="0" anchor="ctr"/>
          <a:lstStyle/>
          <a:p>
            <a:pPr marL="0" indent="0">
              <a:buNone/>
            </a:pPr>
            <a:r>
              <a:rPr lang="en-US" sz="1400" b="1" dirty="0">
                <a:solidFill>
                  <a:srgbClr val="1A2B5E"/>
                </a:solidFill>
                <a:latin typeface="Calibri" pitchFamily="34" charset="0"/>
                <a:ea typeface="Calibri" pitchFamily="34" charset="-122"/>
                <a:cs typeface="Calibri" pitchFamily="34" charset="-120"/>
              </a:rPr>
              <a:t>FORTRAN / COBOL / LISP</a:t>
            </a:r>
            <a:endParaRPr lang="en-US" sz="1400" dirty="0"/>
          </a:p>
        </p:txBody>
      </p:sp>
      <p:sp>
        <p:nvSpPr>
          <p:cNvPr id="30" name="Text 28"/>
          <p:cNvSpPr txBox="1"/>
          <p:nvPr/>
        </p:nvSpPr>
        <p:spPr>
          <a:xfrm>
            <a:off x="8412480" y="1755648"/>
            <a:ext cx="3383280" cy="1005840"/>
          </a:xfrm>
          <a:prstGeom prst="rect">
            <a:avLst/>
          </a:prstGeom>
          <a:noFill/>
          <a:ln/>
        </p:spPr>
        <p:txBody>
          <a:bodyPr wrap="square" lIns="0" tIns="0" rIns="0" bIns="0" rtlCol="0" anchor="ctr"/>
          <a:lstStyle/>
          <a:p>
            <a:pPr marL="0" indent="0">
              <a:buNone/>
            </a:pPr>
            <a:r>
              <a:rPr lang="en-US" sz="1050" dirty="0">
                <a:solidFill>
                  <a:srgbClr val="1E2A3A"/>
                </a:solidFill>
                <a:latin typeface="Calibri" pitchFamily="34" charset="0"/>
                <a:ea typeface="Calibri" pitchFamily="34" charset="-122"/>
                <a:cs typeface="Calibri" pitchFamily="34" charset="-120"/>
              </a:rPr>
              <a:t>One high-level statement compiles into dozens of machine instructions. Programs become portable across different hardware for the first time.</a:t>
            </a:r>
            <a:endParaRPr lang="en-US" sz="1050" dirty="0"/>
          </a:p>
        </p:txBody>
      </p:sp>
      <p:sp>
        <p:nvSpPr>
          <p:cNvPr id="31" name="Shape 29"/>
          <p:cNvSpPr/>
          <p:nvPr/>
        </p:nvSpPr>
        <p:spPr>
          <a:xfrm>
            <a:off x="8412480" y="2816352"/>
            <a:ext cx="3383280" cy="841248"/>
          </a:xfrm>
          <a:prstGeom prst="rect">
            <a:avLst/>
          </a:prstGeom>
          <a:solidFill>
            <a:srgbClr val="EEF1FA"/>
          </a:solidFill>
          <a:ln w="12700">
            <a:solidFill>
              <a:srgbClr val="D0DAF0"/>
            </a:solidFill>
            <a:prstDash val="solid"/>
          </a:ln>
        </p:spPr>
        <p:txBody>
          <a:bodyPr/>
          <a:lstStyle/>
          <a:p>
            <a:endParaRPr lang="en-US"/>
          </a:p>
        </p:txBody>
      </p:sp>
      <p:sp>
        <p:nvSpPr>
          <p:cNvPr id="32" name="Text 30"/>
          <p:cNvSpPr txBox="1"/>
          <p:nvPr/>
        </p:nvSpPr>
        <p:spPr>
          <a:xfrm>
            <a:off x="8412480" y="2560320"/>
            <a:ext cx="3383280" cy="237744"/>
          </a:xfrm>
          <a:prstGeom prst="rect">
            <a:avLst/>
          </a:prstGeom>
          <a:noFill/>
          <a:ln/>
        </p:spPr>
        <p:txBody>
          <a:bodyPr wrap="square" lIns="0" tIns="0" rIns="0" bIns="0" rtlCol="0" anchor="ctr"/>
          <a:lstStyle/>
          <a:p>
            <a:pPr marL="0" indent="0">
              <a:buNone/>
            </a:pPr>
            <a:r>
              <a:rPr lang="en-US" sz="1000" dirty="0">
                <a:solidFill>
                  <a:srgbClr val="5A6A82"/>
                </a:solidFill>
                <a:latin typeface="Calibri" pitchFamily="34" charset="0"/>
                <a:ea typeface="Calibri" pitchFamily="34" charset="-122"/>
                <a:cs typeface="Calibri" pitchFamily="34" charset="-120"/>
              </a:rPr>
              <a:t>Example</a:t>
            </a:r>
            <a:endParaRPr lang="en-US" sz="1000" dirty="0"/>
          </a:p>
        </p:txBody>
      </p:sp>
      <p:sp>
        <p:nvSpPr>
          <p:cNvPr id="33" name="Text 31"/>
          <p:cNvSpPr txBox="1"/>
          <p:nvPr/>
        </p:nvSpPr>
        <p:spPr>
          <a:xfrm>
            <a:off x="8522208" y="2889504"/>
            <a:ext cx="3200400" cy="694944"/>
          </a:xfrm>
          <a:prstGeom prst="rect">
            <a:avLst/>
          </a:prstGeom>
          <a:noFill/>
          <a:ln/>
        </p:spPr>
        <p:txBody>
          <a:bodyPr wrap="square" lIns="0" tIns="0" rIns="0" bIns="0" rtlCol="0" anchor="ctr"/>
          <a:lstStyle/>
          <a:p>
            <a:pPr marL="0" indent="0">
              <a:buNone/>
            </a:pPr>
            <a:r>
              <a:rPr lang="en-US" sz="1050" dirty="0">
                <a:solidFill>
                  <a:srgbClr val="1A2B5E"/>
                </a:solidFill>
                <a:latin typeface="Courier New" pitchFamily="34" charset="0"/>
                <a:ea typeface="Courier New" pitchFamily="34" charset="-122"/>
                <a:cs typeface="Courier New" pitchFamily="34" charset="-120"/>
              </a:rPr>
              <a:t>Y = A * X + B</a:t>
            </a:r>
            <a:endParaRPr lang="en-US" sz="1050" dirty="0"/>
          </a:p>
          <a:p>
            <a:pPr marL="0" indent="0">
              <a:buNone/>
            </a:pPr>
            <a:r>
              <a:rPr lang="en-US" sz="1050" dirty="0">
                <a:solidFill>
                  <a:srgbClr val="1A2B5E"/>
                </a:solidFill>
                <a:latin typeface="Courier New" pitchFamily="34" charset="0"/>
                <a:ea typeface="Courier New" pitchFamily="34" charset="-122"/>
                <a:cs typeface="Courier New" pitchFamily="34" charset="-120"/>
              </a:rPr>
              <a:t>PRINT *, Y</a:t>
            </a:r>
            <a:endParaRPr lang="en-US" sz="1050" dirty="0"/>
          </a:p>
        </p:txBody>
      </p:sp>
      <p:sp>
        <p:nvSpPr>
          <p:cNvPr id="34" name="Shape 32"/>
          <p:cNvSpPr/>
          <p:nvPr/>
        </p:nvSpPr>
        <p:spPr>
          <a:xfrm>
            <a:off x="8412480" y="3767328"/>
            <a:ext cx="3383280" cy="347472"/>
          </a:xfrm>
          <a:prstGeom prst="rect">
            <a:avLst/>
          </a:prstGeom>
          <a:solidFill>
            <a:srgbClr val="EAF7EE"/>
          </a:solidFill>
          <a:ln w="12700">
            <a:solidFill>
              <a:srgbClr val="6EE7B7"/>
            </a:solidFill>
            <a:prstDash val="solid"/>
          </a:ln>
        </p:spPr>
        <p:txBody>
          <a:bodyPr/>
          <a:lstStyle/>
          <a:p>
            <a:endParaRPr lang="en-US"/>
          </a:p>
        </p:txBody>
      </p:sp>
      <p:sp>
        <p:nvSpPr>
          <p:cNvPr id="35" name="Text 33"/>
          <p:cNvSpPr txBox="1"/>
          <p:nvPr/>
        </p:nvSpPr>
        <p:spPr>
          <a:xfrm>
            <a:off x="8503920" y="3803904"/>
            <a:ext cx="3246120" cy="274320"/>
          </a:xfrm>
          <a:prstGeom prst="rect">
            <a:avLst/>
          </a:prstGeom>
          <a:noFill/>
          <a:ln/>
        </p:spPr>
        <p:txBody>
          <a:bodyPr wrap="square" lIns="0" tIns="0" rIns="0" bIns="0" rtlCol="0" anchor="ctr"/>
          <a:lstStyle/>
          <a:p>
            <a:pPr marL="0" indent="0">
              <a:buNone/>
            </a:pPr>
            <a:r>
              <a:rPr lang="en-US" sz="1050" dirty="0">
                <a:solidFill>
                  <a:srgbClr val="1A7A3C"/>
                </a:solidFill>
                <a:latin typeface="Calibri" pitchFamily="34" charset="0"/>
                <a:ea typeface="Calibri" pitchFamily="34" charset="-122"/>
                <a:cs typeface="Calibri" pitchFamily="34" charset="-120"/>
              </a:rPr>
              <a:t>✓  Portability. Mathematical notation. 10× productivity gains.</a:t>
            </a:r>
            <a:endParaRPr lang="en-US" sz="1050" dirty="0"/>
          </a:p>
        </p:txBody>
      </p:sp>
      <p:sp>
        <p:nvSpPr>
          <p:cNvPr id="36" name="Shape 34"/>
          <p:cNvSpPr/>
          <p:nvPr/>
        </p:nvSpPr>
        <p:spPr>
          <a:xfrm>
            <a:off x="8412480" y="4160520"/>
            <a:ext cx="3383280" cy="347472"/>
          </a:xfrm>
          <a:prstGeom prst="rect">
            <a:avLst/>
          </a:prstGeom>
          <a:solidFill>
            <a:srgbClr val="FEF2F2"/>
          </a:solidFill>
          <a:ln w="12700">
            <a:solidFill>
              <a:srgbClr val="FCA5A5"/>
            </a:solidFill>
            <a:prstDash val="solid"/>
          </a:ln>
        </p:spPr>
        <p:txBody>
          <a:bodyPr/>
          <a:lstStyle/>
          <a:p>
            <a:endParaRPr lang="en-US"/>
          </a:p>
        </p:txBody>
      </p:sp>
      <p:sp>
        <p:nvSpPr>
          <p:cNvPr id="37" name="Text 35"/>
          <p:cNvSpPr txBox="1"/>
          <p:nvPr/>
        </p:nvSpPr>
        <p:spPr>
          <a:xfrm>
            <a:off x="8503920" y="4197096"/>
            <a:ext cx="3246120" cy="274320"/>
          </a:xfrm>
          <a:prstGeom prst="rect">
            <a:avLst/>
          </a:prstGeom>
          <a:noFill/>
          <a:ln/>
        </p:spPr>
        <p:txBody>
          <a:bodyPr wrap="square" lIns="0" tIns="0" rIns="0" bIns="0" rtlCol="0" anchor="ctr"/>
          <a:lstStyle/>
          <a:p>
            <a:pPr marL="0" indent="0">
              <a:buNone/>
            </a:pPr>
            <a:r>
              <a:rPr lang="en-US" sz="1050" dirty="0">
                <a:solidFill>
                  <a:srgbClr val="9B1C1C"/>
                </a:solidFill>
                <a:latin typeface="Calibri" pitchFamily="34" charset="0"/>
                <a:ea typeface="Calibri" pitchFamily="34" charset="-122"/>
                <a:cs typeface="Calibri" pitchFamily="34" charset="-120"/>
              </a:rPr>
              <a:t>✗  Compilers were slow. Less fine-grained control. Translation overhead.</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2000" cy="960120"/>
          </a:xfrm>
          <a:prstGeom prst="rect">
            <a:avLst/>
          </a:prstGeom>
          <a:solidFill>
            <a:srgbClr val="1A2B5E"/>
          </a:solidFill>
          <a:ln/>
        </p:spPr>
        <p:txBody>
          <a:bodyPr/>
          <a:lstStyle/>
          <a:p>
            <a:endParaRPr lang="en-US"/>
          </a:p>
        </p:txBody>
      </p:sp>
      <p:sp>
        <p:nvSpPr>
          <p:cNvPr id="3" name="Text 1"/>
          <p:cNvSpPr txBox="1"/>
          <p:nvPr/>
        </p:nvSpPr>
        <p:spPr>
          <a:xfrm>
            <a:off x="411480" y="137160"/>
            <a:ext cx="1051560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Evolution: The Modern Era</a:t>
            </a:r>
            <a:endParaRPr lang="en-US" sz="2200" dirty="0"/>
          </a:p>
        </p:txBody>
      </p:sp>
      <p:sp>
        <p:nvSpPr>
          <p:cNvPr id="4" name="Text 2"/>
          <p:cNvSpPr txBox="1"/>
          <p:nvPr/>
        </p:nvSpPr>
        <p:spPr>
          <a:xfrm>
            <a:off x="10515600" y="292608"/>
            <a:ext cx="1417320" cy="347472"/>
          </a:xfrm>
          <a:prstGeom prst="rect">
            <a:avLst/>
          </a:prstGeom>
          <a:noFill/>
          <a:ln/>
        </p:spPr>
        <p:txBody>
          <a:bodyPr wrap="square" lIns="0" tIns="0" rIns="0" bIns="0" rtlCol="0" anchor="ctr"/>
          <a:lstStyle/>
          <a:p>
            <a:pPr marL="0" indent="0" algn="r">
              <a:buNone/>
            </a:pPr>
            <a:r>
              <a:rPr lang="en-US" sz="1000" dirty="0">
                <a:solidFill>
                  <a:srgbClr val="7A90B8"/>
                </a:solidFill>
                <a:latin typeface="Calibri" pitchFamily="34" charset="0"/>
                <a:ea typeface="Calibri" pitchFamily="34" charset="-122"/>
                <a:cs typeface="Calibri" pitchFamily="34" charset="-120"/>
              </a:rPr>
              <a:t>Section 3</a:t>
            </a:r>
            <a:endParaRPr lang="en-US" sz="1000" dirty="0"/>
          </a:p>
        </p:txBody>
      </p:sp>
      <p:sp>
        <p:nvSpPr>
          <p:cNvPr id="5" name="Shape 3"/>
          <p:cNvSpPr/>
          <p:nvPr/>
        </p:nvSpPr>
        <p:spPr>
          <a:xfrm>
            <a:off x="411480" y="1051560"/>
            <a:ext cx="3703320" cy="5257800"/>
          </a:xfrm>
          <a:prstGeom prst="rect">
            <a:avLst/>
          </a:prstGeom>
          <a:solidFill>
            <a:srgbClr val="F4F6FC"/>
          </a:solidFill>
          <a:ln w="12700">
            <a:solidFill>
              <a:srgbClr val="D0DAF0"/>
            </a:solidFill>
            <a:prstDash val="solid"/>
          </a:ln>
        </p:spPr>
        <p:txBody>
          <a:bodyPr/>
          <a:lstStyle/>
          <a:p>
            <a:endParaRPr lang="en-US"/>
          </a:p>
        </p:txBody>
      </p:sp>
      <p:sp>
        <p:nvSpPr>
          <p:cNvPr id="6" name="Text 4"/>
          <p:cNvSpPr txBox="1"/>
          <p:nvPr/>
        </p:nvSpPr>
        <p:spPr>
          <a:xfrm>
            <a:off x="548640" y="1143000"/>
            <a:ext cx="3383280" cy="219456"/>
          </a:xfrm>
          <a:prstGeom prst="rect">
            <a:avLst/>
          </a:prstGeom>
          <a:noFill/>
          <a:ln/>
        </p:spPr>
        <p:txBody>
          <a:bodyPr wrap="square" lIns="0" tIns="0" rIns="0" bIns="0" rtlCol="0" anchor="ctr"/>
          <a:lstStyle/>
          <a:p>
            <a:pPr marL="0" indent="0">
              <a:buNone/>
            </a:pPr>
            <a:r>
              <a:rPr lang="en-US" sz="1000" dirty="0">
                <a:solidFill>
                  <a:srgbClr val="5A6A82"/>
                </a:solidFill>
                <a:latin typeface="Calibri" pitchFamily="34" charset="0"/>
                <a:ea typeface="Calibri" pitchFamily="34" charset="-122"/>
                <a:cs typeface="Calibri" pitchFamily="34" charset="-120"/>
              </a:rPr>
              <a:t>1972</a:t>
            </a:r>
            <a:endParaRPr lang="en-US" sz="1000" dirty="0"/>
          </a:p>
        </p:txBody>
      </p:sp>
      <p:sp>
        <p:nvSpPr>
          <p:cNvPr id="7" name="Text 5"/>
          <p:cNvSpPr txBox="1"/>
          <p:nvPr/>
        </p:nvSpPr>
        <p:spPr>
          <a:xfrm>
            <a:off x="548640" y="1371600"/>
            <a:ext cx="3383280" cy="347472"/>
          </a:xfrm>
          <a:prstGeom prst="rect">
            <a:avLst/>
          </a:prstGeom>
          <a:noFill/>
          <a:ln/>
        </p:spPr>
        <p:txBody>
          <a:bodyPr wrap="square" lIns="0" tIns="0" rIns="0" bIns="0" rtlCol="0" anchor="ctr"/>
          <a:lstStyle/>
          <a:p>
            <a:pPr marL="0" indent="0">
              <a:buNone/>
            </a:pPr>
            <a:r>
              <a:rPr lang="en-US" sz="1400" b="1" dirty="0">
                <a:solidFill>
                  <a:srgbClr val="1A2B5E"/>
                </a:solidFill>
                <a:latin typeface="Calibri" pitchFamily="34" charset="0"/>
                <a:ea typeface="Calibri" pitchFamily="34" charset="-122"/>
                <a:cs typeface="Calibri" pitchFamily="34" charset="-120"/>
              </a:rPr>
              <a:t>C</a:t>
            </a:r>
            <a:endParaRPr lang="en-US" sz="1400" dirty="0"/>
          </a:p>
        </p:txBody>
      </p:sp>
      <p:sp>
        <p:nvSpPr>
          <p:cNvPr id="8" name="Text 6"/>
          <p:cNvSpPr txBox="1"/>
          <p:nvPr/>
        </p:nvSpPr>
        <p:spPr>
          <a:xfrm>
            <a:off x="548640" y="1755648"/>
            <a:ext cx="3383280" cy="1005840"/>
          </a:xfrm>
          <a:prstGeom prst="rect">
            <a:avLst/>
          </a:prstGeom>
          <a:noFill/>
          <a:ln/>
        </p:spPr>
        <p:txBody>
          <a:bodyPr wrap="square" lIns="0" tIns="0" rIns="0" bIns="0" rtlCol="0" anchor="ctr"/>
          <a:lstStyle/>
          <a:p>
            <a:pPr marL="0" indent="0">
              <a:buNone/>
            </a:pPr>
            <a:r>
              <a:rPr lang="en-US" sz="1050" dirty="0">
                <a:solidFill>
                  <a:srgbClr val="1E2A3A"/>
                </a:solidFill>
                <a:latin typeface="Calibri" pitchFamily="34" charset="0"/>
                <a:ea typeface="Calibri" pitchFamily="34" charset="-122"/>
                <a:cs typeface="Calibri" pitchFamily="34" charset="-120"/>
              </a:rPr>
              <a:t>Designed to write Unix. Balances hardware control with human readability. The first OS written in a high-level language.</a:t>
            </a:r>
            <a:endParaRPr lang="en-US" sz="1050" dirty="0"/>
          </a:p>
        </p:txBody>
      </p:sp>
      <p:sp>
        <p:nvSpPr>
          <p:cNvPr id="9" name="Shape 7"/>
          <p:cNvSpPr/>
          <p:nvPr/>
        </p:nvSpPr>
        <p:spPr>
          <a:xfrm>
            <a:off x="548640" y="2816352"/>
            <a:ext cx="3383280" cy="841248"/>
          </a:xfrm>
          <a:prstGeom prst="rect">
            <a:avLst/>
          </a:prstGeom>
          <a:solidFill>
            <a:srgbClr val="EEF1FA"/>
          </a:solidFill>
          <a:ln w="12700">
            <a:solidFill>
              <a:srgbClr val="D0DAF0"/>
            </a:solidFill>
            <a:prstDash val="solid"/>
          </a:ln>
        </p:spPr>
        <p:txBody>
          <a:bodyPr/>
          <a:lstStyle/>
          <a:p>
            <a:endParaRPr lang="en-US"/>
          </a:p>
        </p:txBody>
      </p:sp>
      <p:sp>
        <p:nvSpPr>
          <p:cNvPr id="10" name="Text 8"/>
          <p:cNvSpPr txBox="1"/>
          <p:nvPr/>
        </p:nvSpPr>
        <p:spPr>
          <a:xfrm>
            <a:off x="548640" y="2560320"/>
            <a:ext cx="3383280" cy="237744"/>
          </a:xfrm>
          <a:prstGeom prst="rect">
            <a:avLst/>
          </a:prstGeom>
          <a:noFill/>
          <a:ln/>
        </p:spPr>
        <p:txBody>
          <a:bodyPr wrap="square" lIns="0" tIns="0" rIns="0" bIns="0" rtlCol="0" anchor="ctr"/>
          <a:lstStyle/>
          <a:p>
            <a:pPr marL="0" indent="0">
              <a:buNone/>
            </a:pPr>
            <a:r>
              <a:rPr lang="en-US" sz="1000" dirty="0">
                <a:solidFill>
                  <a:srgbClr val="5A6A82"/>
                </a:solidFill>
                <a:latin typeface="Calibri" pitchFamily="34" charset="0"/>
                <a:ea typeface="Calibri" pitchFamily="34" charset="-122"/>
                <a:cs typeface="Calibri" pitchFamily="34" charset="-120"/>
              </a:rPr>
              <a:t>Example</a:t>
            </a:r>
            <a:endParaRPr lang="en-US" sz="1000" dirty="0"/>
          </a:p>
        </p:txBody>
      </p:sp>
      <p:sp>
        <p:nvSpPr>
          <p:cNvPr id="11" name="Text 9"/>
          <p:cNvSpPr txBox="1"/>
          <p:nvPr/>
        </p:nvSpPr>
        <p:spPr>
          <a:xfrm>
            <a:off x="658368" y="2889504"/>
            <a:ext cx="3200400" cy="694944"/>
          </a:xfrm>
          <a:prstGeom prst="rect">
            <a:avLst/>
          </a:prstGeom>
          <a:noFill/>
          <a:ln/>
        </p:spPr>
        <p:txBody>
          <a:bodyPr wrap="square" lIns="0" tIns="0" rIns="0" bIns="0" rtlCol="0" anchor="ctr"/>
          <a:lstStyle/>
          <a:p>
            <a:pPr marL="0" indent="0">
              <a:buNone/>
            </a:pPr>
            <a:r>
              <a:rPr lang="en-US" sz="1050" dirty="0">
                <a:solidFill>
                  <a:srgbClr val="1A2B5E"/>
                </a:solidFill>
                <a:latin typeface="Courier New" pitchFamily="34" charset="0"/>
                <a:ea typeface="Courier New" pitchFamily="34" charset="-122"/>
                <a:cs typeface="Courier New" pitchFamily="34" charset="-120"/>
              </a:rPr>
              <a:t>int a=5, b=3;</a:t>
            </a:r>
            <a:endParaRPr lang="en-US" sz="1050" dirty="0"/>
          </a:p>
          <a:p>
            <a:pPr marL="0" indent="0">
              <a:buNone/>
            </a:pPr>
            <a:r>
              <a:rPr lang="en-US" sz="1050" dirty="0">
                <a:solidFill>
                  <a:srgbClr val="1A2B5E"/>
                </a:solidFill>
                <a:latin typeface="Courier New" pitchFamily="34" charset="0"/>
                <a:ea typeface="Courier New" pitchFamily="34" charset="-122"/>
                <a:cs typeface="Courier New" pitchFamily="34" charset="-120"/>
              </a:rPr>
              <a:t>printf("%d", a+b);</a:t>
            </a:r>
            <a:endParaRPr lang="en-US" sz="1050" dirty="0"/>
          </a:p>
          <a:p>
            <a:pPr marL="0" indent="0">
              <a:buNone/>
            </a:pPr>
            <a:r>
              <a:rPr lang="en-US" sz="1050" dirty="0">
                <a:solidFill>
                  <a:srgbClr val="1A2B5E"/>
                </a:solidFill>
                <a:latin typeface="Courier New" pitchFamily="34" charset="0"/>
                <a:ea typeface="Courier New" pitchFamily="34" charset="-122"/>
                <a:cs typeface="Courier New" pitchFamily="34" charset="-120"/>
              </a:rPr>
              <a:t>// 6 lines total</a:t>
            </a:r>
            <a:endParaRPr lang="en-US" sz="1050" dirty="0"/>
          </a:p>
        </p:txBody>
      </p:sp>
      <p:sp>
        <p:nvSpPr>
          <p:cNvPr id="12" name="Shape 10"/>
          <p:cNvSpPr/>
          <p:nvPr/>
        </p:nvSpPr>
        <p:spPr>
          <a:xfrm>
            <a:off x="548640" y="3767328"/>
            <a:ext cx="3383280" cy="347472"/>
          </a:xfrm>
          <a:prstGeom prst="rect">
            <a:avLst/>
          </a:prstGeom>
          <a:solidFill>
            <a:srgbClr val="EAF7EE"/>
          </a:solidFill>
          <a:ln w="12700">
            <a:solidFill>
              <a:srgbClr val="6EE7B7"/>
            </a:solidFill>
            <a:prstDash val="solid"/>
          </a:ln>
        </p:spPr>
        <p:txBody>
          <a:bodyPr/>
          <a:lstStyle/>
          <a:p>
            <a:endParaRPr lang="en-US"/>
          </a:p>
        </p:txBody>
      </p:sp>
      <p:sp>
        <p:nvSpPr>
          <p:cNvPr id="13" name="Text 11"/>
          <p:cNvSpPr txBox="1"/>
          <p:nvPr/>
        </p:nvSpPr>
        <p:spPr>
          <a:xfrm>
            <a:off x="640080" y="3803904"/>
            <a:ext cx="3246120" cy="274320"/>
          </a:xfrm>
          <a:prstGeom prst="rect">
            <a:avLst/>
          </a:prstGeom>
          <a:noFill/>
          <a:ln/>
        </p:spPr>
        <p:txBody>
          <a:bodyPr wrap="square" lIns="0" tIns="0" rIns="0" bIns="0" rtlCol="0" anchor="ctr"/>
          <a:lstStyle/>
          <a:p>
            <a:pPr marL="0" indent="0">
              <a:buNone/>
            </a:pPr>
            <a:r>
              <a:rPr lang="en-US" sz="1050" dirty="0">
                <a:solidFill>
                  <a:srgbClr val="1A7A3C"/>
                </a:solidFill>
                <a:latin typeface="Calibri" pitchFamily="34" charset="0"/>
                <a:ea typeface="Calibri" pitchFamily="34" charset="-122"/>
                <a:cs typeface="Calibri" pitchFamily="34" charset="-120"/>
              </a:rPr>
              <a:t>✓  Systems programmers got maintainable, portable code without losing speed.</a:t>
            </a:r>
            <a:endParaRPr lang="en-US" sz="1050" dirty="0"/>
          </a:p>
        </p:txBody>
      </p:sp>
      <p:sp>
        <p:nvSpPr>
          <p:cNvPr id="14" name="Shape 12"/>
          <p:cNvSpPr/>
          <p:nvPr/>
        </p:nvSpPr>
        <p:spPr>
          <a:xfrm>
            <a:off x="548640" y="4402951"/>
            <a:ext cx="3383280" cy="660827"/>
          </a:xfrm>
          <a:prstGeom prst="rect">
            <a:avLst/>
          </a:prstGeom>
          <a:solidFill>
            <a:srgbClr val="FEF2F2"/>
          </a:solidFill>
          <a:ln w="12700">
            <a:solidFill>
              <a:srgbClr val="FCA5A5"/>
            </a:solidFill>
            <a:prstDash val="solid"/>
          </a:ln>
        </p:spPr>
        <p:txBody>
          <a:bodyPr/>
          <a:lstStyle/>
          <a:p>
            <a:endParaRPr lang="en-US"/>
          </a:p>
        </p:txBody>
      </p:sp>
      <p:sp>
        <p:nvSpPr>
          <p:cNvPr id="15" name="Text 13"/>
          <p:cNvSpPr txBox="1"/>
          <p:nvPr/>
        </p:nvSpPr>
        <p:spPr>
          <a:xfrm>
            <a:off x="640080" y="4557400"/>
            <a:ext cx="3246120" cy="274320"/>
          </a:xfrm>
          <a:prstGeom prst="rect">
            <a:avLst/>
          </a:prstGeom>
          <a:noFill/>
          <a:ln/>
        </p:spPr>
        <p:txBody>
          <a:bodyPr wrap="square" lIns="0" tIns="0" rIns="0" bIns="0" rtlCol="0" anchor="ctr"/>
          <a:lstStyle/>
          <a:p>
            <a:pPr marL="0" indent="0">
              <a:buNone/>
            </a:pPr>
            <a:r>
              <a:rPr lang="en-US" sz="1050" dirty="0">
                <a:solidFill>
                  <a:srgbClr val="9B1C1C"/>
                </a:solidFill>
                <a:latin typeface="Calibri" pitchFamily="34" charset="0"/>
                <a:ea typeface="Calibri" pitchFamily="34" charset="-122"/>
                <a:cs typeface="Calibri" pitchFamily="34" charset="-120"/>
              </a:rPr>
              <a:t>✗  Manual memory management — buffer overflows, leaks, and crashes are programmer errors with no safety net.</a:t>
            </a:r>
            <a:endParaRPr lang="en-US" sz="1050" dirty="0"/>
          </a:p>
        </p:txBody>
      </p:sp>
      <p:sp>
        <p:nvSpPr>
          <p:cNvPr id="16" name="Shape 14"/>
          <p:cNvSpPr/>
          <p:nvPr/>
        </p:nvSpPr>
        <p:spPr>
          <a:xfrm>
            <a:off x="4343400" y="1051560"/>
            <a:ext cx="3703320" cy="5257800"/>
          </a:xfrm>
          <a:prstGeom prst="rect">
            <a:avLst/>
          </a:prstGeom>
          <a:solidFill>
            <a:srgbClr val="F4F6FC"/>
          </a:solidFill>
          <a:ln w="12700">
            <a:solidFill>
              <a:srgbClr val="D0DAF0"/>
            </a:solidFill>
            <a:prstDash val="solid"/>
          </a:ln>
        </p:spPr>
        <p:txBody>
          <a:bodyPr/>
          <a:lstStyle/>
          <a:p>
            <a:endParaRPr lang="en-US"/>
          </a:p>
        </p:txBody>
      </p:sp>
      <p:sp>
        <p:nvSpPr>
          <p:cNvPr id="17" name="Text 15"/>
          <p:cNvSpPr txBox="1"/>
          <p:nvPr/>
        </p:nvSpPr>
        <p:spPr>
          <a:xfrm>
            <a:off x="4480560" y="1143000"/>
            <a:ext cx="3383280" cy="219456"/>
          </a:xfrm>
          <a:prstGeom prst="rect">
            <a:avLst/>
          </a:prstGeom>
          <a:noFill/>
          <a:ln/>
        </p:spPr>
        <p:txBody>
          <a:bodyPr wrap="square" lIns="0" tIns="0" rIns="0" bIns="0" rtlCol="0" anchor="ctr"/>
          <a:lstStyle/>
          <a:p>
            <a:pPr marL="0" indent="0">
              <a:buNone/>
            </a:pPr>
            <a:r>
              <a:rPr lang="en-US" sz="1000" dirty="0">
                <a:solidFill>
                  <a:srgbClr val="5A6A82"/>
                </a:solidFill>
                <a:latin typeface="Calibri" pitchFamily="34" charset="0"/>
                <a:ea typeface="Calibri" pitchFamily="34" charset="-122"/>
                <a:cs typeface="Calibri" pitchFamily="34" charset="-120"/>
              </a:rPr>
              <a:t>1985–1995</a:t>
            </a:r>
            <a:endParaRPr lang="en-US" sz="1000" dirty="0"/>
          </a:p>
        </p:txBody>
      </p:sp>
      <p:sp>
        <p:nvSpPr>
          <p:cNvPr id="18" name="Text 16"/>
          <p:cNvSpPr txBox="1"/>
          <p:nvPr/>
        </p:nvSpPr>
        <p:spPr>
          <a:xfrm>
            <a:off x="4480560" y="1371600"/>
            <a:ext cx="3383280" cy="347472"/>
          </a:xfrm>
          <a:prstGeom prst="rect">
            <a:avLst/>
          </a:prstGeom>
          <a:noFill/>
          <a:ln/>
        </p:spPr>
        <p:txBody>
          <a:bodyPr wrap="square" lIns="0" tIns="0" rIns="0" bIns="0" rtlCol="0" anchor="ctr"/>
          <a:lstStyle/>
          <a:p>
            <a:pPr marL="0" indent="0">
              <a:buNone/>
            </a:pPr>
            <a:r>
              <a:rPr lang="en-US" sz="1400" b="1" dirty="0">
                <a:solidFill>
                  <a:srgbClr val="1A2B5E"/>
                </a:solidFill>
                <a:latin typeface="Calibri" pitchFamily="34" charset="0"/>
                <a:ea typeface="Calibri" pitchFamily="34" charset="-122"/>
                <a:cs typeface="Calibri" pitchFamily="34" charset="-120"/>
              </a:rPr>
              <a:t>C++, Java</a:t>
            </a:r>
            <a:endParaRPr lang="en-US" sz="1400" dirty="0"/>
          </a:p>
        </p:txBody>
      </p:sp>
      <p:sp>
        <p:nvSpPr>
          <p:cNvPr id="19" name="Text 17"/>
          <p:cNvSpPr txBox="1"/>
          <p:nvPr/>
        </p:nvSpPr>
        <p:spPr>
          <a:xfrm>
            <a:off x="4480560" y="1755648"/>
            <a:ext cx="3383280" cy="1005840"/>
          </a:xfrm>
          <a:prstGeom prst="rect">
            <a:avLst/>
          </a:prstGeom>
          <a:noFill/>
          <a:ln/>
        </p:spPr>
        <p:txBody>
          <a:bodyPr wrap="square" lIns="0" tIns="0" rIns="0" bIns="0" rtlCol="0" anchor="ctr"/>
          <a:lstStyle/>
          <a:p>
            <a:pPr marL="0" indent="0">
              <a:buNone/>
            </a:pPr>
            <a:r>
              <a:rPr lang="en-US" sz="1050" dirty="0">
                <a:solidFill>
                  <a:srgbClr val="1E2A3A"/>
                </a:solidFill>
                <a:latin typeface="Calibri" pitchFamily="34" charset="0"/>
                <a:ea typeface="Calibri" pitchFamily="34" charset="-122"/>
                <a:cs typeface="Calibri" pitchFamily="34" charset="-120"/>
              </a:rPr>
              <a:t>OOP added to C (C++). Java added GC and "write once, run anywhere" via the JVM. Focus shifted to managing complexity at scale.</a:t>
            </a:r>
            <a:endParaRPr lang="en-US" sz="1050" dirty="0"/>
          </a:p>
        </p:txBody>
      </p:sp>
      <p:sp>
        <p:nvSpPr>
          <p:cNvPr id="20" name="Shape 18"/>
          <p:cNvSpPr/>
          <p:nvPr/>
        </p:nvSpPr>
        <p:spPr>
          <a:xfrm>
            <a:off x="4480560" y="2816352"/>
            <a:ext cx="3383280" cy="841248"/>
          </a:xfrm>
          <a:prstGeom prst="rect">
            <a:avLst/>
          </a:prstGeom>
          <a:solidFill>
            <a:srgbClr val="EEF1FA"/>
          </a:solidFill>
          <a:ln w="12700">
            <a:solidFill>
              <a:srgbClr val="D0DAF0"/>
            </a:solidFill>
            <a:prstDash val="solid"/>
          </a:ln>
        </p:spPr>
        <p:txBody>
          <a:bodyPr/>
          <a:lstStyle/>
          <a:p>
            <a:endParaRPr lang="en-US"/>
          </a:p>
        </p:txBody>
      </p:sp>
      <p:sp>
        <p:nvSpPr>
          <p:cNvPr id="21" name="Text 19"/>
          <p:cNvSpPr txBox="1"/>
          <p:nvPr/>
        </p:nvSpPr>
        <p:spPr>
          <a:xfrm>
            <a:off x="4480560" y="2560320"/>
            <a:ext cx="3383280" cy="237744"/>
          </a:xfrm>
          <a:prstGeom prst="rect">
            <a:avLst/>
          </a:prstGeom>
          <a:noFill/>
          <a:ln/>
        </p:spPr>
        <p:txBody>
          <a:bodyPr wrap="square" lIns="0" tIns="0" rIns="0" bIns="0" rtlCol="0" anchor="ctr"/>
          <a:lstStyle/>
          <a:p>
            <a:pPr marL="0" indent="0">
              <a:buNone/>
            </a:pPr>
            <a:r>
              <a:rPr lang="en-US" sz="1000" dirty="0">
                <a:solidFill>
                  <a:srgbClr val="5A6A82"/>
                </a:solidFill>
                <a:latin typeface="Calibri" pitchFamily="34" charset="0"/>
                <a:ea typeface="Calibri" pitchFamily="34" charset="-122"/>
                <a:cs typeface="Calibri" pitchFamily="34" charset="-120"/>
              </a:rPr>
              <a:t>Example</a:t>
            </a:r>
            <a:endParaRPr lang="en-US" sz="1000" dirty="0"/>
          </a:p>
        </p:txBody>
      </p:sp>
      <p:sp>
        <p:nvSpPr>
          <p:cNvPr id="22" name="Text 20"/>
          <p:cNvSpPr txBox="1"/>
          <p:nvPr/>
        </p:nvSpPr>
        <p:spPr>
          <a:xfrm>
            <a:off x="4590288" y="2889504"/>
            <a:ext cx="3200400" cy="694944"/>
          </a:xfrm>
          <a:prstGeom prst="rect">
            <a:avLst/>
          </a:prstGeom>
          <a:noFill/>
          <a:ln/>
        </p:spPr>
        <p:txBody>
          <a:bodyPr wrap="square" lIns="0" tIns="0" rIns="0" bIns="0" rtlCol="0" anchor="ctr"/>
          <a:lstStyle/>
          <a:p>
            <a:pPr marL="0" indent="0">
              <a:buNone/>
            </a:pPr>
            <a:r>
              <a:rPr lang="en-US" sz="1050" dirty="0">
                <a:solidFill>
                  <a:srgbClr val="1A2B5E"/>
                </a:solidFill>
                <a:latin typeface="Courier New" pitchFamily="34" charset="0"/>
                <a:ea typeface="Courier New" pitchFamily="34" charset="-122"/>
                <a:cs typeface="Courier New" pitchFamily="34" charset="-120"/>
              </a:rPr>
              <a:t>List&lt;Integer&gt; nums =</a:t>
            </a:r>
            <a:endParaRPr lang="en-US" sz="1050" dirty="0"/>
          </a:p>
          <a:p>
            <a:pPr marL="0" indent="0">
              <a:buNone/>
            </a:pPr>
            <a:r>
              <a:rPr lang="en-US" sz="1050" dirty="0">
                <a:solidFill>
                  <a:srgbClr val="1A2B5E"/>
                </a:solidFill>
                <a:latin typeface="Courier New" pitchFamily="34" charset="0"/>
                <a:ea typeface="Courier New" pitchFamily="34" charset="-122"/>
                <a:cs typeface="Courier New" pitchFamily="34" charset="-120"/>
              </a:rPr>
              <a:t>  new ArrayList&lt;&gt;();</a:t>
            </a:r>
            <a:endParaRPr lang="en-US" sz="1050" dirty="0"/>
          </a:p>
          <a:p>
            <a:pPr marL="0" indent="0">
              <a:buNone/>
            </a:pPr>
            <a:r>
              <a:rPr lang="en-US" sz="1050" dirty="0">
                <a:solidFill>
                  <a:srgbClr val="1A2B5E"/>
                </a:solidFill>
                <a:latin typeface="Courier New" pitchFamily="34" charset="0"/>
                <a:ea typeface="Courier New" pitchFamily="34" charset="-122"/>
                <a:cs typeface="Courier New" pitchFamily="34" charset="-120"/>
              </a:rPr>
              <a:t>nums.add(5);</a:t>
            </a:r>
            <a:endParaRPr lang="en-US" sz="1050" dirty="0"/>
          </a:p>
        </p:txBody>
      </p:sp>
      <p:sp>
        <p:nvSpPr>
          <p:cNvPr id="23" name="Shape 21"/>
          <p:cNvSpPr/>
          <p:nvPr/>
        </p:nvSpPr>
        <p:spPr>
          <a:xfrm>
            <a:off x="4480560" y="3767328"/>
            <a:ext cx="3383280" cy="347472"/>
          </a:xfrm>
          <a:prstGeom prst="rect">
            <a:avLst/>
          </a:prstGeom>
          <a:solidFill>
            <a:srgbClr val="EAF7EE"/>
          </a:solidFill>
          <a:ln w="12700">
            <a:solidFill>
              <a:srgbClr val="6EE7B7"/>
            </a:solidFill>
            <a:prstDash val="solid"/>
          </a:ln>
        </p:spPr>
        <p:txBody>
          <a:bodyPr/>
          <a:lstStyle/>
          <a:p>
            <a:endParaRPr lang="en-US"/>
          </a:p>
        </p:txBody>
      </p:sp>
      <p:sp>
        <p:nvSpPr>
          <p:cNvPr id="24" name="Text 22"/>
          <p:cNvSpPr txBox="1"/>
          <p:nvPr/>
        </p:nvSpPr>
        <p:spPr>
          <a:xfrm>
            <a:off x="4572000" y="3803904"/>
            <a:ext cx="3246120" cy="274320"/>
          </a:xfrm>
          <a:prstGeom prst="rect">
            <a:avLst/>
          </a:prstGeom>
          <a:noFill/>
          <a:ln/>
        </p:spPr>
        <p:txBody>
          <a:bodyPr wrap="square" lIns="0" tIns="0" rIns="0" bIns="0" rtlCol="0" anchor="ctr"/>
          <a:lstStyle/>
          <a:p>
            <a:pPr marL="0" indent="0">
              <a:buNone/>
            </a:pPr>
            <a:r>
              <a:rPr lang="en-US" sz="1050" dirty="0">
                <a:solidFill>
                  <a:srgbClr val="1A7A3C"/>
                </a:solidFill>
                <a:latin typeface="Calibri" pitchFamily="34" charset="0"/>
                <a:ea typeface="Calibri" pitchFamily="34" charset="-122"/>
                <a:cs typeface="Calibri" pitchFamily="34" charset="-120"/>
              </a:rPr>
              <a:t>✓  Code organisation at scale. Memory safety (Java). Portability (JVM).</a:t>
            </a:r>
            <a:endParaRPr lang="en-US" sz="1050" dirty="0"/>
          </a:p>
        </p:txBody>
      </p:sp>
      <p:sp>
        <p:nvSpPr>
          <p:cNvPr id="25" name="Shape 23"/>
          <p:cNvSpPr/>
          <p:nvPr/>
        </p:nvSpPr>
        <p:spPr>
          <a:xfrm>
            <a:off x="4473644" y="4402951"/>
            <a:ext cx="3383280" cy="660827"/>
          </a:xfrm>
          <a:prstGeom prst="rect">
            <a:avLst/>
          </a:prstGeom>
          <a:solidFill>
            <a:srgbClr val="FEF2F2"/>
          </a:solidFill>
          <a:ln w="12700">
            <a:solidFill>
              <a:srgbClr val="FCA5A5"/>
            </a:solidFill>
            <a:prstDash val="solid"/>
          </a:ln>
        </p:spPr>
        <p:txBody>
          <a:bodyPr/>
          <a:lstStyle/>
          <a:p>
            <a:endParaRPr lang="en-US"/>
          </a:p>
        </p:txBody>
      </p:sp>
      <p:sp>
        <p:nvSpPr>
          <p:cNvPr id="26" name="Text 24"/>
          <p:cNvSpPr txBox="1"/>
          <p:nvPr/>
        </p:nvSpPr>
        <p:spPr>
          <a:xfrm>
            <a:off x="4565084" y="4557400"/>
            <a:ext cx="3246120" cy="274320"/>
          </a:xfrm>
          <a:prstGeom prst="rect">
            <a:avLst/>
          </a:prstGeom>
          <a:noFill/>
          <a:ln/>
        </p:spPr>
        <p:txBody>
          <a:bodyPr wrap="square" lIns="0" tIns="0" rIns="0" bIns="0" rtlCol="0" anchor="ctr"/>
          <a:lstStyle/>
          <a:p>
            <a:pPr marL="0" indent="0">
              <a:buNone/>
            </a:pPr>
            <a:r>
              <a:rPr lang="en-US" sz="1050" dirty="0">
                <a:solidFill>
                  <a:srgbClr val="9B1C1C"/>
                </a:solidFill>
                <a:latin typeface="Calibri" pitchFamily="34" charset="0"/>
                <a:ea typeface="Calibri" pitchFamily="34" charset="-122"/>
                <a:cs typeface="Calibri" pitchFamily="34" charset="-120"/>
              </a:rPr>
              <a:t>✗  Runtime overhead from GC and virtual machines. More abstraction = less direct control.</a:t>
            </a:r>
            <a:endParaRPr lang="en-US" sz="1050" dirty="0"/>
          </a:p>
        </p:txBody>
      </p:sp>
      <p:sp>
        <p:nvSpPr>
          <p:cNvPr id="27" name="Shape 25"/>
          <p:cNvSpPr/>
          <p:nvPr/>
        </p:nvSpPr>
        <p:spPr>
          <a:xfrm>
            <a:off x="8275320" y="1051560"/>
            <a:ext cx="3703320" cy="5257800"/>
          </a:xfrm>
          <a:prstGeom prst="rect">
            <a:avLst/>
          </a:prstGeom>
          <a:solidFill>
            <a:srgbClr val="F4F6FC"/>
          </a:solidFill>
          <a:ln w="12700">
            <a:solidFill>
              <a:srgbClr val="D0DAF0"/>
            </a:solidFill>
            <a:prstDash val="solid"/>
          </a:ln>
        </p:spPr>
        <p:txBody>
          <a:bodyPr/>
          <a:lstStyle/>
          <a:p>
            <a:endParaRPr lang="en-US"/>
          </a:p>
        </p:txBody>
      </p:sp>
      <p:sp>
        <p:nvSpPr>
          <p:cNvPr id="28" name="Text 26"/>
          <p:cNvSpPr txBox="1"/>
          <p:nvPr/>
        </p:nvSpPr>
        <p:spPr>
          <a:xfrm>
            <a:off x="8412480" y="1143000"/>
            <a:ext cx="3383280" cy="219456"/>
          </a:xfrm>
          <a:prstGeom prst="rect">
            <a:avLst/>
          </a:prstGeom>
          <a:noFill/>
          <a:ln/>
        </p:spPr>
        <p:txBody>
          <a:bodyPr wrap="square" lIns="0" tIns="0" rIns="0" bIns="0" rtlCol="0" anchor="ctr"/>
          <a:lstStyle/>
          <a:p>
            <a:pPr marL="0" indent="0">
              <a:buNone/>
            </a:pPr>
            <a:r>
              <a:rPr lang="en-US" sz="1000" dirty="0">
                <a:solidFill>
                  <a:srgbClr val="5A6A82"/>
                </a:solidFill>
                <a:latin typeface="Calibri" pitchFamily="34" charset="0"/>
                <a:ea typeface="Calibri" pitchFamily="34" charset="-122"/>
                <a:cs typeface="Calibri" pitchFamily="34" charset="-120"/>
              </a:rPr>
              <a:t>1991–2000</a:t>
            </a:r>
            <a:endParaRPr lang="en-US" sz="1000" dirty="0"/>
          </a:p>
        </p:txBody>
      </p:sp>
      <p:sp>
        <p:nvSpPr>
          <p:cNvPr id="29" name="Text 27"/>
          <p:cNvSpPr txBox="1"/>
          <p:nvPr/>
        </p:nvSpPr>
        <p:spPr>
          <a:xfrm>
            <a:off x="8412480" y="1371600"/>
            <a:ext cx="3383280" cy="347472"/>
          </a:xfrm>
          <a:prstGeom prst="rect">
            <a:avLst/>
          </a:prstGeom>
          <a:noFill/>
          <a:ln/>
        </p:spPr>
        <p:txBody>
          <a:bodyPr wrap="square" lIns="0" tIns="0" rIns="0" bIns="0" rtlCol="0" anchor="ctr"/>
          <a:lstStyle/>
          <a:p>
            <a:pPr marL="0" indent="0">
              <a:buNone/>
            </a:pPr>
            <a:r>
              <a:rPr lang="en-US" sz="1400" b="1" dirty="0">
                <a:solidFill>
                  <a:srgbClr val="1A2B5E"/>
                </a:solidFill>
                <a:latin typeface="Calibri" pitchFamily="34" charset="0"/>
                <a:ea typeface="Calibri" pitchFamily="34" charset="-122"/>
                <a:cs typeface="Calibri" pitchFamily="34" charset="-120"/>
              </a:rPr>
              <a:t>Python / C#</a:t>
            </a:r>
            <a:endParaRPr lang="en-US" sz="1400" dirty="0"/>
          </a:p>
        </p:txBody>
      </p:sp>
      <p:sp>
        <p:nvSpPr>
          <p:cNvPr id="30" name="Text 28"/>
          <p:cNvSpPr txBox="1"/>
          <p:nvPr/>
        </p:nvSpPr>
        <p:spPr>
          <a:xfrm>
            <a:off x="8412480" y="1755648"/>
            <a:ext cx="3383280" cy="1005840"/>
          </a:xfrm>
          <a:prstGeom prst="rect">
            <a:avLst/>
          </a:prstGeom>
          <a:noFill/>
          <a:ln/>
        </p:spPr>
        <p:txBody>
          <a:bodyPr wrap="square" lIns="0" tIns="0" rIns="0" bIns="0" rtlCol="0" anchor="ctr"/>
          <a:lstStyle/>
          <a:p>
            <a:pPr marL="0" indent="0">
              <a:buNone/>
            </a:pPr>
            <a:r>
              <a:rPr lang="en-US" sz="1050" dirty="0">
                <a:solidFill>
                  <a:srgbClr val="1E2A3A"/>
                </a:solidFill>
                <a:latin typeface="Calibri" pitchFamily="34" charset="0"/>
                <a:ea typeface="Calibri" pitchFamily="34" charset="-122"/>
                <a:cs typeface="Calibri" pitchFamily="34" charset="-120"/>
              </a:rPr>
              <a:t>Python maximises readability. C# combines safety with productivity. Both treat programmer time as a first-class design goal.</a:t>
            </a:r>
            <a:endParaRPr lang="en-US" sz="1050" dirty="0"/>
          </a:p>
        </p:txBody>
      </p:sp>
      <p:sp>
        <p:nvSpPr>
          <p:cNvPr id="31" name="Shape 29"/>
          <p:cNvSpPr/>
          <p:nvPr/>
        </p:nvSpPr>
        <p:spPr>
          <a:xfrm>
            <a:off x="8412480" y="2816352"/>
            <a:ext cx="3383280" cy="841248"/>
          </a:xfrm>
          <a:prstGeom prst="rect">
            <a:avLst/>
          </a:prstGeom>
          <a:solidFill>
            <a:srgbClr val="EEF1FA"/>
          </a:solidFill>
          <a:ln w="12700">
            <a:solidFill>
              <a:srgbClr val="D0DAF0"/>
            </a:solidFill>
            <a:prstDash val="solid"/>
          </a:ln>
        </p:spPr>
        <p:txBody>
          <a:bodyPr/>
          <a:lstStyle/>
          <a:p>
            <a:endParaRPr lang="en-US"/>
          </a:p>
        </p:txBody>
      </p:sp>
      <p:sp>
        <p:nvSpPr>
          <p:cNvPr id="32" name="Text 30"/>
          <p:cNvSpPr txBox="1"/>
          <p:nvPr/>
        </p:nvSpPr>
        <p:spPr>
          <a:xfrm>
            <a:off x="8412480" y="2560320"/>
            <a:ext cx="3383280" cy="237744"/>
          </a:xfrm>
          <a:prstGeom prst="rect">
            <a:avLst/>
          </a:prstGeom>
          <a:noFill/>
          <a:ln/>
        </p:spPr>
        <p:txBody>
          <a:bodyPr wrap="square" lIns="0" tIns="0" rIns="0" bIns="0" rtlCol="0" anchor="ctr"/>
          <a:lstStyle/>
          <a:p>
            <a:pPr marL="0" indent="0">
              <a:buNone/>
            </a:pPr>
            <a:r>
              <a:rPr lang="en-US" sz="1000" dirty="0">
                <a:solidFill>
                  <a:srgbClr val="5A6A82"/>
                </a:solidFill>
                <a:latin typeface="Calibri" pitchFamily="34" charset="0"/>
                <a:ea typeface="Calibri" pitchFamily="34" charset="-122"/>
                <a:cs typeface="Calibri" pitchFamily="34" charset="-120"/>
              </a:rPr>
              <a:t>Example</a:t>
            </a:r>
            <a:endParaRPr lang="en-US" sz="1000" dirty="0"/>
          </a:p>
        </p:txBody>
      </p:sp>
      <p:sp>
        <p:nvSpPr>
          <p:cNvPr id="33" name="Text 31"/>
          <p:cNvSpPr txBox="1"/>
          <p:nvPr/>
        </p:nvSpPr>
        <p:spPr>
          <a:xfrm>
            <a:off x="8522208" y="2889504"/>
            <a:ext cx="3200400" cy="694944"/>
          </a:xfrm>
          <a:prstGeom prst="rect">
            <a:avLst/>
          </a:prstGeom>
          <a:noFill/>
          <a:ln/>
        </p:spPr>
        <p:txBody>
          <a:bodyPr wrap="square" lIns="0" tIns="0" rIns="0" bIns="0" rtlCol="0" anchor="ctr"/>
          <a:lstStyle/>
          <a:p>
            <a:pPr marL="0" indent="0">
              <a:buNone/>
            </a:pPr>
            <a:r>
              <a:rPr lang="en-US" sz="1050" dirty="0">
                <a:solidFill>
                  <a:srgbClr val="1A2B5E"/>
                </a:solidFill>
                <a:latin typeface="Courier New" pitchFamily="34" charset="0"/>
                <a:ea typeface="Courier New" pitchFamily="34" charset="-122"/>
                <a:cs typeface="Courier New" pitchFamily="34" charset="-120"/>
              </a:rPr>
              <a:t>print(5 + 3)</a:t>
            </a:r>
            <a:endParaRPr lang="en-US" sz="1050" dirty="0"/>
          </a:p>
          <a:p>
            <a:pPr marL="0" indent="0">
              <a:buNone/>
            </a:pPr>
            <a:endParaRPr lang="en-US" sz="1050" dirty="0"/>
          </a:p>
          <a:p>
            <a:pPr marL="0" indent="0">
              <a:buNone/>
            </a:pPr>
            <a:r>
              <a:rPr lang="en-US" sz="1050" dirty="0">
                <a:solidFill>
                  <a:srgbClr val="1A2B5E"/>
                </a:solidFill>
                <a:latin typeface="Courier New" pitchFamily="34" charset="0"/>
                <a:ea typeface="Courier New" pitchFamily="34" charset="-122"/>
                <a:cs typeface="Courier New" pitchFamily="34" charset="-120"/>
              </a:rPr>
              <a:t># Output: 8</a:t>
            </a:r>
            <a:endParaRPr lang="en-US" sz="1050" dirty="0"/>
          </a:p>
        </p:txBody>
      </p:sp>
      <p:sp>
        <p:nvSpPr>
          <p:cNvPr id="34" name="Shape 32"/>
          <p:cNvSpPr/>
          <p:nvPr/>
        </p:nvSpPr>
        <p:spPr>
          <a:xfrm>
            <a:off x="8412480" y="3767328"/>
            <a:ext cx="3383280" cy="347472"/>
          </a:xfrm>
          <a:prstGeom prst="rect">
            <a:avLst/>
          </a:prstGeom>
          <a:solidFill>
            <a:srgbClr val="EAF7EE"/>
          </a:solidFill>
          <a:ln w="12700">
            <a:solidFill>
              <a:srgbClr val="6EE7B7"/>
            </a:solidFill>
            <a:prstDash val="solid"/>
          </a:ln>
        </p:spPr>
        <p:txBody>
          <a:bodyPr/>
          <a:lstStyle/>
          <a:p>
            <a:endParaRPr lang="en-US"/>
          </a:p>
        </p:txBody>
      </p:sp>
      <p:sp>
        <p:nvSpPr>
          <p:cNvPr id="35" name="Text 33"/>
          <p:cNvSpPr txBox="1"/>
          <p:nvPr/>
        </p:nvSpPr>
        <p:spPr>
          <a:xfrm>
            <a:off x="8503920" y="3803904"/>
            <a:ext cx="3246120" cy="274320"/>
          </a:xfrm>
          <a:prstGeom prst="rect">
            <a:avLst/>
          </a:prstGeom>
          <a:noFill/>
          <a:ln/>
        </p:spPr>
        <p:txBody>
          <a:bodyPr wrap="square" lIns="0" tIns="0" rIns="0" bIns="0" rtlCol="0" anchor="ctr"/>
          <a:lstStyle/>
          <a:p>
            <a:pPr marL="0" indent="0">
              <a:buNone/>
            </a:pPr>
            <a:r>
              <a:rPr lang="en-US" sz="1050" dirty="0">
                <a:solidFill>
                  <a:srgbClr val="1A7A3C"/>
                </a:solidFill>
                <a:latin typeface="Calibri" pitchFamily="34" charset="0"/>
                <a:ea typeface="Calibri" pitchFamily="34" charset="-122"/>
                <a:cs typeface="Calibri" pitchFamily="34" charset="-120"/>
              </a:rPr>
              <a:t>✓  Fastest time from idea to working program. Safety through GC and type systems.</a:t>
            </a:r>
            <a:endParaRPr lang="en-US" sz="1050" dirty="0"/>
          </a:p>
        </p:txBody>
      </p:sp>
      <p:sp>
        <p:nvSpPr>
          <p:cNvPr id="36" name="Shape 34"/>
          <p:cNvSpPr/>
          <p:nvPr/>
        </p:nvSpPr>
        <p:spPr>
          <a:xfrm>
            <a:off x="8412480" y="4402951"/>
            <a:ext cx="3383280" cy="660827"/>
          </a:xfrm>
          <a:prstGeom prst="rect">
            <a:avLst/>
          </a:prstGeom>
          <a:solidFill>
            <a:srgbClr val="FEF2F2"/>
          </a:solidFill>
          <a:ln w="12700">
            <a:solidFill>
              <a:srgbClr val="FCA5A5"/>
            </a:solidFill>
            <a:prstDash val="solid"/>
          </a:ln>
        </p:spPr>
        <p:txBody>
          <a:bodyPr/>
          <a:lstStyle/>
          <a:p>
            <a:endParaRPr lang="en-US"/>
          </a:p>
        </p:txBody>
      </p:sp>
      <p:sp>
        <p:nvSpPr>
          <p:cNvPr id="37" name="Text 35"/>
          <p:cNvSpPr txBox="1"/>
          <p:nvPr/>
        </p:nvSpPr>
        <p:spPr>
          <a:xfrm>
            <a:off x="8503920" y="4557400"/>
            <a:ext cx="3246120" cy="274320"/>
          </a:xfrm>
          <a:prstGeom prst="rect">
            <a:avLst/>
          </a:prstGeom>
          <a:noFill/>
          <a:ln/>
        </p:spPr>
        <p:txBody>
          <a:bodyPr wrap="square" lIns="0" tIns="0" rIns="0" bIns="0" rtlCol="0" anchor="ctr"/>
          <a:lstStyle/>
          <a:p>
            <a:pPr marL="0" indent="0">
              <a:buNone/>
            </a:pPr>
            <a:r>
              <a:rPr lang="en-US" sz="1050" dirty="0">
                <a:solidFill>
                  <a:srgbClr val="9B1C1C"/>
                </a:solidFill>
                <a:latin typeface="Calibri" pitchFamily="34" charset="0"/>
                <a:ea typeface="Calibri" pitchFamily="34" charset="-122"/>
                <a:cs typeface="Calibri" pitchFamily="34" charset="-120"/>
              </a:rPr>
              <a:t>✗  Less raw speed. Runtime type errors (Python). Type system complexity (C#).</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2000" cy="960120"/>
          </a:xfrm>
          <a:prstGeom prst="rect">
            <a:avLst/>
          </a:prstGeom>
          <a:solidFill>
            <a:srgbClr val="1A2B5E"/>
          </a:solidFill>
          <a:ln/>
        </p:spPr>
        <p:txBody>
          <a:bodyPr/>
          <a:lstStyle/>
          <a:p>
            <a:endParaRPr lang="en-US"/>
          </a:p>
        </p:txBody>
      </p:sp>
      <p:sp>
        <p:nvSpPr>
          <p:cNvPr id="3" name="Text 1"/>
          <p:cNvSpPr txBox="1"/>
          <p:nvPr/>
        </p:nvSpPr>
        <p:spPr>
          <a:xfrm>
            <a:off x="411480" y="137160"/>
            <a:ext cx="1051560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"Print 5 + 3" — Across Four Eras</a:t>
            </a:r>
            <a:endParaRPr lang="en-US" sz="2200" dirty="0"/>
          </a:p>
        </p:txBody>
      </p:sp>
      <p:sp>
        <p:nvSpPr>
          <p:cNvPr id="4" name="Text 2"/>
          <p:cNvSpPr txBox="1"/>
          <p:nvPr/>
        </p:nvSpPr>
        <p:spPr>
          <a:xfrm>
            <a:off x="10515600" y="292608"/>
            <a:ext cx="1417320" cy="347472"/>
          </a:xfrm>
          <a:prstGeom prst="rect">
            <a:avLst/>
          </a:prstGeom>
          <a:noFill/>
          <a:ln/>
        </p:spPr>
        <p:txBody>
          <a:bodyPr wrap="square" lIns="0" tIns="0" rIns="0" bIns="0" rtlCol="0" anchor="ctr"/>
          <a:lstStyle/>
          <a:p>
            <a:pPr marL="0" indent="0" algn="r">
              <a:buNone/>
            </a:pPr>
            <a:r>
              <a:rPr lang="en-US" sz="1000" dirty="0">
                <a:solidFill>
                  <a:srgbClr val="7A90B8"/>
                </a:solidFill>
                <a:latin typeface="Calibri" pitchFamily="34" charset="0"/>
                <a:ea typeface="Calibri" pitchFamily="34" charset="-122"/>
                <a:cs typeface="Calibri" pitchFamily="34" charset="-120"/>
              </a:rPr>
              <a:t>Section 3</a:t>
            </a:r>
            <a:endParaRPr lang="en-US" sz="1000" dirty="0"/>
          </a:p>
        </p:txBody>
      </p:sp>
      <p:sp>
        <p:nvSpPr>
          <p:cNvPr id="5" name="Text 3"/>
          <p:cNvSpPr txBox="1"/>
          <p:nvPr/>
        </p:nvSpPr>
        <p:spPr>
          <a:xfrm>
            <a:off x="411480" y="1005840"/>
            <a:ext cx="11338560" cy="292608"/>
          </a:xfrm>
          <a:prstGeom prst="rect">
            <a:avLst/>
          </a:prstGeom>
          <a:noFill/>
          <a:ln/>
        </p:spPr>
        <p:txBody>
          <a:bodyPr wrap="square" lIns="0" tIns="0" rIns="0" bIns="0" rtlCol="0" anchor="ctr"/>
          <a:lstStyle/>
          <a:p>
            <a:pPr marL="0" indent="0">
              <a:buNone/>
            </a:pPr>
            <a:r>
              <a:rPr lang="en-US" sz="1200" dirty="0">
                <a:solidFill>
                  <a:srgbClr val="5A6A82"/>
                </a:solidFill>
                <a:latin typeface="Calibri" pitchFamily="34" charset="0"/>
                <a:ea typeface="Calibri" pitchFamily="34" charset="-122"/>
                <a:cs typeface="Calibri" pitchFamily="34" charset="-120"/>
              </a:rPr>
              <a:t>Same output: 8       Same math       40 years of language design work</a:t>
            </a:r>
            <a:endParaRPr lang="en-US" sz="1200" dirty="0"/>
          </a:p>
        </p:txBody>
      </p:sp>
      <p:sp>
        <p:nvSpPr>
          <p:cNvPr id="6" name="Shape 4"/>
          <p:cNvSpPr/>
          <p:nvPr/>
        </p:nvSpPr>
        <p:spPr>
          <a:xfrm>
            <a:off x="411480" y="1371600"/>
            <a:ext cx="2743200" cy="4846320"/>
          </a:xfrm>
          <a:prstGeom prst="rect">
            <a:avLst/>
          </a:prstGeom>
          <a:solidFill>
            <a:srgbClr val="FEF2F2"/>
          </a:solidFill>
          <a:ln w="12700">
            <a:solidFill>
              <a:srgbClr val="FCA5A5"/>
            </a:solidFill>
            <a:prstDash val="solid"/>
          </a:ln>
        </p:spPr>
        <p:txBody>
          <a:bodyPr/>
          <a:lstStyle/>
          <a:p>
            <a:endParaRPr lang="en-US"/>
          </a:p>
        </p:txBody>
      </p:sp>
      <p:sp>
        <p:nvSpPr>
          <p:cNvPr id="7" name="Text 5"/>
          <p:cNvSpPr txBox="1"/>
          <p:nvPr/>
        </p:nvSpPr>
        <p:spPr>
          <a:xfrm>
            <a:off x="521208" y="1463040"/>
            <a:ext cx="2523744" cy="274320"/>
          </a:xfrm>
          <a:prstGeom prst="rect">
            <a:avLst/>
          </a:prstGeom>
          <a:noFill/>
          <a:ln/>
        </p:spPr>
        <p:txBody>
          <a:bodyPr wrap="square" lIns="0" tIns="0" rIns="0" bIns="0" rtlCol="0" anchor="ctr"/>
          <a:lstStyle/>
          <a:p>
            <a:pPr marL="0" indent="0">
              <a:buNone/>
            </a:pPr>
            <a:r>
              <a:rPr lang="en-US" sz="1000" b="1" dirty="0">
                <a:solidFill>
                  <a:srgbClr val="1A2B5E"/>
                </a:solidFill>
                <a:latin typeface="Calibri" pitchFamily="34" charset="0"/>
                <a:ea typeface="Calibri" pitchFamily="34" charset="-122"/>
                <a:cs typeface="Calibri" pitchFamily="34" charset="-120"/>
              </a:rPr>
              <a:t>Machine code — 1940s</a:t>
            </a:r>
            <a:endParaRPr lang="en-US" sz="1000" dirty="0"/>
          </a:p>
        </p:txBody>
      </p:sp>
      <p:sp>
        <p:nvSpPr>
          <p:cNvPr id="8" name="Text 6"/>
          <p:cNvSpPr txBox="1"/>
          <p:nvPr/>
        </p:nvSpPr>
        <p:spPr>
          <a:xfrm>
            <a:off x="521208" y="1783080"/>
            <a:ext cx="2523744" cy="4297680"/>
          </a:xfrm>
          <a:prstGeom prst="rect">
            <a:avLst/>
          </a:prstGeom>
          <a:noFill/>
          <a:ln/>
        </p:spPr>
        <p:txBody>
          <a:bodyPr wrap="square" lIns="0" tIns="0" rIns="0" bIns="0" rtlCol="0" anchor="ctr"/>
          <a:lstStyle/>
          <a:p>
            <a:pPr marL="0" indent="0">
              <a:buNone/>
            </a:pPr>
            <a:r>
              <a:rPr lang="en-US" sz="1050" dirty="0">
                <a:solidFill>
                  <a:srgbClr val="1A2B5E"/>
                </a:solidFill>
                <a:latin typeface="Courier New" pitchFamily="34" charset="0"/>
                <a:ea typeface="Courier New" pitchFamily="34" charset="-122"/>
                <a:cs typeface="Courier New" pitchFamily="34" charset="-120"/>
              </a:rPr>
              <a:t>10111000 00000101 00000000</a:t>
            </a:r>
            <a:endParaRPr lang="en-US" sz="1050" dirty="0"/>
          </a:p>
          <a:p>
            <a:pPr marL="0" indent="0">
              <a:buNone/>
            </a:pPr>
            <a:r>
              <a:rPr lang="en-US" sz="1050" dirty="0">
                <a:solidFill>
                  <a:srgbClr val="1A2B5E"/>
                </a:solidFill>
                <a:latin typeface="Courier New" pitchFamily="34" charset="0"/>
                <a:ea typeface="Courier New" pitchFamily="34" charset="-122"/>
                <a:cs typeface="Courier New" pitchFamily="34" charset="-120"/>
              </a:rPr>
              <a:t>10111011 00000011 00000000</a:t>
            </a:r>
            <a:endParaRPr lang="en-US" sz="1050" dirty="0"/>
          </a:p>
          <a:p>
            <a:pPr marL="0" indent="0">
              <a:buNone/>
            </a:pPr>
            <a:r>
              <a:rPr lang="en-US" sz="1050" dirty="0">
                <a:solidFill>
                  <a:srgbClr val="1A2B5E"/>
                </a:solidFill>
                <a:latin typeface="Courier New" pitchFamily="34" charset="0"/>
                <a:ea typeface="Courier New" pitchFamily="34" charset="-122"/>
                <a:cs typeface="Courier New" pitchFamily="34" charset="-120"/>
              </a:rPr>
              <a:t>00000001 11011000</a:t>
            </a:r>
            <a:endParaRPr lang="en-US" sz="1050" dirty="0"/>
          </a:p>
          <a:p>
            <a:pPr marL="0" indent="0">
              <a:buNone/>
            </a:pPr>
            <a:r>
              <a:rPr lang="en-US" sz="1050" dirty="0">
                <a:solidFill>
                  <a:srgbClr val="1A2B5E"/>
                </a:solidFill>
                <a:latin typeface="Courier New" pitchFamily="34" charset="0"/>
                <a:ea typeface="Courier New" pitchFamily="34" charset="-122"/>
                <a:cs typeface="Courier New" pitchFamily="34" charset="-120"/>
              </a:rPr>
              <a:t>11000011</a:t>
            </a:r>
            <a:endParaRPr lang="en-US" sz="1050" dirty="0"/>
          </a:p>
          <a:p>
            <a:pPr marL="0" indent="0">
              <a:buNone/>
            </a:pPr>
            <a:endParaRPr lang="en-US" sz="1050" dirty="0"/>
          </a:p>
          <a:p>
            <a:pPr marL="0" indent="0">
              <a:buNone/>
            </a:pPr>
            <a:r>
              <a:rPr lang="en-US" sz="1050" dirty="0">
                <a:solidFill>
                  <a:srgbClr val="1A2B5E"/>
                </a:solidFill>
                <a:latin typeface="Courier New" pitchFamily="34" charset="0"/>
                <a:ea typeface="Courier New" pitchFamily="34" charset="-122"/>
                <a:cs typeface="Courier New" pitchFamily="34" charset="-120"/>
              </a:rPr>
              <a:t>~12 bytes, 4 operations</a:t>
            </a:r>
            <a:endParaRPr lang="en-US" sz="1050" dirty="0"/>
          </a:p>
          <a:p>
            <a:pPr marL="0" indent="0">
              <a:buNone/>
            </a:pPr>
            <a:r>
              <a:rPr lang="en-US" sz="1050" dirty="0">
                <a:solidFill>
                  <a:srgbClr val="1A2B5E"/>
                </a:solidFill>
                <a:latin typeface="Courier New" pitchFamily="34" charset="0"/>
                <a:ea typeface="Courier New" pitchFamily="34" charset="-122"/>
                <a:cs typeface="Courier New" pitchFamily="34" charset="-120"/>
              </a:rPr>
              <a:t>No variable names</a:t>
            </a:r>
            <a:endParaRPr lang="en-US" sz="1050" dirty="0"/>
          </a:p>
          <a:p>
            <a:pPr marL="0" indent="0">
              <a:buNone/>
            </a:pPr>
            <a:r>
              <a:rPr lang="en-US" sz="1050" dirty="0">
                <a:solidFill>
                  <a:srgbClr val="1A2B5E"/>
                </a:solidFill>
                <a:latin typeface="Courier New" pitchFamily="34" charset="0"/>
                <a:ea typeface="Courier New" pitchFamily="34" charset="-122"/>
                <a:cs typeface="Courier New" pitchFamily="34" charset="-120"/>
              </a:rPr>
              <a:t>No human intent expressed</a:t>
            </a:r>
            <a:endParaRPr lang="en-US" sz="1050" dirty="0"/>
          </a:p>
        </p:txBody>
      </p:sp>
      <p:sp>
        <p:nvSpPr>
          <p:cNvPr id="9" name="Shape 7"/>
          <p:cNvSpPr/>
          <p:nvPr/>
        </p:nvSpPr>
        <p:spPr>
          <a:xfrm>
            <a:off x="3355848" y="1371600"/>
            <a:ext cx="2743200" cy="4846320"/>
          </a:xfrm>
          <a:prstGeom prst="rect">
            <a:avLst/>
          </a:prstGeom>
          <a:solidFill>
            <a:srgbClr val="EEF1FA"/>
          </a:solidFill>
          <a:ln w="12700">
            <a:solidFill>
              <a:srgbClr val="D0DAF0"/>
            </a:solidFill>
            <a:prstDash val="solid"/>
          </a:ln>
        </p:spPr>
        <p:txBody>
          <a:bodyPr/>
          <a:lstStyle/>
          <a:p>
            <a:endParaRPr lang="en-US"/>
          </a:p>
        </p:txBody>
      </p:sp>
      <p:sp>
        <p:nvSpPr>
          <p:cNvPr id="10" name="Text 8"/>
          <p:cNvSpPr txBox="1"/>
          <p:nvPr/>
        </p:nvSpPr>
        <p:spPr>
          <a:xfrm>
            <a:off x="3465576" y="1463040"/>
            <a:ext cx="2523744" cy="274320"/>
          </a:xfrm>
          <a:prstGeom prst="rect">
            <a:avLst/>
          </a:prstGeom>
          <a:noFill/>
          <a:ln/>
        </p:spPr>
        <p:txBody>
          <a:bodyPr wrap="square" lIns="0" tIns="0" rIns="0" bIns="0" rtlCol="0" anchor="ctr"/>
          <a:lstStyle/>
          <a:p>
            <a:pPr marL="0" indent="0">
              <a:buNone/>
            </a:pPr>
            <a:r>
              <a:rPr lang="en-US" sz="1000" b="1" dirty="0">
                <a:solidFill>
                  <a:srgbClr val="1A2B5E"/>
                </a:solidFill>
                <a:latin typeface="Calibri" pitchFamily="34" charset="0"/>
                <a:ea typeface="Calibri" pitchFamily="34" charset="-122"/>
                <a:cs typeface="Calibri" pitchFamily="34" charset="-120"/>
              </a:rPr>
              <a:t>C — 1972</a:t>
            </a:r>
            <a:endParaRPr lang="en-US" sz="1000" dirty="0"/>
          </a:p>
        </p:txBody>
      </p:sp>
      <p:sp>
        <p:nvSpPr>
          <p:cNvPr id="11" name="Text 9"/>
          <p:cNvSpPr txBox="1"/>
          <p:nvPr/>
        </p:nvSpPr>
        <p:spPr>
          <a:xfrm>
            <a:off x="3465576" y="1783080"/>
            <a:ext cx="2523744" cy="4297680"/>
          </a:xfrm>
          <a:prstGeom prst="rect">
            <a:avLst/>
          </a:prstGeom>
          <a:noFill/>
          <a:ln/>
        </p:spPr>
        <p:txBody>
          <a:bodyPr wrap="square" lIns="0" tIns="0" rIns="0" bIns="0" rtlCol="0" anchor="ctr"/>
          <a:lstStyle/>
          <a:p>
            <a:pPr marL="0" indent="0">
              <a:buNone/>
            </a:pPr>
            <a:r>
              <a:rPr lang="en-US" sz="1050" dirty="0">
                <a:solidFill>
                  <a:srgbClr val="1A2B5E"/>
                </a:solidFill>
                <a:latin typeface="Courier New" pitchFamily="34" charset="0"/>
                <a:ea typeface="Courier New" pitchFamily="34" charset="-122"/>
                <a:cs typeface="Courier New" pitchFamily="34" charset="-120"/>
              </a:rPr>
              <a:t>#include &lt;stdio.h&gt;</a:t>
            </a:r>
            <a:endParaRPr lang="en-US" sz="1050" dirty="0"/>
          </a:p>
          <a:p>
            <a:pPr marL="0" indent="0">
              <a:buNone/>
            </a:pPr>
            <a:r>
              <a:rPr lang="en-US" sz="1050" dirty="0">
                <a:solidFill>
                  <a:srgbClr val="1A2B5E"/>
                </a:solidFill>
                <a:latin typeface="Courier New" pitchFamily="34" charset="0"/>
                <a:ea typeface="Courier New" pitchFamily="34" charset="-122"/>
                <a:cs typeface="Courier New" pitchFamily="34" charset="-120"/>
              </a:rPr>
              <a:t>int main() {</a:t>
            </a:r>
            <a:endParaRPr lang="en-US" sz="1050" dirty="0"/>
          </a:p>
          <a:p>
            <a:pPr marL="0" indent="0">
              <a:buNone/>
            </a:pPr>
            <a:r>
              <a:rPr lang="en-US" sz="1050" dirty="0">
                <a:solidFill>
                  <a:srgbClr val="1A2B5E"/>
                </a:solidFill>
                <a:latin typeface="Courier New" pitchFamily="34" charset="0"/>
                <a:ea typeface="Courier New" pitchFamily="34" charset="-122"/>
                <a:cs typeface="Courier New" pitchFamily="34" charset="-120"/>
              </a:rPr>
              <a:t>  int a=5, b=3;</a:t>
            </a:r>
            <a:endParaRPr lang="en-US" sz="1050" dirty="0"/>
          </a:p>
          <a:p>
            <a:pPr marL="0" indent="0">
              <a:buNone/>
            </a:pPr>
            <a:r>
              <a:rPr lang="en-US" sz="1050" dirty="0">
                <a:solidFill>
                  <a:srgbClr val="1A2B5E"/>
                </a:solidFill>
                <a:latin typeface="Courier New" pitchFamily="34" charset="0"/>
                <a:ea typeface="Courier New" pitchFamily="34" charset="-122"/>
                <a:cs typeface="Courier New" pitchFamily="34" charset="-120"/>
              </a:rPr>
              <a:t>  printf("%d\n", a+b);</a:t>
            </a:r>
            <a:endParaRPr lang="en-US" sz="1050" dirty="0"/>
          </a:p>
          <a:p>
            <a:pPr marL="0" indent="0">
              <a:buNone/>
            </a:pPr>
            <a:r>
              <a:rPr lang="en-US" sz="1050" dirty="0">
                <a:solidFill>
                  <a:srgbClr val="1A2B5E"/>
                </a:solidFill>
                <a:latin typeface="Courier New" pitchFamily="34" charset="0"/>
                <a:ea typeface="Courier New" pitchFamily="34" charset="-122"/>
                <a:cs typeface="Courier New" pitchFamily="34" charset="-120"/>
              </a:rPr>
              <a:t>  return 0;</a:t>
            </a:r>
            <a:endParaRPr lang="en-US" sz="1050" dirty="0"/>
          </a:p>
          <a:p>
            <a:pPr marL="0" indent="0">
              <a:buNone/>
            </a:pPr>
            <a:r>
              <a:rPr lang="en-US" sz="1050" dirty="0">
                <a:solidFill>
                  <a:srgbClr val="1A2B5E"/>
                </a:solidFill>
                <a:latin typeface="Courier New" pitchFamily="34" charset="0"/>
                <a:ea typeface="Courier New" pitchFamily="34" charset="-122"/>
                <a:cs typeface="Courier New" pitchFamily="34" charset="-120"/>
              </a:rPr>
              <a:t>}</a:t>
            </a:r>
            <a:endParaRPr lang="en-US" sz="1050" dirty="0"/>
          </a:p>
          <a:p>
            <a:pPr marL="0" indent="0">
              <a:buNone/>
            </a:pPr>
            <a:endParaRPr lang="en-US" sz="1050" dirty="0"/>
          </a:p>
          <a:p>
            <a:pPr marL="0" indent="0">
              <a:buNone/>
            </a:pPr>
            <a:r>
              <a:rPr lang="en-US" sz="1050" dirty="0">
                <a:solidFill>
                  <a:srgbClr val="1A2B5E"/>
                </a:solidFill>
                <a:latin typeface="Courier New" pitchFamily="34" charset="0"/>
                <a:ea typeface="Courier New" pitchFamily="34" charset="-122"/>
                <a:cs typeface="Courier New" pitchFamily="34" charset="-120"/>
              </a:rPr>
              <a:t>6 lines. Compiler handles</a:t>
            </a:r>
            <a:endParaRPr lang="en-US" sz="1050" dirty="0"/>
          </a:p>
          <a:p>
            <a:pPr marL="0" indent="0">
              <a:buNone/>
            </a:pPr>
            <a:r>
              <a:rPr lang="en-US" sz="1050" dirty="0">
                <a:solidFill>
                  <a:srgbClr val="1A2B5E"/>
                </a:solidFill>
                <a:latin typeface="Courier New" pitchFamily="34" charset="0"/>
                <a:ea typeface="Courier New" pitchFamily="34" charset="-122"/>
                <a:cs typeface="Courier New" pitchFamily="34" charset="-120"/>
              </a:rPr>
              <a:t>registers, memory, linking.</a:t>
            </a:r>
            <a:endParaRPr lang="en-US" sz="1050" dirty="0"/>
          </a:p>
        </p:txBody>
      </p:sp>
      <p:sp>
        <p:nvSpPr>
          <p:cNvPr id="12" name="Shape 10"/>
          <p:cNvSpPr/>
          <p:nvPr/>
        </p:nvSpPr>
        <p:spPr>
          <a:xfrm>
            <a:off x="6300216" y="1371600"/>
            <a:ext cx="2743200" cy="4846320"/>
          </a:xfrm>
          <a:prstGeom prst="rect">
            <a:avLst/>
          </a:prstGeom>
          <a:solidFill>
            <a:srgbClr val="F3E8FE"/>
          </a:solidFill>
          <a:ln w="12700">
            <a:solidFill>
              <a:srgbClr val="D8B8F8"/>
            </a:solidFill>
            <a:prstDash val="solid"/>
          </a:ln>
        </p:spPr>
        <p:txBody>
          <a:bodyPr/>
          <a:lstStyle/>
          <a:p>
            <a:endParaRPr lang="en-US"/>
          </a:p>
        </p:txBody>
      </p:sp>
      <p:sp>
        <p:nvSpPr>
          <p:cNvPr id="13" name="Text 11"/>
          <p:cNvSpPr txBox="1"/>
          <p:nvPr/>
        </p:nvSpPr>
        <p:spPr>
          <a:xfrm>
            <a:off x="6409944" y="1463040"/>
            <a:ext cx="2523744" cy="274320"/>
          </a:xfrm>
          <a:prstGeom prst="rect">
            <a:avLst/>
          </a:prstGeom>
          <a:noFill/>
          <a:ln/>
        </p:spPr>
        <p:txBody>
          <a:bodyPr wrap="square" lIns="0" tIns="0" rIns="0" bIns="0" rtlCol="0" anchor="ctr"/>
          <a:lstStyle/>
          <a:p>
            <a:pPr marL="0" indent="0">
              <a:buNone/>
            </a:pPr>
            <a:r>
              <a:rPr lang="en-US" sz="1000" b="1" dirty="0">
                <a:solidFill>
                  <a:srgbClr val="1A2B5E"/>
                </a:solidFill>
                <a:latin typeface="Calibri" pitchFamily="34" charset="0"/>
                <a:ea typeface="Calibri" pitchFamily="34" charset="-122"/>
                <a:cs typeface="Calibri" pitchFamily="34" charset="-120"/>
              </a:rPr>
              <a:t>C# — 2000</a:t>
            </a:r>
            <a:endParaRPr lang="en-US" sz="1000" dirty="0"/>
          </a:p>
        </p:txBody>
      </p:sp>
      <p:sp>
        <p:nvSpPr>
          <p:cNvPr id="14" name="Text 12"/>
          <p:cNvSpPr txBox="1"/>
          <p:nvPr/>
        </p:nvSpPr>
        <p:spPr>
          <a:xfrm>
            <a:off x="6409944" y="1783080"/>
            <a:ext cx="2523744" cy="4297680"/>
          </a:xfrm>
          <a:prstGeom prst="rect">
            <a:avLst/>
          </a:prstGeom>
          <a:noFill/>
          <a:ln/>
        </p:spPr>
        <p:txBody>
          <a:bodyPr wrap="square" lIns="0" tIns="0" rIns="0" bIns="0" rtlCol="0" anchor="ctr"/>
          <a:lstStyle/>
          <a:p>
            <a:pPr marL="0" indent="0">
              <a:buNone/>
            </a:pPr>
            <a:r>
              <a:rPr lang="en-US" sz="1050" dirty="0">
                <a:solidFill>
                  <a:srgbClr val="1A2B5E"/>
                </a:solidFill>
                <a:latin typeface="Courier New" pitchFamily="34" charset="0"/>
                <a:ea typeface="Courier New" pitchFamily="34" charset="-122"/>
                <a:cs typeface="Courier New" pitchFamily="34" charset="-120"/>
              </a:rPr>
              <a:t>Console.WriteLine(5 + 3);</a:t>
            </a:r>
            <a:endParaRPr lang="en-US" sz="1050" dirty="0"/>
          </a:p>
          <a:p>
            <a:pPr marL="0" indent="0">
              <a:buNone/>
            </a:pPr>
            <a:endParaRPr lang="en-US" sz="1050" dirty="0"/>
          </a:p>
          <a:p>
            <a:pPr marL="0" indent="0">
              <a:buNone/>
            </a:pPr>
            <a:endParaRPr lang="en-US" sz="1050" dirty="0"/>
          </a:p>
          <a:p>
            <a:pPr marL="0" indent="0">
              <a:buNone/>
            </a:pPr>
            <a:endParaRPr lang="en-US" sz="1050" dirty="0"/>
          </a:p>
          <a:p>
            <a:pPr marL="0" indent="0">
              <a:buNone/>
            </a:pPr>
            <a:endParaRPr lang="en-US" sz="1050" dirty="0"/>
          </a:p>
          <a:p>
            <a:pPr marL="0" indent="0">
              <a:buNone/>
            </a:pPr>
            <a:r>
              <a:rPr lang="en-US" sz="1050" dirty="0">
                <a:solidFill>
                  <a:srgbClr val="1A2B5E"/>
                </a:solidFill>
                <a:latin typeface="Courier New" pitchFamily="34" charset="0"/>
                <a:ea typeface="Courier New" pitchFamily="34" charset="-122"/>
                <a:cs typeface="Courier New" pitchFamily="34" charset="-120"/>
              </a:rPr>
              <a:t>1 line. GC, type safety,</a:t>
            </a:r>
            <a:endParaRPr lang="en-US" sz="1050" dirty="0"/>
          </a:p>
          <a:p>
            <a:pPr marL="0" indent="0">
              <a:buNone/>
            </a:pPr>
            <a:r>
              <a:rPr lang="en-US" sz="1050" dirty="0">
                <a:solidFill>
                  <a:srgbClr val="1A2B5E"/>
                </a:solidFill>
                <a:latin typeface="Courier New" pitchFamily="34" charset="0"/>
                <a:ea typeface="Courier New" pitchFamily="34" charset="-122"/>
                <a:cs typeface="Courier New" pitchFamily="34" charset="-120"/>
              </a:rPr>
              <a:t>rich runtime included.</a:t>
            </a:r>
            <a:endParaRPr lang="en-US" sz="1050" dirty="0"/>
          </a:p>
        </p:txBody>
      </p:sp>
      <p:sp>
        <p:nvSpPr>
          <p:cNvPr id="15" name="Shape 13"/>
          <p:cNvSpPr/>
          <p:nvPr/>
        </p:nvSpPr>
        <p:spPr>
          <a:xfrm>
            <a:off x="9244584" y="1371600"/>
            <a:ext cx="2743200" cy="4846320"/>
          </a:xfrm>
          <a:prstGeom prst="rect">
            <a:avLst/>
          </a:prstGeom>
          <a:solidFill>
            <a:srgbClr val="FEF3E8"/>
          </a:solidFill>
          <a:ln w="12700">
            <a:solidFill>
              <a:srgbClr val="F8D8B8"/>
            </a:solidFill>
            <a:prstDash val="solid"/>
          </a:ln>
        </p:spPr>
        <p:txBody>
          <a:bodyPr/>
          <a:lstStyle/>
          <a:p>
            <a:endParaRPr lang="en-US"/>
          </a:p>
        </p:txBody>
      </p:sp>
      <p:sp>
        <p:nvSpPr>
          <p:cNvPr id="16" name="Text 14"/>
          <p:cNvSpPr txBox="1"/>
          <p:nvPr/>
        </p:nvSpPr>
        <p:spPr>
          <a:xfrm>
            <a:off x="9354312" y="1463040"/>
            <a:ext cx="2523744" cy="274320"/>
          </a:xfrm>
          <a:prstGeom prst="rect">
            <a:avLst/>
          </a:prstGeom>
          <a:noFill/>
          <a:ln/>
        </p:spPr>
        <p:txBody>
          <a:bodyPr wrap="square" lIns="0" tIns="0" rIns="0" bIns="0" rtlCol="0" anchor="ctr"/>
          <a:lstStyle/>
          <a:p>
            <a:pPr marL="0" indent="0">
              <a:buNone/>
            </a:pPr>
            <a:r>
              <a:rPr lang="en-US" sz="1000" b="1" dirty="0">
                <a:solidFill>
                  <a:srgbClr val="1A2B5E"/>
                </a:solidFill>
                <a:latin typeface="Calibri" pitchFamily="34" charset="0"/>
                <a:ea typeface="Calibri" pitchFamily="34" charset="-122"/>
                <a:cs typeface="Calibri" pitchFamily="34" charset="-120"/>
              </a:rPr>
              <a:t>Python — 1991</a:t>
            </a:r>
            <a:endParaRPr lang="en-US" sz="1000" dirty="0"/>
          </a:p>
        </p:txBody>
      </p:sp>
      <p:sp>
        <p:nvSpPr>
          <p:cNvPr id="17" name="Text 15"/>
          <p:cNvSpPr txBox="1"/>
          <p:nvPr/>
        </p:nvSpPr>
        <p:spPr>
          <a:xfrm>
            <a:off x="9354312" y="1783080"/>
            <a:ext cx="2523744" cy="4297680"/>
          </a:xfrm>
          <a:prstGeom prst="rect">
            <a:avLst/>
          </a:prstGeom>
          <a:noFill/>
          <a:ln/>
        </p:spPr>
        <p:txBody>
          <a:bodyPr wrap="square" lIns="0" tIns="0" rIns="0" bIns="0" rtlCol="0" anchor="ctr"/>
          <a:lstStyle/>
          <a:p>
            <a:pPr marL="0" indent="0">
              <a:buNone/>
            </a:pPr>
            <a:r>
              <a:rPr lang="en-US" sz="1050" dirty="0">
                <a:solidFill>
                  <a:srgbClr val="1A2B5E"/>
                </a:solidFill>
                <a:latin typeface="Courier New" pitchFamily="34" charset="0"/>
                <a:ea typeface="Courier New" pitchFamily="34" charset="-122"/>
                <a:cs typeface="Courier New" pitchFamily="34" charset="-120"/>
              </a:rPr>
              <a:t>print(5 + 3)</a:t>
            </a:r>
            <a:endParaRPr lang="en-US" sz="1050" dirty="0"/>
          </a:p>
          <a:p>
            <a:pPr marL="0" indent="0">
              <a:buNone/>
            </a:pPr>
            <a:endParaRPr lang="en-US" sz="1050" dirty="0"/>
          </a:p>
          <a:p>
            <a:pPr marL="0" indent="0">
              <a:buNone/>
            </a:pPr>
            <a:endParaRPr lang="en-US" sz="1050" dirty="0"/>
          </a:p>
          <a:p>
            <a:pPr marL="0" indent="0">
              <a:buNone/>
            </a:pPr>
            <a:endParaRPr lang="en-US" sz="1050" dirty="0"/>
          </a:p>
          <a:p>
            <a:pPr marL="0" indent="0">
              <a:buNone/>
            </a:pPr>
            <a:endParaRPr lang="en-US" sz="1050" dirty="0"/>
          </a:p>
          <a:p>
            <a:pPr marL="0" indent="0">
              <a:buNone/>
            </a:pPr>
            <a:r>
              <a:rPr lang="en-US" sz="1050" dirty="0">
                <a:solidFill>
                  <a:srgbClr val="1A2B5E"/>
                </a:solidFill>
                <a:latin typeface="Courier New" pitchFamily="34" charset="0"/>
                <a:ea typeface="Courier New" pitchFamily="34" charset="-122"/>
                <a:cs typeface="Courier New" pitchFamily="34" charset="-120"/>
              </a:rPr>
              <a:t>1 line. No types, no memory,</a:t>
            </a:r>
            <a:endParaRPr lang="en-US" sz="1050" dirty="0"/>
          </a:p>
          <a:p>
            <a:pPr marL="0" indent="0">
              <a:buNone/>
            </a:pPr>
            <a:r>
              <a:rPr lang="en-US" sz="1050" dirty="0">
                <a:solidFill>
                  <a:srgbClr val="1A2B5E"/>
                </a:solidFill>
                <a:latin typeface="Courier New" pitchFamily="34" charset="0"/>
                <a:ea typeface="Courier New" pitchFamily="34" charset="-122"/>
                <a:cs typeface="Courier New" pitchFamily="34" charset="-120"/>
              </a:rPr>
              <a:t>no ceremony. Just intent.</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1A2B5E"/>
          </a:solidFill>
          <a:ln/>
        </p:spPr>
        <p:txBody>
          <a:bodyPr/>
          <a:lstStyle/>
          <a:p>
            <a:endParaRPr lang="en-US"/>
          </a:p>
        </p:txBody>
      </p:sp>
      <p:sp>
        <p:nvSpPr>
          <p:cNvPr id="3" name="Shape 1"/>
          <p:cNvSpPr/>
          <p:nvPr/>
        </p:nvSpPr>
        <p:spPr>
          <a:xfrm>
            <a:off x="3657600" y="0"/>
            <a:ext cx="8503920" cy="6858000"/>
          </a:xfrm>
          <a:prstGeom prst="rect">
            <a:avLst/>
          </a:prstGeom>
          <a:solidFill>
            <a:srgbClr val="F4F6FC"/>
          </a:solidFill>
          <a:ln/>
        </p:spPr>
        <p:txBody>
          <a:bodyPr/>
          <a:lstStyle/>
          <a:p>
            <a:endParaRPr lang="en-US"/>
          </a:p>
        </p:txBody>
      </p:sp>
      <p:sp>
        <p:nvSpPr>
          <p:cNvPr id="4" name="Text 2"/>
          <p:cNvSpPr txBox="1"/>
          <p:nvPr/>
        </p:nvSpPr>
        <p:spPr>
          <a:xfrm>
            <a:off x="228600" y="2560320"/>
            <a:ext cx="3200400" cy="365760"/>
          </a:xfrm>
          <a:prstGeom prst="rect">
            <a:avLst/>
          </a:prstGeom>
          <a:noFill/>
          <a:ln/>
        </p:spPr>
        <p:txBody>
          <a:bodyPr wrap="square" lIns="0" tIns="0" rIns="0" bIns="0" rtlCol="0" anchor="ctr"/>
          <a:lstStyle/>
          <a:p>
            <a:pPr marL="0" indent="0">
              <a:buNone/>
            </a:pPr>
            <a:r>
              <a:rPr lang="en-US" sz="1100" dirty="0">
                <a:solidFill>
                  <a:srgbClr val="7A90B8"/>
                </a:solidFill>
                <a:latin typeface="Calibri" pitchFamily="34" charset="0"/>
                <a:ea typeface="Calibri" pitchFamily="34" charset="-122"/>
                <a:cs typeface="Calibri" pitchFamily="34" charset="-120"/>
              </a:rPr>
              <a:t>Section 4</a:t>
            </a:r>
            <a:endParaRPr lang="en-US" sz="1100" dirty="0"/>
          </a:p>
        </p:txBody>
      </p:sp>
      <p:sp>
        <p:nvSpPr>
          <p:cNvPr id="5" name="Text 3"/>
          <p:cNvSpPr txBox="1"/>
          <p:nvPr/>
        </p:nvSpPr>
        <p:spPr>
          <a:xfrm>
            <a:off x="228600" y="2926080"/>
            <a:ext cx="3200400" cy="1645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Abstraction</a:t>
            </a:r>
            <a:endParaRPr lang="en-US" sz="2200" dirty="0"/>
          </a:p>
        </p:txBody>
      </p:sp>
      <p:sp>
        <p:nvSpPr>
          <p:cNvPr id="6" name="Text 4"/>
          <p:cNvSpPr txBox="1"/>
          <p:nvPr/>
        </p:nvSpPr>
        <p:spPr>
          <a:xfrm>
            <a:off x="4023360" y="2560320"/>
            <a:ext cx="7863840" cy="1463040"/>
          </a:xfrm>
          <a:prstGeom prst="rect">
            <a:avLst/>
          </a:prstGeom>
          <a:noFill/>
          <a:ln/>
        </p:spPr>
        <p:txBody>
          <a:bodyPr wrap="square" lIns="0" tIns="0" rIns="0" bIns="0" rtlCol="0" anchor="ctr"/>
          <a:lstStyle/>
          <a:p>
            <a:pPr marL="0" indent="0">
              <a:buNone/>
            </a:pPr>
            <a:r>
              <a:rPr lang="en-US" sz="1800" dirty="0">
                <a:solidFill>
                  <a:srgbClr val="1E2A3A"/>
                </a:solidFill>
                <a:latin typeface="Calibri" pitchFamily="34" charset="0"/>
                <a:ea typeface="Calibri" pitchFamily="34" charset="-122"/>
                <a:cs typeface="Calibri" pitchFamily="34" charset="-120"/>
              </a:rPr>
              <a:t>Hiding complexity behind a simpler interface — the single most important concept in language design.</a:t>
            </a:r>
            <a:endParaRPr lang="en-US" sz="1800" dirty="0"/>
          </a:p>
        </p:txBody>
      </p:sp>
      <p:sp>
        <p:nvSpPr>
          <p:cNvPr id="7" name="Text 5"/>
          <p:cNvSpPr txBox="1"/>
          <p:nvPr/>
        </p:nvSpPr>
        <p:spPr>
          <a:xfrm>
            <a:off x="4023360" y="1371600"/>
            <a:ext cx="7863840" cy="292608"/>
          </a:xfrm>
          <a:prstGeom prst="rect">
            <a:avLst/>
          </a:prstGeom>
          <a:noFill/>
          <a:ln/>
        </p:spPr>
        <p:txBody>
          <a:bodyPr wrap="square" lIns="0" tIns="0" rIns="0" bIns="0" rtlCol="0" anchor="ctr"/>
          <a:lstStyle/>
          <a:p>
            <a:pPr marL="0" indent="0">
              <a:buNone/>
            </a:pPr>
            <a:r>
              <a:rPr lang="en-US" sz="1300" b="1" dirty="0">
                <a:solidFill>
                  <a:srgbClr val="1E2A3A"/>
                </a:solidFill>
                <a:latin typeface="Calibri" pitchFamily="34" charset="0"/>
                <a:ea typeface="Calibri" pitchFamily="34" charset="-122"/>
                <a:cs typeface="Calibri" pitchFamily="34" charset="-120"/>
              </a:rPr>
              <a:t>Abstraction means:</a:t>
            </a:r>
            <a:endParaRPr lang="en-US" sz="1300" dirty="0"/>
          </a:p>
        </p:txBody>
      </p:sp>
      <p:sp>
        <p:nvSpPr>
          <p:cNvPr id="8" name="Text 6"/>
          <p:cNvSpPr txBox="1"/>
          <p:nvPr/>
        </p:nvSpPr>
        <p:spPr>
          <a:xfrm>
            <a:off x="4023360" y="1691640"/>
            <a:ext cx="7863840" cy="822960"/>
          </a:xfrm>
          <a:prstGeom prst="rect">
            <a:avLst/>
          </a:prstGeom>
          <a:noFill/>
          <a:ln/>
        </p:spPr>
        <p:txBody>
          <a:bodyPr wrap="square" lIns="0" tIns="0" rIns="0" bIns="0" rtlCol="0" anchor="ctr"/>
          <a:lstStyle/>
          <a:p>
            <a:pPr marL="0" indent="0">
              <a:buNone/>
            </a:pPr>
            <a:r>
              <a:rPr lang="en-US" sz="1400" dirty="0">
                <a:solidFill>
                  <a:srgbClr val="1A2B5E"/>
                </a:solidFill>
                <a:latin typeface="Calibri" pitchFamily="34" charset="0"/>
                <a:ea typeface="Calibri" pitchFamily="34" charset="-122"/>
                <a:cs typeface="Calibri" pitchFamily="34" charset="-120"/>
              </a:rPr>
              <a:t>Managing complexity by hiding lower-level details behind a simpler interface, so you can work at the level that matches the problem you are solving.</a:t>
            </a:r>
            <a:endParaRPr lang="en-US" sz="1400" dirty="0"/>
          </a:p>
        </p:txBody>
      </p:sp>
      <p:sp>
        <p:nvSpPr>
          <p:cNvPr id="9" name="Text 7"/>
          <p:cNvSpPr txBox="1"/>
          <p:nvPr/>
        </p:nvSpPr>
        <p:spPr>
          <a:xfrm>
            <a:off x="4023360" y="2697480"/>
            <a:ext cx="7863840" cy="274320"/>
          </a:xfrm>
          <a:prstGeom prst="rect">
            <a:avLst/>
          </a:prstGeom>
          <a:noFill/>
          <a:ln/>
        </p:spPr>
        <p:txBody>
          <a:bodyPr wrap="square" lIns="0" tIns="0" rIns="0" bIns="0" rtlCol="0" anchor="ctr"/>
          <a:lstStyle/>
          <a:p>
            <a:pPr marL="0" indent="0">
              <a:buNone/>
            </a:pPr>
            <a:r>
              <a:rPr lang="en-US" sz="1200" b="1" dirty="0">
                <a:solidFill>
                  <a:srgbClr val="1E2A3A"/>
                </a:solidFill>
                <a:latin typeface="Calibri" pitchFamily="34" charset="0"/>
                <a:ea typeface="Calibri" pitchFamily="34" charset="-122"/>
                <a:cs typeface="Calibri" pitchFamily="34" charset="-120"/>
              </a:rPr>
              <a:t>Everyday example:</a:t>
            </a:r>
            <a:endParaRPr lang="en-US" sz="1200" dirty="0"/>
          </a:p>
        </p:txBody>
      </p:sp>
      <p:sp>
        <p:nvSpPr>
          <p:cNvPr id="10" name="Text 8"/>
          <p:cNvSpPr txBox="1"/>
          <p:nvPr/>
        </p:nvSpPr>
        <p:spPr>
          <a:xfrm>
            <a:off x="4023360" y="2999232"/>
            <a:ext cx="7863840" cy="1828800"/>
          </a:xfrm>
          <a:prstGeom prst="rect">
            <a:avLst/>
          </a:prstGeom>
          <a:noFill/>
          <a:ln/>
        </p:spPr>
        <p:txBody>
          <a:bodyPr wrap="square" lIns="0" tIns="0" rIns="0" bIns="0" rtlCol="0" anchor="ctr"/>
          <a:lstStyle/>
          <a:p>
            <a:pPr marL="0" indent="0">
              <a:buNone/>
            </a:pPr>
            <a:endParaRPr lang="en-US" sz="1300" dirty="0">
              <a:solidFill>
                <a:srgbClr val="1E2A3A"/>
              </a:solidFill>
              <a:latin typeface="Calibri" pitchFamily="34" charset="0"/>
              <a:ea typeface="Calibri" pitchFamily="34" charset="-122"/>
              <a:cs typeface="Calibri" pitchFamily="34" charset="-120"/>
            </a:endParaRPr>
          </a:p>
          <a:p>
            <a:pPr marL="0" indent="0">
              <a:buNone/>
            </a:pPr>
            <a:endParaRPr lang="en-US" sz="1300" dirty="0">
              <a:solidFill>
                <a:srgbClr val="1E2A3A"/>
              </a:solidFill>
              <a:latin typeface="Calibri" pitchFamily="34" charset="0"/>
              <a:ea typeface="Calibri" pitchFamily="34" charset="-122"/>
              <a:cs typeface="Calibri" pitchFamily="34" charset="-120"/>
            </a:endParaRPr>
          </a:p>
          <a:p>
            <a:pPr marL="0" indent="0">
              <a:buNone/>
            </a:pPr>
            <a:r>
              <a:rPr lang="en-US" sz="1300" dirty="0">
                <a:solidFill>
                  <a:srgbClr val="1E2A3A"/>
                </a:solidFill>
                <a:latin typeface="Calibri" pitchFamily="34" charset="0"/>
                <a:ea typeface="Calibri" pitchFamily="34" charset="-122"/>
                <a:cs typeface="Calibri" pitchFamily="34" charset="-120"/>
              </a:rPr>
              <a:t>A car's gas pedal is an abstraction. You press it to go faster — you don't think about fuel injectors, combustion timing, or the transmission. The pedal hides all of that behind one simple interface.</a:t>
            </a:r>
            <a:endParaRPr lang="en-US" sz="1300" dirty="0"/>
          </a:p>
          <a:p>
            <a:pPr marL="0" indent="0">
              <a:buNone/>
            </a:pPr>
            <a:endParaRPr lang="en-US" sz="1300" dirty="0"/>
          </a:p>
          <a:p>
            <a:pPr marL="0" indent="0">
              <a:buNone/>
            </a:pPr>
            <a:r>
              <a:rPr lang="en-US" sz="1300" dirty="0">
                <a:solidFill>
                  <a:srgbClr val="1E2A3A"/>
                </a:solidFill>
                <a:latin typeface="Calibri" pitchFamily="34" charset="0"/>
                <a:ea typeface="Calibri" pitchFamily="34" charset="-122"/>
                <a:cs typeface="Calibri" pitchFamily="34" charset="-120"/>
              </a:rPr>
              <a:t>print("Hello") works the same way. It hides OS system calls, file descriptors, terminal drivers, and screen buffers behind one human-readable word.</a:t>
            </a:r>
            <a:endParaRPr lang="en-US" sz="1300" dirty="0"/>
          </a:p>
        </p:txBody>
      </p:sp>
      <p:sp>
        <p:nvSpPr>
          <p:cNvPr id="11" name="Shape 9"/>
          <p:cNvSpPr/>
          <p:nvPr/>
        </p:nvSpPr>
        <p:spPr>
          <a:xfrm>
            <a:off x="4023360" y="5010912"/>
            <a:ext cx="36576" cy="713232"/>
          </a:xfrm>
          <a:prstGeom prst="rect">
            <a:avLst/>
          </a:prstGeom>
          <a:solidFill>
            <a:srgbClr val="2E5BFF"/>
          </a:solidFill>
          <a:ln w="12700">
            <a:solidFill>
              <a:srgbClr val="2E5BFF"/>
            </a:solidFill>
            <a:prstDash val="solid"/>
          </a:ln>
        </p:spPr>
        <p:txBody>
          <a:bodyPr/>
          <a:lstStyle/>
          <a:p>
            <a:endParaRPr lang="en-US"/>
          </a:p>
        </p:txBody>
      </p:sp>
      <p:sp>
        <p:nvSpPr>
          <p:cNvPr id="12" name="Shape 10"/>
          <p:cNvSpPr/>
          <p:nvPr/>
        </p:nvSpPr>
        <p:spPr>
          <a:xfrm>
            <a:off x="4059936" y="5010912"/>
            <a:ext cx="7827264" cy="713232"/>
          </a:xfrm>
          <a:prstGeom prst="rect">
            <a:avLst/>
          </a:prstGeom>
          <a:solidFill>
            <a:srgbClr val="EFF6FF"/>
          </a:solidFill>
          <a:ln w="12700">
            <a:solidFill>
              <a:srgbClr val="BFDBFE"/>
            </a:solidFill>
            <a:prstDash val="solid"/>
          </a:ln>
        </p:spPr>
        <p:txBody>
          <a:bodyPr/>
          <a:lstStyle/>
          <a:p>
            <a:endParaRPr lang="en-US"/>
          </a:p>
        </p:txBody>
      </p:sp>
      <p:sp>
        <p:nvSpPr>
          <p:cNvPr id="13" name="Text 11"/>
          <p:cNvSpPr txBox="1"/>
          <p:nvPr/>
        </p:nvSpPr>
        <p:spPr>
          <a:xfrm>
            <a:off x="4206240" y="5102352"/>
            <a:ext cx="7589520" cy="530352"/>
          </a:xfrm>
          <a:prstGeom prst="rect">
            <a:avLst/>
          </a:prstGeom>
          <a:noFill/>
          <a:ln/>
        </p:spPr>
        <p:txBody>
          <a:bodyPr wrap="square" lIns="0" tIns="0" rIns="0" bIns="0" rtlCol="0" anchor="ctr"/>
          <a:lstStyle/>
          <a:p>
            <a:pPr marL="0" indent="0">
              <a:buNone/>
            </a:pPr>
            <a:r>
              <a:rPr lang="en-US" sz="1200" dirty="0">
                <a:solidFill>
                  <a:srgbClr val="1E3A8A"/>
                </a:solidFill>
                <a:latin typeface="Calibri" pitchFamily="34" charset="0"/>
                <a:ea typeface="Calibri" pitchFamily="34" charset="-122"/>
                <a:cs typeface="Calibri" pitchFamily="34" charset="-120"/>
              </a:rPr>
              <a:t>Every programming language feature is an abstraction over something the hardware does more primitively. The design question is always: how much should we hide, and what does hiding it cost?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2000" cy="960120"/>
          </a:xfrm>
          <a:prstGeom prst="rect">
            <a:avLst/>
          </a:prstGeom>
          <a:solidFill>
            <a:srgbClr val="1A2B5E"/>
          </a:solidFill>
          <a:ln/>
        </p:spPr>
        <p:txBody>
          <a:bodyPr/>
          <a:lstStyle/>
          <a:p>
            <a:endParaRPr lang="en-US"/>
          </a:p>
        </p:txBody>
      </p:sp>
      <p:sp>
        <p:nvSpPr>
          <p:cNvPr id="3" name="Text 1"/>
          <p:cNvSpPr txBox="1"/>
          <p:nvPr/>
        </p:nvSpPr>
        <p:spPr>
          <a:xfrm>
            <a:off x="411480" y="137160"/>
            <a:ext cx="1051560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The Abstraction Ladder</a:t>
            </a:r>
            <a:endParaRPr lang="en-US" sz="2200" dirty="0"/>
          </a:p>
        </p:txBody>
      </p:sp>
      <p:sp>
        <p:nvSpPr>
          <p:cNvPr id="4" name="Text 2"/>
          <p:cNvSpPr txBox="1"/>
          <p:nvPr/>
        </p:nvSpPr>
        <p:spPr>
          <a:xfrm>
            <a:off x="10515600" y="292608"/>
            <a:ext cx="1417320" cy="347472"/>
          </a:xfrm>
          <a:prstGeom prst="rect">
            <a:avLst/>
          </a:prstGeom>
          <a:noFill/>
          <a:ln/>
        </p:spPr>
        <p:txBody>
          <a:bodyPr wrap="square" lIns="0" tIns="0" rIns="0" bIns="0" rtlCol="0" anchor="ctr"/>
          <a:lstStyle/>
          <a:p>
            <a:pPr marL="0" indent="0" algn="r">
              <a:buNone/>
            </a:pPr>
            <a:r>
              <a:rPr lang="en-US" sz="1000" dirty="0">
                <a:solidFill>
                  <a:srgbClr val="7A90B8"/>
                </a:solidFill>
                <a:latin typeface="Calibri" pitchFamily="34" charset="0"/>
                <a:ea typeface="Calibri" pitchFamily="34" charset="-122"/>
                <a:cs typeface="Calibri" pitchFamily="34" charset="-120"/>
              </a:rPr>
              <a:t>Section 4</a:t>
            </a:r>
            <a:endParaRPr lang="en-US" sz="1000" dirty="0"/>
          </a:p>
        </p:txBody>
      </p:sp>
      <p:sp>
        <p:nvSpPr>
          <p:cNvPr id="5" name="Text 3"/>
          <p:cNvSpPr txBox="1"/>
          <p:nvPr/>
        </p:nvSpPr>
        <p:spPr>
          <a:xfrm>
            <a:off x="411480" y="1005840"/>
            <a:ext cx="11338560" cy="274320"/>
          </a:xfrm>
          <a:prstGeom prst="rect">
            <a:avLst/>
          </a:prstGeom>
          <a:noFill/>
          <a:ln/>
        </p:spPr>
        <p:txBody>
          <a:bodyPr wrap="square" lIns="0" tIns="0" rIns="0" bIns="0" rtlCol="0" anchor="ctr"/>
          <a:lstStyle/>
          <a:p>
            <a:pPr marL="0" indent="0">
              <a:buNone/>
            </a:pPr>
            <a:r>
              <a:rPr lang="en-US" sz="1200" dirty="0">
                <a:solidFill>
                  <a:srgbClr val="5A6A82"/>
                </a:solidFill>
                <a:latin typeface="Calibri" pitchFamily="34" charset="0"/>
                <a:ea typeface="Calibri" pitchFamily="34" charset="-122"/>
                <a:cs typeface="Calibri" pitchFamily="34" charset="-120"/>
              </a:rPr>
              <a:t>The same "print Hello" — five levels of abstraction</a:t>
            </a:r>
            <a:endParaRPr lang="en-US" sz="1200" dirty="0"/>
          </a:p>
        </p:txBody>
      </p:sp>
      <p:sp>
        <p:nvSpPr>
          <p:cNvPr id="6" name="Shape 4"/>
          <p:cNvSpPr/>
          <p:nvPr/>
        </p:nvSpPr>
        <p:spPr>
          <a:xfrm>
            <a:off x="411480" y="1371600"/>
            <a:ext cx="11338560" cy="822960"/>
          </a:xfrm>
          <a:prstGeom prst="rect">
            <a:avLst/>
          </a:prstGeom>
          <a:solidFill>
            <a:srgbClr val="EAF7EE"/>
          </a:solidFill>
          <a:ln w="12700">
            <a:solidFill>
              <a:srgbClr val="6EE7B7"/>
            </a:solidFill>
            <a:prstDash val="solid"/>
          </a:ln>
        </p:spPr>
        <p:txBody>
          <a:bodyPr/>
          <a:lstStyle/>
          <a:p>
            <a:endParaRPr lang="en-US"/>
          </a:p>
        </p:txBody>
      </p:sp>
      <p:sp>
        <p:nvSpPr>
          <p:cNvPr id="7" name="Text 5"/>
          <p:cNvSpPr txBox="1"/>
          <p:nvPr/>
        </p:nvSpPr>
        <p:spPr>
          <a:xfrm>
            <a:off x="502920" y="1435608"/>
            <a:ext cx="640080" cy="201168"/>
          </a:xfrm>
          <a:prstGeom prst="rect">
            <a:avLst/>
          </a:prstGeom>
          <a:noFill/>
          <a:ln/>
        </p:spPr>
        <p:txBody>
          <a:bodyPr wrap="square" lIns="0" tIns="0" rIns="0" bIns="0" rtlCol="0" anchor="ctr"/>
          <a:lstStyle/>
          <a:p>
            <a:pPr marL="0" indent="0">
              <a:buNone/>
            </a:pPr>
            <a:r>
              <a:rPr lang="en-US" sz="900" dirty="0">
                <a:solidFill>
                  <a:srgbClr val="5A6A82"/>
                </a:solidFill>
                <a:latin typeface="Calibri" pitchFamily="34" charset="0"/>
                <a:ea typeface="Calibri" pitchFamily="34" charset="-122"/>
                <a:cs typeface="Calibri" pitchFamily="34" charset="-120"/>
              </a:rPr>
              <a:t>Level 5</a:t>
            </a:r>
            <a:endParaRPr lang="en-US" sz="900" dirty="0"/>
          </a:p>
        </p:txBody>
      </p:sp>
      <p:sp>
        <p:nvSpPr>
          <p:cNvPr id="8" name="Text 6"/>
          <p:cNvSpPr txBox="1"/>
          <p:nvPr/>
        </p:nvSpPr>
        <p:spPr>
          <a:xfrm>
            <a:off x="1143000" y="1435608"/>
            <a:ext cx="3108960" cy="274320"/>
          </a:xfrm>
          <a:prstGeom prst="rect">
            <a:avLst/>
          </a:prstGeom>
          <a:noFill/>
          <a:ln/>
        </p:spPr>
        <p:txBody>
          <a:bodyPr wrap="square" lIns="0" tIns="0" rIns="0" bIns="0" rtlCol="0" anchor="ctr"/>
          <a:lstStyle/>
          <a:p>
            <a:pPr marL="0" indent="0">
              <a:buNone/>
            </a:pPr>
            <a:r>
              <a:rPr lang="en-US" sz="1200" b="1" dirty="0">
                <a:solidFill>
                  <a:srgbClr val="1A7A3C"/>
                </a:solidFill>
                <a:latin typeface="Calibri" pitchFamily="34" charset="0"/>
                <a:ea typeface="Calibri" pitchFamily="34" charset="-122"/>
                <a:cs typeface="Calibri" pitchFamily="34" charset="-120"/>
              </a:rPr>
              <a:t>Application library</a:t>
            </a:r>
            <a:endParaRPr lang="en-US" sz="1200" dirty="0"/>
          </a:p>
        </p:txBody>
      </p:sp>
      <p:sp>
        <p:nvSpPr>
          <p:cNvPr id="9" name="Text 7"/>
          <p:cNvSpPr txBox="1"/>
          <p:nvPr/>
        </p:nvSpPr>
        <p:spPr>
          <a:xfrm>
            <a:off x="4251960" y="1435608"/>
            <a:ext cx="7132320" cy="694944"/>
          </a:xfrm>
          <a:prstGeom prst="rect">
            <a:avLst/>
          </a:prstGeom>
          <a:noFill/>
          <a:ln/>
        </p:spPr>
        <p:txBody>
          <a:bodyPr wrap="square" lIns="0" tIns="0" rIns="0" bIns="0" rtlCol="0" anchor="ctr"/>
          <a:lstStyle/>
          <a:p>
            <a:pPr marL="0" indent="0">
              <a:buNone/>
            </a:pPr>
            <a:r>
              <a:rPr lang="en-US" sz="1100" dirty="0">
                <a:solidFill>
                  <a:srgbClr val="1E2A3A"/>
                </a:solidFill>
                <a:latin typeface="Calibri" pitchFamily="34" charset="0"/>
                <a:ea typeface="Calibri" pitchFamily="34" charset="-122"/>
                <a:cs typeface="Calibri" pitchFamily="34" charset="-120"/>
              </a:rPr>
              <a:t>You call print("Hello"). The string, the newline, the output stream — all handled.</a:t>
            </a:r>
            <a:endParaRPr lang="en-US" sz="1100" dirty="0"/>
          </a:p>
        </p:txBody>
      </p:sp>
      <p:sp>
        <p:nvSpPr>
          <p:cNvPr id="10" name="Shape 8"/>
          <p:cNvSpPr/>
          <p:nvPr/>
        </p:nvSpPr>
        <p:spPr>
          <a:xfrm>
            <a:off x="667512" y="2331720"/>
            <a:ext cx="11082528" cy="822960"/>
          </a:xfrm>
          <a:prstGeom prst="rect">
            <a:avLst/>
          </a:prstGeom>
          <a:solidFill>
            <a:srgbClr val="F3E8FE"/>
          </a:solidFill>
          <a:ln w="12700">
            <a:solidFill>
              <a:srgbClr val="D8B8F8"/>
            </a:solidFill>
            <a:prstDash val="solid"/>
          </a:ln>
        </p:spPr>
        <p:txBody>
          <a:bodyPr/>
          <a:lstStyle/>
          <a:p>
            <a:endParaRPr lang="en-US"/>
          </a:p>
        </p:txBody>
      </p:sp>
      <p:sp>
        <p:nvSpPr>
          <p:cNvPr id="11" name="Text 9"/>
          <p:cNvSpPr txBox="1"/>
          <p:nvPr/>
        </p:nvSpPr>
        <p:spPr>
          <a:xfrm>
            <a:off x="758952" y="2395728"/>
            <a:ext cx="640080" cy="201168"/>
          </a:xfrm>
          <a:prstGeom prst="rect">
            <a:avLst/>
          </a:prstGeom>
          <a:noFill/>
          <a:ln/>
        </p:spPr>
        <p:txBody>
          <a:bodyPr wrap="square" lIns="0" tIns="0" rIns="0" bIns="0" rtlCol="0" anchor="ctr"/>
          <a:lstStyle/>
          <a:p>
            <a:pPr marL="0" indent="0">
              <a:buNone/>
            </a:pPr>
            <a:r>
              <a:rPr lang="en-US" sz="900" dirty="0">
                <a:solidFill>
                  <a:srgbClr val="5A6A82"/>
                </a:solidFill>
                <a:latin typeface="Calibri" pitchFamily="34" charset="0"/>
                <a:ea typeface="Calibri" pitchFamily="34" charset="-122"/>
                <a:cs typeface="Calibri" pitchFamily="34" charset="-120"/>
              </a:rPr>
              <a:t>Level 4</a:t>
            </a:r>
            <a:endParaRPr lang="en-US" sz="900" dirty="0"/>
          </a:p>
        </p:txBody>
      </p:sp>
      <p:sp>
        <p:nvSpPr>
          <p:cNvPr id="12" name="Text 10"/>
          <p:cNvSpPr txBox="1"/>
          <p:nvPr/>
        </p:nvSpPr>
        <p:spPr>
          <a:xfrm>
            <a:off x="1399032" y="2395728"/>
            <a:ext cx="3108960" cy="274320"/>
          </a:xfrm>
          <a:prstGeom prst="rect">
            <a:avLst/>
          </a:prstGeom>
          <a:noFill/>
          <a:ln/>
        </p:spPr>
        <p:txBody>
          <a:bodyPr wrap="square" lIns="0" tIns="0" rIns="0" bIns="0" rtlCol="0" anchor="ctr"/>
          <a:lstStyle/>
          <a:p>
            <a:pPr marL="0" indent="0">
              <a:buNone/>
            </a:pPr>
            <a:r>
              <a:rPr lang="en-US" sz="1200" b="1" dirty="0">
                <a:solidFill>
                  <a:srgbClr val="7B2FBE"/>
                </a:solidFill>
                <a:latin typeface="Calibri" pitchFamily="34" charset="0"/>
                <a:ea typeface="Calibri" pitchFamily="34" charset="-122"/>
                <a:cs typeface="Calibri" pitchFamily="34" charset="-120"/>
              </a:rPr>
              <a:t>High-level language</a:t>
            </a:r>
            <a:endParaRPr lang="en-US" sz="1200" dirty="0"/>
          </a:p>
        </p:txBody>
      </p:sp>
      <p:sp>
        <p:nvSpPr>
          <p:cNvPr id="13" name="Text 11"/>
          <p:cNvSpPr txBox="1"/>
          <p:nvPr/>
        </p:nvSpPr>
        <p:spPr>
          <a:xfrm>
            <a:off x="4507992" y="2395728"/>
            <a:ext cx="6876288" cy="694944"/>
          </a:xfrm>
          <a:prstGeom prst="rect">
            <a:avLst/>
          </a:prstGeom>
          <a:noFill/>
          <a:ln/>
        </p:spPr>
        <p:txBody>
          <a:bodyPr wrap="square" lIns="0" tIns="0" rIns="0" bIns="0" rtlCol="0" anchor="ctr"/>
          <a:lstStyle/>
          <a:p>
            <a:pPr marL="0" indent="0">
              <a:buNone/>
            </a:pPr>
            <a:r>
              <a:rPr lang="en-US" sz="1100" dirty="0">
                <a:solidFill>
                  <a:srgbClr val="1E2A3A"/>
                </a:solidFill>
                <a:latin typeface="Calibri" pitchFamily="34" charset="0"/>
                <a:ea typeface="Calibri" pitchFamily="34" charset="-122"/>
                <a:cs typeface="Calibri" pitchFamily="34" charset="-120"/>
              </a:rPr>
              <a:t>Python, C#: manages memory, checks types, provides rich data structures. You focus on logic.</a:t>
            </a:r>
            <a:endParaRPr lang="en-US" sz="1100" dirty="0"/>
          </a:p>
        </p:txBody>
      </p:sp>
      <p:sp>
        <p:nvSpPr>
          <p:cNvPr id="14" name="Shape 12"/>
          <p:cNvSpPr/>
          <p:nvPr/>
        </p:nvSpPr>
        <p:spPr>
          <a:xfrm>
            <a:off x="923544" y="3291840"/>
            <a:ext cx="10826496" cy="822960"/>
          </a:xfrm>
          <a:prstGeom prst="rect">
            <a:avLst/>
          </a:prstGeom>
          <a:solidFill>
            <a:srgbClr val="EEF1FA"/>
          </a:solidFill>
          <a:ln w="12700">
            <a:solidFill>
              <a:srgbClr val="D0DAF0"/>
            </a:solidFill>
            <a:prstDash val="solid"/>
          </a:ln>
        </p:spPr>
        <p:txBody>
          <a:bodyPr/>
          <a:lstStyle/>
          <a:p>
            <a:endParaRPr lang="en-US"/>
          </a:p>
        </p:txBody>
      </p:sp>
      <p:sp>
        <p:nvSpPr>
          <p:cNvPr id="15" name="Text 13"/>
          <p:cNvSpPr txBox="1"/>
          <p:nvPr/>
        </p:nvSpPr>
        <p:spPr>
          <a:xfrm>
            <a:off x="1014984" y="3355848"/>
            <a:ext cx="640080" cy="201168"/>
          </a:xfrm>
          <a:prstGeom prst="rect">
            <a:avLst/>
          </a:prstGeom>
          <a:noFill/>
          <a:ln/>
        </p:spPr>
        <p:txBody>
          <a:bodyPr wrap="square" lIns="0" tIns="0" rIns="0" bIns="0" rtlCol="0" anchor="ctr"/>
          <a:lstStyle/>
          <a:p>
            <a:pPr marL="0" indent="0">
              <a:buNone/>
            </a:pPr>
            <a:r>
              <a:rPr lang="en-US" sz="900" dirty="0">
                <a:solidFill>
                  <a:srgbClr val="5A6A82"/>
                </a:solidFill>
                <a:latin typeface="Calibri" pitchFamily="34" charset="0"/>
                <a:ea typeface="Calibri" pitchFamily="34" charset="-122"/>
                <a:cs typeface="Calibri" pitchFamily="34" charset="-120"/>
              </a:rPr>
              <a:t>Level 3</a:t>
            </a:r>
            <a:endParaRPr lang="en-US" sz="900" dirty="0"/>
          </a:p>
        </p:txBody>
      </p:sp>
      <p:sp>
        <p:nvSpPr>
          <p:cNvPr id="16" name="Text 14"/>
          <p:cNvSpPr txBox="1"/>
          <p:nvPr/>
        </p:nvSpPr>
        <p:spPr>
          <a:xfrm>
            <a:off x="1655064" y="3355848"/>
            <a:ext cx="3108960" cy="274320"/>
          </a:xfrm>
          <a:prstGeom prst="rect">
            <a:avLst/>
          </a:prstGeom>
          <a:noFill/>
          <a:ln/>
        </p:spPr>
        <p:txBody>
          <a:bodyPr wrap="square" lIns="0" tIns="0" rIns="0" bIns="0" rtlCol="0" anchor="ctr"/>
          <a:lstStyle/>
          <a:p>
            <a:pPr marL="0" indent="0">
              <a:buNone/>
            </a:pPr>
            <a:r>
              <a:rPr lang="en-US" sz="1200" b="1" dirty="0">
                <a:solidFill>
                  <a:srgbClr val="2E5BFF"/>
                </a:solidFill>
                <a:latin typeface="Calibri" pitchFamily="34" charset="0"/>
                <a:ea typeface="Calibri" pitchFamily="34" charset="-122"/>
                <a:cs typeface="Calibri" pitchFamily="34" charset="-120"/>
              </a:rPr>
              <a:t>Systems language (C)</a:t>
            </a:r>
            <a:endParaRPr lang="en-US" sz="1200" dirty="0"/>
          </a:p>
        </p:txBody>
      </p:sp>
      <p:sp>
        <p:nvSpPr>
          <p:cNvPr id="17" name="Text 15"/>
          <p:cNvSpPr txBox="1"/>
          <p:nvPr/>
        </p:nvSpPr>
        <p:spPr>
          <a:xfrm>
            <a:off x="4764024" y="3355848"/>
            <a:ext cx="6620256" cy="694944"/>
          </a:xfrm>
          <a:prstGeom prst="rect">
            <a:avLst/>
          </a:prstGeom>
          <a:noFill/>
          <a:ln/>
        </p:spPr>
        <p:txBody>
          <a:bodyPr wrap="square" lIns="0" tIns="0" rIns="0" bIns="0" rtlCol="0" anchor="ctr"/>
          <a:lstStyle/>
          <a:p>
            <a:pPr marL="0" indent="0">
              <a:buNone/>
            </a:pPr>
            <a:r>
              <a:rPr lang="en-US" sz="1100" dirty="0">
                <a:solidFill>
                  <a:srgbClr val="1E2A3A"/>
                </a:solidFill>
                <a:latin typeface="Calibri" pitchFamily="34" charset="0"/>
                <a:ea typeface="Calibri" pitchFamily="34" charset="-122"/>
                <a:cs typeface="Calibri" pitchFamily="34" charset="-120"/>
              </a:rPr>
              <a:t>You call printf(). The compiler translates it and links to OS libraries for you.</a:t>
            </a:r>
            <a:endParaRPr lang="en-US" sz="1100" dirty="0"/>
          </a:p>
        </p:txBody>
      </p:sp>
      <p:sp>
        <p:nvSpPr>
          <p:cNvPr id="18" name="Shape 16"/>
          <p:cNvSpPr/>
          <p:nvPr/>
        </p:nvSpPr>
        <p:spPr>
          <a:xfrm>
            <a:off x="1179576" y="4251960"/>
            <a:ext cx="10570464" cy="822960"/>
          </a:xfrm>
          <a:prstGeom prst="rect">
            <a:avLst/>
          </a:prstGeom>
          <a:solidFill>
            <a:srgbClr val="FEF3E8"/>
          </a:solidFill>
          <a:ln w="12700">
            <a:solidFill>
              <a:srgbClr val="F8D8B8"/>
            </a:solidFill>
            <a:prstDash val="solid"/>
          </a:ln>
        </p:spPr>
        <p:txBody>
          <a:bodyPr/>
          <a:lstStyle/>
          <a:p>
            <a:endParaRPr lang="en-US"/>
          </a:p>
        </p:txBody>
      </p:sp>
      <p:sp>
        <p:nvSpPr>
          <p:cNvPr id="19" name="Text 17"/>
          <p:cNvSpPr txBox="1"/>
          <p:nvPr/>
        </p:nvSpPr>
        <p:spPr>
          <a:xfrm>
            <a:off x="1271016" y="4315968"/>
            <a:ext cx="640080" cy="201168"/>
          </a:xfrm>
          <a:prstGeom prst="rect">
            <a:avLst/>
          </a:prstGeom>
          <a:noFill/>
          <a:ln/>
        </p:spPr>
        <p:txBody>
          <a:bodyPr wrap="square" lIns="0" tIns="0" rIns="0" bIns="0" rtlCol="0" anchor="ctr"/>
          <a:lstStyle/>
          <a:p>
            <a:pPr marL="0" indent="0">
              <a:buNone/>
            </a:pPr>
            <a:r>
              <a:rPr lang="en-US" sz="900" dirty="0">
                <a:solidFill>
                  <a:srgbClr val="5A6A82"/>
                </a:solidFill>
                <a:latin typeface="Calibri" pitchFamily="34" charset="0"/>
                <a:ea typeface="Calibri" pitchFamily="34" charset="-122"/>
                <a:cs typeface="Calibri" pitchFamily="34" charset="-120"/>
              </a:rPr>
              <a:t>Level 2</a:t>
            </a:r>
            <a:endParaRPr lang="en-US" sz="900" dirty="0"/>
          </a:p>
        </p:txBody>
      </p:sp>
      <p:sp>
        <p:nvSpPr>
          <p:cNvPr id="20" name="Text 18"/>
          <p:cNvSpPr txBox="1"/>
          <p:nvPr/>
        </p:nvSpPr>
        <p:spPr>
          <a:xfrm>
            <a:off x="1911096" y="4315968"/>
            <a:ext cx="3108960" cy="274320"/>
          </a:xfrm>
          <a:prstGeom prst="rect">
            <a:avLst/>
          </a:prstGeom>
          <a:noFill/>
          <a:ln/>
        </p:spPr>
        <p:txBody>
          <a:bodyPr wrap="square" lIns="0" tIns="0" rIns="0" bIns="0" rtlCol="0" anchor="ctr"/>
          <a:lstStyle/>
          <a:p>
            <a:pPr marL="0" indent="0">
              <a:buNone/>
            </a:pPr>
            <a:r>
              <a:rPr lang="en-US" sz="1200" b="1" dirty="0">
                <a:solidFill>
                  <a:srgbClr val="C05E00"/>
                </a:solidFill>
                <a:latin typeface="Calibri" pitchFamily="34" charset="0"/>
                <a:ea typeface="Calibri" pitchFamily="34" charset="-122"/>
                <a:cs typeface="Calibri" pitchFamily="34" charset="-120"/>
              </a:rPr>
              <a:t>Assembly language</a:t>
            </a:r>
            <a:endParaRPr lang="en-US" sz="1200" dirty="0"/>
          </a:p>
        </p:txBody>
      </p:sp>
      <p:sp>
        <p:nvSpPr>
          <p:cNvPr id="21" name="Text 19"/>
          <p:cNvSpPr txBox="1"/>
          <p:nvPr/>
        </p:nvSpPr>
        <p:spPr>
          <a:xfrm>
            <a:off x="5020056" y="4315968"/>
            <a:ext cx="6364224" cy="694944"/>
          </a:xfrm>
          <a:prstGeom prst="rect">
            <a:avLst/>
          </a:prstGeom>
          <a:noFill/>
          <a:ln/>
        </p:spPr>
        <p:txBody>
          <a:bodyPr wrap="square" lIns="0" tIns="0" rIns="0" bIns="0" rtlCol="0" anchor="ctr"/>
          <a:lstStyle/>
          <a:p>
            <a:pPr marL="0" indent="0">
              <a:buNone/>
            </a:pPr>
            <a:r>
              <a:rPr lang="en-US" sz="1100" dirty="0">
                <a:solidFill>
                  <a:srgbClr val="1E2A3A"/>
                </a:solidFill>
                <a:latin typeface="Calibri" pitchFamily="34" charset="0"/>
                <a:ea typeface="Calibri" pitchFamily="34" charset="-122"/>
                <a:cs typeface="Calibri" pitchFamily="34" charset="-120"/>
              </a:rPr>
              <a:t>You write SYSCALL. Each mnemonic maps 1-to-1 to one machine instruction.</a:t>
            </a:r>
            <a:endParaRPr lang="en-US" sz="1100" dirty="0"/>
          </a:p>
        </p:txBody>
      </p:sp>
      <p:sp>
        <p:nvSpPr>
          <p:cNvPr id="22" name="Shape 20"/>
          <p:cNvSpPr/>
          <p:nvPr/>
        </p:nvSpPr>
        <p:spPr>
          <a:xfrm>
            <a:off x="1435608" y="5212080"/>
            <a:ext cx="10314432" cy="822960"/>
          </a:xfrm>
          <a:prstGeom prst="rect">
            <a:avLst/>
          </a:prstGeom>
          <a:solidFill>
            <a:srgbClr val="FEF2F2"/>
          </a:solidFill>
          <a:ln w="12700">
            <a:solidFill>
              <a:srgbClr val="FCA5A5"/>
            </a:solidFill>
            <a:prstDash val="solid"/>
          </a:ln>
        </p:spPr>
        <p:txBody>
          <a:bodyPr/>
          <a:lstStyle/>
          <a:p>
            <a:endParaRPr lang="en-US"/>
          </a:p>
        </p:txBody>
      </p:sp>
      <p:sp>
        <p:nvSpPr>
          <p:cNvPr id="23" name="Text 21"/>
          <p:cNvSpPr txBox="1"/>
          <p:nvPr/>
        </p:nvSpPr>
        <p:spPr>
          <a:xfrm>
            <a:off x="1527048" y="5276088"/>
            <a:ext cx="640080" cy="201168"/>
          </a:xfrm>
          <a:prstGeom prst="rect">
            <a:avLst/>
          </a:prstGeom>
          <a:noFill/>
          <a:ln/>
        </p:spPr>
        <p:txBody>
          <a:bodyPr wrap="square" lIns="0" tIns="0" rIns="0" bIns="0" rtlCol="0" anchor="ctr"/>
          <a:lstStyle/>
          <a:p>
            <a:pPr marL="0" indent="0">
              <a:buNone/>
            </a:pPr>
            <a:r>
              <a:rPr lang="en-US" sz="900" dirty="0">
                <a:solidFill>
                  <a:srgbClr val="5A6A82"/>
                </a:solidFill>
                <a:latin typeface="Calibri" pitchFamily="34" charset="0"/>
                <a:ea typeface="Calibri" pitchFamily="34" charset="-122"/>
                <a:cs typeface="Calibri" pitchFamily="34" charset="-120"/>
              </a:rPr>
              <a:t>Level 1</a:t>
            </a:r>
            <a:endParaRPr lang="en-US" sz="900" dirty="0"/>
          </a:p>
        </p:txBody>
      </p:sp>
      <p:sp>
        <p:nvSpPr>
          <p:cNvPr id="24" name="Text 22"/>
          <p:cNvSpPr txBox="1"/>
          <p:nvPr/>
        </p:nvSpPr>
        <p:spPr>
          <a:xfrm>
            <a:off x="2167128" y="5276088"/>
            <a:ext cx="3108960" cy="274320"/>
          </a:xfrm>
          <a:prstGeom prst="rect">
            <a:avLst/>
          </a:prstGeom>
          <a:noFill/>
          <a:ln/>
        </p:spPr>
        <p:txBody>
          <a:bodyPr wrap="square" lIns="0" tIns="0" rIns="0" bIns="0" rtlCol="0" anchor="ctr"/>
          <a:lstStyle/>
          <a:p>
            <a:pPr marL="0" indent="0">
              <a:buNone/>
            </a:pPr>
            <a:r>
              <a:rPr lang="en-US" sz="1200" b="1" dirty="0">
                <a:solidFill>
                  <a:srgbClr val="9B1C1C"/>
                </a:solidFill>
                <a:latin typeface="Calibri" pitchFamily="34" charset="0"/>
                <a:ea typeface="Calibri" pitchFamily="34" charset="-122"/>
                <a:cs typeface="Calibri" pitchFamily="34" charset="-120"/>
              </a:rPr>
              <a:t>Hardware</a:t>
            </a:r>
            <a:endParaRPr lang="en-US" sz="1200" dirty="0"/>
          </a:p>
        </p:txBody>
      </p:sp>
      <p:sp>
        <p:nvSpPr>
          <p:cNvPr id="25" name="Text 23"/>
          <p:cNvSpPr txBox="1"/>
          <p:nvPr/>
        </p:nvSpPr>
        <p:spPr>
          <a:xfrm>
            <a:off x="5276088" y="5276088"/>
            <a:ext cx="6108192" cy="694944"/>
          </a:xfrm>
          <a:prstGeom prst="rect">
            <a:avLst/>
          </a:prstGeom>
          <a:noFill/>
          <a:ln/>
        </p:spPr>
        <p:txBody>
          <a:bodyPr wrap="square" lIns="0" tIns="0" rIns="0" bIns="0" rtlCol="0" anchor="ctr"/>
          <a:lstStyle/>
          <a:p>
            <a:pPr marL="0" indent="0">
              <a:buNone/>
            </a:pPr>
            <a:r>
              <a:rPr lang="en-US" sz="1100" dirty="0">
                <a:solidFill>
                  <a:srgbClr val="1E2A3A"/>
                </a:solidFill>
                <a:latin typeface="Calibri" pitchFamily="34" charset="0"/>
                <a:ea typeface="Calibri" pitchFamily="34" charset="-122"/>
                <a:cs typeface="Calibri" pitchFamily="34" charset="-120"/>
              </a:rPr>
              <a:t>Billions of transistors switching between 0V and 5V execute raw binary at nanosecond speed.</a:t>
            </a:r>
            <a:endParaRPr lang="en-US" sz="1100" dirty="0"/>
          </a:p>
        </p:txBody>
      </p:sp>
      <p:sp>
        <p:nvSpPr>
          <p:cNvPr id="26" name="Text 24"/>
          <p:cNvSpPr txBox="1"/>
          <p:nvPr/>
        </p:nvSpPr>
        <p:spPr>
          <a:xfrm>
            <a:off x="411480" y="6291072"/>
            <a:ext cx="11338560" cy="274320"/>
          </a:xfrm>
          <a:prstGeom prst="rect">
            <a:avLst/>
          </a:prstGeom>
          <a:noFill/>
          <a:ln/>
        </p:spPr>
        <p:txBody>
          <a:bodyPr wrap="square" lIns="0" tIns="0" rIns="0" bIns="0" rtlCol="0" anchor="ctr"/>
          <a:lstStyle/>
          <a:p>
            <a:pPr marL="0" indent="0" algn="ctr">
              <a:buNone/>
            </a:pPr>
            <a:r>
              <a:rPr lang="en-US" sz="1100" dirty="0">
                <a:solidFill>
                  <a:srgbClr val="5A6A82"/>
                </a:solidFill>
                <a:latin typeface="Calibri" pitchFamily="34" charset="0"/>
                <a:ea typeface="Calibri" pitchFamily="34" charset="-122"/>
                <a:cs typeface="Calibri" pitchFamily="34" charset="-120"/>
              </a:rPr>
              <a:t>↑ Going up: more convenience, less control    ↓ Going down: more control, less convenience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2000" cy="960120"/>
          </a:xfrm>
          <a:prstGeom prst="rect">
            <a:avLst/>
          </a:prstGeom>
          <a:solidFill>
            <a:srgbClr val="1A2B5E"/>
          </a:solidFill>
          <a:ln/>
        </p:spPr>
        <p:txBody>
          <a:bodyPr/>
          <a:lstStyle/>
          <a:p>
            <a:endParaRPr lang="en-US"/>
          </a:p>
        </p:txBody>
      </p:sp>
      <p:sp>
        <p:nvSpPr>
          <p:cNvPr id="3" name="Text 1"/>
          <p:cNvSpPr txBox="1"/>
          <p:nvPr/>
        </p:nvSpPr>
        <p:spPr>
          <a:xfrm>
            <a:off x="411480" y="137160"/>
            <a:ext cx="1051560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Every Abstraction Involves a Trade-off</a:t>
            </a:r>
            <a:endParaRPr lang="en-US" sz="2200" dirty="0"/>
          </a:p>
        </p:txBody>
      </p:sp>
      <p:sp>
        <p:nvSpPr>
          <p:cNvPr id="4" name="Text 2"/>
          <p:cNvSpPr txBox="1"/>
          <p:nvPr/>
        </p:nvSpPr>
        <p:spPr>
          <a:xfrm>
            <a:off x="10515600" y="292608"/>
            <a:ext cx="1417320" cy="347472"/>
          </a:xfrm>
          <a:prstGeom prst="rect">
            <a:avLst/>
          </a:prstGeom>
          <a:noFill/>
          <a:ln/>
        </p:spPr>
        <p:txBody>
          <a:bodyPr wrap="square" lIns="0" tIns="0" rIns="0" bIns="0" rtlCol="0" anchor="ctr"/>
          <a:lstStyle/>
          <a:p>
            <a:pPr marL="0" indent="0" algn="r">
              <a:buNone/>
            </a:pPr>
            <a:r>
              <a:rPr lang="en-US" sz="1000" dirty="0">
                <a:solidFill>
                  <a:srgbClr val="7A90B8"/>
                </a:solidFill>
                <a:latin typeface="Calibri" pitchFamily="34" charset="0"/>
                <a:ea typeface="Calibri" pitchFamily="34" charset="-122"/>
                <a:cs typeface="Calibri" pitchFamily="34" charset="-120"/>
              </a:rPr>
              <a:t>Section 4</a:t>
            </a:r>
            <a:endParaRPr lang="en-US" sz="1000" dirty="0"/>
          </a:p>
        </p:txBody>
      </p:sp>
      <p:sp>
        <p:nvSpPr>
          <p:cNvPr id="5" name="Text 3"/>
          <p:cNvSpPr txBox="1"/>
          <p:nvPr/>
        </p:nvSpPr>
        <p:spPr>
          <a:xfrm>
            <a:off x="411480" y="1005840"/>
            <a:ext cx="11338560" cy="292608"/>
          </a:xfrm>
          <a:prstGeom prst="rect">
            <a:avLst/>
          </a:prstGeom>
          <a:noFill/>
          <a:ln/>
        </p:spPr>
        <p:txBody>
          <a:bodyPr wrap="square" lIns="0" tIns="0" rIns="0" bIns="0" rtlCol="0" anchor="ctr"/>
          <a:lstStyle/>
          <a:p>
            <a:pPr marL="0" indent="0">
              <a:buNone/>
            </a:pPr>
            <a:r>
              <a:rPr lang="en-US" sz="1300" dirty="0">
                <a:solidFill>
                  <a:srgbClr val="1E2A3A"/>
                </a:solidFill>
                <a:latin typeface="Calibri" pitchFamily="34" charset="0"/>
                <a:ea typeface="Calibri" pitchFamily="34" charset="-122"/>
                <a:cs typeface="Calibri" pitchFamily="34" charset="-120"/>
              </a:rPr>
              <a:t>Moving up the abstraction ladder gains something — and gives something up.</a:t>
            </a:r>
            <a:endParaRPr lang="en-US" sz="1300" dirty="0"/>
          </a:p>
        </p:txBody>
      </p:sp>
      <p:sp>
        <p:nvSpPr>
          <p:cNvPr id="6" name="Shape 4"/>
          <p:cNvSpPr/>
          <p:nvPr/>
        </p:nvSpPr>
        <p:spPr>
          <a:xfrm>
            <a:off x="411480" y="1371600"/>
            <a:ext cx="11338560" cy="347472"/>
          </a:xfrm>
          <a:prstGeom prst="rect">
            <a:avLst/>
          </a:prstGeom>
          <a:solidFill>
            <a:srgbClr val="1A2B5E"/>
          </a:solidFill>
          <a:ln w="12700">
            <a:solidFill>
              <a:srgbClr val="1A2B5E"/>
            </a:solidFill>
            <a:prstDash val="solid"/>
          </a:ln>
        </p:spPr>
        <p:txBody>
          <a:bodyPr/>
          <a:lstStyle/>
          <a:p>
            <a:endParaRPr lang="en-US"/>
          </a:p>
        </p:txBody>
      </p:sp>
      <p:sp>
        <p:nvSpPr>
          <p:cNvPr id="7" name="Text 5"/>
          <p:cNvSpPr txBox="1"/>
          <p:nvPr/>
        </p:nvSpPr>
        <p:spPr>
          <a:xfrm>
            <a:off x="548640" y="1426464"/>
            <a:ext cx="338328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Transition</a:t>
            </a:r>
            <a:endParaRPr lang="en-US" sz="1100" dirty="0"/>
          </a:p>
        </p:txBody>
      </p:sp>
      <p:sp>
        <p:nvSpPr>
          <p:cNvPr id="8" name="Text 6"/>
          <p:cNvSpPr txBox="1"/>
          <p:nvPr/>
        </p:nvSpPr>
        <p:spPr>
          <a:xfrm>
            <a:off x="3931920" y="1426464"/>
            <a:ext cx="338328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What you gain ✓</a:t>
            </a:r>
            <a:endParaRPr lang="en-US" sz="1100" dirty="0"/>
          </a:p>
        </p:txBody>
      </p:sp>
      <p:sp>
        <p:nvSpPr>
          <p:cNvPr id="9" name="Text 7"/>
          <p:cNvSpPr txBox="1"/>
          <p:nvPr/>
        </p:nvSpPr>
        <p:spPr>
          <a:xfrm>
            <a:off x="7772400" y="1426464"/>
            <a:ext cx="338328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What you give up ✗</a:t>
            </a:r>
            <a:endParaRPr lang="en-US" sz="1100" dirty="0"/>
          </a:p>
        </p:txBody>
      </p:sp>
      <p:sp>
        <p:nvSpPr>
          <p:cNvPr id="10" name="Shape 8"/>
          <p:cNvSpPr/>
          <p:nvPr/>
        </p:nvSpPr>
        <p:spPr>
          <a:xfrm>
            <a:off x="411480" y="1773936"/>
            <a:ext cx="11338560" cy="1005840"/>
          </a:xfrm>
          <a:prstGeom prst="rect">
            <a:avLst/>
          </a:prstGeom>
          <a:solidFill>
            <a:srgbClr val="F4F6FC"/>
          </a:solidFill>
          <a:ln w="12700">
            <a:solidFill>
              <a:srgbClr val="D0DAF0"/>
            </a:solidFill>
            <a:prstDash val="solid"/>
          </a:ln>
        </p:spPr>
        <p:txBody>
          <a:bodyPr/>
          <a:lstStyle/>
          <a:p>
            <a:endParaRPr lang="en-US"/>
          </a:p>
        </p:txBody>
      </p:sp>
      <p:sp>
        <p:nvSpPr>
          <p:cNvPr id="11" name="Text 9"/>
          <p:cNvSpPr txBox="1"/>
          <p:nvPr/>
        </p:nvSpPr>
        <p:spPr>
          <a:xfrm>
            <a:off x="548640" y="1847088"/>
            <a:ext cx="3291840" cy="859536"/>
          </a:xfrm>
          <a:prstGeom prst="rect">
            <a:avLst/>
          </a:prstGeom>
          <a:noFill/>
          <a:ln/>
        </p:spPr>
        <p:txBody>
          <a:bodyPr wrap="square" lIns="0" tIns="0" rIns="0" bIns="0" rtlCol="0" anchor="ctr"/>
          <a:lstStyle/>
          <a:p>
            <a:pPr marL="0" indent="0">
              <a:buNone/>
            </a:pPr>
            <a:r>
              <a:rPr lang="en-US" sz="1100" b="1" dirty="0">
                <a:solidFill>
                  <a:srgbClr val="1A2B5E"/>
                </a:solidFill>
                <a:latin typeface="Calibri" pitchFamily="34" charset="0"/>
                <a:ea typeface="Calibri" pitchFamily="34" charset="-122"/>
                <a:cs typeface="Calibri" pitchFamily="34" charset="-120"/>
              </a:rPr>
              <a:t>Machine code → Assembly</a:t>
            </a:r>
            <a:endParaRPr lang="en-US" sz="1100" dirty="0"/>
          </a:p>
        </p:txBody>
      </p:sp>
      <p:sp>
        <p:nvSpPr>
          <p:cNvPr id="12" name="Text 10"/>
          <p:cNvSpPr txBox="1"/>
          <p:nvPr/>
        </p:nvSpPr>
        <p:spPr>
          <a:xfrm>
            <a:off x="3931920" y="1847088"/>
            <a:ext cx="3749040" cy="859536"/>
          </a:xfrm>
          <a:prstGeom prst="rect">
            <a:avLst/>
          </a:prstGeom>
          <a:noFill/>
          <a:ln/>
        </p:spPr>
        <p:txBody>
          <a:bodyPr wrap="square" lIns="0" tIns="0" rIns="0" bIns="0" rtlCol="0" anchor="ctr"/>
          <a:lstStyle/>
          <a:p>
            <a:pPr marL="0" indent="0">
              <a:buNone/>
            </a:pPr>
            <a:r>
              <a:rPr lang="en-US" sz="1100" dirty="0">
                <a:solidFill>
                  <a:srgbClr val="1A7A3C"/>
                </a:solidFill>
                <a:latin typeface="Calibri" pitchFamily="34" charset="0"/>
                <a:ea typeface="Calibri" pitchFamily="34" charset="-122"/>
                <a:cs typeface="Calibri" pitchFamily="34" charset="-120"/>
              </a:rPr>
              <a:t>Readability, fewer transcription errors</a:t>
            </a:r>
            <a:endParaRPr lang="en-US" sz="1100" dirty="0"/>
          </a:p>
        </p:txBody>
      </p:sp>
      <p:sp>
        <p:nvSpPr>
          <p:cNvPr id="13" name="Text 11"/>
          <p:cNvSpPr txBox="1"/>
          <p:nvPr/>
        </p:nvSpPr>
        <p:spPr>
          <a:xfrm>
            <a:off x="7772400" y="1847088"/>
            <a:ext cx="3840480" cy="859536"/>
          </a:xfrm>
          <a:prstGeom prst="rect">
            <a:avLst/>
          </a:prstGeom>
          <a:noFill/>
          <a:ln/>
        </p:spPr>
        <p:txBody>
          <a:bodyPr wrap="square" lIns="0" tIns="0" rIns="0" bIns="0" rtlCol="0" anchor="ctr"/>
          <a:lstStyle/>
          <a:p>
            <a:pPr marL="0" indent="0">
              <a:buNone/>
            </a:pPr>
            <a:r>
              <a:rPr lang="en-US" sz="1100" dirty="0">
                <a:solidFill>
                  <a:srgbClr val="9B1C1C"/>
                </a:solidFill>
                <a:latin typeface="Calibri" pitchFamily="34" charset="0"/>
                <a:ea typeface="Calibri" pitchFamily="34" charset="-122"/>
                <a:cs typeface="Calibri" pitchFamily="34" charset="-120"/>
              </a:rPr>
              <a:t>1-to-1 instruction control, raw byte precision</a:t>
            </a:r>
            <a:endParaRPr lang="en-US" sz="1100" dirty="0"/>
          </a:p>
        </p:txBody>
      </p:sp>
      <p:sp>
        <p:nvSpPr>
          <p:cNvPr id="14" name="Shape 12"/>
          <p:cNvSpPr/>
          <p:nvPr/>
        </p:nvSpPr>
        <p:spPr>
          <a:xfrm>
            <a:off x="411480" y="2889504"/>
            <a:ext cx="11338560" cy="1005840"/>
          </a:xfrm>
          <a:prstGeom prst="rect">
            <a:avLst/>
          </a:prstGeom>
          <a:solidFill>
            <a:srgbClr val="FFFFFF"/>
          </a:solidFill>
          <a:ln w="12700">
            <a:solidFill>
              <a:srgbClr val="D0DAF0"/>
            </a:solidFill>
            <a:prstDash val="solid"/>
          </a:ln>
        </p:spPr>
        <p:txBody>
          <a:bodyPr/>
          <a:lstStyle/>
          <a:p>
            <a:endParaRPr lang="en-US"/>
          </a:p>
        </p:txBody>
      </p:sp>
      <p:sp>
        <p:nvSpPr>
          <p:cNvPr id="15" name="Text 13"/>
          <p:cNvSpPr txBox="1"/>
          <p:nvPr/>
        </p:nvSpPr>
        <p:spPr>
          <a:xfrm>
            <a:off x="548640" y="2962656"/>
            <a:ext cx="3291840" cy="859536"/>
          </a:xfrm>
          <a:prstGeom prst="rect">
            <a:avLst/>
          </a:prstGeom>
          <a:noFill/>
          <a:ln/>
        </p:spPr>
        <p:txBody>
          <a:bodyPr wrap="square" lIns="0" tIns="0" rIns="0" bIns="0" rtlCol="0" anchor="ctr"/>
          <a:lstStyle/>
          <a:p>
            <a:pPr marL="0" indent="0">
              <a:buNone/>
            </a:pPr>
            <a:r>
              <a:rPr lang="en-US" sz="1100" b="1" dirty="0">
                <a:solidFill>
                  <a:srgbClr val="1A2B5E"/>
                </a:solidFill>
                <a:latin typeface="Calibri" pitchFamily="34" charset="0"/>
                <a:ea typeface="Calibri" pitchFamily="34" charset="-122"/>
                <a:cs typeface="Calibri" pitchFamily="34" charset="-120"/>
              </a:rPr>
              <a:t>Assembly → C</a:t>
            </a:r>
            <a:endParaRPr lang="en-US" sz="1100" dirty="0"/>
          </a:p>
        </p:txBody>
      </p:sp>
      <p:sp>
        <p:nvSpPr>
          <p:cNvPr id="16" name="Text 14"/>
          <p:cNvSpPr txBox="1"/>
          <p:nvPr/>
        </p:nvSpPr>
        <p:spPr>
          <a:xfrm>
            <a:off x="3931920" y="2962656"/>
            <a:ext cx="3749040" cy="859536"/>
          </a:xfrm>
          <a:prstGeom prst="rect">
            <a:avLst/>
          </a:prstGeom>
          <a:noFill/>
          <a:ln/>
        </p:spPr>
        <p:txBody>
          <a:bodyPr wrap="square" lIns="0" tIns="0" rIns="0" bIns="0" rtlCol="0" anchor="ctr"/>
          <a:lstStyle/>
          <a:p>
            <a:pPr marL="0" indent="0">
              <a:buNone/>
            </a:pPr>
            <a:r>
              <a:rPr lang="en-US" sz="1100" dirty="0">
                <a:solidFill>
                  <a:srgbClr val="1A7A3C"/>
                </a:solidFill>
                <a:latin typeface="Calibri" pitchFamily="34" charset="0"/>
                <a:ea typeface="Calibri" pitchFamily="34" charset="-122"/>
                <a:cs typeface="Calibri" pitchFamily="34" charset="-120"/>
              </a:rPr>
              <a:t>Portability, structured control flow, readable syntax</a:t>
            </a:r>
            <a:endParaRPr lang="en-US" sz="1100" dirty="0"/>
          </a:p>
        </p:txBody>
      </p:sp>
      <p:sp>
        <p:nvSpPr>
          <p:cNvPr id="17" name="Text 15"/>
          <p:cNvSpPr txBox="1"/>
          <p:nvPr/>
        </p:nvSpPr>
        <p:spPr>
          <a:xfrm>
            <a:off x="7772400" y="2962656"/>
            <a:ext cx="3840480" cy="859536"/>
          </a:xfrm>
          <a:prstGeom prst="rect">
            <a:avLst/>
          </a:prstGeom>
          <a:noFill/>
          <a:ln/>
        </p:spPr>
        <p:txBody>
          <a:bodyPr wrap="square" lIns="0" tIns="0" rIns="0" bIns="0" rtlCol="0" anchor="ctr"/>
          <a:lstStyle/>
          <a:p>
            <a:pPr marL="0" indent="0">
              <a:buNone/>
            </a:pPr>
            <a:r>
              <a:rPr lang="en-US" sz="1100" dirty="0">
                <a:solidFill>
                  <a:srgbClr val="9B1C1C"/>
                </a:solidFill>
                <a:latin typeface="Calibri" pitchFamily="34" charset="0"/>
                <a:ea typeface="Calibri" pitchFamily="34" charset="-122"/>
                <a:cs typeface="Calibri" pitchFamily="34" charset="-120"/>
              </a:rPr>
              <a:t>Direct register control, instruction-level precision</a:t>
            </a:r>
            <a:endParaRPr lang="en-US" sz="1100" dirty="0"/>
          </a:p>
        </p:txBody>
      </p:sp>
      <p:sp>
        <p:nvSpPr>
          <p:cNvPr id="18" name="Shape 16"/>
          <p:cNvSpPr/>
          <p:nvPr/>
        </p:nvSpPr>
        <p:spPr>
          <a:xfrm>
            <a:off x="411480" y="4005072"/>
            <a:ext cx="11338560" cy="1005840"/>
          </a:xfrm>
          <a:prstGeom prst="rect">
            <a:avLst/>
          </a:prstGeom>
          <a:solidFill>
            <a:srgbClr val="F4F6FC"/>
          </a:solidFill>
          <a:ln w="12700">
            <a:solidFill>
              <a:srgbClr val="D0DAF0"/>
            </a:solidFill>
            <a:prstDash val="solid"/>
          </a:ln>
        </p:spPr>
        <p:txBody>
          <a:bodyPr/>
          <a:lstStyle/>
          <a:p>
            <a:endParaRPr lang="en-US"/>
          </a:p>
        </p:txBody>
      </p:sp>
      <p:sp>
        <p:nvSpPr>
          <p:cNvPr id="19" name="Text 17"/>
          <p:cNvSpPr txBox="1"/>
          <p:nvPr/>
        </p:nvSpPr>
        <p:spPr>
          <a:xfrm>
            <a:off x="548640" y="4078224"/>
            <a:ext cx="3291840" cy="859536"/>
          </a:xfrm>
          <a:prstGeom prst="rect">
            <a:avLst/>
          </a:prstGeom>
          <a:noFill/>
          <a:ln/>
        </p:spPr>
        <p:txBody>
          <a:bodyPr wrap="square" lIns="0" tIns="0" rIns="0" bIns="0" rtlCol="0" anchor="ctr"/>
          <a:lstStyle/>
          <a:p>
            <a:pPr marL="0" indent="0">
              <a:buNone/>
            </a:pPr>
            <a:r>
              <a:rPr lang="en-US" sz="1100" b="1" dirty="0">
                <a:solidFill>
                  <a:srgbClr val="1A2B5E"/>
                </a:solidFill>
                <a:latin typeface="Calibri" pitchFamily="34" charset="0"/>
                <a:ea typeface="Calibri" pitchFamily="34" charset="-122"/>
                <a:cs typeface="Calibri" pitchFamily="34" charset="-120"/>
              </a:rPr>
              <a:t>C → C# / Java</a:t>
            </a:r>
            <a:endParaRPr lang="en-US" sz="1100" dirty="0"/>
          </a:p>
        </p:txBody>
      </p:sp>
      <p:sp>
        <p:nvSpPr>
          <p:cNvPr id="20" name="Text 18"/>
          <p:cNvSpPr txBox="1"/>
          <p:nvPr/>
        </p:nvSpPr>
        <p:spPr>
          <a:xfrm>
            <a:off x="3931920" y="4078224"/>
            <a:ext cx="3749040" cy="859536"/>
          </a:xfrm>
          <a:prstGeom prst="rect">
            <a:avLst/>
          </a:prstGeom>
          <a:noFill/>
          <a:ln/>
        </p:spPr>
        <p:txBody>
          <a:bodyPr wrap="square" lIns="0" tIns="0" rIns="0" bIns="0" rtlCol="0" anchor="ctr"/>
          <a:lstStyle/>
          <a:p>
            <a:pPr marL="0" indent="0">
              <a:buNone/>
            </a:pPr>
            <a:r>
              <a:rPr lang="en-US" sz="1100" dirty="0">
                <a:solidFill>
                  <a:srgbClr val="1A7A3C"/>
                </a:solidFill>
                <a:latin typeface="Calibri" pitchFamily="34" charset="0"/>
                <a:ea typeface="Calibri" pitchFamily="34" charset="-122"/>
                <a:cs typeface="Calibri" pitchFamily="34" charset="-120"/>
              </a:rPr>
              <a:t>Automatic memory management, type safety, rich OOP</a:t>
            </a:r>
            <a:endParaRPr lang="en-US" sz="1100" dirty="0"/>
          </a:p>
        </p:txBody>
      </p:sp>
      <p:sp>
        <p:nvSpPr>
          <p:cNvPr id="21" name="Text 19"/>
          <p:cNvSpPr txBox="1"/>
          <p:nvPr/>
        </p:nvSpPr>
        <p:spPr>
          <a:xfrm>
            <a:off x="7772400" y="4078224"/>
            <a:ext cx="3840480" cy="859536"/>
          </a:xfrm>
          <a:prstGeom prst="rect">
            <a:avLst/>
          </a:prstGeom>
          <a:noFill/>
          <a:ln/>
        </p:spPr>
        <p:txBody>
          <a:bodyPr wrap="square" lIns="0" tIns="0" rIns="0" bIns="0" rtlCol="0" anchor="ctr"/>
          <a:lstStyle/>
          <a:p>
            <a:pPr marL="0" indent="0">
              <a:buNone/>
            </a:pPr>
            <a:r>
              <a:rPr lang="en-US" sz="1100" dirty="0">
                <a:solidFill>
                  <a:srgbClr val="9B1C1C"/>
                </a:solidFill>
                <a:latin typeface="Calibri" pitchFamily="34" charset="0"/>
                <a:ea typeface="Calibri" pitchFamily="34" charset="-122"/>
                <a:cs typeface="Calibri" pitchFamily="34" charset="-120"/>
              </a:rPr>
              <a:t>Manual memory control, slight runtime overhead from GC</a:t>
            </a:r>
            <a:endParaRPr lang="en-US" sz="1100" dirty="0"/>
          </a:p>
        </p:txBody>
      </p:sp>
      <p:sp>
        <p:nvSpPr>
          <p:cNvPr id="22" name="Shape 20"/>
          <p:cNvSpPr/>
          <p:nvPr/>
        </p:nvSpPr>
        <p:spPr>
          <a:xfrm>
            <a:off x="411480" y="5120640"/>
            <a:ext cx="11338560" cy="1005840"/>
          </a:xfrm>
          <a:prstGeom prst="rect">
            <a:avLst/>
          </a:prstGeom>
          <a:solidFill>
            <a:srgbClr val="FFFFFF"/>
          </a:solidFill>
          <a:ln w="12700">
            <a:solidFill>
              <a:srgbClr val="D0DAF0"/>
            </a:solidFill>
            <a:prstDash val="solid"/>
          </a:ln>
        </p:spPr>
        <p:txBody>
          <a:bodyPr/>
          <a:lstStyle/>
          <a:p>
            <a:endParaRPr lang="en-US"/>
          </a:p>
        </p:txBody>
      </p:sp>
      <p:sp>
        <p:nvSpPr>
          <p:cNvPr id="23" name="Text 21"/>
          <p:cNvSpPr txBox="1"/>
          <p:nvPr/>
        </p:nvSpPr>
        <p:spPr>
          <a:xfrm>
            <a:off x="548640" y="5193792"/>
            <a:ext cx="3291840" cy="859536"/>
          </a:xfrm>
          <a:prstGeom prst="rect">
            <a:avLst/>
          </a:prstGeom>
          <a:noFill/>
          <a:ln/>
        </p:spPr>
        <p:txBody>
          <a:bodyPr wrap="square" lIns="0" tIns="0" rIns="0" bIns="0" rtlCol="0" anchor="ctr"/>
          <a:lstStyle/>
          <a:p>
            <a:pPr marL="0" indent="0">
              <a:buNone/>
            </a:pPr>
            <a:r>
              <a:rPr lang="en-US" sz="1100" b="1" dirty="0">
                <a:solidFill>
                  <a:srgbClr val="1A2B5E"/>
                </a:solidFill>
                <a:latin typeface="Calibri" pitchFamily="34" charset="0"/>
                <a:ea typeface="Calibri" pitchFamily="34" charset="-122"/>
                <a:cs typeface="Calibri" pitchFamily="34" charset="-120"/>
              </a:rPr>
              <a:t>C# → Python</a:t>
            </a:r>
            <a:endParaRPr lang="en-US" sz="1100" dirty="0"/>
          </a:p>
        </p:txBody>
      </p:sp>
      <p:sp>
        <p:nvSpPr>
          <p:cNvPr id="24" name="Text 22"/>
          <p:cNvSpPr txBox="1"/>
          <p:nvPr/>
        </p:nvSpPr>
        <p:spPr>
          <a:xfrm>
            <a:off x="3931920" y="5193792"/>
            <a:ext cx="3749040" cy="859536"/>
          </a:xfrm>
          <a:prstGeom prst="rect">
            <a:avLst/>
          </a:prstGeom>
          <a:noFill/>
          <a:ln/>
        </p:spPr>
        <p:txBody>
          <a:bodyPr wrap="square" lIns="0" tIns="0" rIns="0" bIns="0" rtlCol="0" anchor="ctr"/>
          <a:lstStyle/>
          <a:p>
            <a:pPr marL="0" indent="0">
              <a:buNone/>
            </a:pPr>
            <a:r>
              <a:rPr lang="en-US" sz="1100" dirty="0">
                <a:solidFill>
                  <a:srgbClr val="1A7A3C"/>
                </a:solidFill>
                <a:latin typeface="Calibri" pitchFamily="34" charset="0"/>
                <a:ea typeface="Calibri" pitchFamily="34" charset="-122"/>
                <a:cs typeface="Calibri" pitchFamily="34" charset="-120"/>
              </a:rPr>
              <a:t>Dynamic flexibility, concise syntax, faster prototyping</a:t>
            </a:r>
            <a:endParaRPr lang="en-US" sz="1100" dirty="0"/>
          </a:p>
        </p:txBody>
      </p:sp>
      <p:sp>
        <p:nvSpPr>
          <p:cNvPr id="25" name="Text 23"/>
          <p:cNvSpPr txBox="1"/>
          <p:nvPr/>
        </p:nvSpPr>
        <p:spPr>
          <a:xfrm>
            <a:off x="7772400" y="5193792"/>
            <a:ext cx="3840480" cy="859536"/>
          </a:xfrm>
          <a:prstGeom prst="rect">
            <a:avLst/>
          </a:prstGeom>
          <a:noFill/>
          <a:ln/>
        </p:spPr>
        <p:txBody>
          <a:bodyPr wrap="square" lIns="0" tIns="0" rIns="0" bIns="0" rtlCol="0" anchor="ctr"/>
          <a:lstStyle/>
          <a:p>
            <a:pPr marL="0" indent="0">
              <a:buNone/>
            </a:pPr>
            <a:r>
              <a:rPr lang="en-US" sz="1100" dirty="0">
                <a:solidFill>
                  <a:srgbClr val="9B1C1C"/>
                </a:solidFill>
                <a:latin typeface="Calibri" pitchFamily="34" charset="0"/>
                <a:ea typeface="Calibri" pitchFamily="34" charset="-122"/>
                <a:cs typeface="Calibri" pitchFamily="34" charset="-120"/>
              </a:rPr>
              <a:t>Compile-time type checking, raw execution speed</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1A2B5E"/>
          </a:solidFill>
          <a:ln/>
        </p:spPr>
        <p:txBody>
          <a:bodyPr/>
          <a:lstStyle/>
          <a:p>
            <a:endParaRPr lang="en-US"/>
          </a:p>
        </p:txBody>
      </p:sp>
      <p:sp>
        <p:nvSpPr>
          <p:cNvPr id="3" name="Shape 1"/>
          <p:cNvSpPr/>
          <p:nvPr/>
        </p:nvSpPr>
        <p:spPr>
          <a:xfrm>
            <a:off x="3657600" y="0"/>
            <a:ext cx="8503920" cy="6858000"/>
          </a:xfrm>
          <a:prstGeom prst="rect">
            <a:avLst/>
          </a:prstGeom>
          <a:solidFill>
            <a:srgbClr val="F4F6FC"/>
          </a:solidFill>
          <a:ln/>
        </p:spPr>
        <p:txBody>
          <a:bodyPr/>
          <a:lstStyle/>
          <a:p>
            <a:endParaRPr lang="en-US" dirty="0"/>
          </a:p>
        </p:txBody>
      </p:sp>
      <p:sp>
        <p:nvSpPr>
          <p:cNvPr id="4" name="Text 2"/>
          <p:cNvSpPr txBox="1"/>
          <p:nvPr/>
        </p:nvSpPr>
        <p:spPr>
          <a:xfrm>
            <a:off x="228600" y="2560320"/>
            <a:ext cx="3200400" cy="365760"/>
          </a:xfrm>
          <a:prstGeom prst="rect">
            <a:avLst/>
          </a:prstGeom>
          <a:noFill/>
          <a:ln/>
        </p:spPr>
        <p:txBody>
          <a:bodyPr wrap="square" lIns="0" tIns="0" rIns="0" bIns="0" rtlCol="0" anchor="ctr"/>
          <a:lstStyle/>
          <a:p>
            <a:pPr marL="0" indent="0">
              <a:buNone/>
            </a:pPr>
            <a:r>
              <a:rPr lang="en-US" sz="1100" dirty="0">
                <a:solidFill>
                  <a:srgbClr val="7A90B8"/>
                </a:solidFill>
                <a:latin typeface="Calibri" pitchFamily="34" charset="0"/>
                <a:ea typeface="Calibri" pitchFamily="34" charset="-122"/>
                <a:cs typeface="Calibri" pitchFamily="34" charset="-120"/>
              </a:rPr>
              <a:t>Section 5</a:t>
            </a:r>
            <a:endParaRPr lang="en-US" sz="1100" dirty="0"/>
          </a:p>
        </p:txBody>
      </p:sp>
      <p:sp>
        <p:nvSpPr>
          <p:cNvPr id="5" name="Text 3"/>
          <p:cNvSpPr txBox="1"/>
          <p:nvPr/>
        </p:nvSpPr>
        <p:spPr>
          <a:xfrm>
            <a:off x="228600" y="2926080"/>
            <a:ext cx="3200400" cy="1645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Design Goals</a:t>
            </a:r>
            <a:endParaRPr lang="en-US" sz="2200" dirty="0"/>
          </a:p>
        </p:txBody>
      </p:sp>
      <p:sp>
        <p:nvSpPr>
          <p:cNvPr id="6" name="Text 4"/>
          <p:cNvSpPr txBox="1"/>
          <p:nvPr/>
        </p:nvSpPr>
        <p:spPr>
          <a:xfrm>
            <a:off x="4023360" y="2560320"/>
            <a:ext cx="7863840" cy="1463040"/>
          </a:xfrm>
          <a:prstGeom prst="rect">
            <a:avLst/>
          </a:prstGeom>
          <a:noFill/>
          <a:ln/>
        </p:spPr>
        <p:txBody>
          <a:bodyPr wrap="square" lIns="0" tIns="0" rIns="0" bIns="0" rtlCol="0" anchor="ctr"/>
          <a:lstStyle/>
          <a:p>
            <a:pPr marL="0" indent="0">
              <a:buNone/>
            </a:pPr>
            <a:endParaRPr lang="en-US" sz="1800" dirty="0"/>
          </a:p>
        </p:txBody>
      </p:sp>
      <p:sp>
        <p:nvSpPr>
          <p:cNvPr id="7" name="Text 5"/>
          <p:cNvSpPr txBox="1"/>
          <p:nvPr/>
        </p:nvSpPr>
        <p:spPr>
          <a:xfrm>
            <a:off x="4023360" y="1371600"/>
            <a:ext cx="7863840" cy="292608"/>
          </a:xfrm>
          <a:prstGeom prst="rect">
            <a:avLst/>
          </a:prstGeom>
          <a:noFill/>
          <a:ln/>
        </p:spPr>
        <p:txBody>
          <a:bodyPr wrap="square" lIns="0" tIns="0" rIns="0" bIns="0" rtlCol="0" anchor="ctr"/>
          <a:lstStyle/>
          <a:p>
            <a:pPr marL="0" indent="0">
              <a:buNone/>
            </a:pPr>
            <a:r>
              <a:rPr lang="en-US" sz="1300" b="1" dirty="0">
                <a:solidFill>
                  <a:srgbClr val="1E2A3A"/>
                </a:solidFill>
                <a:latin typeface="Calibri" pitchFamily="34" charset="0"/>
                <a:ea typeface="Calibri" pitchFamily="34" charset="-122"/>
                <a:cs typeface="Calibri" pitchFamily="34" charset="-120"/>
              </a:rPr>
              <a:t>Language designers must choose which goals to prioritise.</a:t>
            </a:r>
            <a:endParaRPr lang="en-US" sz="1300" dirty="0"/>
          </a:p>
        </p:txBody>
      </p:sp>
      <p:sp>
        <p:nvSpPr>
          <p:cNvPr id="8" name="Text 6"/>
          <p:cNvSpPr txBox="1"/>
          <p:nvPr/>
        </p:nvSpPr>
        <p:spPr>
          <a:xfrm>
            <a:off x="4023360" y="1691640"/>
            <a:ext cx="7863840" cy="502920"/>
          </a:xfrm>
          <a:prstGeom prst="rect">
            <a:avLst/>
          </a:prstGeom>
          <a:noFill/>
          <a:ln/>
        </p:spPr>
        <p:txBody>
          <a:bodyPr wrap="square" lIns="0" tIns="0" rIns="0" bIns="0" rtlCol="0" anchor="ctr"/>
          <a:lstStyle/>
          <a:p>
            <a:pPr marL="0" indent="0">
              <a:buNone/>
            </a:pPr>
            <a:r>
              <a:rPr lang="en-US" sz="1300" dirty="0">
                <a:solidFill>
                  <a:srgbClr val="1A2B5E"/>
                </a:solidFill>
                <a:latin typeface="Calibri" pitchFamily="34" charset="0"/>
                <a:ea typeface="Calibri" pitchFamily="34" charset="-122"/>
                <a:cs typeface="Calibri" pitchFamily="34" charset="-120"/>
              </a:rPr>
              <a:t>They cannot maximise all of them simultaneously — so every language is a set of deliberate trade-offs.</a:t>
            </a:r>
            <a:endParaRPr lang="en-US" sz="1300" dirty="0"/>
          </a:p>
        </p:txBody>
      </p:sp>
      <p:sp>
        <p:nvSpPr>
          <p:cNvPr id="9" name="Text 7"/>
          <p:cNvSpPr txBox="1"/>
          <p:nvPr/>
        </p:nvSpPr>
        <p:spPr>
          <a:xfrm>
            <a:off x="4023360" y="2331720"/>
            <a:ext cx="3794760" cy="256032"/>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  Readability</a:t>
            </a:r>
            <a:endParaRPr lang="en-US" sz="1200" dirty="0"/>
          </a:p>
        </p:txBody>
      </p:sp>
      <p:sp>
        <p:nvSpPr>
          <p:cNvPr id="10" name="Text 8"/>
          <p:cNvSpPr txBox="1"/>
          <p:nvPr/>
        </p:nvSpPr>
        <p:spPr>
          <a:xfrm>
            <a:off x="4206240" y="2587752"/>
            <a:ext cx="3611880" cy="512064"/>
          </a:xfrm>
          <a:prstGeom prst="rect">
            <a:avLst/>
          </a:prstGeom>
          <a:noFill/>
          <a:ln/>
        </p:spPr>
        <p:txBody>
          <a:bodyPr wrap="square" lIns="0" tIns="0" rIns="0" bIns="0" rtlCol="0" anchor="ctr"/>
          <a:lstStyle/>
          <a:p>
            <a:pPr marL="0" indent="0">
              <a:buNone/>
            </a:pPr>
            <a:r>
              <a:rPr lang="en-US" sz="1100" dirty="0">
                <a:solidFill>
                  <a:srgbClr val="5A6A82"/>
                </a:solidFill>
                <a:latin typeface="Calibri" pitchFamily="34" charset="0"/>
                <a:ea typeface="Calibri" pitchFamily="34" charset="-122"/>
                <a:cs typeface="Calibri" pitchFamily="34" charset="-120"/>
              </a:rPr>
              <a:t>How easily can code be understood by a human?</a:t>
            </a:r>
            <a:endParaRPr lang="en-US" sz="1100" dirty="0"/>
          </a:p>
        </p:txBody>
      </p:sp>
      <p:sp>
        <p:nvSpPr>
          <p:cNvPr id="11" name="Text 9"/>
          <p:cNvSpPr txBox="1"/>
          <p:nvPr/>
        </p:nvSpPr>
        <p:spPr>
          <a:xfrm>
            <a:off x="8046720" y="2331720"/>
            <a:ext cx="3794760" cy="256032"/>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  Writability</a:t>
            </a:r>
            <a:endParaRPr lang="en-US" sz="1200" dirty="0"/>
          </a:p>
        </p:txBody>
      </p:sp>
      <p:sp>
        <p:nvSpPr>
          <p:cNvPr id="12" name="Text 10"/>
          <p:cNvSpPr txBox="1"/>
          <p:nvPr/>
        </p:nvSpPr>
        <p:spPr>
          <a:xfrm>
            <a:off x="8229600" y="2587752"/>
            <a:ext cx="3611880" cy="512064"/>
          </a:xfrm>
          <a:prstGeom prst="rect">
            <a:avLst/>
          </a:prstGeom>
          <a:noFill/>
          <a:ln/>
        </p:spPr>
        <p:txBody>
          <a:bodyPr wrap="square" lIns="0" tIns="0" rIns="0" bIns="0" rtlCol="0" anchor="ctr"/>
          <a:lstStyle/>
          <a:p>
            <a:pPr marL="0" indent="0">
              <a:buNone/>
            </a:pPr>
            <a:r>
              <a:rPr lang="en-US" sz="1100" dirty="0">
                <a:solidFill>
                  <a:srgbClr val="5A6A82"/>
                </a:solidFill>
                <a:latin typeface="Calibri" pitchFamily="34" charset="0"/>
                <a:ea typeface="Calibri" pitchFamily="34" charset="-122"/>
                <a:cs typeface="Calibri" pitchFamily="34" charset="-120"/>
              </a:rPr>
              <a:t>How quickly can a programmer express a solution?</a:t>
            </a:r>
            <a:endParaRPr lang="en-US" sz="1100" dirty="0"/>
          </a:p>
        </p:txBody>
      </p:sp>
      <p:sp>
        <p:nvSpPr>
          <p:cNvPr id="13" name="Text 11"/>
          <p:cNvSpPr txBox="1"/>
          <p:nvPr/>
        </p:nvSpPr>
        <p:spPr>
          <a:xfrm>
            <a:off x="4023360" y="3246120"/>
            <a:ext cx="3794760" cy="256032"/>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  Reliability</a:t>
            </a:r>
            <a:endParaRPr lang="en-US" sz="1200" dirty="0"/>
          </a:p>
        </p:txBody>
      </p:sp>
      <p:sp>
        <p:nvSpPr>
          <p:cNvPr id="14" name="Text 12"/>
          <p:cNvSpPr txBox="1"/>
          <p:nvPr/>
        </p:nvSpPr>
        <p:spPr>
          <a:xfrm>
            <a:off x="4206240" y="3502152"/>
            <a:ext cx="3611880" cy="512064"/>
          </a:xfrm>
          <a:prstGeom prst="rect">
            <a:avLst/>
          </a:prstGeom>
          <a:noFill/>
          <a:ln/>
        </p:spPr>
        <p:txBody>
          <a:bodyPr wrap="square" lIns="0" tIns="0" rIns="0" bIns="0" rtlCol="0" anchor="ctr"/>
          <a:lstStyle/>
          <a:p>
            <a:pPr marL="0" indent="0">
              <a:buNone/>
            </a:pPr>
            <a:r>
              <a:rPr lang="en-US" sz="1100" dirty="0">
                <a:solidFill>
                  <a:srgbClr val="5A6A82"/>
                </a:solidFill>
                <a:latin typeface="Calibri" pitchFamily="34" charset="0"/>
                <a:ea typeface="Calibri" pitchFamily="34" charset="-122"/>
                <a:cs typeface="Calibri" pitchFamily="34" charset="-120"/>
              </a:rPr>
              <a:t>How well does the language catch errors before they reach users?</a:t>
            </a:r>
            <a:endParaRPr lang="en-US" sz="1100" dirty="0"/>
          </a:p>
        </p:txBody>
      </p:sp>
      <p:sp>
        <p:nvSpPr>
          <p:cNvPr id="15" name="Text 13"/>
          <p:cNvSpPr txBox="1"/>
          <p:nvPr/>
        </p:nvSpPr>
        <p:spPr>
          <a:xfrm>
            <a:off x="8046720" y="3246120"/>
            <a:ext cx="3794760" cy="256032"/>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  Safety</a:t>
            </a:r>
            <a:endParaRPr lang="en-US" sz="1200" dirty="0"/>
          </a:p>
        </p:txBody>
      </p:sp>
      <p:sp>
        <p:nvSpPr>
          <p:cNvPr id="16" name="Text 14"/>
          <p:cNvSpPr txBox="1"/>
          <p:nvPr/>
        </p:nvSpPr>
        <p:spPr>
          <a:xfrm>
            <a:off x="8229600" y="3502152"/>
            <a:ext cx="3611880" cy="512064"/>
          </a:xfrm>
          <a:prstGeom prst="rect">
            <a:avLst/>
          </a:prstGeom>
          <a:noFill/>
          <a:ln/>
        </p:spPr>
        <p:txBody>
          <a:bodyPr wrap="square" lIns="0" tIns="0" rIns="0" bIns="0" rtlCol="0" anchor="ctr"/>
          <a:lstStyle/>
          <a:p>
            <a:pPr marL="0" indent="0">
              <a:buNone/>
            </a:pPr>
            <a:r>
              <a:rPr lang="en-US" sz="1100" dirty="0">
                <a:solidFill>
                  <a:srgbClr val="5A6A82"/>
                </a:solidFill>
                <a:latin typeface="Calibri" pitchFamily="34" charset="0"/>
                <a:ea typeface="Calibri" pitchFamily="34" charset="-122"/>
                <a:cs typeface="Calibri" pitchFamily="34" charset="-120"/>
              </a:rPr>
              <a:t>Does the language prevent memory corruption and crashes?</a:t>
            </a:r>
            <a:endParaRPr lang="en-US" sz="1100" dirty="0"/>
          </a:p>
        </p:txBody>
      </p:sp>
      <p:sp>
        <p:nvSpPr>
          <p:cNvPr id="17" name="Text 15"/>
          <p:cNvSpPr txBox="1"/>
          <p:nvPr/>
        </p:nvSpPr>
        <p:spPr>
          <a:xfrm>
            <a:off x="4023360" y="4160520"/>
            <a:ext cx="3794760" cy="256032"/>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  Performance</a:t>
            </a:r>
            <a:endParaRPr lang="en-US" sz="1200" dirty="0"/>
          </a:p>
        </p:txBody>
      </p:sp>
      <p:sp>
        <p:nvSpPr>
          <p:cNvPr id="18" name="Text 16"/>
          <p:cNvSpPr txBox="1"/>
          <p:nvPr/>
        </p:nvSpPr>
        <p:spPr>
          <a:xfrm>
            <a:off x="4206240" y="4416552"/>
            <a:ext cx="3611880" cy="512064"/>
          </a:xfrm>
          <a:prstGeom prst="rect">
            <a:avLst/>
          </a:prstGeom>
          <a:noFill/>
          <a:ln/>
        </p:spPr>
        <p:txBody>
          <a:bodyPr wrap="square" lIns="0" tIns="0" rIns="0" bIns="0" rtlCol="0" anchor="ctr"/>
          <a:lstStyle/>
          <a:p>
            <a:pPr marL="0" indent="0">
              <a:buNone/>
            </a:pPr>
            <a:r>
              <a:rPr lang="en-US" sz="1100" dirty="0">
                <a:solidFill>
                  <a:srgbClr val="5A6A82"/>
                </a:solidFill>
                <a:latin typeface="Calibri" pitchFamily="34" charset="0"/>
                <a:ea typeface="Calibri" pitchFamily="34" charset="-122"/>
                <a:cs typeface="Calibri" pitchFamily="34" charset="-120"/>
              </a:rPr>
              <a:t>How fast does the program run?</a:t>
            </a:r>
            <a:endParaRPr lang="en-US" sz="1100" dirty="0"/>
          </a:p>
        </p:txBody>
      </p:sp>
      <p:sp>
        <p:nvSpPr>
          <p:cNvPr id="19" name="Text 17"/>
          <p:cNvSpPr txBox="1"/>
          <p:nvPr/>
        </p:nvSpPr>
        <p:spPr>
          <a:xfrm>
            <a:off x="8046720" y="4160520"/>
            <a:ext cx="3794760" cy="256032"/>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  Portability</a:t>
            </a:r>
            <a:endParaRPr lang="en-US" sz="1200" dirty="0"/>
          </a:p>
        </p:txBody>
      </p:sp>
      <p:sp>
        <p:nvSpPr>
          <p:cNvPr id="20" name="Text 18"/>
          <p:cNvSpPr txBox="1"/>
          <p:nvPr/>
        </p:nvSpPr>
        <p:spPr>
          <a:xfrm>
            <a:off x="8229600" y="4416552"/>
            <a:ext cx="3611880" cy="512064"/>
          </a:xfrm>
          <a:prstGeom prst="rect">
            <a:avLst/>
          </a:prstGeom>
          <a:noFill/>
          <a:ln/>
        </p:spPr>
        <p:txBody>
          <a:bodyPr wrap="square" lIns="0" tIns="0" rIns="0" bIns="0" rtlCol="0" anchor="ctr"/>
          <a:lstStyle/>
          <a:p>
            <a:pPr marL="0" indent="0">
              <a:buNone/>
            </a:pPr>
            <a:r>
              <a:rPr lang="en-US" sz="1100" dirty="0">
                <a:solidFill>
                  <a:srgbClr val="5A6A82"/>
                </a:solidFill>
                <a:latin typeface="Calibri" pitchFamily="34" charset="0"/>
                <a:ea typeface="Calibri" pitchFamily="34" charset="-122"/>
                <a:cs typeface="Calibri" pitchFamily="34" charset="-120"/>
              </a:rPr>
              <a:t>Does the same code run on different hardware and OS?</a:t>
            </a:r>
            <a:endParaRPr lang="en-US" sz="1100" dirty="0"/>
          </a:p>
        </p:txBody>
      </p:sp>
      <p:sp>
        <p:nvSpPr>
          <p:cNvPr id="21" name="Text 19"/>
          <p:cNvSpPr txBox="1"/>
          <p:nvPr/>
        </p:nvSpPr>
        <p:spPr>
          <a:xfrm>
            <a:off x="4023360" y="5074920"/>
            <a:ext cx="3794760" cy="256032"/>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  Maintainability</a:t>
            </a:r>
            <a:endParaRPr lang="en-US" sz="1200" dirty="0"/>
          </a:p>
        </p:txBody>
      </p:sp>
      <p:sp>
        <p:nvSpPr>
          <p:cNvPr id="22" name="Text 20"/>
          <p:cNvSpPr txBox="1"/>
          <p:nvPr/>
        </p:nvSpPr>
        <p:spPr>
          <a:xfrm>
            <a:off x="4206240" y="5330952"/>
            <a:ext cx="3611880" cy="512064"/>
          </a:xfrm>
          <a:prstGeom prst="rect">
            <a:avLst/>
          </a:prstGeom>
          <a:noFill/>
          <a:ln/>
        </p:spPr>
        <p:txBody>
          <a:bodyPr wrap="square" lIns="0" tIns="0" rIns="0" bIns="0" rtlCol="0" anchor="ctr"/>
          <a:lstStyle/>
          <a:p>
            <a:pPr marL="0" indent="0">
              <a:buNone/>
            </a:pPr>
            <a:r>
              <a:rPr lang="en-US" sz="1100" dirty="0">
                <a:solidFill>
                  <a:srgbClr val="5A6A82"/>
                </a:solidFill>
                <a:latin typeface="Calibri" pitchFamily="34" charset="0"/>
                <a:ea typeface="Calibri" pitchFamily="34" charset="-122"/>
                <a:cs typeface="Calibri" pitchFamily="34" charset="-120"/>
              </a:rPr>
              <a:t>Can a team safely extend the code months later?</a:t>
            </a:r>
            <a:endParaRPr lang="en-US" sz="1100" dirty="0"/>
          </a:p>
        </p:txBody>
      </p:sp>
      <p:sp>
        <p:nvSpPr>
          <p:cNvPr id="23" name="Text 21"/>
          <p:cNvSpPr txBox="1"/>
          <p:nvPr/>
        </p:nvSpPr>
        <p:spPr>
          <a:xfrm>
            <a:off x="8046720" y="5074920"/>
            <a:ext cx="3794760" cy="256032"/>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  Expressiveness</a:t>
            </a:r>
            <a:endParaRPr lang="en-US" sz="1200" dirty="0"/>
          </a:p>
        </p:txBody>
      </p:sp>
      <p:sp>
        <p:nvSpPr>
          <p:cNvPr id="24" name="Text 22"/>
          <p:cNvSpPr txBox="1"/>
          <p:nvPr/>
        </p:nvSpPr>
        <p:spPr>
          <a:xfrm>
            <a:off x="8229600" y="5330952"/>
            <a:ext cx="3611880" cy="512064"/>
          </a:xfrm>
          <a:prstGeom prst="rect">
            <a:avLst/>
          </a:prstGeom>
          <a:noFill/>
          <a:ln/>
        </p:spPr>
        <p:txBody>
          <a:bodyPr wrap="square" lIns="0" tIns="0" rIns="0" bIns="0" rtlCol="0" anchor="ctr"/>
          <a:lstStyle/>
          <a:p>
            <a:pPr marL="0" indent="0">
              <a:buNone/>
            </a:pPr>
            <a:r>
              <a:rPr lang="en-US" sz="1100" dirty="0">
                <a:solidFill>
                  <a:srgbClr val="5A6A82"/>
                </a:solidFill>
                <a:latin typeface="Calibri" pitchFamily="34" charset="0"/>
                <a:ea typeface="Calibri" pitchFamily="34" charset="-122"/>
                <a:cs typeface="Calibri" pitchFamily="34" charset="-120"/>
              </a:rPr>
              <a:t>Can complex ideas be said concisely?</a:t>
            </a:r>
            <a:endParaRPr lang="en-US" sz="1100" dirty="0"/>
          </a:p>
        </p:txBody>
      </p:sp>
      <p:sp>
        <p:nvSpPr>
          <p:cNvPr id="25" name="TextBox 24">
            <a:extLst>
              <a:ext uri="{FF2B5EF4-FFF2-40B4-BE49-F238E27FC236}">
                <a16:creationId xmlns:a16="http://schemas.microsoft.com/office/drawing/2014/main" id="{C4993265-2359-58A6-42EE-1867ACAA22B9}"/>
              </a:ext>
            </a:extLst>
          </p:cNvPr>
          <p:cNvSpPr txBox="1"/>
          <p:nvPr/>
        </p:nvSpPr>
        <p:spPr>
          <a:xfrm>
            <a:off x="3886200" y="713232"/>
            <a:ext cx="7725527" cy="400110"/>
          </a:xfrm>
          <a:prstGeom prst="rect">
            <a:avLst/>
          </a:prstGeom>
          <a:noFill/>
        </p:spPr>
        <p:txBody>
          <a:bodyPr wrap="square" rtlCol="0">
            <a:spAutoFit/>
          </a:bodyPr>
          <a:lstStyle/>
          <a:p>
            <a:r>
              <a:rPr lang="en-US" sz="2000" b="1" dirty="0">
                <a:solidFill>
                  <a:srgbClr val="1E2A3A"/>
                </a:solidFill>
                <a:latin typeface="Calibri" pitchFamily="34" charset="0"/>
                <a:ea typeface="Calibri" pitchFamily="34" charset="-122"/>
                <a:cs typeface="Calibri" pitchFamily="34" charset="-120"/>
              </a:rPr>
              <a:t>What is a programming language actually trying to optimize for?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2000" cy="960120"/>
          </a:xfrm>
          <a:prstGeom prst="rect">
            <a:avLst/>
          </a:prstGeom>
          <a:solidFill>
            <a:srgbClr val="1A2B5E"/>
          </a:solidFill>
          <a:ln/>
        </p:spPr>
        <p:txBody>
          <a:bodyPr/>
          <a:lstStyle/>
          <a:p>
            <a:endParaRPr lang="en-US"/>
          </a:p>
        </p:txBody>
      </p:sp>
      <p:sp>
        <p:nvSpPr>
          <p:cNvPr id="3" name="Text 1"/>
          <p:cNvSpPr txBox="1"/>
          <p:nvPr/>
        </p:nvSpPr>
        <p:spPr>
          <a:xfrm>
            <a:off x="411480" y="137160"/>
            <a:ext cx="1051560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Why These Goals Conflict</a:t>
            </a:r>
            <a:endParaRPr lang="en-US" sz="2200" dirty="0"/>
          </a:p>
        </p:txBody>
      </p:sp>
      <p:sp>
        <p:nvSpPr>
          <p:cNvPr id="4" name="Text 2"/>
          <p:cNvSpPr txBox="1"/>
          <p:nvPr/>
        </p:nvSpPr>
        <p:spPr>
          <a:xfrm>
            <a:off x="10515600" y="292608"/>
            <a:ext cx="1417320" cy="347472"/>
          </a:xfrm>
          <a:prstGeom prst="rect">
            <a:avLst/>
          </a:prstGeom>
          <a:noFill/>
          <a:ln/>
        </p:spPr>
        <p:txBody>
          <a:bodyPr wrap="square" lIns="0" tIns="0" rIns="0" bIns="0" rtlCol="0" anchor="ctr"/>
          <a:lstStyle/>
          <a:p>
            <a:pPr marL="0" indent="0" algn="r">
              <a:buNone/>
            </a:pPr>
            <a:r>
              <a:rPr lang="en-US" sz="1000" dirty="0">
                <a:solidFill>
                  <a:srgbClr val="7A90B8"/>
                </a:solidFill>
                <a:latin typeface="Calibri" pitchFamily="34" charset="0"/>
                <a:ea typeface="Calibri" pitchFamily="34" charset="-122"/>
                <a:cs typeface="Calibri" pitchFamily="34" charset="-120"/>
              </a:rPr>
              <a:t>Section 5</a:t>
            </a:r>
            <a:endParaRPr lang="en-US" sz="1000" dirty="0"/>
          </a:p>
        </p:txBody>
      </p:sp>
      <p:sp>
        <p:nvSpPr>
          <p:cNvPr id="5" name="Text 3"/>
          <p:cNvSpPr txBox="1"/>
          <p:nvPr/>
        </p:nvSpPr>
        <p:spPr>
          <a:xfrm>
            <a:off x="411480" y="1005840"/>
            <a:ext cx="11338560" cy="274320"/>
          </a:xfrm>
          <a:prstGeom prst="rect">
            <a:avLst/>
          </a:prstGeom>
          <a:noFill/>
          <a:ln/>
        </p:spPr>
        <p:txBody>
          <a:bodyPr wrap="square" lIns="0" tIns="0" rIns="0" bIns="0" rtlCol="0" anchor="ctr"/>
          <a:lstStyle/>
          <a:p>
            <a:pPr marL="0" indent="0">
              <a:buNone/>
            </a:pPr>
            <a:r>
              <a:rPr lang="en-US" sz="1300" dirty="0">
                <a:solidFill>
                  <a:srgbClr val="1E2A3A"/>
                </a:solidFill>
                <a:latin typeface="Calibri" pitchFamily="34" charset="0"/>
                <a:ea typeface="Calibri" pitchFamily="34" charset="-122"/>
                <a:cs typeface="Calibri" pitchFamily="34" charset="-120"/>
              </a:rPr>
              <a:t>Optimising for one goal almost always requires sacrificing another.</a:t>
            </a:r>
            <a:endParaRPr lang="en-US" sz="1300" dirty="0"/>
          </a:p>
        </p:txBody>
      </p:sp>
      <p:sp>
        <p:nvSpPr>
          <p:cNvPr id="6" name="Shape 4"/>
          <p:cNvSpPr/>
          <p:nvPr/>
        </p:nvSpPr>
        <p:spPr>
          <a:xfrm>
            <a:off x="411480" y="1353312"/>
            <a:ext cx="11338560" cy="329184"/>
          </a:xfrm>
          <a:prstGeom prst="rect">
            <a:avLst/>
          </a:prstGeom>
          <a:solidFill>
            <a:srgbClr val="1A2B5E"/>
          </a:solidFill>
          <a:ln w="12700">
            <a:solidFill>
              <a:srgbClr val="1A2B5E"/>
            </a:solidFill>
            <a:prstDash val="solid"/>
          </a:ln>
        </p:spPr>
        <p:txBody>
          <a:bodyPr/>
          <a:lstStyle/>
          <a:p>
            <a:endParaRPr lang="en-US"/>
          </a:p>
        </p:txBody>
      </p:sp>
      <p:sp>
        <p:nvSpPr>
          <p:cNvPr id="7" name="Text 5"/>
          <p:cNvSpPr txBox="1"/>
          <p:nvPr/>
        </p:nvSpPr>
        <p:spPr>
          <a:xfrm>
            <a:off x="548640" y="1408176"/>
            <a:ext cx="1920240" cy="21945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Tension</a:t>
            </a:r>
            <a:endParaRPr lang="en-US" sz="1050" dirty="0"/>
          </a:p>
        </p:txBody>
      </p:sp>
      <p:sp>
        <p:nvSpPr>
          <p:cNvPr id="8" name="Text 6"/>
          <p:cNvSpPr txBox="1"/>
          <p:nvPr/>
        </p:nvSpPr>
        <p:spPr>
          <a:xfrm>
            <a:off x="2606040" y="1408176"/>
            <a:ext cx="2423160" cy="21945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Optimise for…</a:t>
            </a:r>
            <a:endParaRPr lang="en-US" sz="1050" dirty="0"/>
          </a:p>
        </p:txBody>
      </p:sp>
      <p:sp>
        <p:nvSpPr>
          <p:cNvPr id="9" name="Text 7"/>
          <p:cNvSpPr txBox="1"/>
          <p:nvPr/>
        </p:nvSpPr>
        <p:spPr>
          <a:xfrm>
            <a:off x="5120640" y="1408176"/>
            <a:ext cx="2606040" cy="21945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You sacrifice…</a:t>
            </a:r>
            <a:endParaRPr lang="en-US" sz="1050" dirty="0"/>
          </a:p>
        </p:txBody>
      </p:sp>
      <p:sp>
        <p:nvSpPr>
          <p:cNvPr id="10" name="Text 8"/>
          <p:cNvSpPr txBox="1"/>
          <p:nvPr/>
        </p:nvSpPr>
        <p:spPr>
          <a:xfrm>
            <a:off x="7863840" y="1408176"/>
            <a:ext cx="3794760" cy="21945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Example</a:t>
            </a:r>
            <a:endParaRPr lang="en-US" sz="1050" dirty="0"/>
          </a:p>
        </p:txBody>
      </p:sp>
      <p:sp>
        <p:nvSpPr>
          <p:cNvPr id="11" name="Shape 9"/>
          <p:cNvSpPr/>
          <p:nvPr/>
        </p:nvSpPr>
        <p:spPr>
          <a:xfrm>
            <a:off x="411480" y="1737360"/>
            <a:ext cx="11338560" cy="868680"/>
          </a:xfrm>
          <a:prstGeom prst="rect">
            <a:avLst/>
          </a:prstGeom>
          <a:solidFill>
            <a:srgbClr val="F4F6FC"/>
          </a:solidFill>
          <a:ln w="12700">
            <a:solidFill>
              <a:srgbClr val="D0DAF0"/>
            </a:solidFill>
            <a:prstDash val="solid"/>
          </a:ln>
        </p:spPr>
        <p:txBody>
          <a:bodyPr/>
          <a:lstStyle/>
          <a:p>
            <a:endParaRPr lang="en-US"/>
          </a:p>
        </p:txBody>
      </p:sp>
      <p:sp>
        <p:nvSpPr>
          <p:cNvPr id="12" name="Text 10"/>
          <p:cNvSpPr txBox="1"/>
          <p:nvPr/>
        </p:nvSpPr>
        <p:spPr>
          <a:xfrm>
            <a:off x="548640" y="1810512"/>
            <a:ext cx="1920240" cy="722376"/>
          </a:xfrm>
          <a:prstGeom prst="rect">
            <a:avLst/>
          </a:prstGeom>
          <a:noFill/>
          <a:ln/>
        </p:spPr>
        <p:txBody>
          <a:bodyPr wrap="square" lIns="0" tIns="0" rIns="0" bIns="0" rtlCol="0" anchor="ctr"/>
          <a:lstStyle/>
          <a:p>
            <a:pPr marL="0" indent="0">
              <a:buNone/>
            </a:pPr>
            <a:r>
              <a:rPr lang="en-US" sz="1050" b="1" dirty="0">
                <a:solidFill>
                  <a:srgbClr val="1E2A3A"/>
                </a:solidFill>
                <a:latin typeface="Calibri" pitchFamily="34" charset="0"/>
                <a:ea typeface="Calibri" pitchFamily="34" charset="-122"/>
                <a:cs typeface="Calibri" pitchFamily="34" charset="-120"/>
              </a:rPr>
              <a:t>Control ↔ Safety</a:t>
            </a:r>
            <a:endParaRPr lang="en-US" sz="1050" dirty="0"/>
          </a:p>
        </p:txBody>
      </p:sp>
      <p:sp>
        <p:nvSpPr>
          <p:cNvPr id="13" name="Text 11"/>
          <p:cNvSpPr txBox="1"/>
          <p:nvPr/>
        </p:nvSpPr>
        <p:spPr>
          <a:xfrm>
            <a:off x="2606040" y="1810512"/>
            <a:ext cx="2423160" cy="722376"/>
          </a:xfrm>
          <a:prstGeom prst="rect">
            <a:avLst/>
          </a:prstGeom>
          <a:noFill/>
          <a:ln/>
        </p:spPr>
        <p:txBody>
          <a:bodyPr wrap="square" lIns="0" tIns="0" rIns="0" bIns="0" rtlCol="0" anchor="ctr"/>
          <a:lstStyle/>
          <a:p>
            <a:pPr marL="0" indent="0">
              <a:buNone/>
            </a:pPr>
            <a:r>
              <a:rPr lang="en-US" sz="1050" dirty="0">
                <a:solidFill>
                  <a:srgbClr val="1A7A3C"/>
                </a:solidFill>
                <a:latin typeface="Calibri" pitchFamily="34" charset="0"/>
                <a:ea typeface="Calibri" pitchFamily="34" charset="-122"/>
                <a:cs typeface="Calibri" pitchFamily="34" charset="-120"/>
              </a:rPr>
              <a:t>Low-level hardware control</a:t>
            </a:r>
            <a:endParaRPr lang="en-US" sz="1050" dirty="0"/>
          </a:p>
        </p:txBody>
      </p:sp>
      <p:sp>
        <p:nvSpPr>
          <p:cNvPr id="14" name="Text 12"/>
          <p:cNvSpPr txBox="1"/>
          <p:nvPr/>
        </p:nvSpPr>
        <p:spPr>
          <a:xfrm>
            <a:off x="5120640" y="1810512"/>
            <a:ext cx="2606040" cy="722376"/>
          </a:xfrm>
          <a:prstGeom prst="rect">
            <a:avLst/>
          </a:prstGeom>
          <a:noFill/>
          <a:ln/>
        </p:spPr>
        <p:txBody>
          <a:bodyPr wrap="square" lIns="0" tIns="0" rIns="0" bIns="0" rtlCol="0" anchor="ctr"/>
          <a:lstStyle/>
          <a:p>
            <a:pPr marL="0" indent="0">
              <a:buNone/>
            </a:pPr>
            <a:r>
              <a:rPr lang="en-US" sz="1050" dirty="0">
                <a:solidFill>
                  <a:srgbClr val="9B1C1C"/>
                </a:solidFill>
                <a:latin typeface="Calibri" pitchFamily="34" charset="0"/>
                <a:ea typeface="Calibri" pitchFamily="34" charset="-122"/>
                <a:cs typeface="Calibri" pitchFamily="34" charset="-120"/>
              </a:rPr>
              <a:t>Memory safety and bounds checking</a:t>
            </a:r>
            <a:endParaRPr lang="en-US" sz="1050" dirty="0"/>
          </a:p>
        </p:txBody>
      </p:sp>
      <p:sp>
        <p:nvSpPr>
          <p:cNvPr id="15" name="Text 13"/>
          <p:cNvSpPr txBox="1"/>
          <p:nvPr/>
        </p:nvSpPr>
        <p:spPr>
          <a:xfrm>
            <a:off x="7863840" y="1810512"/>
            <a:ext cx="3794760" cy="722376"/>
          </a:xfrm>
          <a:prstGeom prst="rect">
            <a:avLst/>
          </a:prstGeom>
          <a:noFill/>
          <a:ln/>
        </p:spPr>
        <p:txBody>
          <a:bodyPr wrap="square" lIns="0" tIns="0" rIns="0" bIns="0" rtlCol="0" anchor="ctr"/>
          <a:lstStyle/>
          <a:p>
            <a:pPr marL="0" indent="0">
              <a:buNone/>
            </a:pPr>
            <a:r>
              <a:rPr lang="en-US" sz="1050" dirty="0">
                <a:solidFill>
                  <a:srgbClr val="5A6A82"/>
                </a:solidFill>
                <a:latin typeface="Calibri" pitchFamily="34" charset="0"/>
                <a:ea typeface="Calibri" pitchFamily="34" charset="-122"/>
                <a:cs typeface="Calibri" pitchFamily="34" charset="-120"/>
              </a:rPr>
              <a:t>C gives pointers. Python removes them entirely.</a:t>
            </a:r>
            <a:endParaRPr lang="en-US" sz="1050" dirty="0"/>
          </a:p>
        </p:txBody>
      </p:sp>
      <p:sp>
        <p:nvSpPr>
          <p:cNvPr id="16" name="Shape 14"/>
          <p:cNvSpPr/>
          <p:nvPr/>
        </p:nvSpPr>
        <p:spPr>
          <a:xfrm>
            <a:off x="411480" y="2697480"/>
            <a:ext cx="11338560" cy="868680"/>
          </a:xfrm>
          <a:prstGeom prst="rect">
            <a:avLst/>
          </a:prstGeom>
          <a:solidFill>
            <a:srgbClr val="FFFFFF"/>
          </a:solidFill>
          <a:ln w="12700">
            <a:solidFill>
              <a:srgbClr val="D0DAF0"/>
            </a:solidFill>
            <a:prstDash val="solid"/>
          </a:ln>
        </p:spPr>
        <p:txBody>
          <a:bodyPr/>
          <a:lstStyle/>
          <a:p>
            <a:endParaRPr lang="en-US"/>
          </a:p>
        </p:txBody>
      </p:sp>
      <p:sp>
        <p:nvSpPr>
          <p:cNvPr id="17" name="Text 15"/>
          <p:cNvSpPr txBox="1"/>
          <p:nvPr/>
        </p:nvSpPr>
        <p:spPr>
          <a:xfrm>
            <a:off x="548640" y="2770632"/>
            <a:ext cx="1920240" cy="722376"/>
          </a:xfrm>
          <a:prstGeom prst="rect">
            <a:avLst/>
          </a:prstGeom>
          <a:noFill/>
          <a:ln/>
        </p:spPr>
        <p:txBody>
          <a:bodyPr wrap="square" lIns="0" tIns="0" rIns="0" bIns="0" rtlCol="0" anchor="ctr"/>
          <a:lstStyle/>
          <a:p>
            <a:pPr marL="0" indent="0">
              <a:buNone/>
            </a:pPr>
            <a:r>
              <a:rPr lang="en-US" sz="1050" b="1" dirty="0">
                <a:solidFill>
                  <a:srgbClr val="1E2A3A"/>
                </a:solidFill>
                <a:latin typeface="Calibri" pitchFamily="34" charset="0"/>
                <a:ea typeface="Calibri" pitchFamily="34" charset="-122"/>
                <a:cs typeface="Calibri" pitchFamily="34" charset="-120"/>
              </a:rPr>
              <a:t>Speed ↔ Productivity</a:t>
            </a:r>
            <a:endParaRPr lang="en-US" sz="1050" dirty="0"/>
          </a:p>
        </p:txBody>
      </p:sp>
      <p:sp>
        <p:nvSpPr>
          <p:cNvPr id="18" name="Text 16"/>
          <p:cNvSpPr txBox="1"/>
          <p:nvPr/>
        </p:nvSpPr>
        <p:spPr>
          <a:xfrm>
            <a:off x="2606040" y="2770632"/>
            <a:ext cx="2423160" cy="722376"/>
          </a:xfrm>
          <a:prstGeom prst="rect">
            <a:avLst/>
          </a:prstGeom>
          <a:noFill/>
          <a:ln/>
        </p:spPr>
        <p:txBody>
          <a:bodyPr wrap="square" lIns="0" tIns="0" rIns="0" bIns="0" rtlCol="0" anchor="ctr"/>
          <a:lstStyle/>
          <a:p>
            <a:pPr marL="0" indent="0">
              <a:buNone/>
            </a:pPr>
            <a:r>
              <a:rPr lang="en-US" sz="1050" dirty="0">
                <a:solidFill>
                  <a:srgbClr val="1A7A3C"/>
                </a:solidFill>
                <a:latin typeface="Calibri" pitchFamily="34" charset="0"/>
                <a:ea typeface="Calibri" pitchFamily="34" charset="-122"/>
                <a:cs typeface="Calibri" pitchFamily="34" charset="-120"/>
              </a:rPr>
              <a:t>Raw execution speed</a:t>
            </a:r>
            <a:endParaRPr lang="en-US" sz="1050" dirty="0"/>
          </a:p>
        </p:txBody>
      </p:sp>
      <p:sp>
        <p:nvSpPr>
          <p:cNvPr id="19" name="Text 17"/>
          <p:cNvSpPr txBox="1"/>
          <p:nvPr/>
        </p:nvSpPr>
        <p:spPr>
          <a:xfrm>
            <a:off x="5120640" y="2770632"/>
            <a:ext cx="2606040" cy="722376"/>
          </a:xfrm>
          <a:prstGeom prst="rect">
            <a:avLst/>
          </a:prstGeom>
          <a:noFill/>
          <a:ln/>
        </p:spPr>
        <p:txBody>
          <a:bodyPr wrap="square" lIns="0" tIns="0" rIns="0" bIns="0" rtlCol="0" anchor="ctr"/>
          <a:lstStyle/>
          <a:p>
            <a:pPr marL="0" indent="0">
              <a:buNone/>
            </a:pPr>
            <a:r>
              <a:rPr lang="en-US" sz="1050" dirty="0">
                <a:solidFill>
                  <a:srgbClr val="9B1C1C"/>
                </a:solidFill>
                <a:latin typeface="Calibri" pitchFamily="34" charset="0"/>
                <a:ea typeface="Calibri" pitchFamily="34" charset="-122"/>
                <a:cs typeface="Calibri" pitchFamily="34" charset="-120"/>
              </a:rPr>
              <a:t>Developer time and writability</a:t>
            </a:r>
            <a:endParaRPr lang="en-US" sz="1050" dirty="0"/>
          </a:p>
        </p:txBody>
      </p:sp>
      <p:sp>
        <p:nvSpPr>
          <p:cNvPr id="20" name="Text 18"/>
          <p:cNvSpPr txBox="1"/>
          <p:nvPr/>
        </p:nvSpPr>
        <p:spPr>
          <a:xfrm>
            <a:off x="7863840" y="2770632"/>
            <a:ext cx="3794760" cy="722376"/>
          </a:xfrm>
          <a:prstGeom prst="rect">
            <a:avLst/>
          </a:prstGeom>
          <a:noFill/>
          <a:ln/>
        </p:spPr>
        <p:txBody>
          <a:bodyPr wrap="square" lIns="0" tIns="0" rIns="0" bIns="0" rtlCol="0" anchor="ctr"/>
          <a:lstStyle/>
          <a:p>
            <a:pPr marL="0" indent="0">
              <a:buNone/>
            </a:pPr>
            <a:r>
              <a:rPr lang="en-US" sz="1050" dirty="0">
                <a:solidFill>
                  <a:srgbClr val="5A6A82"/>
                </a:solidFill>
                <a:latin typeface="Calibri" pitchFamily="34" charset="0"/>
                <a:ea typeface="Calibri" pitchFamily="34" charset="-122"/>
                <a:cs typeface="Calibri" pitchFamily="34" charset="-120"/>
              </a:rPr>
              <a:t>C: ~0.1s for 10M numbers. Python: ~15s. Python took 5× fewer lines.</a:t>
            </a:r>
            <a:endParaRPr lang="en-US" sz="1050" dirty="0"/>
          </a:p>
        </p:txBody>
      </p:sp>
      <p:sp>
        <p:nvSpPr>
          <p:cNvPr id="21" name="Shape 19"/>
          <p:cNvSpPr/>
          <p:nvPr/>
        </p:nvSpPr>
        <p:spPr>
          <a:xfrm>
            <a:off x="411480" y="3657600"/>
            <a:ext cx="11338560" cy="868680"/>
          </a:xfrm>
          <a:prstGeom prst="rect">
            <a:avLst/>
          </a:prstGeom>
          <a:solidFill>
            <a:srgbClr val="F4F6FC"/>
          </a:solidFill>
          <a:ln w="12700">
            <a:solidFill>
              <a:srgbClr val="D0DAF0"/>
            </a:solidFill>
            <a:prstDash val="solid"/>
          </a:ln>
        </p:spPr>
        <p:txBody>
          <a:bodyPr/>
          <a:lstStyle/>
          <a:p>
            <a:endParaRPr lang="en-US"/>
          </a:p>
        </p:txBody>
      </p:sp>
      <p:sp>
        <p:nvSpPr>
          <p:cNvPr id="22" name="Text 20"/>
          <p:cNvSpPr txBox="1"/>
          <p:nvPr/>
        </p:nvSpPr>
        <p:spPr>
          <a:xfrm>
            <a:off x="548640" y="3730752"/>
            <a:ext cx="1920240" cy="722376"/>
          </a:xfrm>
          <a:prstGeom prst="rect">
            <a:avLst/>
          </a:prstGeom>
          <a:noFill/>
          <a:ln/>
        </p:spPr>
        <p:txBody>
          <a:bodyPr wrap="square" lIns="0" tIns="0" rIns="0" bIns="0" rtlCol="0" anchor="ctr"/>
          <a:lstStyle/>
          <a:p>
            <a:pPr marL="0" indent="0">
              <a:buNone/>
            </a:pPr>
            <a:r>
              <a:rPr lang="en-US" sz="1050" b="1" dirty="0">
                <a:solidFill>
                  <a:srgbClr val="1E2A3A"/>
                </a:solidFill>
                <a:latin typeface="Calibri" pitchFamily="34" charset="0"/>
                <a:ea typeface="Calibri" pitchFamily="34" charset="-122"/>
                <a:cs typeface="Calibri" pitchFamily="34" charset="-120"/>
              </a:rPr>
              <a:t>Static ↔ Dynamic typing</a:t>
            </a:r>
            <a:endParaRPr lang="en-US" sz="1050" dirty="0"/>
          </a:p>
        </p:txBody>
      </p:sp>
      <p:sp>
        <p:nvSpPr>
          <p:cNvPr id="23" name="Text 21"/>
          <p:cNvSpPr txBox="1"/>
          <p:nvPr/>
        </p:nvSpPr>
        <p:spPr>
          <a:xfrm>
            <a:off x="2606040" y="3730752"/>
            <a:ext cx="2423160" cy="722376"/>
          </a:xfrm>
          <a:prstGeom prst="rect">
            <a:avLst/>
          </a:prstGeom>
          <a:noFill/>
          <a:ln/>
        </p:spPr>
        <p:txBody>
          <a:bodyPr wrap="square" lIns="0" tIns="0" rIns="0" bIns="0" rtlCol="0" anchor="ctr"/>
          <a:lstStyle/>
          <a:p>
            <a:pPr marL="0" indent="0">
              <a:buNone/>
            </a:pPr>
            <a:r>
              <a:rPr lang="en-US" sz="1050" dirty="0">
                <a:solidFill>
                  <a:srgbClr val="1A7A3C"/>
                </a:solidFill>
                <a:latin typeface="Calibri" pitchFamily="34" charset="0"/>
                <a:ea typeface="Calibri" pitchFamily="34" charset="-122"/>
                <a:cs typeface="Calibri" pitchFamily="34" charset="-120"/>
              </a:rPr>
              <a:t>Compile-time error detection</a:t>
            </a:r>
            <a:endParaRPr lang="en-US" sz="1050" dirty="0"/>
          </a:p>
        </p:txBody>
      </p:sp>
      <p:sp>
        <p:nvSpPr>
          <p:cNvPr id="24" name="Text 22"/>
          <p:cNvSpPr txBox="1"/>
          <p:nvPr/>
        </p:nvSpPr>
        <p:spPr>
          <a:xfrm>
            <a:off x="5120640" y="3730752"/>
            <a:ext cx="2606040" cy="722376"/>
          </a:xfrm>
          <a:prstGeom prst="rect">
            <a:avLst/>
          </a:prstGeom>
          <a:noFill/>
          <a:ln/>
        </p:spPr>
        <p:txBody>
          <a:bodyPr wrap="square" lIns="0" tIns="0" rIns="0" bIns="0" rtlCol="0" anchor="ctr"/>
          <a:lstStyle/>
          <a:p>
            <a:pPr marL="0" indent="0">
              <a:buNone/>
            </a:pPr>
            <a:r>
              <a:rPr lang="en-US" sz="1050" dirty="0">
                <a:solidFill>
                  <a:srgbClr val="9B1C1C"/>
                </a:solidFill>
                <a:latin typeface="Calibri" pitchFamily="34" charset="0"/>
                <a:ea typeface="Calibri" pitchFamily="34" charset="-122"/>
                <a:cs typeface="Calibri" pitchFamily="34" charset="-120"/>
              </a:rPr>
              <a:t>Flexibility and conciseness</a:t>
            </a:r>
            <a:endParaRPr lang="en-US" sz="1050" dirty="0"/>
          </a:p>
        </p:txBody>
      </p:sp>
      <p:sp>
        <p:nvSpPr>
          <p:cNvPr id="25" name="Text 23"/>
          <p:cNvSpPr txBox="1"/>
          <p:nvPr/>
        </p:nvSpPr>
        <p:spPr>
          <a:xfrm>
            <a:off x="7863840" y="3730752"/>
            <a:ext cx="3794760" cy="722376"/>
          </a:xfrm>
          <a:prstGeom prst="rect">
            <a:avLst/>
          </a:prstGeom>
          <a:noFill/>
          <a:ln/>
        </p:spPr>
        <p:txBody>
          <a:bodyPr wrap="square" lIns="0" tIns="0" rIns="0" bIns="0" rtlCol="0" anchor="ctr"/>
          <a:lstStyle/>
          <a:p>
            <a:pPr marL="0" indent="0">
              <a:buNone/>
            </a:pPr>
            <a:r>
              <a:rPr lang="en-US" sz="1050" dirty="0">
                <a:solidFill>
                  <a:srgbClr val="5A6A82"/>
                </a:solidFill>
                <a:latin typeface="Calibri" pitchFamily="34" charset="0"/>
                <a:ea typeface="Calibri" pitchFamily="34" charset="-122"/>
                <a:cs typeface="Calibri" pitchFamily="34" charset="-120"/>
              </a:rPr>
              <a:t>C# catches type errors before running. Python finds them at runtime.</a:t>
            </a:r>
            <a:endParaRPr lang="en-US" sz="1050" dirty="0"/>
          </a:p>
        </p:txBody>
      </p:sp>
      <p:sp>
        <p:nvSpPr>
          <p:cNvPr id="26" name="Shape 24"/>
          <p:cNvSpPr/>
          <p:nvPr/>
        </p:nvSpPr>
        <p:spPr>
          <a:xfrm>
            <a:off x="411480" y="4617720"/>
            <a:ext cx="11338560" cy="868680"/>
          </a:xfrm>
          <a:prstGeom prst="rect">
            <a:avLst/>
          </a:prstGeom>
          <a:solidFill>
            <a:srgbClr val="FFFFFF"/>
          </a:solidFill>
          <a:ln w="12700">
            <a:solidFill>
              <a:srgbClr val="D0DAF0"/>
            </a:solidFill>
            <a:prstDash val="solid"/>
          </a:ln>
        </p:spPr>
        <p:txBody>
          <a:bodyPr/>
          <a:lstStyle/>
          <a:p>
            <a:endParaRPr lang="en-US"/>
          </a:p>
        </p:txBody>
      </p:sp>
      <p:sp>
        <p:nvSpPr>
          <p:cNvPr id="27" name="Text 25"/>
          <p:cNvSpPr txBox="1"/>
          <p:nvPr/>
        </p:nvSpPr>
        <p:spPr>
          <a:xfrm>
            <a:off x="548640" y="4690872"/>
            <a:ext cx="1920240" cy="722376"/>
          </a:xfrm>
          <a:prstGeom prst="rect">
            <a:avLst/>
          </a:prstGeom>
          <a:noFill/>
          <a:ln/>
        </p:spPr>
        <p:txBody>
          <a:bodyPr wrap="square" lIns="0" tIns="0" rIns="0" bIns="0" rtlCol="0" anchor="ctr"/>
          <a:lstStyle/>
          <a:p>
            <a:pPr marL="0" indent="0">
              <a:buNone/>
            </a:pPr>
            <a:r>
              <a:rPr lang="en-US" sz="1050" b="1" dirty="0">
                <a:solidFill>
                  <a:srgbClr val="1E2A3A"/>
                </a:solidFill>
                <a:latin typeface="Calibri" pitchFamily="34" charset="0"/>
                <a:ea typeface="Calibri" pitchFamily="34" charset="-122"/>
                <a:cs typeface="Calibri" pitchFamily="34" charset="-120"/>
              </a:rPr>
              <a:t>Abstraction ↔ Transparency</a:t>
            </a:r>
            <a:endParaRPr lang="en-US" sz="1050" dirty="0"/>
          </a:p>
        </p:txBody>
      </p:sp>
      <p:sp>
        <p:nvSpPr>
          <p:cNvPr id="28" name="Text 26"/>
          <p:cNvSpPr txBox="1"/>
          <p:nvPr/>
        </p:nvSpPr>
        <p:spPr>
          <a:xfrm>
            <a:off x="2606040" y="4690872"/>
            <a:ext cx="2423160" cy="722376"/>
          </a:xfrm>
          <a:prstGeom prst="rect">
            <a:avLst/>
          </a:prstGeom>
          <a:noFill/>
          <a:ln/>
        </p:spPr>
        <p:txBody>
          <a:bodyPr wrap="square" lIns="0" tIns="0" rIns="0" bIns="0" rtlCol="0" anchor="ctr"/>
          <a:lstStyle/>
          <a:p>
            <a:pPr marL="0" indent="0">
              <a:buNone/>
            </a:pPr>
            <a:r>
              <a:rPr lang="en-US" sz="1050" dirty="0">
                <a:solidFill>
                  <a:srgbClr val="1A7A3C"/>
                </a:solidFill>
                <a:latin typeface="Calibri" pitchFamily="34" charset="0"/>
                <a:ea typeface="Calibri" pitchFamily="34" charset="-122"/>
                <a:cs typeface="Calibri" pitchFamily="34" charset="-120"/>
              </a:rPr>
              <a:t>High-level convenient abstractions</a:t>
            </a:r>
            <a:endParaRPr lang="en-US" sz="1050" dirty="0"/>
          </a:p>
        </p:txBody>
      </p:sp>
      <p:sp>
        <p:nvSpPr>
          <p:cNvPr id="29" name="Text 27"/>
          <p:cNvSpPr txBox="1"/>
          <p:nvPr/>
        </p:nvSpPr>
        <p:spPr>
          <a:xfrm>
            <a:off x="5120640" y="4690872"/>
            <a:ext cx="2606040" cy="722376"/>
          </a:xfrm>
          <a:prstGeom prst="rect">
            <a:avLst/>
          </a:prstGeom>
          <a:noFill/>
          <a:ln/>
        </p:spPr>
        <p:txBody>
          <a:bodyPr wrap="square" lIns="0" tIns="0" rIns="0" bIns="0" rtlCol="0" anchor="ctr"/>
          <a:lstStyle/>
          <a:p>
            <a:pPr marL="0" indent="0">
              <a:buNone/>
            </a:pPr>
            <a:r>
              <a:rPr lang="en-US" sz="1050" dirty="0">
                <a:solidFill>
                  <a:srgbClr val="9B1C1C"/>
                </a:solidFill>
                <a:latin typeface="Calibri" pitchFamily="34" charset="0"/>
                <a:ea typeface="Calibri" pitchFamily="34" charset="-122"/>
                <a:cs typeface="Calibri" pitchFamily="34" charset="-120"/>
              </a:rPr>
              <a:t>Understanding what the machine actually does</a:t>
            </a:r>
            <a:endParaRPr lang="en-US" sz="1050" dirty="0"/>
          </a:p>
        </p:txBody>
      </p:sp>
      <p:sp>
        <p:nvSpPr>
          <p:cNvPr id="30" name="Text 28"/>
          <p:cNvSpPr txBox="1"/>
          <p:nvPr/>
        </p:nvSpPr>
        <p:spPr>
          <a:xfrm>
            <a:off x="7863840" y="4690872"/>
            <a:ext cx="3794760" cy="722376"/>
          </a:xfrm>
          <a:prstGeom prst="rect">
            <a:avLst/>
          </a:prstGeom>
          <a:noFill/>
          <a:ln/>
        </p:spPr>
        <p:txBody>
          <a:bodyPr wrap="square" lIns="0" tIns="0" rIns="0" bIns="0" rtlCol="0" anchor="ctr"/>
          <a:lstStyle/>
          <a:p>
            <a:pPr marL="0" indent="0">
              <a:buNone/>
            </a:pPr>
            <a:r>
              <a:rPr lang="en-US" sz="1050" dirty="0">
                <a:solidFill>
                  <a:srgbClr val="5A6A82"/>
                </a:solidFill>
                <a:latin typeface="Calibri" pitchFamily="34" charset="0"/>
                <a:ea typeface="Calibri" pitchFamily="34" charset="-122"/>
                <a:cs typeface="Calibri" pitchFamily="34" charset="-120"/>
              </a:rPr>
              <a:t>Python hides everything. C shows you everything.</a:t>
            </a:r>
            <a:endParaRPr lang="en-US" sz="1050" dirty="0"/>
          </a:p>
        </p:txBody>
      </p:sp>
      <p:sp>
        <p:nvSpPr>
          <p:cNvPr id="31" name="Shape 29"/>
          <p:cNvSpPr/>
          <p:nvPr/>
        </p:nvSpPr>
        <p:spPr>
          <a:xfrm>
            <a:off x="411480" y="5577840"/>
            <a:ext cx="11338560" cy="868680"/>
          </a:xfrm>
          <a:prstGeom prst="rect">
            <a:avLst/>
          </a:prstGeom>
          <a:solidFill>
            <a:srgbClr val="F4F6FC"/>
          </a:solidFill>
          <a:ln w="12700">
            <a:solidFill>
              <a:srgbClr val="D0DAF0"/>
            </a:solidFill>
            <a:prstDash val="solid"/>
          </a:ln>
        </p:spPr>
        <p:txBody>
          <a:bodyPr/>
          <a:lstStyle/>
          <a:p>
            <a:endParaRPr lang="en-US"/>
          </a:p>
        </p:txBody>
      </p:sp>
      <p:sp>
        <p:nvSpPr>
          <p:cNvPr id="32" name="Text 30"/>
          <p:cNvSpPr txBox="1"/>
          <p:nvPr/>
        </p:nvSpPr>
        <p:spPr>
          <a:xfrm>
            <a:off x="548640" y="5650992"/>
            <a:ext cx="1920240" cy="722376"/>
          </a:xfrm>
          <a:prstGeom prst="rect">
            <a:avLst/>
          </a:prstGeom>
          <a:noFill/>
          <a:ln/>
        </p:spPr>
        <p:txBody>
          <a:bodyPr wrap="square" lIns="0" tIns="0" rIns="0" bIns="0" rtlCol="0" anchor="ctr"/>
          <a:lstStyle/>
          <a:p>
            <a:pPr marL="0" indent="0">
              <a:buNone/>
            </a:pPr>
            <a:r>
              <a:rPr lang="en-US" sz="1050" b="1" dirty="0">
                <a:solidFill>
                  <a:srgbClr val="1E2A3A"/>
                </a:solidFill>
                <a:latin typeface="Calibri" pitchFamily="34" charset="0"/>
                <a:ea typeface="Calibri" pitchFamily="34" charset="-122"/>
                <a:cs typeface="Calibri" pitchFamily="34" charset="-120"/>
              </a:rPr>
              <a:t>Safety ↔ Flexibility</a:t>
            </a:r>
            <a:endParaRPr lang="en-US" sz="1050" dirty="0"/>
          </a:p>
        </p:txBody>
      </p:sp>
      <p:sp>
        <p:nvSpPr>
          <p:cNvPr id="33" name="Text 31"/>
          <p:cNvSpPr txBox="1"/>
          <p:nvPr/>
        </p:nvSpPr>
        <p:spPr>
          <a:xfrm>
            <a:off x="2606040" y="5650992"/>
            <a:ext cx="2423160" cy="722376"/>
          </a:xfrm>
          <a:prstGeom prst="rect">
            <a:avLst/>
          </a:prstGeom>
          <a:noFill/>
          <a:ln/>
        </p:spPr>
        <p:txBody>
          <a:bodyPr wrap="square" lIns="0" tIns="0" rIns="0" bIns="0" rtlCol="0" anchor="ctr"/>
          <a:lstStyle/>
          <a:p>
            <a:pPr marL="0" indent="0">
              <a:buNone/>
            </a:pPr>
            <a:r>
              <a:rPr lang="en-US" sz="1050" dirty="0">
                <a:solidFill>
                  <a:srgbClr val="1A7A3C"/>
                </a:solidFill>
                <a:latin typeface="Calibri" pitchFamily="34" charset="0"/>
                <a:ea typeface="Calibri" pitchFamily="34" charset="-122"/>
                <a:cs typeface="Calibri" pitchFamily="34" charset="-120"/>
              </a:rPr>
              <a:t>Strong safety guarantees</a:t>
            </a:r>
            <a:endParaRPr lang="en-US" sz="1050" dirty="0"/>
          </a:p>
        </p:txBody>
      </p:sp>
      <p:sp>
        <p:nvSpPr>
          <p:cNvPr id="34" name="Text 32"/>
          <p:cNvSpPr txBox="1"/>
          <p:nvPr/>
        </p:nvSpPr>
        <p:spPr>
          <a:xfrm>
            <a:off x="5120640" y="5650992"/>
            <a:ext cx="2606040" cy="722376"/>
          </a:xfrm>
          <a:prstGeom prst="rect">
            <a:avLst/>
          </a:prstGeom>
          <a:noFill/>
          <a:ln/>
        </p:spPr>
        <p:txBody>
          <a:bodyPr wrap="square" lIns="0" tIns="0" rIns="0" bIns="0" rtlCol="0" anchor="ctr"/>
          <a:lstStyle/>
          <a:p>
            <a:pPr marL="0" indent="0">
              <a:buNone/>
            </a:pPr>
            <a:r>
              <a:rPr lang="en-US" sz="1050" dirty="0">
                <a:solidFill>
                  <a:srgbClr val="9B1C1C"/>
                </a:solidFill>
                <a:latin typeface="Calibri" pitchFamily="34" charset="0"/>
                <a:ea typeface="Calibri" pitchFamily="34" charset="-122"/>
                <a:cs typeface="Calibri" pitchFamily="34" charset="-120"/>
              </a:rPr>
              <a:t>Ability to do low-level things</a:t>
            </a:r>
            <a:endParaRPr lang="en-US" sz="1050" dirty="0"/>
          </a:p>
        </p:txBody>
      </p:sp>
      <p:sp>
        <p:nvSpPr>
          <p:cNvPr id="35" name="Text 33"/>
          <p:cNvSpPr txBox="1"/>
          <p:nvPr/>
        </p:nvSpPr>
        <p:spPr>
          <a:xfrm>
            <a:off x="7863840" y="5650992"/>
            <a:ext cx="3794760" cy="722376"/>
          </a:xfrm>
          <a:prstGeom prst="rect">
            <a:avLst/>
          </a:prstGeom>
          <a:noFill/>
          <a:ln/>
        </p:spPr>
        <p:txBody>
          <a:bodyPr wrap="square" lIns="0" tIns="0" rIns="0" bIns="0" rtlCol="0" anchor="ctr"/>
          <a:lstStyle/>
          <a:p>
            <a:pPr marL="0" indent="0">
              <a:buNone/>
            </a:pPr>
            <a:r>
              <a:rPr lang="en-US" sz="1050" dirty="0">
                <a:solidFill>
                  <a:srgbClr val="5A6A82"/>
                </a:solidFill>
                <a:latin typeface="Calibri" pitchFamily="34" charset="0"/>
                <a:ea typeface="Calibri" pitchFamily="34" charset="-122"/>
                <a:cs typeface="Calibri" pitchFamily="34" charset="-120"/>
              </a:rPr>
              <a:t>GC prevents memory bugs but adds pause overhead — fatal in a pacemaker.</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1A2B5E"/>
          </a:solidFill>
          <a:ln/>
        </p:spPr>
        <p:txBody>
          <a:bodyPr/>
          <a:lstStyle/>
          <a:p>
            <a:endParaRPr lang="en-US"/>
          </a:p>
        </p:txBody>
      </p:sp>
      <p:sp>
        <p:nvSpPr>
          <p:cNvPr id="3" name="Shape 1"/>
          <p:cNvSpPr/>
          <p:nvPr/>
        </p:nvSpPr>
        <p:spPr>
          <a:xfrm>
            <a:off x="3657600" y="0"/>
            <a:ext cx="8503920" cy="6858000"/>
          </a:xfrm>
          <a:prstGeom prst="rect">
            <a:avLst/>
          </a:prstGeom>
          <a:solidFill>
            <a:srgbClr val="F4F6FC"/>
          </a:solidFill>
          <a:ln/>
        </p:spPr>
        <p:txBody>
          <a:bodyPr/>
          <a:lstStyle/>
          <a:p>
            <a:endParaRPr lang="en-US"/>
          </a:p>
        </p:txBody>
      </p:sp>
      <p:sp>
        <p:nvSpPr>
          <p:cNvPr id="4" name="Text 2"/>
          <p:cNvSpPr txBox="1"/>
          <p:nvPr/>
        </p:nvSpPr>
        <p:spPr>
          <a:xfrm>
            <a:off x="228600" y="2560320"/>
            <a:ext cx="3200400" cy="365760"/>
          </a:xfrm>
          <a:prstGeom prst="rect">
            <a:avLst/>
          </a:prstGeom>
          <a:noFill/>
          <a:ln/>
        </p:spPr>
        <p:txBody>
          <a:bodyPr wrap="square" lIns="0" tIns="0" rIns="0" bIns="0" rtlCol="0" anchor="ctr"/>
          <a:lstStyle/>
          <a:p>
            <a:pPr marL="0" indent="0">
              <a:buNone/>
            </a:pPr>
            <a:r>
              <a:rPr lang="en-US" sz="1100" dirty="0">
                <a:solidFill>
                  <a:srgbClr val="7A90B8"/>
                </a:solidFill>
                <a:latin typeface="Calibri" pitchFamily="34" charset="0"/>
                <a:ea typeface="Calibri" pitchFamily="34" charset="-122"/>
                <a:cs typeface="Calibri" pitchFamily="34" charset="-120"/>
              </a:rPr>
              <a:t>Section 6</a:t>
            </a:r>
            <a:endParaRPr lang="en-US" sz="1100" dirty="0"/>
          </a:p>
        </p:txBody>
      </p:sp>
      <p:sp>
        <p:nvSpPr>
          <p:cNvPr id="5" name="Text 3"/>
          <p:cNvSpPr txBox="1"/>
          <p:nvPr/>
        </p:nvSpPr>
        <p:spPr>
          <a:xfrm>
            <a:off x="228600" y="2926080"/>
            <a:ext cx="3200400" cy="1645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Our Three Languages</a:t>
            </a:r>
            <a:endParaRPr lang="en-US" sz="2200" dirty="0"/>
          </a:p>
        </p:txBody>
      </p:sp>
      <p:sp>
        <p:nvSpPr>
          <p:cNvPr id="6" name="Text 4"/>
          <p:cNvSpPr txBox="1"/>
          <p:nvPr/>
        </p:nvSpPr>
        <p:spPr>
          <a:xfrm>
            <a:off x="4023360" y="2560320"/>
            <a:ext cx="7863840" cy="1463040"/>
          </a:xfrm>
          <a:prstGeom prst="rect">
            <a:avLst/>
          </a:prstGeom>
          <a:noFill/>
          <a:ln/>
        </p:spPr>
        <p:txBody>
          <a:bodyPr wrap="square" lIns="0" tIns="0" rIns="0" bIns="0" rtlCol="0" anchor="ctr"/>
          <a:lstStyle/>
          <a:p>
            <a:pPr marL="0" indent="0">
              <a:buNone/>
            </a:pPr>
            <a:r>
              <a:rPr lang="en-US" sz="1800" dirty="0">
                <a:solidFill>
                  <a:srgbClr val="1E2A3A"/>
                </a:solidFill>
                <a:latin typeface="Calibri" pitchFamily="34" charset="0"/>
                <a:ea typeface="Calibri" pitchFamily="34" charset="-122"/>
                <a:cs typeface="Calibri" pitchFamily="34" charset="-120"/>
              </a:rPr>
              <a:t>Three different answers to the question: what should a programming language optimise for?</a:t>
            </a:r>
            <a:endParaRPr lang="en-US" sz="1800" dirty="0"/>
          </a:p>
        </p:txBody>
      </p:sp>
      <p:sp>
        <p:nvSpPr>
          <p:cNvPr id="7" name="Text 5"/>
          <p:cNvSpPr txBox="1"/>
          <p:nvPr/>
        </p:nvSpPr>
        <p:spPr>
          <a:xfrm>
            <a:off x="4023360" y="1371600"/>
            <a:ext cx="7863840" cy="502920"/>
          </a:xfrm>
          <a:prstGeom prst="rect">
            <a:avLst/>
          </a:prstGeom>
          <a:noFill/>
          <a:ln/>
        </p:spPr>
        <p:txBody>
          <a:bodyPr wrap="square" lIns="0" tIns="0" rIns="0" bIns="0" rtlCol="0" anchor="ctr"/>
          <a:lstStyle/>
          <a:p>
            <a:pPr marL="0" indent="0">
              <a:buNone/>
            </a:pPr>
            <a:r>
              <a:rPr lang="en-US" sz="1300" dirty="0">
                <a:solidFill>
                  <a:srgbClr val="1E2A3A"/>
                </a:solidFill>
                <a:latin typeface="Calibri" pitchFamily="34" charset="0"/>
                <a:ea typeface="Calibri" pitchFamily="34" charset="-122"/>
                <a:cs typeface="Calibri" pitchFamily="34" charset="-120"/>
              </a:rPr>
              <a:t>Not chosen because they are the "best" — chosen because they make genuinely different design decisions.</a:t>
            </a:r>
            <a:endParaRPr lang="en-US" sz="1300" dirty="0"/>
          </a:p>
        </p:txBody>
      </p:sp>
      <p:sp>
        <p:nvSpPr>
          <p:cNvPr id="8" name="Shape 6"/>
          <p:cNvSpPr/>
          <p:nvPr/>
        </p:nvSpPr>
        <p:spPr>
          <a:xfrm>
            <a:off x="4023360" y="2011680"/>
            <a:ext cx="7863840" cy="1371600"/>
          </a:xfrm>
          <a:prstGeom prst="rect">
            <a:avLst/>
          </a:prstGeom>
          <a:solidFill>
            <a:srgbClr val="E8F0FE"/>
          </a:solidFill>
          <a:ln w="12700">
            <a:solidFill>
              <a:srgbClr val="B8D0F8"/>
            </a:solidFill>
            <a:prstDash val="solid"/>
          </a:ln>
        </p:spPr>
        <p:txBody>
          <a:bodyPr/>
          <a:lstStyle/>
          <a:p>
            <a:endParaRPr lang="en-US"/>
          </a:p>
        </p:txBody>
      </p:sp>
      <p:sp>
        <p:nvSpPr>
          <p:cNvPr id="9" name="Shape 7"/>
          <p:cNvSpPr/>
          <p:nvPr/>
        </p:nvSpPr>
        <p:spPr>
          <a:xfrm>
            <a:off x="4160520" y="2084832"/>
            <a:ext cx="777240" cy="237744"/>
          </a:xfrm>
          <a:prstGeom prst="roundRect">
            <a:avLst>
              <a:gd name="adj" fmla="val 30769"/>
            </a:avLst>
          </a:prstGeom>
          <a:solidFill>
            <a:srgbClr val="E8F0FE"/>
          </a:solidFill>
          <a:ln w="12700">
            <a:solidFill>
              <a:srgbClr val="E8F0FE"/>
            </a:solidFill>
            <a:prstDash val="solid"/>
          </a:ln>
        </p:spPr>
        <p:txBody>
          <a:bodyPr/>
          <a:lstStyle/>
          <a:p>
            <a:endParaRPr lang="en-US"/>
          </a:p>
        </p:txBody>
      </p:sp>
      <p:sp>
        <p:nvSpPr>
          <p:cNvPr id="10" name="Text 8"/>
          <p:cNvSpPr txBox="1"/>
          <p:nvPr/>
        </p:nvSpPr>
        <p:spPr>
          <a:xfrm>
            <a:off x="4197096" y="2103120"/>
            <a:ext cx="704088" cy="201168"/>
          </a:xfrm>
          <a:prstGeom prst="rect">
            <a:avLst/>
          </a:prstGeom>
          <a:noFill/>
          <a:ln/>
        </p:spPr>
        <p:txBody>
          <a:bodyPr wrap="square" lIns="0" tIns="0" rIns="0" bIns="0" rtlCol="0" anchor="ctr"/>
          <a:lstStyle/>
          <a:p>
            <a:pPr marL="0" indent="0" algn="ctr">
              <a:buNone/>
            </a:pPr>
            <a:r>
              <a:rPr lang="en-US" sz="900" b="1" dirty="0">
                <a:solidFill>
                  <a:srgbClr val="2E5BFF"/>
                </a:solidFill>
                <a:latin typeface="Courier New" pitchFamily="34" charset="0"/>
                <a:ea typeface="Courier New" pitchFamily="34" charset="-122"/>
                <a:cs typeface="Courier New" pitchFamily="34" charset="-120"/>
              </a:rPr>
              <a:t>C</a:t>
            </a:r>
            <a:endParaRPr lang="en-US" sz="900" dirty="0"/>
          </a:p>
        </p:txBody>
      </p:sp>
      <p:sp>
        <p:nvSpPr>
          <p:cNvPr id="11" name="Text 9"/>
          <p:cNvSpPr txBox="1"/>
          <p:nvPr/>
        </p:nvSpPr>
        <p:spPr>
          <a:xfrm>
            <a:off x="5029200" y="2084832"/>
            <a:ext cx="6720840" cy="256032"/>
          </a:xfrm>
          <a:prstGeom prst="rect">
            <a:avLst/>
          </a:prstGeom>
          <a:noFill/>
          <a:ln/>
        </p:spPr>
        <p:txBody>
          <a:bodyPr wrap="square" lIns="0" tIns="0" rIns="0" bIns="0" rtlCol="0" anchor="ctr"/>
          <a:lstStyle/>
          <a:p>
            <a:pPr marL="0" indent="0">
              <a:buNone/>
            </a:pPr>
            <a:r>
              <a:rPr lang="en-US" sz="1000" b="1" dirty="0">
                <a:solidFill>
                  <a:srgbClr val="2E5BFF"/>
                </a:solidFill>
                <a:latin typeface="Calibri" pitchFamily="34" charset="0"/>
                <a:ea typeface="Calibri" pitchFamily="34" charset="-122"/>
                <a:cs typeface="Calibri" pitchFamily="34" charset="-120"/>
              </a:rPr>
              <a:t>"Trust the programmer" · Created 1972 · Dennis Ritchie, Bell Labs</a:t>
            </a:r>
            <a:endParaRPr lang="en-US" sz="1000" dirty="0"/>
          </a:p>
        </p:txBody>
      </p:sp>
      <p:sp>
        <p:nvSpPr>
          <p:cNvPr id="12" name="Text 10"/>
          <p:cNvSpPr txBox="1"/>
          <p:nvPr/>
        </p:nvSpPr>
        <p:spPr>
          <a:xfrm>
            <a:off x="4160520" y="2377440"/>
            <a:ext cx="7589520" cy="868680"/>
          </a:xfrm>
          <a:prstGeom prst="rect">
            <a:avLst/>
          </a:prstGeom>
          <a:noFill/>
          <a:ln/>
        </p:spPr>
        <p:txBody>
          <a:bodyPr wrap="square" lIns="0" tIns="0" rIns="0" bIns="0" rtlCol="0" anchor="ctr"/>
          <a:lstStyle/>
          <a:p>
            <a:pPr marL="0" indent="0">
              <a:buNone/>
            </a:pPr>
            <a:r>
              <a:rPr lang="en-US" sz="1100" dirty="0">
                <a:solidFill>
                  <a:srgbClr val="1E2A3A"/>
                </a:solidFill>
                <a:latin typeface="Calibri" pitchFamily="34" charset="0"/>
                <a:ea typeface="Calibri" pitchFamily="34" charset="-122"/>
                <a:cs typeface="Calibri" pitchFamily="34" charset="-120"/>
              </a:rPr>
              <a:t>Gives complete control: manual memory, direct hardware access, explicit types. Does almost nothing automatically. Maximum speed, maximum responsibility. We use C to understand what a language looks like when control is the highest priority.</a:t>
            </a:r>
            <a:endParaRPr lang="en-US" sz="1100" dirty="0"/>
          </a:p>
        </p:txBody>
      </p:sp>
      <p:sp>
        <p:nvSpPr>
          <p:cNvPr id="13" name="Shape 11"/>
          <p:cNvSpPr/>
          <p:nvPr/>
        </p:nvSpPr>
        <p:spPr>
          <a:xfrm>
            <a:off x="4023360" y="3493008"/>
            <a:ext cx="7863840" cy="1371600"/>
          </a:xfrm>
          <a:prstGeom prst="rect">
            <a:avLst/>
          </a:prstGeom>
          <a:solidFill>
            <a:srgbClr val="F3E8FE"/>
          </a:solidFill>
          <a:ln w="12700">
            <a:solidFill>
              <a:srgbClr val="D8B8F8"/>
            </a:solidFill>
            <a:prstDash val="solid"/>
          </a:ln>
        </p:spPr>
        <p:txBody>
          <a:bodyPr/>
          <a:lstStyle/>
          <a:p>
            <a:endParaRPr lang="en-US"/>
          </a:p>
        </p:txBody>
      </p:sp>
      <p:sp>
        <p:nvSpPr>
          <p:cNvPr id="14" name="Shape 12"/>
          <p:cNvSpPr/>
          <p:nvPr/>
        </p:nvSpPr>
        <p:spPr>
          <a:xfrm>
            <a:off x="4160520" y="3566160"/>
            <a:ext cx="777240" cy="237744"/>
          </a:xfrm>
          <a:prstGeom prst="roundRect">
            <a:avLst>
              <a:gd name="adj" fmla="val 30769"/>
            </a:avLst>
          </a:prstGeom>
          <a:solidFill>
            <a:srgbClr val="F3E8FE"/>
          </a:solidFill>
          <a:ln w="12700">
            <a:solidFill>
              <a:srgbClr val="F3E8FE"/>
            </a:solidFill>
            <a:prstDash val="solid"/>
          </a:ln>
        </p:spPr>
        <p:txBody>
          <a:bodyPr/>
          <a:lstStyle/>
          <a:p>
            <a:endParaRPr lang="en-US"/>
          </a:p>
        </p:txBody>
      </p:sp>
      <p:sp>
        <p:nvSpPr>
          <p:cNvPr id="15" name="Text 13"/>
          <p:cNvSpPr txBox="1"/>
          <p:nvPr/>
        </p:nvSpPr>
        <p:spPr>
          <a:xfrm>
            <a:off x="4197096" y="3584448"/>
            <a:ext cx="704088" cy="201168"/>
          </a:xfrm>
          <a:prstGeom prst="rect">
            <a:avLst/>
          </a:prstGeom>
          <a:noFill/>
          <a:ln/>
        </p:spPr>
        <p:txBody>
          <a:bodyPr wrap="square" lIns="0" tIns="0" rIns="0" bIns="0" rtlCol="0" anchor="ctr"/>
          <a:lstStyle/>
          <a:p>
            <a:pPr marL="0" indent="0" algn="ctr">
              <a:buNone/>
            </a:pPr>
            <a:r>
              <a:rPr lang="en-US" sz="900" b="1" dirty="0">
                <a:solidFill>
                  <a:srgbClr val="7B2FBE"/>
                </a:solidFill>
                <a:latin typeface="Courier New" pitchFamily="34" charset="0"/>
                <a:ea typeface="Courier New" pitchFamily="34" charset="-122"/>
                <a:cs typeface="Courier New" pitchFamily="34" charset="-120"/>
              </a:rPr>
              <a:t>C#</a:t>
            </a:r>
            <a:endParaRPr lang="en-US" sz="900" dirty="0"/>
          </a:p>
        </p:txBody>
      </p:sp>
      <p:sp>
        <p:nvSpPr>
          <p:cNvPr id="16" name="Text 14"/>
          <p:cNvSpPr txBox="1"/>
          <p:nvPr/>
        </p:nvSpPr>
        <p:spPr>
          <a:xfrm>
            <a:off x="5029200" y="3566160"/>
            <a:ext cx="6720840" cy="256032"/>
          </a:xfrm>
          <a:prstGeom prst="rect">
            <a:avLst/>
          </a:prstGeom>
          <a:noFill/>
          <a:ln/>
        </p:spPr>
        <p:txBody>
          <a:bodyPr wrap="square" lIns="0" tIns="0" rIns="0" bIns="0" rtlCol="0" anchor="ctr"/>
          <a:lstStyle/>
          <a:p>
            <a:pPr marL="0" indent="0">
              <a:buNone/>
            </a:pPr>
            <a:r>
              <a:rPr lang="en-US" sz="1000" b="1" dirty="0">
                <a:solidFill>
                  <a:srgbClr val="7B2FBE"/>
                </a:solidFill>
                <a:latin typeface="Calibri" pitchFamily="34" charset="0"/>
                <a:ea typeface="Calibri" pitchFamily="34" charset="-122"/>
                <a:cs typeface="Calibri" pitchFamily="34" charset="-120"/>
              </a:rPr>
              <a:t>"Productive and safe" · Created 2000 · Anders Hejlsberg, Microsoft</a:t>
            </a:r>
            <a:endParaRPr lang="en-US" sz="1000" dirty="0"/>
          </a:p>
        </p:txBody>
      </p:sp>
      <p:sp>
        <p:nvSpPr>
          <p:cNvPr id="17" name="Text 15"/>
          <p:cNvSpPr txBox="1"/>
          <p:nvPr/>
        </p:nvSpPr>
        <p:spPr>
          <a:xfrm>
            <a:off x="4160520" y="3858768"/>
            <a:ext cx="7589520" cy="868680"/>
          </a:xfrm>
          <a:prstGeom prst="rect">
            <a:avLst/>
          </a:prstGeom>
          <a:noFill/>
          <a:ln/>
        </p:spPr>
        <p:txBody>
          <a:bodyPr wrap="square" lIns="0" tIns="0" rIns="0" bIns="0" rtlCol="0" anchor="ctr"/>
          <a:lstStyle/>
          <a:p>
            <a:pPr marL="0" indent="0">
              <a:buNone/>
            </a:pPr>
            <a:r>
              <a:rPr lang="en-US" sz="1100" dirty="0">
                <a:solidFill>
                  <a:srgbClr val="1E2A3A"/>
                </a:solidFill>
                <a:latin typeface="Calibri" pitchFamily="34" charset="0"/>
                <a:ea typeface="Calibri" pitchFamily="34" charset="-122"/>
                <a:cs typeface="Calibri" pitchFamily="34" charset="-120"/>
              </a:rPr>
              <a:t>Keeps static typing and performance but adds GC, rich OOP, and a strong type system. Safety and developer productivity as equal goals. We use C# to understand the deliberate middle ground between control and convenience.</a:t>
            </a:r>
            <a:endParaRPr lang="en-US" sz="1100" dirty="0"/>
          </a:p>
        </p:txBody>
      </p:sp>
      <p:sp>
        <p:nvSpPr>
          <p:cNvPr id="18" name="Shape 16"/>
          <p:cNvSpPr/>
          <p:nvPr/>
        </p:nvSpPr>
        <p:spPr>
          <a:xfrm>
            <a:off x="4023360" y="4974336"/>
            <a:ext cx="7863840" cy="1371600"/>
          </a:xfrm>
          <a:prstGeom prst="rect">
            <a:avLst/>
          </a:prstGeom>
          <a:solidFill>
            <a:srgbClr val="FEF3E8"/>
          </a:solidFill>
          <a:ln w="12700">
            <a:solidFill>
              <a:srgbClr val="F8D8B8"/>
            </a:solidFill>
            <a:prstDash val="solid"/>
          </a:ln>
        </p:spPr>
        <p:txBody>
          <a:bodyPr/>
          <a:lstStyle/>
          <a:p>
            <a:endParaRPr lang="en-US"/>
          </a:p>
        </p:txBody>
      </p:sp>
      <p:sp>
        <p:nvSpPr>
          <p:cNvPr id="19" name="Shape 17"/>
          <p:cNvSpPr/>
          <p:nvPr/>
        </p:nvSpPr>
        <p:spPr>
          <a:xfrm>
            <a:off x="4160520" y="5047488"/>
            <a:ext cx="777240" cy="237744"/>
          </a:xfrm>
          <a:prstGeom prst="roundRect">
            <a:avLst>
              <a:gd name="adj" fmla="val 30769"/>
            </a:avLst>
          </a:prstGeom>
          <a:solidFill>
            <a:srgbClr val="FEF3E8"/>
          </a:solidFill>
          <a:ln w="12700">
            <a:solidFill>
              <a:srgbClr val="FEF3E8"/>
            </a:solidFill>
            <a:prstDash val="solid"/>
          </a:ln>
        </p:spPr>
        <p:txBody>
          <a:bodyPr/>
          <a:lstStyle/>
          <a:p>
            <a:endParaRPr lang="en-US"/>
          </a:p>
        </p:txBody>
      </p:sp>
      <p:sp>
        <p:nvSpPr>
          <p:cNvPr id="20" name="Text 18"/>
          <p:cNvSpPr txBox="1"/>
          <p:nvPr/>
        </p:nvSpPr>
        <p:spPr>
          <a:xfrm>
            <a:off x="4197096" y="5065776"/>
            <a:ext cx="704088" cy="201168"/>
          </a:xfrm>
          <a:prstGeom prst="rect">
            <a:avLst/>
          </a:prstGeom>
          <a:noFill/>
          <a:ln/>
        </p:spPr>
        <p:txBody>
          <a:bodyPr wrap="square" lIns="0" tIns="0" rIns="0" bIns="0" rtlCol="0" anchor="ctr"/>
          <a:lstStyle/>
          <a:p>
            <a:pPr marL="0" indent="0" algn="ctr">
              <a:buNone/>
            </a:pPr>
            <a:r>
              <a:rPr lang="en-US" sz="900" b="1" dirty="0">
                <a:solidFill>
                  <a:srgbClr val="C05E00"/>
                </a:solidFill>
                <a:latin typeface="Courier New" pitchFamily="34" charset="0"/>
                <a:ea typeface="Courier New" pitchFamily="34" charset="-122"/>
                <a:cs typeface="Courier New" pitchFamily="34" charset="-120"/>
              </a:rPr>
              <a:t>Python</a:t>
            </a:r>
            <a:endParaRPr lang="en-US" sz="900" dirty="0"/>
          </a:p>
        </p:txBody>
      </p:sp>
      <p:sp>
        <p:nvSpPr>
          <p:cNvPr id="21" name="Text 19"/>
          <p:cNvSpPr txBox="1"/>
          <p:nvPr/>
        </p:nvSpPr>
        <p:spPr>
          <a:xfrm>
            <a:off x="5029200" y="5047488"/>
            <a:ext cx="6720840" cy="256032"/>
          </a:xfrm>
          <a:prstGeom prst="rect">
            <a:avLst/>
          </a:prstGeom>
          <a:noFill/>
          <a:ln/>
        </p:spPr>
        <p:txBody>
          <a:bodyPr wrap="square" lIns="0" tIns="0" rIns="0" bIns="0" rtlCol="0" anchor="ctr"/>
          <a:lstStyle/>
          <a:p>
            <a:pPr marL="0" indent="0">
              <a:buNone/>
            </a:pPr>
            <a:r>
              <a:rPr lang="en-US" sz="1000" b="1" dirty="0">
                <a:solidFill>
                  <a:srgbClr val="C05E00"/>
                </a:solidFill>
                <a:latin typeface="Calibri" pitchFamily="34" charset="0"/>
                <a:ea typeface="Calibri" pitchFamily="34" charset="-122"/>
                <a:cs typeface="Calibri" pitchFamily="34" charset="-120"/>
              </a:rPr>
              <a:t>"Readability counts" · Created 1991 · Guido van Rossum</a:t>
            </a:r>
            <a:endParaRPr lang="en-US" sz="1000" dirty="0"/>
          </a:p>
        </p:txBody>
      </p:sp>
      <p:sp>
        <p:nvSpPr>
          <p:cNvPr id="22" name="Text 20"/>
          <p:cNvSpPr txBox="1"/>
          <p:nvPr/>
        </p:nvSpPr>
        <p:spPr>
          <a:xfrm>
            <a:off x="4160520" y="5340096"/>
            <a:ext cx="7589520" cy="868680"/>
          </a:xfrm>
          <a:prstGeom prst="rect">
            <a:avLst/>
          </a:prstGeom>
          <a:noFill/>
          <a:ln/>
        </p:spPr>
        <p:txBody>
          <a:bodyPr wrap="square" lIns="0" tIns="0" rIns="0" bIns="0" rtlCol="0" anchor="ctr"/>
          <a:lstStyle/>
          <a:p>
            <a:pPr marL="0" indent="0">
              <a:buNone/>
            </a:pPr>
            <a:r>
              <a:rPr lang="en-US" sz="1100" dirty="0">
                <a:solidFill>
                  <a:srgbClr val="1E2A3A"/>
                </a:solidFill>
                <a:latin typeface="Calibri" pitchFamily="34" charset="0"/>
                <a:ea typeface="Calibri" pitchFamily="34" charset="-122"/>
                <a:cs typeface="Calibri" pitchFamily="34" charset="-120"/>
              </a:rPr>
              <a:t>Maximises human readability above all else. Dynamic typing, minimal syntax, huge standard library. Assumes programmer time is more valuable than CPU time. We use Python to understand what a language looks like when expressiveness is the highest priority.</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2000" cy="960120"/>
          </a:xfrm>
          <a:prstGeom prst="rect">
            <a:avLst/>
          </a:prstGeom>
          <a:solidFill>
            <a:srgbClr val="1A2B5E"/>
          </a:solidFill>
          <a:ln/>
        </p:spPr>
        <p:txBody>
          <a:bodyPr/>
          <a:lstStyle/>
          <a:p>
            <a:endParaRPr lang="en-US"/>
          </a:p>
        </p:txBody>
      </p:sp>
      <p:sp>
        <p:nvSpPr>
          <p:cNvPr id="3" name="Text 1"/>
          <p:cNvSpPr txBox="1"/>
          <p:nvPr/>
        </p:nvSpPr>
        <p:spPr>
          <a:xfrm>
            <a:off x="411480" y="137160"/>
            <a:ext cx="1051560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 C#, Python — The Comparison at a Glance</a:t>
            </a:r>
            <a:endParaRPr lang="en-US" sz="2200" dirty="0"/>
          </a:p>
        </p:txBody>
      </p:sp>
      <p:sp>
        <p:nvSpPr>
          <p:cNvPr id="4" name="Text 2"/>
          <p:cNvSpPr txBox="1"/>
          <p:nvPr/>
        </p:nvSpPr>
        <p:spPr>
          <a:xfrm>
            <a:off x="10515600" y="292608"/>
            <a:ext cx="1417320" cy="347472"/>
          </a:xfrm>
          <a:prstGeom prst="rect">
            <a:avLst/>
          </a:prstGeom>
          <a:noFill/>
          <a:ln/>
        </p:spPr>
        <p:txBody>
          <a:bodyPr wrap="square" lIns="0" tIns="0" rIns="0" bIns="0" rtlCol="0" anchor="ctr"/>
          <a:lstStyle/>
          <a:p>
            <a:pPr marL="0" indent="0" algn="r">
              <a:buNone/>
            </a:pPr>
            <a:r>
              <a:rPr lang="en-US" sz="1000" dirty="0">
                <a:solidFill>
                  <a:srgbClr val="7A90B8"/>
                </a:solidFill>
                <a:latin typeface="Calibri" pitchFamily="34" charset="0"/>
                <a:ea typeface="Calibri" pitchFamily="34" charset="-122"/>
                <a:cs typeface="Calibri" pitchFamily="34" charset="-120"/>
              </a:rPr>
              <a:t>Section 7</a:t>
            </a:r>
            <a:endParaRPr lang="en-US" sz="1000" dirty="0"/>
          </a:p>
        </p:txBody>
      </p:sp>
      <p:sp>
        <p:nvSpPr>
          <p:cNvPr id="5" name="Text 3"/>
          <p:cNvSpPr txBox="1"/>
          <p:nvPr/>
        </p:nvSpPr>
        <p:spPr>
          <a:xfrm>
            <a:off x="411480" y="987552"/>
            <a:ext cx="11338560" cy="274320"/>
          </a:xfrm>
          <a:prstGeom prst="rect">
            <a:avLst/>
          </a:prstGeom>
          <a:noFill/>
          <a:ln/>
        </p:spPr>
        <p:txBody>
          <a:bodyPr wrap="square" lIns="0" tIns="0" rIns="0" bIns="0" rtlCol="0" anchor="ctr"/>
          <a:lstStyle/>
          <a:p>
            <a:pPr marL="0" indent="0">
              <a:buNone/>
            </a:pPr>
            <a:r>
              <a:rPr lang="en-US" sz="1150" dirty="0">
                <a:solidFill>
                  <a:srgbClr val="5A6A82"/>
                </a:solidFill>
                <a:latin typeface="Calibri" pitchFamily="34" charset="0"/>
                <a:ea typeface="Calibri" pitchFamily="34" charset="-122"/>
                <a:cs typeface="Calibri" pitchFamily="34" charset="-120"/>
              </a:rPr>
              <a:t>The goal is not to rank them — it is to understand why each made the choices it did.</a:t>
            </a:r>
            <a:endParaRPr lang="en-US" sz="1150" dirty="0"/>
          </a:p>
        </p:txBody>
      </p:sp>
      <p:sp>
        <p:nvSpPr>
          <p:cNvPr id="6" name="Shape 4"/>
          <p:cNvSpPr/>
          <p:nvPr/>
        </p:nvSpPr>
        <p:spPr>
          <a:xfrm>
            <a:off x="411480" y="1298448"/>
            <a:ext cx="11338560" cy="347472"/>
          </a:xfrm>
          <a:prstGeom prst="rect">
            <a:avLst/>
          </a:prstGeom>
          <a:solidFill>
            <a:srgbClr val="1A2B5E"/>
          </a:solidFill>
          <a:ln w="12700">
            <a:solidFill>
              <a:srgbClr val="1A2B5E"/>
            </a:solidFill>
            <a:prstDash val="solid"/>
          </a:ln>
        </p:spPr>
        <p:txBody>
          <a:bodyPr/>
          <a:lstStyle/>
          <a:p>
            <a:endParaRPr lang="en-US"/>
          </a:p>
        </p:txBody>
      </p:sp>
      <p:sp>
        <p:nvSpPr>
          <p:cNvPr id="7" name="Text 5"/>
          <p:cNvSpPr txBox="1"/>
          <p:nvPr/>
        </p:nvSpPr>
        <p:spPr>
          <a:xfrm>
            <a:off x="548640" y="1371600"/>
            <a:ext cx="283464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Design dimension</a:t>
            </a:r>
            <a:endParaRPr lang="en-US" sz="1100" dirty="0"/>
          </a:p>
        </p:txBody>
      </p:sp>
      <p:sp>
        <p:nvSpPr>
          <p:cNvPr id="8" name="Text 6"/>
          <p:cNvSpPr txBox="1"/>
          <p:nvPr/>
        </p:nvSpPr>
        <p:spPr>
          <a:xfrm>
            <a:off x="3017520" y="1371600"/>
            <a:ext cx="242316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9" name="Text 7"/>
          <p:cNvSpPr txBox="1"/>
          <p:nvPr/>
        </p:nvSpPr>
        <p:spPr>
          <a:xfrm>
            <a:off x="6446520" y="1371600"/>
            <a:ext cx="242316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10" name="Text 8"/>
          <p:cNvSpPr txBox="1"/>
          <p:nvPr/>
        </p:nvSpPr>
        <p:spPr>
          <a:xfrm>
            <a:off x="9189720" y="1371600"/>
            <a:ext cx="242316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Python</a:t>
            </a:r>
            <a:endParaRPr lang="en-US" sz="1100" dirty="0"/>
          </a:p>
        </p:txBody>
      </p:sp>
      <p:sp>
        <p:nvSpPr>
          <p:cNvPr id="11" name="Shape 9"/>
          <p:cNvSpPr/>
          <p:nvPr/>
        </p:nvSpPr>
        <p:spPr>
          <a:xfrm>
            <a:off x="411480" y="1700784"/>
            <a:ext cx="11338560" cy="420624"/>
          </a:xfrm>
          <a:prstGeom prst="rect">
            <a:avLst/>
          </a:prstGeom>
          <a:solidFill>
            <a:srgbClr val="F4F6FC"/>
          </a:solidFill>
          <a:ln w="12700">
            <a:solidFill>
              <a:srgbClr val="D0DAF0"/>
            </a:solidFill>
            <a:prstDash val="solid"/>
          </a:ln>
        </p:spPr>
        <p:txBody>
          <a:bodyPr/>
          <a:lstStyle/>
          <a:p>
            <a:endParaRPr lang="en-US"/>
          </a:p>
        </p:txBody>
      </p:sp>
      <p:sp>
        <p:nvSpPr>
          <p:cNvPr id="12" name="Text 10"/>
          <p:cNvSpPr txBox="1"/>
          <p:nvPr/>
        </p:nvSpPr>
        <p:spPr>
          <a:xfrm>
            <a:off x="548640" y="1746504"/>
            <a:ext cx="2377440" cy="329184"/>
          </a:xfrm>
          <a:prstGeom prst="rect">
            <a:avLst/>
          </a:prstGeom>
          <a:noFill/>
          <a:ln/>
        </p:spPr>
        <p:txBody>
          <a:bodyPr wrap="square" lIns="0" tIns="0" rIns="0" bIns="0" rtlCol="0" anchor="ctr"/>
          <a:lstStyle/>
          <a:p>
            <a:pPr marL="0" indent="0">
              <a:buNone/>
            </a:pPr>
            <a:r>
              <a:rPr lang="en-US" sz="1050" b="1" dirty="0">
                <a:solidFill>
                  <a:srgbClr val="1E2A3A"/>
                </a:solidFill>
                <a:latin typeface="Calibri" pitchFamily="34" charset="0"/>
                <a:ea typeface="Calibri" pitchFamily="34" charset="-122"/>
                <a:cs typeface="Calibri" pitchFamily="34" charset="-120"/>
              </a:rPr>
              <a:t>Core philosophy</a:t>
            </a:r>
            <a:endParaRPr lang="en-US" sz="1050" dirty="0"/>
          </a:p>
        </p:txBody>
      </p:sp>
      <p:sp>
        <p:nvSpPr>
          <p:cNvPr id="13" name="Text 11"/>
          <p:cNvSpPr txBox="1"/>
          <p:nvPr/>
        </p:nvSpPr>
        <p:spPr>
          <a:xfrm>
            <a:off x="3017520" y="1746504"/>
            <a:ext cx="3291840" cy="329184"/>
          </a:xfrm>
          <a:prstGeom prst="rect">
            <a:avLst/>
          </a:prstGeom>
          <a:noFill/>
          <a:ln/>
        </p:spPr>
        <p:txBody>
          <a:bodyPr wrap="square" lIns="0" tIns="0" rIns="0" bIns="0" rtlCol="0" anchor="ctr"/>
          <a:lstStyle/>
          <a:p>
            <a:pPr marL="0" indent="0">
              <a:buNone/>
            </a:pPr>
            <a:r>
              <a:rPr lang="en-US" sz="1050" dirty="0">
                <a:solidFill>
                  <a:srgbClr val="2E5BFF"/>
                </a:solidFill>
                <a:latin typeface="Calibri" pitchFamily="34" charset="0"/>
                <a:ea typeface="Calibri" pitchFamily="34" charset="-122"/>
                <a:cs typeface="Calibri" pitchFamily="34" charset="-120"/>
              </a:rPr>
              <a:t>Trust the programmer</a:t>
            </a:r>
            <a:endParaRPr lang="en-US" sz="1050" dirty="0"/>
          </a:p>
        </p:txBody>
      </p:sp>
      <p:sp>
        <p:nvSpPr>
          <p:cNvPr id="14" name="Text 12"/>
          <p:cNvSpPr txBox="1"/>
          <p:nvPr/>
        </p:nvSpPr>
        <p:spPr>
          <a:xfrm>
            <a:off x="6446520" y="1746504"/>
            <a:ext cx="2606040" cy="329184"/>
          </a:xfrm>
          <a:prstGeom prst="rect">
            <a:avLst/>
          </a:prstGeom>
          <a:noFill/>
          <a:ln/>
        </p:spPr>
        <p:txBody>
          <a:bodyPr wrap="square" lIns="0" tIns="0" rIns="0" bIns="0" rtlCol="0" anchor="ctr"/>
          <a:lstStyle/>
          <a:p>
            <a:pPr marL="0" indent="0">
              <a:buNone/>
            </a:pPr>
            <a:r>
              <a:rPr lang="en-US" sz="1050" dirty="0">
                <a:solidFill>
                  <a:srgbClr val="7B2FBE"/>
                </a:solidFill>
                <a:latin typeface="Calibri" pitchFamily="34" charset="0"/>
                <a:ea typeface="Calibri" pitchFamily="34" charset="-122"/>
                <a:cs typeface="Calibri" pitchFamily="34" charset="-120"/>
              </a:rPr>
              <a:t>Productive and safe</a:t>
            </a:r>
            <a:endParaRPr lang="en-US" sz="1050" dirty="0"/>
          </a:p>
        </p:txBody>
      </p:sp>
      <p:sp>
        <p:nvSpPr>
          <p:cNvPr id="15" name="Text 13"/>
          <p:cNvSpPr txBox="1"/>
          <p:nvPr/>
        </p:nvSpPr>
        <p:spPr>
          <a:xfrm>
            <a:off x="9189720" y="1746504"/>
            <a:ext cx="2606040" cy="329184"/>
          </a:xfrm>
          <a:prstGeom prst="rect">
            <a:avLst/>
          </a:prstGeom>
          <a:noFill/>
          <a:ln/>
        </p:spPr>
        <p:txBody>
          <a:bodyPr wrap="square" lIns="0" tIns="0" rIns="0" bIns="0" rtlCol="0" anchor="ctr"/>
          <a:lstStyle/>
          <a:p>
            <a:pPr marL="0" indent="0">
              <a:buNone/>
            </a:pPr>
            <a:r>
              <a:rPr lang="en-US" sz="1050" dirty="0">
                <a:solidFill>
                  <a:srgbClr val="C05E00"/>
                </a:solidFill>
                <a:latin typeface="Calibri" pitchFamily="34" charset="0"/>
                <a:ea typeface="Calibri" pitchFamily="34" charset="-122"/>
                <a:cs typeface="Calibri" pitchFamily="34" charset="-120"/>
              </a:rPr>
              <a:t>Readability counts</a:t>
            </a:r>
            <a:endParaRPr lang="en-US" sz="1050" dirty="0"/>
          </a:p>
        </p:txBody>
      </p:sp>
      <p:sp>
        <p:nvSpPr>
          <p:cNvPr id="16" name="Shape 14"/>
          <p:cNvSpPr/>
          <p:nvPr/>
        </p:nvSpPr>
        <p:spPr>
          <a:xfrm>
            <a:off x="411480" y="2148840"/>
            <a:ext cx="11338560" cy="420624"/>
          </a:xfrm>
          <a:prstGeom prst="rect">
            <a:avLst/>
          </a:prstGeom>
          <a:solidFill>
            <a:srgbClr val="FFFFFF"/>
          </a:solidFill>
          <a:ln w="12700">
            <a:solidFill>
              <a:srgbClr val="D0DAF0"/>
            </a:solidFill>
            <a:prstDash val="solid"/>
          </a:ln>
        </p:spPr>
        <p:txBody>
          <a:bodyPr/>
          <a:lstStyle/>
          <a:p>
            <a:endParaRPr lang="en-US"/>
          </a:p>
        </p:txBody>
      </p:sp>
      <p:sp>
        <p:nvSpPr>
          <p:cNvPr id="17" name="Text 15"/>
          <p:cNvSpPr txBox="1"/>
          <p:nvPr/>
        </p:nvSpPr>
        <p:spPr>
          <a:xfrm>
            <a:off x="548640" y="2194560"/>
            <a:ext cx="2377440" cy="329184"/>
          </a:xfrm>
          <a:prstGeom prst="rect">
            <a:avLst/>
          </a:prstGeom>
          <a:noFill/>
          <a:ln/>
        </p:spPr>
        <p:txBody>
          <a:bodyPr wrap="square" lIns="0" tIns="0" rIns="0" bIns="0" rtlCol="0" anchor="ctr"/>
          <a:lstStyle/>
          <a:p>
            <a:pPr marL="0" indent="0">
              <a:buNone/>
            </a:pPr>
            <a:r>
              <a:rPr lang="en-US" sz="1050" b="1" dirty="0">
                <a:solidFill>
                  <a:srgbClr val="1E2A3A"/>
                </a:solidFill>
                <a:latin typeface="Calibri" pitchFamily="34" charset="0"/>
                <a:ea typeface="Calibri" pitchFamily="34" charset="-122"/>
                <a:cs typeface="Calibri" pitchFamily="34" charset="-120"/>
              </a:rPr>
              <a:t>Typing</a:t>
            </a:r>
            <a:endParaRPr lang="en-US" sz="1050" dirty="0"/>
          </a:p>
        </p:txBody>
      </p:sp>
      <p:sp>
        <p:nvSpPr>
          <p:cNvPr id="18" name="Text 16"/>
          <p:cNvSpPr txBox="1"/>
          <p:nvPr/>
        </p:nvSpPr>
        <p:spPr>
          <a:xfrm>
            <a:off x="3017520" y="2194560"/>
            <a:ext cx="3291840" cy="329184"/>
          </a:xfrm>
          <a:prstGeom prst="rect">
            <a:avLst/>
          </a:prstGeom>
          <a:noFill/>
          <a:ln/>
        </p:spPr>
        <p:txBody>
          <a:bodyPr wrap="square" lIns="0" tIns="0" rIns="0" bIns="0" rtlCol="0" anchor="ctr"/>
          <a:lstStyle/>
          <a:p>
            <a:pPr marL="0" indent="0">
              <a:buNone/>
            </a:pPr>
            <a:r>
              <a:rPr lang="en-US" sz="1050" dirty="0">
                <a:solidFill>
                  <a:srgbClr val="2E5BFF"/>
                </a:solidFill>
                <a:latin typeface="Calibri" pitchFamily="34" charset="0"/>
                <a:ea typeface="Calibri" pitchFamily="34" charset="-122"/>
                <a:cs typeface="Calibri" pitchFamily="34" charset="-120"/>
              </a:rPr>
              <a:t>Static, explicit</a:t>
            </a:r>
            <a:endParaRPr lang="en-US" sz="1050" dirty="0"/>
          </a:p>
        </p:txBody>
      </p:sp>
      <p:sp>
        <p:nvSpPr>
          <p:cNvPr id="19" name="Text 17"/>
          <p:cNvSpPr txBox="1"/>
          <p:nvPr/>
        </p:nvSpPr>
        <p:spPr>
          <a:xfrm>
            <a:off x="6446520" y="2194560"/>
            <a:ext cx="2606040" cy="329184"/>
          </a:xfrm>
          <a:prstGeom prst="rect">
            <a:avLst/>
          </a:prstGeom>
          <a:noFill/>
          <a:ln/>
        </p:spPr>
        <p:txBody>
          <a:bodyPr wrap="square" lIns="0" tIns="0" rIns="0" bIns="0" rtlCol="0" anchor="ctr"/>
          <a:lstStyle/>
          <a:p>
            <a:pPr marL="0" indent="0">
              <a:buNone/>
            </a:pPr>
            <a:r>
              <a:rPr lang="en-US" sz="1050" dirty="0">
                <a:solidFill>
                  <a:srgbClr val="7B2FBE"/>
                </a:solidFill>
                <a:latin typeface="Calibri" pitchFamily="34" charset="0"/>
                <a:ea typeface="Calibri" pitchFamily="34" charset="-122"/>
                <a:cs typeface="Calibri" pitchFamily="34" charset="-120"/>
              </a:rPr>
              <a:t>Static + type inference</a:t>
            </a:r>
            <a:endParaRPr lang="en-US" sz="1050" dirty="0"/>
          </a:p>
        </p:txBody>
      </p:sp>
      <p:sp>
        <p:nvSpPr>
          <p:cNvPr id="20" name="Text 18"/>
          <p:cNvSpPr txBox="1"/>
          <p:nvPr/>
        </p:nvSpPr>
        <p:spPr>
          <a:xfrm>
            <a:off x="9189720" y="2194560"/>
            <a:ext cx="2606040" cy="329184"/>
          </a:xfrm>
          <a:prstGeom prst="rect">
            <a:avLst/>
          </a:prstGeom>
          <a:noFill/>
          <a:ln/>
        </p:spPr>
        <p:txBody>
          <a:bodyPr wrap="square" lIns="0" tIns="0" rIns="0" bIns="0" rtlCol="0" anchor="ctr"/>
          <a:lstStyle/>
          <a:p>
            <a:pPr marL="0" indent="0">
              <a:buNone/>
            </a:pPr>
            <a:r>
              <a:rPr lang="en-US" sz="1050" dirty="0">
                <a:solidFill>
                  <a:srgbClr val="C05E00"/>
                </a:solidFill>
                <a:latin typeface="Calibri" pitchFamily="34" charset="0"/>
                <a:ea typeface="Calibri" pitchFamily="34" charset="-122"/>
                <a:cs typeface="Calibri" pitchFamily="34" charset="-120"/>
              </a:rPr>
              <a:t>Dynamic</a:t>
            </a:r>
            <a:endParaRPr lang="en-US" sz="1050" dirty="0"/>
          </a:p>
        </p:txBody>
      </p:sp>
      <p:sp>
        <p:nvSpPr>
          <p:cNvPr id="21" name="Shape 19"/>
          <p:cNvSpPr/>
          <p:nvPr/>
        </p:nvSpPr>
        <p:spPr>
          <a:xfrm>
            <a:off x="411480" y="2596896"/>
            <a:ext cx="11338560" cy="420624"/>
          </a:xfrm>
          <a:prstGeom prst="rect">
            <a:avLst/>
          </a:prstGeom>
          <a:solidFill>
            <a:srgbClr val="F4F6FC"/>
          </a:solidFill>
          <a:ln w="12700">
            <a:solidFill>
              <a:srgbClr val="D0DAF0"/>
            </a:solidFill>
            <a:prstDash val="solid"/>
          </a:ln>
        </p:spPr>
        <p:txBody>
          <a:bodyPr/>
          <a:lstStyle/>
          <a:p>
            <a:endParaRPr lang="en-US"/>
          </a:p>
        </p:txBody>
      </p:sp>
      <p:sp>
        <p:nvSpPr>
          <p:cNvPr id="22" name="Text 20"/>
          <p:cNvSpPr txBox="1"/>
          <p:nvPr/>
        </p:nvSpPr>
        <p:spPr>
          <a:xfrm>
            <a:off x="548640" y="2642616"/>
            <a:ext cx="2377440" cy="329184"/>
          </a:xfrm>
          <a:prstGeom prst="rect">
            <a:avLst/>
          </a:prstGeom>
          <a:noFill/>
          <a:ln/>
        </p:spPr>
        <p:txBody>
          <a:bodyPr wrap="square" lIns="0" tIns="0" rIns="0" bIns="0" rtlCol="0" anchor="ctr"/>
          <a:lstStyle/>
          <a:p>
            <a:pPr marL="0" indent="0">
              <a:buNone/>
            </a:pPr>
            <a:r>
              <a:rPr lang="en-US" sz="1050" b="1" dirty="0">
                <a:solidFill>
                  <a:srgbClr val="1E2A3A"/>
                </a:solidFill>
                <a:latin typeface="Calibri" pitchFamily="34" charset="0"/>
                <a:ea typeface="Calibri" pitchFamily="34" charset="-122"/>
                <a:cs typeface="Calibri" pitchFamily="34" charset="-120"/>
              </a:rPr>
              <a:t>Type checking</a:t>
            </a:r>
            <a:endParaRPr lang="en-US" sz="1050" dirty="0"/>
          </a:p>
        </p:txBody>
      </p:sp>
      <p:sp>
        <p:nvSpPr>
          <p:cNvPr id="23" name="Text 21"/>
          <p:cNvSpPr txBox="1"/>
          <p:nvPr/>
        </p:nvSpPr>
        <p:spPr>
          <a:xfrm>
            <a:off x="3017520" y="2642616"/>
            <a:ext cx="3291840" cy="329184"/>
          </a:xfrm>
          <a:prstGeom prst="rect">
            <a:avLst/>
          </a:prstGeom>
          <a:noFill/>
          <a:ln/>
        </p:spPr>
        <p:txBody>
          <a:bodyPr wrap="square" lIns="0" tIns="0" rIns="0" bIns="0" rtlCol="0" anchor="ctr"/>
          <a:lstStyle/>
          <a:p>
            <a:pPr marL="0" indent="0">
              <a:buNone/>
            </a:pPr>
            <a:r>
              <a:rPr lang="en-US" sz="1050" dirty="0">
                <a:solidFill>
                  <a:srgbClr val="2E5BFF"/>
                </a:solidFill>
                <a:latin typeface="Calibri" pitchFamily="34" charset="0"/>
                <a:ea typeface="Calibri" pitchFamily="34" charset="-122"/>
                <a:cs typeface="Calibri" pitchFamily="34" charset="-120"/>
              </a:rPr>
              <a:t>Compile time (partial)</a:t>
            </a:r>
            <a:endParaRPr lang="en-US" sz="1050" dirty="0"/>
          </a:p>
        </p:txBody>
      </p:sp>
      <p:sp>
        <p:nvSpPr>
          <p:cNvPr id="24" name="Text 22"/>
          <p:cNvSpPr txBox="1"/>
          <p:nvPr/>
        </p:nvSpPr>
        <p:spPr>
          <a:xfrm>
            <a:off x="6446520" y="2642616"/>
            <a:ext cx="2606040" cy="329184"/>
          </a:xfrm>
          <a:prstGeom prst="rect">
            <a:avLst/>
          </a:prstGeom>
          <a:noFill/>
          <a:ln/>
        </p:spPr>
        <p:txBody>
          <a:bodyPr wrap="square" lIns="0" tIns="0" rIns="0" bIns="0" rtlCol="0" anchor="ctr"/>
          <a:lstStyle/>
          <a:p>
            <a:pPr marL="0" indent="0">
              <a:buNone/>
            </a:pPr>
            <a:r>
              <a:rPr lang="en-US" sz="1050" dirty="0">
                <a:solidFill>
                  <a:srgbClr val="7B2FBE"/>
                </a:solidFill>
                <a:latin typeface="Calibri" pitchFamily="34" charset="0"/>
                <a:ea typeface="Calibri" pitchFamily="34" charset="-122"/>
                <a:cs typeface="Calibri" pitchFamily="34" charset="-120"/>
              </a:rPr>
              <a:t>Compile time (strong)</a:t>
            </a:r>
            <a:endParaRPr lang="en-US" sz="1050" dirty="0"/>
          </a:p>
        </p:txBody>
      </p:sp>
      <p:sp>
        <p:nvSpPr>
          <p:cNvPr id="25" name="Text 23"/>
          <p:cNvSpPr txBox="1"/>
          <p:nvPr/>
        </p:nvSpPr>
        <p:spPr>
          <a:xfrm>
            <a:off x="9189720" y="2642616"/>
            <a:ext cx="2606040" cy="329184"/>
          </a:xfrm>
          <a:prstGeom prst="rect">
            <a:avLst/>
          </a:prstGeom>
          <a:noFill/>
          <a:ln/>
        </p:spPr>
        <p:txBody>
          <a:bodyPr wrap="square" lIns="0" tIns="0" rIns="0" bIns="0" rtlCol="0" anchor="ctr"/>
          <a:lstStyle/>
          <a:p>
            <a:pPr marL="0" indent="0">
              <a:buNone/>
            </a:pPr>
            <a:r>
              <a:rPr lang="en-US" sz="1050" dirty="0">
                <a:solidFill>
                  <a:srgbClr val="C05E00"/>
                </a:solidFill>
                <a:latin typeface="Calibri" pitchFamily="34" charset="0"/>
                <a:ea typeface="Calibri" pitchFamily="34" charset="-122"/>
                <a:cs typeface="Calibri" pitchFamily="34" charset="-120"/>
              </a:rPr>
              <a:t>Runtime</a:t>
            </a:r>
            <a:endParaRPr lang="en-US" sz="1050" dirty="0"/>
          </a:p>
        </p:txBody>
      </p:sp>
      <p:sp>
        <p:nvSpPr>
          <p:cNvPr id="26" name="Shape 24"/>
          <p:cNvSpPr/>
          <p:nvPr/>
        </p:nvSpPr>
        <p:spPr>
          <a:xfrm>
            <a:off x="411480" y="3044952"/>
            <a:ext cx="11338560" cy="420624"/>
          </a:xfrm>
          <a:prstGeom prst="rect">
            <a:avLst/>
          </a:prstGeom>
          <a:solidFill>
            <a:srgbClr val="FFFFFF"/>
          </a:solidFill>
          <a:ln w="12700">
            <a:solidFill>
              <a:srgbClr val="D0DAF0"/>
            </a:solidFill>
            <a:prstDash val="solid"/>
          </a:ln>
        </p:spPr>
        <p:txBody>
          <a:bodyPr/>
          <a:lstStyle/>
          <a:p>
            <a:endParaRPr lang="en-US"/>
          </a:p>
        </p:txBody>
      </p:sp>
      <p:sp>
        <p:nvSpPr>
          <p:cNvPr id="27" name="Text 25"/>
          <p:cNvSpPr txBox="1"/>
          <p:nvPr/>
        </p:nvSpPr>
        <p:spPr>
          <a:xfrm>
            <a:off x="548640" y="3090672"/>
            <a:ext cx="2377440" cy="329184"/>
          </a:xfrm>
          <a:prstGeom prst="rect">
            <a:avLst/>
          </a:prstGeom>
          <a:noFill/>
          <a:ln/>
        </p:spPr>
        <p:txBody>
          <a:bodyPr wrap="square" lIns="0" tIns="0" rIns="0" bIns="0" rtlCol="0" anchor="ctr"/>
          <a:lstStyle/>
          <a:p>
            <a:pPr marL="0" indent="0">
              <a:buNone/>
            </a:pPr>
            <a:r>
              <a:rPr lang="en-US" sz="1050" b="1" dirty="0">
                <a:solidFill>
                  <a:srgbClr val="1E2A3A"/>
                </a:solidFill>
                <a:latin typeface="Calibri" pitchFamily="34" charset="0"/>
                <a:ea typeface="Calibri" pitchFamily="34" charset="-122"/>
                <a:cs typeface="Calibri" pitchFamily="34" charset="-120"/>
              </a:rPr>
              <a:t>Memory management</a:t>
            </a:r>
            <a:endParaRPr lang="en-US" sz="1050" dirty="0"/>
          </a:p>
        </p:txBody>
      </p:sp>
      <p:sp>
        <p:nvSpPr>
          <p:cNvPr id="28" name="Text 26"/>
          <p:cNvSpPr txBox="1"/>
          <p:nvPr/>
        </p:nvSpPr>
        <p:spPr>
          <a:xfrm>
            <a:off x="3017520" y="3090672"/>
            <a:ext cx="3291840" cy="329184"/>
          </a:xfrm>
          <a:prstGeom prst="rect">
            <a:avLst/>
          </a:prstGeom>
          <a:noFill/>
          <a:ln/>
        </p:spPr>
        <p:txBody>
          <a:bodyPr wrap="square" lIns="0" tIns="0" rIns="0" bIns="0" rtlCol="0" anchor="ctr"/>
          <a:lstStyle/>
          <a:p>
            <a:pPr marL="0" indent="0">
              <a:buNone/>
            </a:pPr>
            <a:r>
              <a:rPr lang="en-US" sz="1050" dirty="0">
                <a:solidFill>
                  <a:srgbClr val="2E5BFF"/>
                </a:solidFill>
                <a:latin typeface="Calibri" pitchFamily="34" charset="0"/>
                <a:ea typeface="Calibri" pitchFamily="34" charset="-122"/>
                <a:cs typeface="Calibri" pitchFamily="34" charset="-120"/>
              </a:rPr>
              <a:t>Manual (malloc/free)</a:t>
            </a:r>
            <a:endParaRPr lang="en-US" sz="1050" dirty="0"/>
          </a:p>
        </p:txBody>
      </p:sp>
      <p:sp>
        <p:nvSpPr>
          <p:cNvPr id="29" name="Text 27"/>
          <p:cNvSpPr txBox="1"/>
          <p:nvPr/>
        </p:nvSpPr>
        <p:spPr>
          <a:xfrm>
            <a:off x="6446520" y="3090672"/>
            <a:ext cx="2606040" cy="329184"/>
          </a:xfrm>
          <a:prstGeom prst="rect">
            <a:avLst/>
          </a:prstGeom>
          <a:noFill/>
          <a:ln/>
        </p:spPr>
        <p:txBody>
          <a:bodyPr wrap="square" lIns="0" tIns="0" rIns="0" bIns="0" rtlCol="0" anchor="ctr"/>
          <a:lstStyle/>
          <a:p>
            <a:pPr marL="0" indent="0">
              <a:buNone/>
            </a:pPr>
            <a:r>
              <a:rPr lang="en-US" sz="1050" dirty="0">
                <a:solidFill>
                  <a:srgbClr val="7B2FBE"/>
                </a:solidFill>
                <a:latin typeface="Calibri" pitchFamily="34" charset="0"/>
                <a:ea typeface="Calibri" pitchFamily="34" charset="-122"/>
                <a:cs typeface="Calibri" pitchFamily="34" charset="-120"/>
              </a:rPr>
              <a:t>Automatic (GC)</a:t>
            </a:r>
            <a:endParaRPr lang="en-US" sz="1050" dirty="0"/>
          </a:p>
        </p:txBody>
      </p:sp>
      <p:sp>
        <p:nvSpPr>
          <p:cNvPr id="30" name="Text 28"/>
          <p:cNvSpPr txBox="1"/>
          <p:nvPr/>
        </p:nvSpPr>
        <p:spPr>
          <a:xfrm>
            <a:off x="9189720" y="3090672"/>
            <a:ext cx="2606040" cy="329184"/>
          </a:xfrm>
          <a:prstGeom prst="rect">
            <a:avLst/>
          </a:prstGeom>
          <a:noFill/>
          <a:ln/>
        </p:spPr>
        <p:txBody>
          <a:bodyPr wrap="square" lIns="0" tIns="0" rIns="0" bIns="0" rtlCol="0" anchor="ctr"/>
          <a:lstStyle/>
          <a:p>
            <a:pPr marL="0" indent="0">
              <a:buNone/>
            </a:pPr>
            <a:r>
              <a:rPr lang="en-US" sz="1050" dirty="0">
                <a:solidFill>
                  <a:srgbClr val="C05E00"/>
                </a:solidFill>
                <a:latin typeface="Calibri" pitchFamily="34" charset="0"/>
                <a:ea typeface="Calibri" pitchFamily="34" charset="-122"/>
                <a:cs typeface="Calibri" pitchFamily="34" charset="-120"/>
              </a:rPr>
              <a:t>Automatic (GC)</a:t>
            </a:r>
            <a:endParaRPr lang="en-US" sz="1050" dirty="0"/>
          </a:p>
        </p:txBody>
      </p:sp>
      <p:sp>
        <p:nvSpPr>
          <p:cNvPr id="31" name="Shape 29"/>
          <p:cNvSpPr/>
          <p:nvPr/>
        </p:nvSpPr>
        <p:spPr>
          <a:xfrm>
            <a:off x="411480" y="3493008"/>
            <a:ext cx="11338560" cy="420624"/>
          </a:xfrm>
          <a:prstGeom prst="rect">
            <a:avLst/>
          </a:prstGeom>
          <a:solidFill>
            <a:srgbClr val="F4F6FC"/>
          </a:solidFill>
          <a:ln w="12700">
            <a:solidFill>
              <a:srgbClr val="D0DAF0"/>
            </a:solidFill>
            <a:prstDash val="solid"/>
          </a:ln>
        </p:spPr>
        <p:txBody>
          <a:bodyPr/>
          <a:lstStyle/>
          <a:p>
            <a:endParaRPr lang="en-US"/>
          </a:p>
        </p:txBody>
      </p:sp>
      <p:sp>
        <p:nvSpPr>
          <p:cNvPr id="32" name="Text 30"/>
          <p:cNvSpPr txBox="1"/>
          <p:nvPr/>
        </p:nvSpPr>
        <p:spPr>
          <a:xfrm>
            <a:off x="548640" y="3538728"/>
            <a:ext cx="2377440" cy="329184"/>
          </a:xfrm>
          <a:prstGeom prst="rect">
            <a:avLst/>
          </a:prstGeom>
          <a:noFill/>
          <a:ln/>
        </p:spPr>
        <p:txBody>
          <a:bodyPr wrap="square" lIns="0" tIns="0" rIns="0" bIns="0" rtlCol="0" anchor="ctr"/>
          <a:lstStyle/>
          <a:p>
            <a:pPr marL="0" indent="0">
              <a:buNone/>
            </a:pPr>
            <a:r>
              <a:rPr lang="en-US" sz="1050" b="1" dirty="0">
                <a:solidFill>
                  <a:srgbClr val="1E2A3A"/>
                </a:solidFill>
                <a:latin typeface="Calibri" pitchFamily="34" charset="0"/>
                <a:ea typeface="Calibri" pitchFamily="34" charset="-122"/>
                <a:cs typeface="Calibri" pitchFamily="34" charset="-120"/>
              </a:rPr>
              <a:t>Primary paradigm</a:t>
            </a:r>
            <a:endParaRPr lang="en-US" sz="1050" dirty="0"/>
          </a:p>
        </p:txBody>
      </p:sp>
      <p:sp>
        <p:nvSpPr>
          <p:cNvPr id="33" name="Text 31"/>
          <p:cNvSpPr txBox="1"/>
          <p:nvPr/>
        </p:nvSpPr>
        <p:spPr>
          <a:xfrm>
            <a:off x="3017520" y="3538728"/>
            <a:ext cx="3291840" cy="329184"/>
          </a:xfrm>
          <a:prstGeom prst="rect">
            <a:avLst/>
          </a:prstGeom>
          <a:noFill/>
          <a:ln/>
        </p:spPr>
        <p:txBody>
          <a:bodyPr wrap="square" lIns="0" tIns="0" rIns="0" bIns="0" rtlCol="0" anchor="ctr"/>
          <a:lstStyle/>
          <a:p>
            <a:pPr marL="0" indent="0">
              <a:buNone/>
            </a:pPr>
            <a:r>
              <a:rPr lang="en-US" sz="1050" dirty="0">
                <a:solidFill>
                  <a:srgbClr val="2E5BFF"/>
                </a:solidFill>
                <a:latin typeface="Calibri" pitchFamily="34" charset="0"/>
                <a:ea typeface="Calibri" pitchFamily="34" charset="-122"/>
                <a:cs typeface="Calibri" pitchFamily="34" charset="-120"/>
              </a:rPr>
              <a:t>Procedural</a:t>
            </a:r>
            <a:endParaRPr lang="en-US" sz="1050" dirty="0"/>
          </a:p>
        </p:txBody>
      </p:sp>
      <p:sp>
        <p:nvSpPr>
          <p:cNvPr id="34" name="Text 32"/>
          <p:cNvSpPr txBox="1"/>
          <p:nvPr/>
        </p:nvSpPr>
        <p:spPr>
          <a:xfrm>
            <a:off x="6446520" y="3538728"/>
            <a:ext cx="2606040" cy="329184"/>
          </a:xfrm>
          <a:prstGeom prst="rect">
            <a:avLst/>
          </a:prstGeom>
          <a:noFill/>
          <a:ln/>
        </p:spPr>
        <p:txBody>
          <a:bodyPr wrap="square" lIns="0" tIns="0" rIns="0" bIns="0" rtlCol="0" anchor="ctr"/>
          <a:lstStyle/>
          <a:p>
            <a:pPr marL="0" indent="0">
              <a:buNone/>
            </a:pPr>
            <a:r>
              <a:rPr lang="en-US" sz="1050" dirty="0">
                <a:solidFill>
                  <a:srgbClr val="7B2FBE"/>
                </a:solidFill>
                <a:latin typeface="Calibri" pitchFamily="34" charset="0"/>
                <a:ea typeface="Calibri" pitchFamily="34" charset="-122"/>
                <a:cs typeface="Calibri" pitchFamily="34" charset="-120"/>
              </a:rPr>
              <a:t>Object-oriented</a:t>
            </a:r>
            <a:endParaRPr lang="en-US" sz="1050" dirty="0"/>
          </a:p>
        </p:txBody>
      </p:sp>
      <p:sp>
        <p:nvSpPr>
          <p:cNvPr id="35" name="Text 33"/>
          <p:cNvSpPr txBox="1"/>
          <p:nvPr/>
        </p:nvSpPr>
        <p:spPr>
          <a:xfrm>
            <a:off x="9189720" y="3538728"/>
            <a:ext cx="2606040" cy="329184"/>
          </a:xfrm>
          <a:prstGeom prst="rect">
            <a:avLst/>
          </a:prstGeom>
          <a:noFill/>
          <a:ln/>
        </p:spPr>
        <p:txBody>
          <a:bodyPr wrap="square" lIns="0" tIns="0" rIns="0" bIns="0" rtlCol="0" anchor="ctr"/>
          <a:lstStyle/>
          <a:p>
            <a:pPr marL="0" indent="0">
              <a:buNone/>
            </a:pPr>
            <a:r>
              <a:rPr lang="en-US" sz="1050" dirty="0">
                <a:solidFill>
                  <a:srgbClr val="C05E00"/>
                </a:solidFill>
                <a:latin typeface="Calibri" pitchFamily="34" charset="0"/>
                <a:ea typeface="Calibri" pitchFamily="34" charset="-122"/>
                <a:cs typeface="Calibri" pitchFamily="34" charset="-120"/>
              </a:rPr>
              <a:t>Multi-paradigm</a:t>
            </a:r>
            <a:endParaRPr lang="en-US" sz="1050" dirty="0"/>
          </a:p>
        </p:txBody>
      </p:sp>
      <p:sp>
        <p:nvSpPr>
          <p:cNvPr id="36" name="Shape 34"/>
          <p:cNvSpPr/>
          <p:nvPr/>
        </p:nvSpPr>
        <p:spPr>
          <a:xfrm>
            <a:off x="411480" y="3941064"/>
            <a:ext cx="11338560" cy="420624"/>
          </a:xfrm>
          <a:prstGeom prst="rect">
            <a:avLst/>
          </a:prstGeom>
          <a:solidFill>
            <a:srgbClr val="FFFFFF"/>
          </a:solidFill>
          <a:ln w="12700">
            <a:solidFill>
              <a:srgbClr val="D0DAF0"/>
            </a:solidFill>
            <a:prstDash val="solid"/>
          </a:ln>
        </p:spPr>
        <p:txBody>
          <a:bodyPr/>
          <a:lstStyle/>
          <a:p>
            <a:endParaRPr lang="en-US"/>
          </a:p>
        </p:txBody>
      </p:sp>
      <p:sp>
        <p:nvSpPr>
          <p:cNvPr id="37" name="Text 35"/>
          <p:cNvSpPr txBox="1"/>
          <p:nvPr/>
        </p:nvSpPr>
        <p:spPr>
          <a:xfrm>
            <a:off x="548640" y="3986784"/>
            <a:ext cx="2377440" cy="329184"/>
          </a:xfrm>
          <a:prstGeom prst="rect">
            <a:avLst/>
          </a:prstGeom>
          <a:noFill/>
          <a:ln/>
        </p:spPr>
        <p:txBody>
          <a:bodyPr wrap="square" lIns="0" tIns="0" rIns="0" bIns="0" rtlCol="0" anchor="ctr"/>
          <a:lstStyle/>
          <a:p>
            <a:pPr marL="0" indent="0">
              <a:buNone/>
            </a:pPr>
            <a:r>
              <a:rPr lang="en-US" sz="1050" b="1" dirty="0">
                <a:solidFill>
                  <a:srgbClr val="1E2A3A"/>
                </a:solidFill>
                <a:latin typeface="Calibri" pitchFamily="34" charset="0"/>
                <a:ea typeface="Calibri" pitchFamily="34" charset="-122"/>
                <a:cs typeface="Calibri" pitchFamily="34" charset="-120"/>
              </a:rPr>
              <a:t>Error handling</a:t>
            </a:r>
            <a:endParaRPr lang="en-US" sz="1050" dirty="0"/>
          </a:p>
        </p:txBody>
      </p:sp>
      <p:sp>
        <p:nvSpPr>
          <p:cNvPr id="38" name="Text 36"/>
          <p:cNvSpPr txBox="1"/>
          <p:nvPr/>
        </p:nvSpPr>
        <p:spPr>
          <a:xfrm>
            <a:off x="3017520" y="3986784"/>
            <a:ext cx="3291840" cy="329184"/>
          </a:xfrm>
          <a:prstGeom prst="rect">
            <a:avLst/>
          </a:prstGeom>
          <a:noFill/>
          <a:ln/>
        </p:spPr>
        <p:txBody>
          <a:bodyPr wrap="square" lIns="0" tIns="0" rIns="0" bIns="0" rtlCol="0" anchor="ctr"/>
          <a:lstStyle/>
          <a:p>
            <a:pPr marL="0" indent="0">
              <a:buNone/>
            </a:pPr>
            <a:r>
              <a:rPr lang="en-US" sz="1050" dirty="0">
                <a:solidFill>
                  <a:srgbClr val="2E5BFF"/>
                </a:solidFill>
                <a:latin typeface="Calibri" pitchFamily="34" charset="0"/>
                <a:ea typeface="Calibri" pitchFamily="34" charset="-122"/>
                <a:cs typeface="Calibri" pitchFamily="34" charset="-120"/>
              </a:rPr>
              <a:t>Return codes</a:t>
            </a:r>
            <a:endParaRPr lang="en-US" sz="1050" dirty="0"/>
          </a:p>
        </p:txBody>
      </p:sp>
      <p:sp>
        <p:nvSpPr>
          <p:cNvPr id="39" name="Text 37"/>
          <p:cNvSpPr txBox="1"/>
          <p:nvPr/>
        </p:nvSpPr>
        <p:spPr>
          <a:xfrm>
            <a:off x="6446520" y="3986784"/>
            <a:ext cx="2606040" cy="329184"/>
          </a:xfrm>
          <a:prstGeom prst="rect">
            <a:avLst/>
          </a:prstGeom>
          <a:noFill/>
          <a:ln/>
        </p:spPr>
        <p:txBody>
          <a:bodyPr wrap="square" lIns="0" tIns="0" rIns="0" bIns="0" rtlCol="0" anchor="ctr"/>
          <a:lstStyle/>
          <a:p>
            <a:pPr marL="0" indent="0">
              <a:buNone/>
            </a:pPr>
            <a:r>
              <a:rPr lang="en-US" sz="1050" dirty="0">
                <a:solidFill>
                  <a:srgbClr val="7B2FBE"/>
                </a:solidFill>
                <a:latin typeface="Calibri" pitchFamily="34" charset="0"/>
                <a:ea typeface="Calibri" pitchFamily="34" charset="-122"/>
                <a:cs typeface="Calibri" pitchFamily="34" charset="-120"/>
              </a:rPr>
              <a:t>Structured exceptions</a:t>
            </a:r>
            <a:endParaRPr lang="en-US" sz="1050" dirty="0"/>
          </a:p>
        </p:txBody>
      </p:sp>
      <p:sp>
        <p:nvSpPr>
          <p:cNvPr id="40" name="Text 38"/>
          <p:cNvSpPr txBox="1"/>
          <p:nvPr/>
        </p:nvSpPr>
        <p:spPr>
          <a:xfrm>
            <a:off x="9189720" y="3986784"/>
            <a:ext cx="2606040" cy="329184"/>
          </a:xfrm>
          <a:prstGeom prst="rect">
            <a:avLst/>
          </a:prstGeom>
          <a:noFill/>
          <a:ln/>
        </p:spPr>
        <p:txBody>
          <a:bodyPr wrap="square" lIns="0" tIns="0" rIns="0" bIns="0" rtlCol="0" anchor="ctr"/>
          <a:lstStyle/>
          <a:p>
            <a:pPr marL="0" indent="0">
              <a:buNone/>
            </a:pPr>
            <a:r>
              <a:rPr lang="en-US" sz="1050" dirty="0">
                <a:solidFill>
                  <a:srgbClr val="C05E00"/>
                </a:solidFill>
                <a:latin typeface="Calibri" pitchFamily="34" charset="0"/>
                <a:ea typeface="Calibri" pitchFamily="34" charset="-122"/>
                <a:cs typeface="Calibri" pitchFamily="34" charset="-120"/>
              </a:rPr>
              <a:t>Structured exceptions</a:t>
            </a:r>
            <a:endParaRPr lang="en-US" sz="1050" dirty="0"/>
          </a:p>
        </p:txBody>
      </p:sp>
      <p:sp>
        <p:nvSpPr>
          <p:cNvPr id="41" name="Shape 39"/>
          <p:cNvSpPr/>
          <p:nvPr/>
        </p:nvSpPr>
        <p:spPr>
          <a:xfrm>
            <a:off x="411480" y="4389120"/>
            <a:ext cx="11338560" cy="420624"/>
          </a:xfrm>
          <a:prstGeom prst="rect">
            <a:avLst/>
          </a:prstGeom>
          <a:solidFill>
            <a:srgbClr val="F4F6FC"/>
          </a:solidFill>
          <a:ln w="12700">
            <a:solidFill>
              <a:srgbClr val="D0DAF0"/>
            </a:solidFill>
            <a:prstDash val="solid"/>
          </a:ln>
        </p:spPr>
        <p:txBody>
          <a:bodyPr/>
          <a:lstStyle/>
          <a:p>
            <a:endParaRPr lang="en-US"/>
          </a:p>
        </p:txBody>
      </p:sp>
      <p:sp>
        <p:nvSpPr>
          <p:cNvPr id="42" name="Text 40"/>
          <p:cNvSpPr txBox="1"/>
          <p:nvPr/>
        </p:nvSpPr>
        <p:spPr>
          <a:xfrm>
            <a:off x="548640" y="4434840"/>
            <a:ext cx="2377440" cy="329184"/>
          </a:xfrm>
          <a:prstGeom prst="rect">
            <a:avLst/>
          </a:prstGeom>
          <a:noFill/>
          <a:ln/>
        </p:spPr>
        <p:txBody>
          <a:bodyPr wrap="square" lIns="0" tIns="0" rIns="0" bIns="0" rtlCol="0" anchor="ctr"/>
          <a:lstStyle/>
          <a:p>
            <a:pPr marL="0" indent="0">
              <a:buNone/>
            </a:pPr>
            <a:r>
              <a:rPr lang="en-US" sz="1050" b="1" dirty="0">
                <a:solidFill>
                  <a:srgbClr val="1E2A3A"/>
                </a:solidFill>
                <a:latin typeface="Calibri" pitchFamily="34" charset="0"/>
                <a:ea typeface="Calibri" pitchFamily="34" charset="-122"/>
                <a:cs typeface="Calibri" pitchFamily="34" charset="-120"/>
              </a:rPr>
              <a:t>Safety model</a:t>
            </a:r>
            <a:endParaRPr lang="en-US" sz="1050" dirty="0"/>
          </a:p>
        </p:txBody>
      </p:sp>
      <p:sp>
        <p:nvSpPr>
          <p:cNvPr id="43" name="Text 41"/>
          <p:cNvSpPr txBox="1"/>
          <p:nvPr/>
        </p:nvSpPr>
        <p:spPr>
          <a:xfrm>
            <a:off x="3017520" y="4434840"/>
            <a:ext cx="3291840" cy="329184"/>
          </a:xfrm>
          <a:prstGeom prst="rect">
            <a:avLst/>
          </a:prstGeom>
          <a:noFill/>
          <a:ln/>
        </p:spPr>
        <p:txBody>
          <a:bodyPr wrap="square" lIns="0" tIns="0" rIns="0" bIns="0" rtlCol="0" anchor="ctr"/>
          <a:lstStyle/>
          <a:p>
            <a:pPr marL="0" indent="0">
              <a:buNone/>
            </a:pPr>
            <a:r>
              <a:rPr lang="en-US" sz="1050" dirty="0">
                <a:solidFill>
                  <a:srgbClr val="2E5BFF"/>
                </a:solidFill>
                <a:latin typeface="Calibri" pitchFamily="34" charset="0"/>
                <a:ea typeface="Calibri" pitchFamily="34" charset="-122"/>
                <a:cs typeface="Calibri" pitchFamily="34" charset="-120"/>
              </a:rPr>
              <a:t>Unsafe by default</a:t>
            </a:r>
            <a:endParaRPr lang="en-US" sz="1050" dirty="0"/>
          </a:p>
        </p:txBody>
      </p:sp>
      <p:sp>
        <p:nvSpPr>
          <p:cNvPr id="44" name="Text 42"/>
          <p:cNvSpPr txBox="1"/>
          <p:nvPr/>
        </p:nvSpPr>
        <p:spPr>
          <a:xfrm>
            <a:off x="6446520" y="4434840"/>
            <a:ext cx="2606040" cy="329184"/>
          </a:xfrm>
          <a:prstGeom prst="rect">
            <a:avLst/>
          </a:prstGeom>
          <a:noFill/>
          <a:ln/>
        </p:spPr>
        <p:txBody>
          <a:bodyPr wrap="square" lIns="0" tIns="0" rIns="0" bIns="0" rtlCol="0" anchor="ctr"/>
          <a:lstStyle/>
          <a:p>
            <a:pPr marL="0" indent="0">
              <a:buNone/>
            </a:pPr>
            <a:r>
              <a:rPr lang="en-US" sz="1050" dirty="0">
                <a:solidFill>
                  <a:srgbClr val="7B2FBE"/>
                </a:solidFill>
                <a:latin typeface="Calibri" pitchFamily="34" charset="0"/>
                <a:ea typeface="Calibri" pitchFamily="34" charset="-122"/>
                <a:cs typeface="Calibri" pitchFamily="34" charset="-120"/>
              </a:rPr>
              <a:t>Safe by default</a:t>
            </a:r>
            <a:endParaRPr lang="en-US" sz="1050" dirty="0"/>
          </a:p>
        </p:txBody>
      </p:sp>
      <p:sp>
        <p:nvSpPr>
          <p:cNvPr id="45" name="Text 43"/>
          <p:cNvSpPr txBox="1"/>
          <p:nvPr/>
        </p:nvSpPr>
        <p:spPr>
          <a:xfrm>
            <a:off x="9189720" y="4434840"/>
            <a:ext cx="2606040" cy="329184"/>
          </a:xfrm>
          <a:prstGeom prst="rect">
            <a:avLst/>
          </a:prstGeom>
          <a:noFill/>
          <a:ln/>
        </p:spPr>
        <p:txBody>
          <a:bodyPr wrap="square" lIns="0" tIns="0" rIns="0" bIns="0" rtlCol="0" anchor="ctr"/>
          <a:lstStyle/>
          <a:p>
            <a:pPr marL="0" indent="0">
              <a:buNone/>
            </a:pPr>
            <a:r>
              <a:rPr lang="en-US" sz="1050" dirty="0">
                <a:solidFill>
                  <a:srgbClr val="C05E00"/>
                </a:solidFill>
                <a:latin typeface="Calibri" pitchFamily="34" charset="0"/>
                <a:ea typeface="Calibri" pitchFamily="34" charset="-122"/>
                <a:cs typeface="Calibri" pitchFamily="34" charset="-120"/>
              </a:rPr>
              <a:t>Safe by default</a:t>
            </a:r>
            <a:endParaRPr lang="en-US" sz="1050" dirty="0"/>
          </a:p>
        </p:txBody>
      </p:sp>
      <p:sp>
        <p:nvSpPr>
          <p:cNvPr id="46" name="Shape 44"/>
          <p:cNvSpPr/>
          <p:nvPr/>
        </p:nvSpPr>
        <p:spPr>
          <a:xfrm>
            <a:off x="411480" y="4837176"/>
            <a:ext cx="11338560" cy="420624"/>
          </a:xfrm>
          <a:prstGeom prst="rect">
            <a:avLst/>
          </a:prstGeom>
          <a:solidFill>
            <a:srgbClr val="FFFFFF"/>
          </a:solidFill>
          <a:ln w="12700">
            <a:solidFill>
              <a:srgbClr val="D0DAF0"/>
            </a:solidFill>
            <a:prstDash val="solid"/>
          </a:ln>
        </p:spPr>
        <p:txBody>
          <a:bodyPr/>
          <a:lstStyle/>
          <a:p>
            <a:endParaRPr lang="en-US"/>
          </a:p>
        </p:txBody>
      </p:sp>
      <p:sp>
        <p:nvSpPr>
          <p:cNvPr id="47" name="Text 45"/>
          <p:cNvSpPr txBox="1"/>
          <p:nvPr/>
        </p:nvSpPr>
        <p:spPr>
          <a:xfrm>
            <a:off x="548640" y="4882896"/>
            <a:ext cx="2377440" cy="329184"/>
          </a:xfrm>
          <a:prstGeom prst="rect">
            <a:avLst/>
          </a:prstGeom>
          <a:noFill/>
          <a:ln/>
        </p:spPr>
        <p:txBody>
          <a:bodyPr wrap="square" lIns="0" tIns="0" rIns="0" bIns="0" rtlCol="0" anchor="ctr"/>
          <a:lstStyle/>
          <a:p>
            <a:pPr marL="0" indent="0">
              <a:buNone/>
            </a:pPr>
            <a:r>
              <a:rPr lang="en-US" sz="1050" b="1" dirty="0">
                <a:solidFill>
                  <a:srgbClr val="1E2A3A"/>
                </a:solidFill>
                <a:latin typeface="Calibri" pitchFamily="34" charset="0"/>
                <a:ea typeface="Calibri" pitchFamily="34" charset="-122"/>
                <a:cs typeface="Calibri" pitchFamily="34" charset="-120"/>
              </a:rPr>
              <a:t>Performance</a:t>
            </a:r>
            <a:endParaRPr lang="en-US" sz="1050" dirty="0"/>
          </a:p>
        </p:txBody>
      </p:sp>
      <p:sp>
        <p:nvSpPr>
          <p:cNvPr id="48" name="Text 46"/>
          <p:cNvSpPr txBox="1"/>
          <p:nvPr/>
        </p:nvSpPr>
        <p:spPr>
          <a:xfrm>
            <a:off x="3017520" y="4882896"/>
            <a:ext cx="3291840" cy="329184"/>
          </a:xfrm>
          <a:prstGeom prst="rect">
            <a:avLst/>
          </a:prstGeom>
          <a:noFill/>
          <a:ln/>
        </p:spPr>
        <p:txBody>
          <a:bodyPr wrap="square" lIns="0" tIns="0" rIns="0" bIns="0" rtlCol="0" anchor="ctr"/>
          <a:lstStyle/>
          <a:p>
            <a:pPr marL="0" indent="0">
              <a:buNone/>
            </a:pPr>
            <a:r>
              <a:rPr lang="en-US" sz="1050" dirty="0">
                <a:solidFill>
                  <a:srgbClr val="2E5BFF"/>
                </a:solidFill>
                <a:latin typeface="Calibri" pitchFamily="34" charset="0"/>
                <a:ea typeface="Calibri" pitchFamily="34" charset="-122"/>
                <a:cs typeface="Calibri" pitchFamily="34" charset="-120"/>
              </a:rPr>
              <a:t>Fastest</a:t>
            </a:r>
            <a:endParaRPr lang="en-US" sz="1050" dirty="0"/>
          </a:p>
        </p:txBody>
      </p:sp>
      <p:sp>
        <p:nvSpPr>
          <p:cNvPr id="49" name="Text 47"/>
          <p:cNvSpPr txBox="1"/>
          <p:nvPr/>
        </p:nvSpPr>
        <p:spPr>
          <a:xfrm>
            <a:off x="6446520" y="4882896"/>
            <a:ext cx="2606040" cy="329184"/>
          </a:xfrm>
          <a:prstGeom prst="rect">
            <a:avLst/>
          </a:prstGeom>
          <a:noFill/>
          <a:ln/>
        </p:spPr>
        <p:txBody>
          <a:bodyPr wrap="square" lIns="0" tIns="0" rIns="0" bIns="0" rtlCol="0" anchor="ctr"/>
          <a:lstStyle/>
          <a:p>
            <a:pPr marL="0" indent="0">
              <a:buNone/>
            </a:pPr>
            <a:r>
              <a:rPr lang="en-US" sz="1050" dirty="0">
                <a:solidFill>
                  <a:srgbClr val="7B2FBE"/>
                </a:solidFill>
                <a:latin typeface="Calibri" pitchFamily="34" charset="0"/>
                <a:ea typeface="Calibri" pitchFamily="34" charset="-122"/>
                <a:cs typeface="Calibri" pitchFamily="34" charset="-120"/>
              </a:rPr>
              <a:t>Fast (JIT compiled)</a:t>
            </a:r>
            <a:endParaRPr lang="en-US" sz="1050" dirty="0"/>
          </a:p>
        </p:txBody>
      </p:sp>
      <p:sp>
        <p:nvSpPr>
          <p:cNvPr id="50" name="Text 48"/>
          <p:cNvSpPr txBox="1"/>
          <p:nvPr/>
        </p:nvSpPr>
        <p:spPr>
          <a:xfrm>
            <a:off x="9189720" y="4882896"/>
            <a:ext cx="2606040" cy="329184"/>
          </a:xfrm>
          <a:prstGeom prst="rect">
            <a:avLst/>
          </a:prstGeom>
          <a:noFill/>
          <a:ln/>
        </p:spPr>
        <p:txBody>
          <a:bodyPr wrap="square" lIns="0" tIns="0" rIns="0" bIns="0" rtlCol="0" anchor="ctr"/>
          <a:lstStyle/>
          <a:p>
            <a:pPr marL="0" indent="0">
              <a:buNone/>
            </a:pPr>
            <a:r>
              <a:rPr lang="en-US" sz="1050" dirty="0">
                <a:solidFill>
                  <a:srgbClr val="C05E00"/>
                </a:solidFill>
                <a:latin typeface="Calibri" pitchFamily="34" charset="0"/>
                <a:ea typeface="Calibri" pitchFamily="34" charset="-122"/>
                <a:cs typeface="Calibri" pitchFamily="34" charset="-120"/>
              </a:rPr>
              <a:t>Slowest</a:t>
            </a:r>
            <a:endParaRPr lang="en-US" sz="1050" dirty="0"/>
          </a:p>
        </p:txBody>
      </p:sp>
      <p:sp>
        <p:nvSpPr>
          <p:cNvPr id="51" name="Shape 49"/>
          <p:cNvSpPr/>
          <p:nvPr/>
        </p:nvSpPr>
        <p:spPr>
          <a:xfrm>
            <a:off x="411480" y="5285232"/>
            <a:ext cx="11338560" cy="420624"/>
          </a:xfrm>
          <a:prstGeom prst="rect">
            <a:avLst/>
          </a:prstGeom>
          <a:solidFill>
            <a:srgbClr val="F4F6FC"/>
          </a:solidFill>
          <a:ln w="12700">
            <a:solidFill>
              <a:srgbClr val="D0DAF0"/>
            </a:solidFill>
            <a:prstDash val="solid"/>
          </a:ln>
        </p:spPr>
        <p:txBody>
          <a:bodyPr/>
          <a:lstStyle/>
          <a:p>
            <a:endParaRPr lang="en-US"/>
          </a:p>
        </p:txBody>
      </p:sp>
      <p:sp>
        <p:nvSpPr>
          <p:cNvPr id="52" name="Text 50"/>
          <p:cNvSpPr txBox="1"/>
          <p:nvPr/>
        </p:nvSpPr>
        <p:spPr>
          <a:xfrm>
            <a:off x="548640" y="5330952"/>
            <a:ext cx="2377440" cy="329184"/>
          </a:xfrm>
          <a:prstGeom prst="rect">
            <a:avLst/>
          </a:prstGeom>
          <a:noFill/>
          <a:ln/>
        </p:spPr>
        <p:txBody>
          <a:bodyPr wrap="square" lIns="0" tIns="0" rIns="0" bIns="0" rtlCol="0" anchor="ctr"/>
          <a:lstStyle/>
          <a:p>
            <a:pPr marL="0" indent="0">
              <a:buNone/>
            </a:pPr>
            <a:r>
              <a:rPr lang="en-US" sz="1050" b="1" dirty="0">
                <a:solidFill>
                  <a:srgbClr val="1E2A3A"/>
                </a:solidFill>
                <a:latin typeface="Calibri" pitchFamily="34" charset="0"/>
                <a:ea typeface="Calibri" pitchFamily="34" charset="-122"/>
                <a:cs typeface="Calibri" pitchFamily="34" charset="-120"/>
              </a:rPr>
              <a:t>Writability</a:t>
            </a:r>
            <a:endParaRPr lang="en-US" sz="1050" dirty="0"/>
          </a:p>
        </p:txBody>
      </p:sp>
      <p:sp>
        <p:nvSpPr>
          <p:cNvPr id="53" name="Text 51"/>
          <p:cNvSpPr txBox="1"/>
          <p:nvPr/>
        </p:nvSpPr>
        <p:spPr>
          <a:xfrm>
            <a:off x="3017520" y="5330952"/>
            <a:ext cx="3291840" cy="329184"/>
          </a:xfrm>
          <a:prstGeom prst="rect">
            <a:avLst/>
          </a:prstGeom>
          <a:noFill/>
          <a:ln/>
        </p:spPr>
        <p:txBody>
          <a:bodyPr wrap="square" lIns="0" tIns="0" rIns="0" bIns="0" rtlCol="0" anchor="ctr"/>
          <a:lstStyle/>
          <a:p>
            <a:pPr marL="0" indent="0">
              <a:buNone/>
            </a:pPr>
            <a:r>
              <a:rPr lang="en-US" sz="1050" dirty="0">
                <a:solidFill>
                  <a:srgbClr val="2E5BFF"/>
                </a:solidFill>
                <a:latin typeface="Calibri" pitchFamily="34" charset="0"/>
                <a:ea typeface="Calibri" pitchFamily="34" charset="-122"/>
                <a:cs typeface="Calibri" pitchFamily="34" charset="-120"/>
              </a:rPr>
              <a:t>Low</a:t>
            </a:r>
            <a:endParaRPr lang="en-US" sz="1050" dirty="0"/>
          </a:p>
        </p:txBody>
      </p:sp>
      <p:sp>
        <p:nvSpPr>
          <p:cNvPr id="54" name="Text 52"/>
          <p:cNvSpPr txBox="1"/>
          <p:nvPr/>
        </p:nvSpPr>
        <p:spPr>
          <a:xfrm>
            <a:off x="6446520" y="5330952"/>
            <a:ext cx="2606040" cy="329184"/>
          </a:xfrm>
          <a:prstGeom prst="rect">
            <a:avLst/>
          </a:prstGeom>
          <a:noFill/>
          <a:ln/>
        </p:spPr>
        <p:txBody>
          <a:bodyPr wrap="square" lIns="0" tIns="0" rIns="0" bIns="0" rtlCol="0" anchor="ctr"/>
          <a:lstStyle/>
          <a:p>
            <a:pPr marL="0" indent="0">
              <a:buNone/>
            </a:pPr>
            <a:r>
              <a:rPr lang="en-US" sz="1050" dirty="0">
                <a:solidFill>
                  <a:srgbClr val="7B2FBE"/>
                </a:solidFill>
                <a:latin typeface="Calibri" pitchFamily="34" charset="0"/>
                <a:ea typeface="Calibri" pitchFamily="34" charset="-122"/>
                <a:cs typeface="Calibri" pitchFamily="34" charset="-120"/>
              </a:rPr>
              <a:t>High</a:t>
            </a:r>
            <a:endParaRPr lang="en-US" sz="1050" dirty="0"/>
          </a:p>
        </p:txBody>
      </p:sp>
      <p:sp>
        <p:nvSpPr>
          <p:cNvPr id="55" name="Text 53"/>
          <p:cNvSpPr txBox="1"/>
          <p:nvPr/>
        </p:nvSpPr>
        <p:spPr>
          <a:xfrm>
            <a:off x="9189720" y="5330952"/>
            <a:ext cx="2606040" cy="329184"/>
          </a:xfrm>
          <a:prstGeom prst="rect">
            <a:avLst/>
          </a:prstGeom>
          <a:noFill/>
          <a:ln/>
        </p:spPr>
        <p:txBody>
          <a:bodyPr wrap="square" lIns="0" tIns="0" rIns="0" bIns="0" rtlCol="0" anchor="ctr"/>
          <a:lstStyle/>
          <a:p>
            <a:pPr marL="0" indent="0">
              <a:buNone/>
            </a:pPr>
            <a:r>
              <a:rPr lang="en-US" sz="1050" dirty="0">
                <a:solidFill>
                  <a:srgbClr val="C05E00"/>
                </a:solidFill>
                <a:latin typeface="Calibri" pitchFamily="34" charset="0"/>
                <a:ea typeface="Calibri" pitchFamily="34" charset="-122"/>
                <a:cs typeface="Calibri" pitchFamily="34" charset="-120"/>
              </a:rPr>
              <a:t>Highest</a:t>
            </a:r>
            <a:endParaRPr lang="en-US" sz="1050" dirty="0"/>
          </a:p>
        </p:txBody>
      </p:sp>
      <p:sp>
        <p:nvSpPr>
          <p:cNvPr id="56" name="Shape 54"/>
          <p:cNvSpPr/>
          <p:nvPr/>
        </p:nvSpPr>
        <p:spPr>
          <a:xfrm>
            <a:off x="411480" y="5733288"/>
            <a:ext cx="11338560" cy="420624"/>
          </a:xfrm>
          <a:prstGeom prst="rect">
            <a:avLst/>
          </a:prstGeom>
          <a:solidFill>
            <a:srgbClr val="FFFFFF"/>
          </a:solidFill>
          <a:ln w="12700">
            <a:solidFill>
              <a:srgbClr val="D0DAF0"/>
            </a:solidFill>
            <a:prstDash val="solid"/>
          </a:ln>
        </p:spPr>
        <p:txBody>
          <a:bodyPr/>
          <a:lstStyle/>
          <a:p>
            <a:endParaRPr lang="en-US"/>
          </a:p>
        </p:txBody>
      </p:sp>
      <p:sp>
        <p:nvSpPr>
          <p:cNvPr id="57" name="Text 55"/>
          <p:cNvSpPr txBox="1"/>
          <p:nvPr/>
        </p:nvSpPr>
        <p:spPr>
          <a:xfrm>
            <a:off x="548640" y="5779008"/>
            <a:ext cx="2377440" cy="329184"/>
          </a:xfrm>
          <a:prstGeom prst="rect">
            <a:avLst/>
          </a:prstGeom>
          <a:noFill/>
          <a:ln/>
        </p:spPr>
        <p:txBody>
          <a:bodyPr wrap="square" lIns="0" tIns="0" rIns="0" bIns="0" rtlCol="0" anchor="ctr"/>
          <a:lstStyle/>
          <a:p>
            <a:pPr marL="0" indent="0">
              <a:buNone/>
            </a:pPr>
            <a:r>
              <a:rPr lang="en-US" sz="1050" b="1" dirty="0">
                <a:solidFill>
                  <a:srgbClr val="1E2A3A"/>
                </a:solidFill>
                <a:latin typeface="Calibri" pitchFamily="34" charset="0"/>
                <a:ea typeface="Calibri" pitchFamily="34" charset="-122"/>
                <a:cs typeface="Calibri" pitchFamily="34" charset="-120"/>
              </a:rPr>
              <a:t>Year created</a:t>
            </a:r>
            <a:endParaRPr lang="en-US" sz="1050" dirty="0"/>
          </a:p>
        </p:txBody>
      </p:sp>
      <p:sp>
        <p:nvSpPr>
          <p:cNvPr id="58" name="Text 56"/>
          <p:cNvSpPr txBox="1"/>
          <p:nvPr/>
        </p:nvSpPr>
        <p:spPr>
          <a:xfrm>
            <a:off x="3017520" y="5779008"/>
            <a:ext cx="3291840" cy="329184"/>
          </a:xfrm>
          <a:prstGeom prst="rect">
            <a:avLst/>
          </a:prstGeom>
          <a:noFill/>
          <a:ln/>
        </p:spPr>
        <p:txBody>
          <a:bodyPr wrap="square" lIns="0" tIns="0" rIns="0" bIns="0" rtlCol="0" anchor="ctr"/>
          <a:lstStyle/>
          <a:p>
            <a:pPr marL="0" indent="0">
              <a:buNone/>
            </a:pPr>
            <a:r>
              <a:rPr lang="en-US" sz="1050" dirty="0">
                <a:solidFill>
                  <a:srgbClr val="2E5BFF"/>
                </a:solidFill>
                <a:latin typeface="Calibri" pitchFamily="34" charset="0"/>
                <a:ea typeface="Calibri" pitchFamily="34" charset="-122"/>
                <a:cs typeface="Calibri" pitchFamily="34" charset="-120"/>
              </a:rPr>
              <a:t>1972</a:t>
            </a:r>
            <a:endParaRPr lang="en-US" sz="1050" dirty="0"/>
          </a:p>
        </p:txBody>
      </p:sp>
      <p:sp>
        <p:nvSpPr>
          <p:cNvPr id="59" name="Text 57"/>
          <p:cNvSpPr txBox="1"/>
          <p:nvPr/>
        </p:nvSpPr>
        <p:spPr>
          <a:xfrm>
            <a:off x="6446520" y="5779008"/>
            <a:ext cx="2606040" cy="329184"/>
          </a:xfrm>
          <a:prstGeom prst="rect">
            <a:avLst/>
          </a:prstGeom>
          <a:noFill/>
          <a:ln/>
        </p:spPr>
        <p:txBody>
          <a:bodyPr wrap="square" lIns="0" tIns="0" rIns="0" bIns="0" rtlCol="0" anchor="ctr"/>
          <a:lstStyle/>
          <a:p>
            <a:pPr marL="0" indent="0">
              <a:buNone/>
            </a:pPr>
            <a:r>
              <a:rPr lang="en-US" sz="1050" dirty="0">
                <a:solidFill>
                  <a:srgbClr val="7B2FBE"/>
                </a:solidFill>
                <a:latin typeface="Calibri" pitchFamily="34" charset="0"/>
                <a:ea typeface="Calibri" pitchFamily="34" charset="-122"/>
                <a:cs typeface="Calibri" pitchFamily="34" charset="-120"/>
              </a:rPr>
              <a:t>2000</a:t>
            </a:r>
            <a:endParaRPr lang="en-US" sz="1050" dirty="0"/>
          </a:p>
        </p:txBody>
      </p:sp>
      <p:sp>
        <p:nvSpPr>
          <p:cNvPr id="60" name="Text 58"/>
          <p:cNvSpPr txBox="1"/>
          <p:nvPr/>
        </p:nvSpPr>
        <p:spPr>
          <a:xfrm>
            <a:off x="9189720" y="5779008"/>
            <a:ext cx="2606040" cy="329184"/>
          </a:xfrm>
          <a:prstGeom prst="rect">
            <a:avLst/>
          </a:prstGeom>
          <a:noFill/>
          <a:ln/>
        </p:spPr>
        <p:txBody>
          <a:bodyPr wrap="square" lIns="0" tIns="0" rIns="0" bIns="0" rtlCol="0" anchor="ctr"/>
          <a:lstStyle/>
          <a:p>
            <a:pPr marL="0" indent="0">
              <a:buNone/>
            </a:pPr>
            <a:r>
              <a:rPr lang="en-US" sz="1050" dirty="0">
                <a:solidFill>
                  <a:srgbClr val="C05E00"/>
                </a:solidFill>
                <a:latin typeface="Calibri" pitchFamily="34" charset="0"/>
                <a:ea typeface="Calibri" pitchFamily="34" charset="-122"/>
                <a:cs typeface="Calibri" pitchFamily="34" charset="-120"/>
              </a:rPr>
              <a:t>1991</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2000" cy="960120"/>
          </a:xfrm>
          <a:prstGeom prst="rect">
            <a:avLst/>
          </a:prstGeom>
          <a:solidFill>
            <a:srgbClr val="1A2B5E"/>
          </a:solidFill>
          <a:ln/>
        </p:spPr>
        <p:txBody>
          <a:bodyPr/>
          <a:lstStyle/>
          <a:p>
            <a:endParaRPr lang="en-US"/>
          </a:p>
        </p:txBody>
      </p:sp>
      <p:sp>
        <p:nvSpPr>
          <p:cNvPr id="3" name="Text 1"/>
          <p:cNvSpPr txBox="1"/>
          <p:nvPr/>
        </p:nvSpPr>
        <p:spPr>
          <a:xfrm>
            <a:off x="411480" y="137160"/>
            <a:ext cx="1051560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The Question That Drives This Course</a:t>
            </a:r>
            <a:endParaRPr lang="en-US" sz="2200" dirty="0"/>
          </a:p>
        </p:txBody>
      </p:sp>
      <p:sp>
        <p:nvSpPr>
          <p:cNvPr id="4" name="Text 2"/>
          <p:cNvSpPr txBox="1"/>
          <p:nvPr/>
        </p:nvSpPr>
        <p:spPr>
          <a:xfrm>
            <a:off x="10515600" y="292608"/>
            <a:ext cx="1417320" cy="347472"/>
          </a:xfrm>
          <a:prstGeom prst="rect">
            <a:avLst/>
          </a:prstGeom>
          <a:noFill/>
          <a:ln/>
        </p:spPr>
        <p:txBody>
          <a:bodyPr wrap="square" lIns="0" tIns="0" rIns="0" bIns="0" rtlCol="0" anchor="ctr"/>
          <a:lstStyle/>
          <a:p>
            <a:pPr marL="0" indent="0" algn="r">
              <a:buNone/>
            </a:pPr>
            <a:r>
              <a:rPr lang="en-US" sz="1000" dirty="0">
                <a:solidFill>
                  <a:srgbClr val="7A90B8"/>
                </a:solidFill>
                <a:latin typeface="Calibri" pitchFamily="34" charset="0"/>
                <a:ea typeface="Calibri" pitchFamily="34" charset="-122"/>
                <a:cs typeface="Calibri" pitchFamily="34" charset="-120"/>
              </a:rPr>
              <a:t>Synthesis</a:t>
            </a:r>
            <a:endParaRPr lang="en-US" sz="1000" dirty="0"/>
          </a:p>
        </p:txBody>
      </p:sp>
      <p:sp>
        <p:nvSpPr>
          <p:cNvPr id="5" name="Shape 3"/>
          <p:cNvSpPr/>
          <p:nvPr/>
        </p:nvSpPr>
        <p:spPr>
          <a:xfrm>
            <a:off x="1097280" y="1280160"/>
            <a:ext cx="9966960" cy="1463040"/>
          </a:xfrm>
          <a:prstGeom prst="rect">
            <a:avLst/>
          </a:prstGeom>
          <a:solidFill>
            <a:srgbClr val="1A2B5E"/>
          </a:solidFill>
          <a:ln w="12700">
            <a:solidFill>
              <a:srgbClr val="1A2B5E"/>
            </a:solidFill>
            <a:prstDash val="solid"/>
          </a:ln>
        </p:spPr>
        <p:txBody>
          <a:bodyPr/>
          <a:lstStyle/>
          <a:p>
            <a:endParaRPr lang="en-US"/>
          </a:p>
        </p:txBody>
      </p:sp>
      <p:sp>
        <p:nvSpPr>
          <p:cNvPr id="6" name="Text 4"/>
          <p:cNvSpPr txBox="1"/>
          <p:nvPr/>
        </p:nvSpPr>
        <p:spPr>
          <a:xfrm>
            <a:off x="1234440" y="1389888"/>
            <a:ext cx="9692640" cy="123444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Why did this language make this design choice —</a:t>
            </a:r>
            <a:endParaRPr lang="en-US" sz="2400" dirty="0"/>
          </a:p>
          <a:p>
            <a:pPr marL="0" indent="0" algn="ctr">
              <a:buNone/>
            </a:pPr>
            <a:r>
              <a:rPr lang="en-US" sz="2400" b="1" dirty="0">
                <a:solidFill>
                  <a:srgbClr val="FFFFFF"/>
                </a:solidFill>
                <a:latin typeface="Calibri" pitchFamily="34" charset="0"/>
                <a:ea typeface="Calibri" pitchFamily="34" charset="-122"/>
                <a:cs typeface="Calibri" pitchFamily="34" charset="-120"/>
              </a:rPr>
              <a:t>and what did it cost?</a:t>
            </a:r>
            <a:endParaRPr lang="en-US" sz="2400" dirty="0"/>
          </a:p>
        </p:txBody>
      </p:sp>
      <p:sp>
        <p:nvSpPr>
          <p:cNvPr id="7" name="Shape 5"/>
          <p:cNvSpPr/>
          <p:nvPr/>
        </p:nvSpPr>
        <p:spPr>
          <a:xfrm>
            <a:off x="411480" y="2944368"/>
            <a:ext cx="3749040" cy="2651760"/>
          </a:xfrm>
          <a:prstGeom prst="rect">
            <a:avLst/>
          </a:prstGeom>
          <a:solidFill>
            <a:srgbClr val="F4F6FC"/>
          </a:solidFill>
          <a:ln w="12700">
            <a:solidFill>
              <a:srgbClr val="D0DAF0"/>
            </a:solidFill>
            <a:prstDash val="solid"/>
          </a:ln>
        </p:spPr>
        <p:txBody>
          <a:bodyPr/>
          <a:lstStyle/>
          <a:p>
            <a:endParaRPr lang="en-US"/>
          </a:p>
        </p:txBody>
      </p:sp>
      <p:sp>
        <p:nvSpPr>
          <p:cNvPr id="8" name="Shape 6"/>
          <p:cNvSpPr/>
          <p:nvPr/>
        </p:nvSpPr>
        <p:spPr>
          <a:xfrm>
            <a:off x="411480" y="2944368"/>
            <a:ext cx="3749040" cy="54864"/>
          </a:xfrm>
          <a:prstGeom prst="rect">
            <a:avLst/>
          </a:prstGeom>
          <a:solidFill>
            <a:srgbClr val="2E5BFF"/>
          </a:solidFill>
          <a:ln w="12700">
            <a:solidFill>
              <a:srgbClr val="2E5BFF"/>
            </a:solidFill>
            <a:prstDash val="solid"/>
          </a:ln>
        </p:spPr>
        <p:txBody>
          <a:bodyPr/>
          <a:lstStyle/>
          <a:p>
            <a:endParaRPr lang="en-US"/>
          </a:p>
        </p:txBody>
      </p:sp>
      <p:sp>
        <p:nvSpPr>
          <p:cNvPr id="9" name="Text 7"/>
          <p:cNvSpPr txBox="1"/>
          <p:nvPr/>
        </p:nvSpPr>
        <p:spPr>
          <a:xfrm>
            <a:off x="548640" y="3035808"/>
            <a:ext cx="457200" cy="365760"/>
          </a:xfrm>
          <a:prstGeom prst="rect">
            <a:avLst/>
          </a:prstGeom>
          <a:noFill/>
          <a:ln/>
        </p:spPr>
        <p:txBody>
          <a:bodyPr wrap="square" lIns="0" tIns="0" rIns="0" bIns="0" rtlCol="0" anchor="ctr"/>
          <a:lstStyle/>
          <a:p>
            <a:pPr marL="0" indent="0">
              <a:buNone/>
            </a:pPr>
            <a:r>
              <a:rPr lang="en-US" sz="1800" b="1" dirty="0">
                <a:solidFill>
                  <a:srgbClr val="4F8EF7"/>
                </a:solidFill>
                <a:latin typeface="Calibri" pitchFamily="34" charset="0"/>
                <a:ea typeface="Calibri" pitchFamily="34" charset="-122"/>
                <a:cs typeface="Calibri" pitchFamily="34" charset="-120"/>
              </a:rPr>
              <a:t>01</a:t>
            </a:r>
            <a:endParaRPr lang="en-US" sz="1800" dirty="0"/>
          </a:p>
        </p:txBody>
      </p:sp>
      <p:sp>
        <p:nvSpPr>
          <p:cNvPr id="10" name="Text 8"/>
          <p:cNvSpPr txBox="1"/>
          <p:nvPr/>
        </p:nvSpPr>
        <p:spPr>
          <a:xfrm>
            <a:off x="548640" y="3438144"/>
            <a:ext cx="3474720" cy="594360"/>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What problem does this feature solve?</a:t>
            </a:r>
            <a:endParaRPr lang="en-US" sz="1200" dirty="0"/>
          </a:p>
        </p:txBody>
      </p:sp>
      <p:sp>
        <p:nvSpPr>
          <p:cNvPr id="11" name="Text 9"/>
          <p:cNvSpPr txBox="1"/>
          <p:nvPr/>
        </p:nvSpPr>
        <p:spPr>
          <a:xfrm>
            <a:off x="548640" y="4069080"/>
            <a:ext cx="3474720" cy="1417320"/>
          </a:xfrm>
          <a:prstGeom prst="rect">
            <a:avLst/>
          </a:prstGeom>
          <a:noFill/>
          <a:ln/>
        </p:spPr>
        <p:txBody>
          <a:bodyPr wrap="square" lIns="0" tIns="0" rIns="0" bIns="0" rtlCol="0" anchor="ctr"/>
          <a:lstStyle/>
          <a:p>
            <a:pPr marL="0" indent="0">
              <a:buNone/>
            </a:pPr>
            <a:r>
              <a:rPr lang="en-US" sz="1100" dirty="0">
                <a:solidFill>
                  <a:srgbClr val="1E2A3A"/>
                </a:solidFill>
                <a:latin typeface="Calibri" pitchFamily="34" charset="0"/>
                <a:ea typeface="Calibri" pitchFamily="34" charset="-122"/>
                <a:cs typeface="Calibri" pitchFamily="34" charset="-120"/>
              </a:rPr>
              <a:t>What was painful or impossible without it? Language features are not arbitrary — they exist because something was broken before.</a:t>
            </a:r>
            <a:endParaRPr lang="en-US" sz="1100" dirty="0"/>
          </a:p>
        </p:txBody>
      </p:sp>
      <p:sp>
        <p:nvSpPr>
          <p:cNvPr id="12" name="Shape 10"/>
          <p:cNvSpPr/>
          <p:nvPr/>
        </p:nvSpPr>
        <p:spPr>
          <a:xfrm>
            <a:off x="4389120" y="2944368"/>
            <a:ext cx="3749040" cy="2651760"/>
          </a:xfrm>
          <a:prstGeom prst="rect">
            <a:avLst/>
          </a:prstGeom>
          <a:solidFill>
            <a:srgbClr val="F4F6FC"/>
          </a:solidFill>
          <a:ln w="12700">
            <a:solidFill>
              <a:srgbClr val="D0DAF0"/>
            </a:solidFill>
            <a:prstDash val="solid"/>
          </a:ln>
        </p:spPr>
        <p:txBody>
          <a:bodyPr/>
          <a:lstStyle/>
          <a:p>
            <a:endParaRPr lang="en-US"/>
          </a:p>
        </p:txBody>
      </p:sp>
      <p:sp>
        <p:nvSpPr>
          <p:cNvPr id="13" name="Shape 11"/>
          <p:cNvSpPr/>
          <p:nvPr/>
        </p:nvSpPr>
        <p:spPr>
          <a:xfrm>
            <a:off x="4389120" y="2944368"/>
            <a:ext cx="3749040" cy="54864"/>
          </a:xfrm>
          <a:prstGeom prst="rect">
            <a:avLst/>
          </a:prstGeom>
          <a:solidFill>
            <a:srgbClr val="2E5BFF"/>
          </a:solidFill>
          <a:ln w="12700">
            <a:solidFill>
              <a:srgbClr val="2E5BFF"/>
            </a:solidFill>
            <a:prstDash val="solid"/>
          </a:ln>
        </p:spPr>
        <p:txBody>
          <a:bodyPr/>
          <a:lstStyle/>
          <a:p>
            <a:endParaRPr lang="en-US"/>
          </a:p>
        </p:txBody>
      </p:sp>
      <p:sp>
        <p:nvSpPr>
          <p:cNvPr id="14" name="Text 12"/>
          <p:cNvSpPr txBox="1"/>
          <p:nvPr/>
        </p:nvSpPr>
        <p:spPr>
          <a:xfrm>
            <a:off x="4526280" y="3035808"/>
            <a:ext cx="457200" cy="365760"/>
          </a:xfrm>
          <a:prstGeom prst="rect">
            <a:avLst/>
          </a:prstGeom>
          <a:noFill/>
          <a:ln/>
        </p:spPr>
        <p:txBody>
          <a:bodyPr wrap="square" lIns="0" tIns="0" rIns="0" bIns="0" rtlCol="0" anchor="ctr"/>
          <a:lstStyle/>
          <a:p>
            <a:pPr marL="0" indent="0">
              <a:buNone/>
            </a:pPr>
            <a:r>
              <a:rPr lang="en-US" sz="1800" b="1" dirty="0">
                <a:solidFill>
                  <a:srgbClr val="4F8EF7"/>
                </a:solidFill>
                <a:latin typeface="Calibri" pitchFamily="34" charset="0"/>
                <a:ea typeface="Calibri" pitchFamily="34" charset="-122"/>
                <a:cs typeface="Calibri" pitchFamily="34" charset="-120"/>
              </a:rPr>
              <a:t>02</a:t>
            </a:r>
            <a:endParaRPr lang="en-US" sz="1800" dirty="0"/>
          </a:p>
        </p:txBody>
      </p:sp>
      <p:sp>
        <p:nvSpPr>
          <p:cNvPr id="15" name="Text 13"/>
          <p:cNvSpPr txBox="1"/>
          <p:nvPr/>
        </p:nvSpPr>
        <p:spPr>
          <a:xfrm>
            <a:off x="4526280" y="3438144"/>
            <a:ext cx="3474720" cy="594360"/>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Which design goal does it serve?</a:t>
            </a:r>
            <a:endParaRPr lang="en-US" sz="1200" dirty="0"/>
          </a:p>
        </p:txBody>
      </p:sp>
      <p:sp>
        <p:nvSpPr>
          <p:cNvPr id="16" name="Text 14"/>
          <p:cNvSpPr txBox="1"/>
          <p:nvPr/>
        </p:nvSpPr>
        <p:spPr>
          <a:xfrm>
            <a:off x="4526280" y="4069080"/>
            <a:ext cx="3474720" cy="1417320"/>
          </a:xfrm>
          <a:prstGeom prst="rect">
            <a:avLst/>
          </a:prstGeom>
          <a:noFill/>
          <a:ln/>
        </p:spPr>
        <p:txBody>
          <a:bodyPr wrap="square" lIns="0" tIns="0" rIns="0" bIns="0" rtlCol="0" anchor="ctr"/>
          <a:lstStyle/>
          <a:p>
            <a:pPr marL="0" indent="0">
              <a:buNone/>
            </a:pPr>
            <a:r>
              <a:rPr lang="en-US" sz="1100" dirty="0">
                <a:solidFill>
                  <a:srgbClr val="1E2A3A"/>
                </a:solidFill>
                <a:latin typeface="Calibri" pitchFamily="34" charset="0"/>
                <a:ea typeface="Calibri" pitchFamily="34" charset="-122"/>
                <a:cs typeface="Calibri" pitchFamily="34" charset="-120"/>
              </a:rPr>
              <a:t>Readability? Safety? Performance? Writability? Every feature serves one or more of the eight goals — and usually trades against others.</a:t>
            </a:r>
            <a:endParaRPr lang="en-US" sz="1100" dirty="0"/>
          </a:p>
        </p:txBody>
      </p:sp>
      <p:sp>
        <p:nvSpPr>
          <p:cNvPr id="17" name="Shape 15"/>
          <p:cNvSpPr/>
          <p:nvPr/>
        </p:nvSpPr>
        <p:spPr>
          <a:xfrm>
            <a:off x="8366760" y="2944368"/>
            <a:ext cx="3749040" cy="2651760"/>
          </a:xfrm>
          <a:prstGeom prst="rect">
            <a:avLst/>
          </a:prstGeom>
          <a:solidFill>
            <a:srgbClr val="F4F6FC"/>
          </a:solidFill>
          <a:ln w="12700">
            <a:solidFill>
              <a:srgbClr val="D0DAF0"/>
            </a:solidFill>
            <a:prstDash val="solid"/>
          </a:ln>
        </p:spPr>
        <p:txBody>
          <a:bodyPr/>
          <a:lstStyle/>
          <a:p>
            <a:endParaRPr lang="en-US"/>
          </a:p>
        </p:txBody>
      </p:sp>
      <p:sp>
        <p:nvSpPr>
          <p:cNvPr id="18" name="Shape 16"/>
          <p:cNvSpPr/>
          <p:nvPr/>
        </p:nvSpPr>
        <p:spPr>
          <a:xfrm>
            <a:off x="8366760" y="2944368"/>
            <a:ext cx="3749040" cy="54864"/>
          </a:xfrm>
          <a:prstGeom prst="rect">
            <a:avLst/>
          </a:prstGeom>
          <a:solidFill>
            <a:srgbClr val="2E5BFF"/>
          </a:solidFill>
          <a:ln w="12700">
            <a:solidFill>
              <a:srgbClr val="2E5BFF"/>
            </a:solidFill>
            <a:prstDash val="solid"/>
          </a:ln>
        </p:spPr>
        <p:txBody>
          <a:bodyPr/>
          <a:lstStyle/>
          <a:p>
            <a:endParaRPr lang="en-US"/>
          </a:p>
        </p:txBody>
      </p:sp>
      <p:sp>
        <p:nvSpPr>
          <p:cNvPr id="19" name="Text 17"/>
          <p:cNvSpPr txBox="1"/>
          <p:nvPr/>
        </p:nvSpPr>
        <p:spPr>
          <a:xfrm>
            <a:off x="8503920" y="3035808"/>
            <a:ext cx="457200" cy="365760"/>
          </a:xfrm>
          <a:prstGeom prst="rect">
            <a:avLst/>
          </a:prstGeom>
          <a:noFill/>
          <a:ln/>
        </p:spPr>
        <p:txBody>
          <a:bodyPr wrap="square" lIns="0" tIns="0" rIns="0" bIns="0" rtlCol="0" anchor="ctr"/>
          <a:lstStyle/>
          <a:p>
            <a:pPr marL="0" indent="0">
              <a:buNone/>
            </a:pPr>
            <a:r>
              <a:rPr lang="en-US" sz="1800" b="1" dirty="0">
                <a:solidFill>
                  <a:srgbClr val="4F8EF7"/>
                </a:solidFill>
                <a:latin typeface="Calibri" pitchFamily="34" charset="0"/>
                <a:ea typeface="Calibri" pitchFamily="34" charset="-122"/>
                <a:cs typeface="Calibri" pitchFamily="34" charset="-120"/>
              </a:rPr>
              <a:t>03</a:t>
            </a:r>
            <a:endParaRPr lang="en-US" sz="1800" dirty="0"/>
          </a:p>
        </p:txBody>
      </p:sp>
      <p:sp>
        <p:nvSpPr>
          <p:cNvPr id="20" name="Text 18"/>
          <p:cNvSpPr txBox="1"/>
          <p:nvPr/>
        </p:nvSpPr>
        <p:spPr>
          <a:xfrm>
            <a:off x="8503920" y="3438144"/>
            <a:ext cx="3474720" cy="594360"/>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What trade-off did the designer accept?</a:t>
            </a:r>
            <a:endParaRPr lang="en-US" sz="1200" dirty="0"/>
          </a:p>
        </p:txBody>
      </p:sp>
      <p:sp>
        <p:nvSpPr>
          <p:cNvPr id="21" name="Text 19"/>
          <p:cNvSpPr txBox="1"/>
          <p:nvPr/>
        </p:nvSpPr>
        <p:spPr>
          <a:xfrm>
            <a:off x="8503920" y="4069080"/>
            <a:ext cx="3474720" cy="1417320"/>
          </a:xfrm>
          <a:prstGeom prst="rect">
            <a:avLst/>
          </a:prstGeom>
          <a:noFill/>
          <a:ln/>
        </p:spPr>
        <p:txBody>
          <a:bodyPr wrap="square" lIns="0" tIns="0" rIns="0" bIns="0" rtlCol="0" anchor="ctr"/>
          <a:lstStyle/>
          <a:p>
            <a:pPr marL="0" indent="0">
              <a:buNone/>
            </a:pPr>
            <a:r>
              <a:rPr lang="en-US" sz="1100" dirty="0">
                <a:solidFill>
                  <a:srgbClr val="1E2A3A"/>
                </a:solidFill>
                <a:latin typeface="Calibri" pitchFamily="34" charset="0"/>
                <a:ea typeface="Calibri" pitchFamily="34" charset="-122"/>
                <a:cs typeface="Calibri" pitchFamily="34" charset="-120"/>
              </a:rPr>
              <a:t>No feature is free. What did the designer give up to get this benefit? That trade-off is the most important thing to understand.</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2000" cy="960120"/>
          </a:xfrm>
          <a:prstGeom prst="rect">
            <a:avLst/>
          </a:prstGeom>
          <a:solidFill>
            <a:srgbClr val="1A2B5E"/>
          </a:solidFill>
          <a:ln/>
        </p:spPr>
        <p:txBody>
          <a:bodyPr/>
          <a:lstStyle/>
          <a:p>
            <a:endParaRPr lang="en-US"/>
          </a:p>
        </p:txBody>
      </p:sp>
      <p:sp>
        <p:nvSpPr>
          <p:cNvPr id="3" name="Text 1"/>
          <p:cNvSpPr txBox="1"/>
          <p:nvPr/>
        </p:nvSpPr>
        <p:spPr>
          <a:xfrm>
            <a:off x="411480" y="137160"/>
            <a:ext cx="1051560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Common Misconceptions — Set the Record Straight</a:t>
            </a:r>
            <a:endParaRPr lang="en-US" sz="2200" dirty="0"/>
          </a:p>
        </p:txBody>
      </p:sp>
      <p:sp>
        <p:nvSpPr>
          <p:cNvPr id="4" name="Text 2"/>
          <p:cNvSpPr txBox="1"/>
          <p:nvPr/>
        </p:nvSpPr>
        <p:spPr>
          <a:xfrm>
            <a:off x="10515600" y="292608"/>
            <a:ext cx="1417320" cy="347472"/>
          </a:xfrm>
          <a:prstGeom prst="rect">
            <a:avLst/>
          </a:prstGeom>
          <a:noFill/>
          <a:ln/>
        </p:spPr>
        <p:txBody>
          <a:bodyPr wrap="square" lIns="0" tIns="0" rIns="0" bIns="0" rtlCol="0" anchor="ctr"/>
          <a:lstStyle/>
          <a:p>
            <a:pPr marL="0" indent="0" algn="r">
              <a:buNone/>
            </a:pPr>
            <a:r>
              <a:rPr lang="en-US" sz="1000" dirty="0">
                <a:solidFill>
                  <a:srgbClr val="7A90B8"/>
                </a:solidFill>
                <a:latin typeface="Calibri" pitchFamily="34" charset="0"/>
                <a:ea typeface="Calibri" pitchFamily="34" charset="-122"/>
                <a:cs typeface="Calibri" pitchFamily="34" charset="-120"/>
              </a:rPr>
              <a:t>Section 7</a:t>
            </a:r>
            <a:endParaRPr lang="en-US" sz="1000" dirty="0"/>
          </a:p>
        </p:txBody>
      </p:sp>
      <p:sp>
        <p:nvSpPr>
          <p:cNvPr id="5" name="Shape 3"/>
          <p:cNvSpPr/>
          <p:nvPr/>
        </p:nvSpPr>
        <p:spPr>
          <a:xfrm>
            <a:off x="411480" y="1051560"/>
            <a:ext cx="11338560" cy="1207008"/>
          </a:xfrm>
          <a:prstGeom prst="rect">
            <a:avLst/>
          </a:prstGeom>
          <a:solidFill>
            <a:srgbClr val="FFFFFF"/>
          </a:solidFill>
          <a:ln w="12700">
            <a:solidFill>
              <a:srgbClr val="D0DAF0"/>
            </a:solidFill>
            <a:prstDash val="solid"/>
          </a:ln>
        </p:spPr>
        <p:txBody>
          <a:bodyPr/>
          <a:lstStyle/>
          <a:p>
            <a:endParaRPr lang="en-US"/>
          </a:p>
        </p:txBody>
      </p:sp>
      <p:sp>
        <p:nvSpPr>
          <p:cNvPr id="6" name="Shape 4"/>
          <p:cNvSpPr/>
          <p:nvPr/>
        </p:nvSpPr>
        <p:spPr>
          <a:xfrm>
            <a:off x="411480" y="1051560"/>
            <a:ext cx="5394960" cy="1207008"/>
          </a:xfrm>
          <a:prstGeom prst="rect">
            <a:avLst/>
          </a:prstGeom>
          <a:solidFill>
            <a:srgbClr val="FEF2F2"/>
          </a:solidFill>
          <a:ln w="12700">
            <a:solidFill>
              <a:srgbClr val="FCA5A5"/>
            </a:solidFill>
            <a:prstDash val="solid"/>
          </a:ln>
        </p:spPr>
        <p:txBody>
          <a:bodyPr/>
          <a:lstStyle/>
          <a:p>
            <a:endParaRPr lang="en-US"/>
          </a:p>
        </p:txBody>
      </p:sp>
      <p:sp>
        <p:nvSpPr>
          <p:cNvPr id="7" name="Shape 5"/>
          <p:cNvSpPr/>
          <p:nvPr/>
        </p:nvSpPr>
        <p:spPr>
          <a:xfrm>
            <a:off x="5897880" y="1051560"/>
            <a:ext cx="5852160" cy="1207008"/>
          </a:xfrm>
          <a:prstGeom prst="rect">
            <a:avLst/>
          </a:prstGeom>
          <a:solidFill>
            <a:srgbClr val="EAF7EE"/>
          </a:solidFill>
          <a:ln w="12700">
            <a:solidFill>
              <a:srgbClr val="6EE7B7"/>
            </a:solidFill>
            <a:prstDash val="solid"/>
          </a:ln>
        </p:spPr>
        <p:txBody>
          <a:bodyPr/>
          <a:lstStyle/>
          <a:p>
            <a:endParaRPr lang="en-US"/>
          </a:p>
        </p:txBody>
      </p:sp>
      <p:sp>
        <p:nvSpPr>
          <p:cNvPr id="8" name="Text 6"/>
          <p:cNvSpPr txBox="1"/>
          <p:nvPr/>
        </p:nvSpPr>
        <p:spPr>
          <a:xfrm>
            <a:off x="548640" y="1124712"/>
            <a:ext cx="5166360" cy="1051560"/>
          </a:xfrm>
          <a:prstGeom prst="rect">
            <a:avLst/>
          </a:prstGeom>
          <a:noFill/>
          <a:ln/>
        </p:spPr>
        <p:txBody>
          <a:bodyPr wrap="square" lIns="0" tIns="0" rIns="0" bIns="0" rtlCol="0" anchor="ctr"/>
          <a:lstStyle/>
          <a:p>
            <a:pPr marL="0" indent="0">
              <a:buNone/>
            </a:pPr>
            <a:r>
              <a:rPr lang="en-US" sz="1150" b="1" dirty="0">
                <a:solidFill>
                  <a:srgbClr val="9B1C1C"/>
                </a:solidFill>
                <a:latin typeface="Calibri" pitchFamily="34" charset="0"/>
                <a:ea typeface="Calibri" pitchFamily="34" charset="-122"/>
                <a:cs typeface="Calibri" pitchFamily="34" charset="-120"/>
              </a:rPr>
              <a:t>❌  "Python is easier, so Python is better."</a:t>
            </a:r>
            <a:endParaRPr lang="en-US" sz="1150" dirty="0"/>
          </a:p>
        </p:txBody>
      </p:sp>
      <p:sp>
        <p:nvSpPr>
          <p:cNvPr id="9" name="Text 7"/>
          <p:cNvSpPr txBox="1"/>
          <p:nvPr/>
        </p:nvSpPr>
        <p:spPr>
          <a:xfrm>
            <a:off x="6035040" y="1124712"/>
            <a:ext cx="5577840" cy="1051560"/>
          </a:xfrm>
          <a:prstGeom prst="rect">
            <a:avLst/>
          </a:prstGeom>
          <a:noFill/>
          <a:ln/>
        </p:spPr>
        <p:txBody>
          <a:bodyPr wrap="square" lIns="0" tIns="0" rIns="0" bIns="0" rtlCol="0" anchor="ctr"/>
          <a:lstStyle/>
          <a:p>
            <a:pPr marL="0" indent="0">
              <a:buNone/>
            </a:pPr>
            <a:r>
              <a:rPr lang="en-US" sz="1100" dirty="0">
                <a:solidFill>
                  <a:srgbClr val="1A7A3C"/>
                </a:solidFill>
                <a:latin typeface="Calibri" pitchFamily="34" charset="0"/>
                <a:ea typeface="Calibri" pitchFamily="34" charset="-122"/>
                <a:cs typeface="Calibri" pitchFamily="34" charset="-120"/>
              </a:rPr>
              <a:t>✓  Better only makes sense relative to a goal. Python is better for data science. C is better for device drivers. A surgeon's scalpel is not better than a chainsaw — they serve different purposes.</a:t>
            </a:r>
            <a:endParaRPr lang="en-US" sz="1100" dirty="0"/>
          </a:p>
        </p:txBody>
      </p:sp>
      <p:sp>
        <p:nvSpPr>
          <p:cNvPr id="10" name="Shape 8"/>
          <p:cNvSpPr/>
          <p:nvPr/>
        </p:nvSpPr>
        <p:spPr>
          <a:xfrm>
            <a:off x="411480" y="2404872"/>
            <a:ext cx="11338560" cy="1207008"/>
          </a:xfrm>
          <a:prstGeom prst="rect">
            <a:avLst/>
          </a:prstGeom>
          <a:solidFill>
            <a:srgbClr val="FFFFFF"/>
          </a:solidFill>
          <a:ln w="12700">
            <a:solidFill>
              <a:srgbClr val="D0DAF0"/>
            </a:solidFill>
            <a:prstDash val="solid"/>
          </a:ln>
        </p:spPr>
        <p:txBody>
          <a:bodyPr/>
          <a:lstStyle/>
          <a:p>
            <a:endParaRPr lang="en-US"/>
          </a:p>
        </p:txBody>
      </p:sp>
      <p:sp>
        <p:nvSpPr>
          <p:cNvPr id="11" name="Shape 9"/>
          <p:cNvSpPr/>
          <p:nvPr/>
        </p:nvSpPr>
        <p:spPr>
          <a:xfrm>
            <a:off x="411480" y="2404872"/>
            <a:ext cx="5394960" cy="1207008"/>
          </a:xfrm>
          <a:prstGeom prst="rect">
            <a:avLst/>
          </a:prstGeom>
          <a:solidFill>
            <a:srgbClr val="FEF2F2"/>
          </a:solidFill>
          <a:ln w="12700">
            <a:solidFill>
              <a:srgbClr val="FCA5A5"/>
            </a:solidFill>
            <a:prstDash val="solid"/>
          </a:ln>
        </p:spPr>
        <p:txBody>
          <a:bodyPr/>
          <a:lstStyle/>
          <a:p>
            <a:endParaRPr lang="en-US"/>
          </a:p>
        </p:txBody>
      </p:sp>
      <p:sp>
        <p:nvSpPr>
          <p:cNvPr id="12" name="Shape 10"/>
          <p:cNvSpPr/>
          <p:nvPr/>
        </p:nvSpPr>
        <p:spPr>
          <a:xfrm>
            <a:off x="5897880" y="2404872"/>
            <a:ext cx="5852160" cy="1207008"/>
          </a:xfrm>
          <a:prstGeom prst="rect">
            <a:avLst/>
          </a:prstGeom>
          <a:solidFill>
            <a:srgbClr val="EAF7EE"/>
          </a:solidFill>
          <a:ln w="12700">
            <a:solidFill>
              <a:srgbClr val="6EE7B7"/>
            </a:solidFill>
            <a:prstDash val="solid"/>
          </a:ln>
        </p:spPr>
        <p:txBody>
          <a:bodyPr/>
          <a:lstStyle/>
          <a:p>
            <a:endParaRPr lang="en-US"/>
          </a:p>
        </p:txBody>
      </p:sp>
      <p:sp>
        <p:nvSpPr>
          <p:cNvPr id="13" name="Text 11"/>
          <p:cNvSpPr txBox="1"/>
          <p:nvPr/>
        </p:nvSpPr>
        <p:spPr>
          <a:xfrm>
            <a:off x="548640" y="2478024"/>
            <a:ext cx="5166360" cy="1051560"/>
          </a:xfrm>
          <a:prstGeom prst="rect">
            <a:avLst/>
          </a:prstGeom>
          <a:noFill/>
          <a:ln/>
        </p:spPr>
        <p:txBody>
          <a:bodyPr wrap="square" lIns="0" tIns="0" rIns="0" bIns="0" rtlCol="0" anchor="ctr"/>
          <a:lstStyle/>
          <a:p>
            <a:pPr marL="0" indent="0">
              <a:buNone/>
            </a:pPr>
            <a:r>
              <a:rPr lang="en-US" sz="1150" b="1" dirty="0">
                <a:solidFill>
                  <a:srgbClr val="9B1C1C"/>
                </a:solidFill>
                <a:latin typeface="Calibri" pitchFamily="34" charset="0"/>
                <a:ea typeface="Calibri" pitchFamily="34" charset="-122"/>
                <a:cs typeface="Calibri" pitchFamily="34" charset="-120"/>
              </a:rPr>
              <a:t>❌  "High-level code runs directly on the CPU."</a:t>
            </a:r>
            <a:endParaRPr lang="en-US" sz="1150" dirty="0"/>
          </a:p>
        </p:txBody>
      </p:sp>
      <p:sp>
        <p:nvSpPr>
          <p:cNvPr id="14" name="Text 12"/>
          <p:cNvSpPr txBox="1"/>
          <p:nvPr/>
        </p:nvSpPr>
        <p:spPr>
          <a:xfrm>
            <a:off x="6035040" y="2478024"/>
            <a:ext cx="5577840" cy="1051560"/>
          </a:xfrm>
          <a:prstGeom prst="rect">
            <a:avLst/>
          </a:prstGeom>
          <a:noFill/>
          <a:ln/>
        </p:spPr>
        <p:txBody>
          <a:bodyPr wrap="square" lIns="0" tIns="0" rIns="0" bIns="0" rtlCol="0" anchor="ctr"/>
          <a:lstStyle/>
          <a:p>
            <a:pPr marL="0" indent="0">
              <a:buNone/>
            </a:pPr>
            <a:r>
              <a:rPr lang="en-US" sz="1100" dirty="0">
                <a:solidFill>
                  <a:srgbClr val="1A7A3C"/>
                </a:solidFill>
                <a:latin typeface="Calibri" pitchFamily="34" charset="0"/>
                <a:ea typeface="Calibri" pitchFamily="34" charset="-122"/>
                <a:cs typeface="Calibri" pitchFamily="34" charset="-120"/>
              </a:rPr>
              <a:t>✓  High-level code must be translated. C compiles to machine code ahead of time. C# compiles to bytecode, then JIT-compiled at runtime. Python is interpreted by CPython — which is itself a C program.</a:t>
            </a:r>
            <a:endParaRPr lang="en-US" sz="1100" dirty="0"/>
          </a:p>
        </p:txBody>
      </p:sp>
      <p:sp>
        <p:nvSpPr>
          <p:cNvPr id="15" name="Shape 13"/>
          <p:cNvSpPr/>
          <p:nvPr/>
        </p:nvSpPr>
        <p:spPr>
          <a:xfrm>
            <a:off x="411480" y="3758184"/>
            <a:ext cx="11338560" cy="1207008"/>
          </a:xfrm>
          <a:prstGeom prst="rect">
            <a:avLst/>
          </a:prstGeom>
          <a:solidFill>
            <a:srgbClr val="FFFFFF"/>
          </a:solidFill>
          <a:ln w="12700">
            <a:solidFill>
              <a:srgbClr val="D0DAF0"/>
            </a:solidFill>
            <a:prstDash val="solid"/>
          </a:ln>
        </p:spPr>
        <p:txBody>
          <a:bodyPr/>
          <a:lstStyle/>
          <a:p>
            <a:endParaRPr lang="en-US"/>
          </a:p>
        </p:txBody>
      </p:sp>
      <p:sp>
        <p:nvSpPr>
          <p:cNvPr id="16" name="Shape 14"/>
          <p:cNvSpPr/>
          <p:nvPr/>
        </p:nvSpPr>
        <p:spPr>
          <a:xfrm>
            <a:off x="411480" y="3758184"/>
            <a:ext cx="5394960" cy="1207008"/>
          </a:xfrm>
          <a:prstGeom prst="rect">
            <a:avLst/>
          </a:prstGeom>
          <a:solidFill>
            <a:srgbClr val="FEF2F2"/>
          </a:solidFill>
          <a:ln w="12700">
            <a:solidFill>
              <a:srgbClr val="FCA5A5"/>
            </a:solidFill>
            <a:prstDash val="solid"/>
          </a:ln>
        </p:spPr>
        <p:txBody>
          <a:bodyPr/>
          <a:lstStyle/>
          <a:p>
            <a:endParaRPr lang="en-US"/>
          </a:p>
        </p:txBody>
      </p:sp>
      <p:sp>
        <p:nvSpPr>
          <p:cNvPr id="17" name="Shape 15"/>
          <p:cNvSpPr/>
          <p:nvPr/>
        </p:nvSpPr>
        <p:spPr>
          <a:xfrm>
            <a:off x="5897880" y="3758184"/>
            <a:ext cx="5852160" cy="1207008"/>
          </a:xfrm>
          <a:prstGeom prst="rect">
            <a:avLst/>
          </a:prstGeom>
          <a:solidFill>
            <a:srgbClr val="EAF7EE"/>
          </a:solidFill>
          <a:ln w="12700">
            <a:solidFill>
              <a:srgbClr val="6EE7B7"/>
            </a:solidFill>
            <a:prstDash val="solid"/>
          </a:ln>
        </p:spPr>
        <p:txBody>
          <a:bodyPr/>
          <a:lstStyle/>
          <a:p>
            <a:endParaRPr lang="en-US"/>
          </a:p>
        </p:txBody>
      </p:sp>
      <p:sp>
        <p:nvSpPr>
          <p:cNvPr id="18" name="Text 16"/>
          <p:cNvSpPr txBox="1"/>
          <p:nvPr/>
        </p:nvSpPr>
        <p:spPr>
          <a:xfrm>
            <a:off x="548640" y="3831336"/>
            <a:ext cx="5166360" cy="1051560"/>
          </a:xfrm>
          <a:prstGeom prst="rect">
            <a:avLst/>
          </a:prstGeom>
          <a:noFill/>
          <a:ln/>
        </p:spPr>
        <p:txBody>
          <a:bodyPr wrap="square" lIns="0" tIns="0" rIns="0" bIns="0" rtlCol="0" anchor="ctr"/>
          <a:lstStyle/>
          <a:p>
            <a:pPr marL="0" indent="0">
              <a:buNone/>
            </a:pPr>
            <a:r>
              <a:rPr lang="en-US" sz="1150" b="1" dirty="0">
                <a:solidFill>
                  <a:srgbClr val="9B1C1C"/>
                </a:solidFill>
                <a:latin typeface="Calibri" pitchFamily="34" charset="0"/>
                <a:ea typeface="Calibri" pitchFamily="34" charset="-122"/>
                <a:cs typeface="Calibri" pitchFamily="34" charset="-120"/>
              </a:rPr>
              <a:t>❌  "C is outdated. Nobody uses it."</a:t>
            </a:r>
            <a:endParaRPr lang="en-US" sz="1150" dirty="0"/>
          </a:p>
        </p:txBody>
      </p:sp>
      <p:sp>
        <p:nvSpPr>
          <p:cNvPr id="19" name="Text 17"/>
          <p:cNvSpPr txBox="1"/>
          <p:nvPr/>
        </p:nvSpPr>
        <p:spPr>
          <a:xfrm>
            <a:off x="6035040" y="3831336"/>
            <a:ext cx="5577840" cy="1051560"/>
          </a:xfrm>
          <a:prstGeom prst="rect">
            <a:avLst/>
          </a:prstGeom>
          <a:noFill/>
          <a:ln/>
        </p:spPr>
        <p:txBody>
          <a:bodyPr wrap="square" lIns="0" tIns="0" rIns="0" bIns="0" rtlCol="0" anchor="ctr"/>
          <a:lstStyle/>
          <a:p>
            <a:pPr marL="0" indent="0">
              <a:buNone/>
            </a:pPr>
            <a:r>
              <a:rPr lang="en-US" sz="1100" dirty="0">
                <a:solidFill>
                  <a:srgbClr val="1A7A3C"/>
                </a:solidFill>
                <a:latin typeface="Calibri" pitchFamily="34" charset="0"/>
                <a:ea typeface="Calibri" pitchFamily="34" charset="-122"/>
                <a:cs typeface="Calibri" pitchFamily="34" charset="-120"/>
              </a:rPr>
              <a:t>✓  The Linux kernel, Windows kernel, macOS kernel, MySQL, and the Python interpreter are all written in C. TIOBE consistently ranks C in the top 2 most-used languages worldwide.</a:t>
            </a:r>
            <a:endParaRPr lang="en-US" sz="1100" dirty="0"/>
          </a:p>
        </p:txBody>
      </p:sp>
      <p:sp>
        <p:nvSpPr>
          <p:cNvPr id="20" name="Shape 18"/>
          <p:cNvSpPr/>
          <p:nvPr/>
        </p:nvSpPr>
        <p:spPr>
          <a:xfrm>
            <a:off x="411480" y="5111496"/>
            <a:ext cx="11338560" cy="1207008"/>
          </a:xfrm>
          <a:prstGeom prst="rect">
            <a:avLst/>
          </a:prstGeom>
          <a:solidFill>
            <a:srgbClr val="FFFFFF"/>
          </a:solidFill>
          <a:ln w="12700">
            <a:solidFill>
              <a:srgbClr val="D0DAF0"/>
            </a:solidFill>
            <a:prstDash val="solid"/>
          </a:ln>
        </p:spPr>
        <p:txBody>
          <a:bodyPr/>
          <a:lstStyle/>
          <a:p>
            <a:endParaRPr lang="en-US"/>
          </a:p>
        </p:txBody>
      </p:sp>
      <p:sp>
        <p:nvSpPr>
          <p:cNvPr id="21" name="Shape 19"/>
          <p:cNvSpPr/>
          <p:nvPr/>
        </p:nvSpPr>
        <p:spPr>
          <a:xfrm>
            <a:off x="411480" y="5111496"/>
            <a:ext cx="5394960" cy="1207008"/>
          </a:xfrm>
          <a:prstGeom prst="rect">
            <a:avLst/>
          </a:prstGeom>
          <a:solidFill>
            <a:srgbClr val="FEF2F2"/>
          </a:solidFill>
          <a:ln w="12700">
            <a:solidFill>
              <a:srgbClr val="FCA5A5"/>
            </a:solidFill>
            <a:prstDash val="solid"/>
          </a:ln>
        </p:spPr>
        <p:txBody>
          <a:bodyPr/>
          <a:lstStyle/>
          <a:p>
            <a:endParaRPr lang="en-US"/>
          </a:p>
        </p:txBody>
      </p:sp>
      <p:sp>
        <p:nvSpPr>
          <p:cNvPr id="22" name="Shape 20"/>
          <p:cNvSpPr/>
          <p:nvPr/>
        </p:nvSpPr>
        <p:spPr>
          <a:xfrm>
            <a:off x="5897880" y="5111496"/>
            <a:ext cx="5852160" cy="1207008"/>
          </a:xfrm>
          <a:prstGeom prst="rect">
            <a:avLst/>
          </a:prstGeom>
          <a:solidFill>
            <a:srgbClr val="EAF7EE"/>
          </a:solidFill>
          <a:ln w="12700">
            <a:solidFill>
              <a:srgbClr val="6EE7B7"/>
            </a:solidFill>
            <a:prstDash val="solid"/>
          </a:ln>
        </p:spPr>
        <p:txBody>
          <a:bodyPr/>
          <a:lstStyle/>
          <a:p>
            <a:endParaRPr lang="en-US"/>
          </a:p>
        </p:txBody>
      </p:sp>
      <p:sp>
        <p:nvSpPr>
          <p:cNvPr id="23" name="Text 21"/>
          <p:cNvSpPr txBox="1"/>
          <p:nvPr/>
        </p:nvSpPr>
        <p:spPr>
          <a:xfrm>
            <a:off x="548640" y="5184648"/>
            <a:ext cx="5166360" cy="1051560"/>
          </a:xfrm>
          <a:prstGeom prst="rect">
            <a:avLst/>
          </a:prstGeom>
          <a:noFill/>
          <a:ln/>
        </p:spPr>
        <p:txBody>
          <a:bodyPr wrap="square" lIns="0" tIns="0" rIns="0" bIns="0" rtlCol="0" anchor="ctr"/>
          <a:lstStyle/>
          <a:p>
            <a:pPr marL="0" indent="0">
              <a:buNone/>
            </a:pPr>
            <a:r>
              <a:rPr lang="en-US" sz="1150" b="1" dirty="0">
                <a:solidFill>
                  <a:srgbClr val="9B1C1C"/>
                </a:solidFill>
                <a:latin typeface="Calibri" pitchFamily="34" charset="0"/>
                <a:ea typeface="Calibri" pitchFamily="34" charset="-122"/>
                <a:cs typeface="Calibri" pitchFamily="34" charset="-120"/>
              </a:rPr>
              <a:t>❌  "Dynamic typing means Python has no types."</a:t>
            </a:r>
            <a:endParaRPr lang="en-US" sz="1150" dirty="0"/>
          </a:p>
        </p:txBody>
      </p:sp>
      <p:sp>
        <p:nvSpPr>
          <p:cNvPr id="24" name="Text 22"/>
          <p:cNvSpPr txBox="1"/>
          <p:nvPr/>
        </p:nvSpPr>
        <p:spPr>
          <a:xfrm>
            <a:off x="6035040" y="5184648"/>
            <a:ext cx="5577840" cy="1051560"/>
          </a:xfrm>
          <a:prstGeom prst="rect">
            <a:avLst/>
          </a:prstGeom>
          <a:noFill/>
          <a:ln/>
        </p:spPr>
        <p:txBody>
          <a:bodyPr wrap="square" lIns="0" tIns="0" rIns="0" bIns="0" rtlCol="0" anchor="ctr"/>
          <a:lstStyle/>
          <a:p>
            <a:pPr marL="0" indent="0">
              <a:buNone/>
            </a:pPr>
            <a:r>
              <a:rPr lang="en-US" sz="1100" dirty="0">
                <a:solidFill>
                  <a:srgbClr val="1A7A3C"/>
                </a:solidFill>
                <a:latin typeface="Calibri" pitchFamily="34" charset="0"/>
                <a:ea typeface="Calibri" pitchFamily="34" charset="-122"/>
                <a:cs typeface="Calibri" pitchFamily="34" charset="-120"/>
              </a:rPr>
              <a:t>✓  Python is strongly typed — every value has a definite type. Try "hello" + 5 and you get a TypeError immediately. "Dynamic" means types are checked at runtime, not that they don't exist.</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2000" cy="960120"/>
          </a:xfrm>
          <a:prstGeom prst="rect">
            <a:avLst/>
          </a:prstGeom>
          <a:solidFill>
            <a:srgbClr val="1A2B5E"/>
          </a:solidFill>
          <a:ln/>
        </p:spPr>
        <p:txBody>
          <a:bodyPr/>
          <a:lstStyle/>
          <a:p>
            <a:endParaRPr lang="en-US"/>
          </a:p>
        </p:txBody>
      </p:sp>
      <p:sp>
        <p:nvSpPr>
          <p:cNvPr id="3" name="Text 1"/>
          <p:cNvSpPr txBox="1"/>
          <p:nvPr/>
        </p:nvSpPr>
        <p:spPr>
          <a:xfrm>
            <a:off x="411480" y="137160"/>
            <a:ext cx="10515600" cy="6858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Where This Chapter Leads</a:t>
            </a:r>
            <a:endParaRPr lang="en-US" sz="2200" dirty="0"/>
          </a:p>
        </p:txBody>
      </p:sp>
      <p:sp>
        <p:nvSpPr>
          <p:cNvPr id="4" name="Text 2"/>
          <p:cNvSpPr txBox="1"/>
          <p:nvPr/>
        </p:nvSpPr>
        <p:spPr>
          <a:xfrm>
            <a:off x="10515600" y="292608"/>
            <a:ext cx="1417320" cy="347472"/>
          </a:xfrm>
          <a:prstGeom prst="rect">
            <a:avLst/>
          </a:prstGeom>
          <a:noFill/>
          <a:ln/>
        </p:spPr>
        <p:txBody>
          <a:bodyPr wrap="square" lIns="0" tIns="0" rIns="0" bIns="0" rtlCol="0" anchor="ctr"/>
          <a:lstStyle/>
          <a:p>
            <a:pPr marL="0" indent="0" algn="r">
              <a:buNone/>
            </a:pPr>
            <a:r>
              <a:rPr lang="en-US" sz="1000" dirty="0">
                <a:solidFill>
                  <a:srgbClr val="7A90B8"/>
                </a:solidFill>
                <a:latin typeface="Calibri" pitchFamily="34" charset="0"/>
                <a:ea typeface="Calibri" pitchFamily="34" charset="-122"/>
                <a:cs typeface="Calibri" pitchFamily="34" charset="-120"/>
              </a:rPr>
              <a:t>Synthesis</a:t>
            </a:r>
            <a:endParaRPr lang="en-US" sz="1000" dirty="0"/>
          </a:p>
        </p:txBody>
      </p:sp>
      <p:sp>
        <p:nvSpPr>
          <p:cNvPr id="5" name="Text 3"/>
          <p:cNvSpPr txBox="1"/>
          <p:nvPr/>
        </p:nvSpPr>
        <p:spPr>
          <a:xfrm>
            <a:off x="411480" y="1005840"/>
            <a:ext cx="11338560" cy="274320"/>
          </a:xfrm>
          <a:prstGeom prst="rect">
            <a:avLst/>
          </a:prstGeom>
          <a:noFill/>
          <a:ln/>
        </p:spPr>
        <p:txBody>
          <a:bodyPr wrap="square" lIns="0" tIns="0" rIns="0" bIns="0" rtlCol="0" anchor="ctr"/>
          <a:lstStyle/>
          <a:p>
            <a:pPr marL="0" indent="0">
              <a:buNone/>
            </a:pPr>
            <a:r>
              <a:rPr lang="en-US" sz="1300" dirty="0">
                <a:solidFill>
                  <a:srgbClr val="1E2A3A"/>
                </a:solidFill>
                <a:latin typeface="Calibri" pitchFamily="34" charset="0"/>
                <a:ea typeface="Calibri" pitchFamily="34" charset="-122"/>
                <a:cs typeface="Calibri" pitchFamily="34" charset="-120"/>
              </a:rPr>
              <a:t>Every remaining chapter is a deeper look at one of the trade-offs introduced here.</a:t>
            </a:r>
            <a:endParaRPr lang="en-US" sz="1300" dirty="0"/>
          </a:p>
        </p:txBody>
      </p:sp>
      <p:sp>
        <p:nvSpPr>
          <p:cNvPr id="6" name="Shape 4"/>
          <p:cNvSpPr/>
          <p:nvPr/>
        </p:nvSpPr>
        <p:spPr>
          <a:xfrm>
            <a:off x="411480" y="1371600"/>
            <a:ext cx="5577840" cy="1170432"/>
          </a:xfrm>
          <a:prstGeom prst="rect">
            <a:avLst/>
          </a:prstGeom>
          <a:solidFill>
            <a:srgbClr val="F4F6FC"/>
          </a:solidFill>
          <a:ln w="12700">
            <a:solidFill>
              <a:srgbClr val="D0DAF0"/>
            </a:solidFill>
            <a:prstDash val="solid"/>
          </a:ln>
        </p:spPr>
        <p:txBody>
          <a:bodyPr/>
          <a:lstStyle/>
          <a:p>
            <a:endParaRPr lang="en-US"/>
          </a:p>
        </p:txBody>
      </p:sp>
      <p:sp>
        <p:nvSpPr>
          <p:cNvPr id="7" name="Shape 5"/>
          <p:cNvSpPr/>
          <p:nvPr/>
        </p:nvSpPr>
        <p:spPr>
          <a:xfrm>
            <a:off x="411480" y="1371600"/>
            <a:ext cx="731520" cy="1170432"/>
          </a:xfrm>
          <a:prstGeom prst="rect">
            <a:avLst/>
          </a:prstGeom>
          <a:solidFill>
            <a:srgbClr val="1A2B5E"/>
          </a:solidFill>
          <a:ln w="12700">
            <a:solidFill>
              <a:srgbClr val="1A2B5E"/>
            </a:solidFill>
            <a:prstDash val="solid"/>
          </a:ln>
        </p:spPr>
        <p:txBody>
          <a:bodyPr/>
          <a:lstStyle/>
          <a:p>
            <a:endParaRPr lang="en-US"/>
          </a:p>
        </p:txBody>
      </p:sp>
      <p:sp>
        <p:nvSpPr>
          <p:cNvPr id="8" name="Text 6"/>
          <p:cNvSpPr txBox="1"/>
          <p:nvPr/>
        </p:nvSpPr>
        <p:spPr>
          <a:xfrm>
            <a:off x="448056" y="1755648"/>
            <a:ext cx="658368"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Ch 2</a:t>
            </a:r>
            <a:endParaRPr lang="en-US" sz="1100" dirty="0"/>
          </a:p>
        </p:txBody>
      </p:sp>
      <p:sp>
        <p:nvSpPr>
          <p:cNvPr id="9" name="Text 7"/>
          <p:cNvSpPr txBox="1"/>
          <p:nvPr/>
        </p:nvSpPr>
        <p:spPr>
          <a:xfrm>
            <a:off x="1252728" y="1426464"/>
            <a:ext cx="4617720" cy="274320"/>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Syntax &amp; Grammars</a:t>
            </a:r>
            <a:endParaRPr lang="en-US" sz="1200" dirty="0"/>
          </a:p>
        </p:txBody>
      </p:sp>
      <p:sp>
        <p:nvSpPr>
          <p:cNvPr id="10" name="Text 8"/>
          <p:cNvSpPr txBox="1"/>
          <p:nvPr/>
        </p:nvSpPr>
        <p:spPr>
          <a:xfrm>
            <a:off x="1252728" y="1719072"/>
            <a:ext cx="4617720" cy="749808"/>
          </a:xfrm>
          <a:prstGeom prst="rect">
            <a:avLst/>
          </a:prstGeom>
          <a:noFill/>
          <a:ln/>
        </p:spPr>
        <p:txBody>
          <a:bodyPr wrap="square" lIns="0" tIns="0" rIns="0" bIns="0" rtlCol="0" anchor="ctr"/>
          <a:lstStyle/>
          <a:p>
            <a:pPr marL="0" indent="0">
              <a:buNone/>
            </a:pPr>
            <a:r>
              <a:rPr lang="en-US" sz="1050" dirty="0">
                <a:solidFill>
                  <a:srgbClr val="5A6A82"/>
                </a:solidFill>
                <a:latin typeface="Calibri" pitchFamily="34" charset="0"/>
                <a:ea typeface="Calibri" pitchFamily="34" charset="-122"/>
                <a:cs typeface="Calibri" pitchFamily="34" charset="-120"/>
              </a:rPr>
              <a:t>Why does Python use indentation? Why does C use braces? What does "correct code" formally mean?</a:t>
            </a:r>
            <a:endParaRPr lang="en-US" sz="1050" dirty="0"/>
          </a:p>
        </p:txBody>
      </p:sp>
      <p:sp>
        <p:nvSpPr>
          <p:cNvPr id="11" name="Shape 9"/>
          <p:cNvSpPr/>
          <p:nvPr/>
        </p:nvSpPr>
        <p:spPr>
          <a:xfrm>
            <a:off x="6309360" y="1371600"/>
            <a:ext cx="5577840" cy="1170432"/>
          </a:xfrm>
          <a:prstGeom prst="rect">
            <a:avLst/>
          </a:prstGeom>
          <a:solidFill>
            <a:srgbClr val="F4F6FC"/>
          </a:solidFill>
          <a:ln w="12700">
            <a:solidFill>
              <a:srgbClr val="D0DAF0"/>
            </a:solidFill>
            <a:prstDash val="solid"/>
          </a:ln>
        </p:spPr>
        <p:txBody>
          <a:bodyPr/>
          <a:lstStyle/>
          <a:p>
            <a:endParaRPr lang="en-US"/>
          </a:p>
        </p:txBody>
      </p:sp>
      <p:sp>
        <p:nvSpPr>
          <p:cNvPr id="12" name="Shape 10"/>
          <p:cNvSpPr/>
          <p:nvPr/>
        </p:nvSpPr>
        <p:spPr>
          <a:xfrm>
            <a:off x="6309360" y="1371600"/>
            <a:ext cx="731520" cy="1170432"/>
          </a:xfrm>
          <a:prstGeom prst="rect">
            <a:avLst/>
          </a:prstGeom>
          <a:solidFill>
            <a:srgbClr val="1A2B5E"/>
          </a:solidFill>
          <a:ln w="12700">
            <a:solidFill>
              <a:srgbClr val="1A2B5E"/>
            </a:solidFill>
            <a:prstDash val="solid"/>
          </a:ln>
        </p:spPr>
        <p:txBody>
          <a:bodyPr/>
          <a:lstStyle/>
          <a:p>
            <a:endParaRPr lang="en-US"/>
          </a:p>
        </p:txBody>
      </p:sp>
      <p:sp>
        <p:nvSpPr>
          <p:cNvPr id="13" name="Text 11"/>
          <p:cNvSpPr txBox="1"/>
          <p:nvPr/>
        </p:nvSpPr>
        <p:spPr>
          <a:xfrm>
            <a:off x="6345936" y="1755648"/>
            <a:ext cx="658368"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Ch 3</a:t>
            </a:r>
            <a:endParaRPr lang="en-US" sz="1100" dirty="0"/>
          </a:p>
        </p:txBody>
      </p:sp>
      <p:sp>
        <p:nvSpPr>
          <p:cNvPr id="14" name="Text 12"/>
          <p:cNvSpPr txBox="1"/>
          <p:nvPr/>
        </p:nvSpPr>
        <p:spPr>
          <a:xfrm>
            <a:off x="7150608" y="1426464"/>
            <a:ext cx="4617720" cy="274320"/>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Variable Binding</a:t>
            </a:r>
            <a:endParaRPr lang="en-US" sz="1200" dirty="0"/>
          </a:p>
        </p:txBody>
      </p:sp>
      <p:sp>
        <p:nvSpPr>
          <p:cNvPr id="15" name="Text 13"/>
          <p:cNvSpPr txBox="1"/>
          <p:nvPr/>
        </p:nvSpPr>
        <p:spPr>
          <a:xfrm>
            <a:off x="7150608" y="1719072"/>
            <a:ext cx="4617720" cy="749808"/>
          </a:xfrm>
          <a:prstGeom prst="rect">
            <a:avLst/>
          </a:prstGeom>
          <a:noFill/>
          <a:ln/>
        </p:spPr>
        <p:txBody>
          <a:bodyPr wrap="square" lIns="0" tIns="0" rIns="0" bIns="0" rtlCol="0" anchor="ctr"/>
          <a:lstStyle/>
          <a:p>
            <a:pPr marL="0" indent="0">
              <a:buNone/>
            </a:pPr>
            <a:r>
              <a:rPr lang="en-US" sz="1050" dirty="0">
                <a:solidFill>
                  <a:srgbClr val="5A6A82"/>
                </a:solidFill>
                <a:latin typeface="Calibri" pitchFamily="34" charset="0"/>
                <a:ea typeface="Calibri" pitchFamily="34" charset="-122"/>
                <a:cs typeface="Calibri" pitchFamily="34" charset="-120"/>
              </a:rPr>
              <a:t>When does a variable get its value? Compile time or runtime? How do C, C#, and Python differ?</a:t>
            </a:r>
            <a:endParaRPr lang="en-US" sz="1050" dirty="0"/>
          </a:p>
        </p:txBody>
      </p:sp>
      <p:sp>
        <p:nvSpPr>
          <p:cNvPr id="16" name="Shape 14"/>
          <p:cNvSpPr/>
          <p:nvPr/>
        </p:nvSpPr>
        <p:spPr>
          <a:xfrm>
            <a:off x="411480" y="2670048"/>
            <a:ext cx="5577840" cy="1170432"/>
          </a:xfrm>
          <a:prstGeom prst="rect">
            <a:avLst/>
          </a:prstGeom>
          <a:solidFill>
            <a:srgbClr val="F4F6FC"/>
          </a:solidFill>
          <a:ln w="12700">
            <a:solidFill>
              <a:srgbClr val="D0DAF0"/>
            </a:solidFill>
            <a:prstDash val="solid"/>
          </a:ln>
        </p:spPr>
        <p:txBody>
          <a:bodyPr/>
          <a:lstStyle/>
          <a:p>
            <a:endParaRPr lang="en-US"/>
          </a:p>
        </p:txBody>
      </p:sp>
      <p:sp>
        <p:nvSpPr>
          <p:cNvPr id="17" name="Shape 15"/>
          <p:cNvSpPr/>
          <p:nvPr/>
        </p:nvSpPr>
        <p:spPr>
          <a:xfrm>
            <a:off x="411480" y="2670048"/>
            <a:ext cx="731520" cy="1170432"/>
          </a:xfrm>
          <a:prstGeom prst="rect">
            <a:avLst/>
          </a:prstGeom>
          <a:solidFill>
            <a:srgbClr val="1A2B5E"/>
          </a:solidFill>
          <a:ln w="12700">
            <a:solidFill>
              <a:srgbClr val="1A2B5E"/>
            </a:solidFill>
            <a:prstDash val="solid"/>
          </a:ln>
        </p:spPr>
        <p:txBody>
          <a:bodyPr/>
          <a:lstStyle/>
          <a:p>
            <a:endParaRPr lang="en-US"/>
          </a:p>
        </p:txBody>
      </p:sp>
      <p:sp>
        <p:nvSpPr>
          <p:cNvPr id="18" name="Text 16"/>
          <p:cNvSpPr txBox="1"/>
          <p:nvPr/>
        </p:nvSpPr>
        <p:spPr>
          <a:xfrm>
            <a:off x="448056" y="3054096"/>
            <a:ext cx="658368"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Ch 4</a:t>
            </a:r>
            <a:endParaRPr lang="en-US" sz="1100" dirty="0"/>
          </a:p>
        </p:txBody>
      </p:sp>
      <p:sp>
        <p:nvSpPr>
          <p:cNvPr id="19" name="Text 17"/>
          <p:cNvSpPr txBox="1"/>
          <p:nvPr/>
        </p:nvSpPr>
        <p:spPr>
          <a:xfrm>
            <a:off x="1252728" y="2724912"/>
            <a:ext cx="4617720" cy="274320"/>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Scope Rules</a:t>
            </a:r>
            <a:endParaRPr lang="en-US" sz="1200" dirty="0"/>
          </a:p>
        </p:txBody>
      </p:sp>
      <p:sp>
        <p:nvSpPr>
          <p:cNvPr id="20" name="Text 18"/>
          <p:cNvSpPr txBox="1"/>
          <p:nvPr/>
        </p:nvSpPr>
        <p:spPr>
          <a:xfrm>
            <a:off x="1252728" y="3017520"/>
            <a:ext cx="4617720" cy="749808"/>
          </a:xfrm>
          <a:prstGeom prst="rect">
            <a:avLst/>
          </a:prstGeom>
          <a:noFill/>
          <a:ln/>
        </p:spPr>
        <p:txBody>
          <a:bodyPr wrap="square" lIns="0" tIns="0" rIns="0" bIns="0" rtlCol="0" anchor="ctr"/>
          <a:lstStyle/>
          <a:p>
            <a:pPr marL="0" indent="0">
              <a:buNone/>
            </a:pPr>
            <a:r>
              <a:rPr lang="en-US" sz="1050" dirty="0">
                <a:solidFill>
                  <a:srgbClr val="5A6A82"/>
                </a:solidFill>
                <a:latin typeface="Calibri" pitchFamily="34" charset="0"/>
                <a:ea typeface="Calibri" pitchFamily="34" charset="-122"/>
                <a:cs typeface="Calibri" pitchFamily="34" charset="-120"/>
              </a:rPr>
              <a:t>Where is a variable visible? What happens when two variables share a name?</a:t>
            </a:r>
            <a:endParaRPr lang="en-US" sz="1050" dirty="0"/>
          </a:p>
        </p:txBody>
      </p:sp>
      <p:sp>
        <p:nvSpPr>
          <p:cNvPr id="21" name="Shape 19"/>
          <p:cNvSpPr/>
          <p:nvPr/>
        </p:nvSpPr>
        <p:spPr>
          <a:xfrm>
            <a:off x="6309360" y="2670048"/>
            <a:ext cx="5577840" cy="1170432"/>
          </a:xfrm>
          <a:prstGeom prst="rect">
            <a:avLst/>
          </a:prstGeom>
          <a:solidFill>
            <a:srgbClr val="F4F6FC"/>
          </a:solidFill>
          <a:ln w="12700">
            <a:solidFill>
              <a:srgbClr val="D0DAF0"/>
            </a:solidFill>
            <a:prstDash val="solid"/>
          </a:ln>
        </p:spPr>
        <p:txBody>
          <a:bodyPr/>
          <a:lstStyle/>
          <a:p>
            <a:endParaRPr lang="en-US"/>
          </a:p>
        </p:txBody>
      </p:sp>
      <p:sp>
        <p:nvSpPr>
          <p:cNvPr id="22" name="Shape 20"/>
          <p:cNvSpPr/>
          <p:nvPr/>
        </p:nvSpPr>
        <p:spPr>
          <a:xfrm>
            <a:off x="6309360" y="2670048"/>
            <a:ext cx="731520" cy="1170432"/>
          </a:xfrm>
          <a:prstGeom prst="rect">
            <a:avLst/>
          </a:prstGeom>
          <a:solidFill>
            <a:srgbClr val="1A2B5E"/>
          </a:solidFill>
          <a:ln w="12700">
            <a:solidFill>
              <a:srgbClr val="1A2B5E"/>
            </a:solidFill>
            <a:prstDash val="solid"/>
          </a:ln>
        </p:spPr>
        <p:txBody>
          <a:bodyPr/>
          <a:lstStyle/>
          <a:p>
            <a:endParaRPr lang="en-US"/>
          </a:p>
        </p:txBody>
      </p:sp>
      <p:sp>
        <p:nvSpPr>
          <p:cNvPr id="23" name="Text 21"/>
          <p:cNvSpPr txBox="1"/>
          <p:nvPr/>
        </p:nvSpPr>
        <p:spPr>
          <a:xfrm>
            <a:off x="6345936" y="3054096"/>
            <a:ext cx="658368"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Ch 5</a:t>
            </a:r>
            <a:endParaRPr lang="en-US" sz="1100" dirty="0"/>
          </a:p>
        </p:txBody>
      </p:sp>
      <p:sp>
        <p:nvSpPr>
          <p:cNvPr id="24" name="Text 22"/>
          <p:cNvSpPr txBox="1"/>
          <p:nvPr/>
        </p:nvSpPr>
        <p:spPr>
          <a:xfrm>
            <a:off x="7150608" y="2724912"/>
            <a:ext cx="4617720" cy="274320"/>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Type Systems</a:t>
            </a:r>
            <a:endParaRPr lang="en-US" sz="1200" dirty="0"/>
          </a:p>
        </p:txBody>
      </p:sp>
      <p:sp>
        <p:nvSpPr>
          <p:cNvPr id="25" name="Text 23"/>
          <p:cNvSpPr txBox="1"/>
          <p:nvPr/>
        </p:nvSpPr>
        <p:spPr>
          <a:xfrm>
            <a:off x="7150608" y="3017520"/>
            <a:ext cx="4617720" cy="749808"/>
          </a:xfrm>
          <a:prstGeom prst="rect">
            <a:avLst/>
          </a:prstGeom>
          <a:noFill/>
          <a:ln/>
        </p:spPr>
        <p:txBody>
          <a:bodyPr wrap="square" lIns="0" tIns="0" rIns="0" bIns="0" rtlCol="0" anchor="ctr"/>
          <a:lstStyle/>
          <a:p>
            <a:pPr marL="0" indent="0">
              <a:buNone/>
            </a:pPr>
            <a:r>
              <a:rPr lang="en-US" sz="1050" dirty="0">
                <a:solidFill>
                  <a:srgbClr val="5A6A82"/>
                </a:solidFill>
                <a:latin typeface="Calibri" pitchFamily="34" charset="0"/>
                <a:ea typeface="Calibri" pitchFamily="34" charset="-122"/>
                <a:cs typeface="Calibri" pitchFamily="34" charset="-120"/>
              </a:rPr>
              <a:t>The technical implementation of the readability vs. reliability trade-off introduced today.</a:t>
            </a:r>
            <a:endParaRPr lang="en-US" sz="1050" dirty="0"/>
          </a:p>
        </p:txBody>
      </p:sp>
      <p:sp>
        <p:nvSpPr>
          <p:cNvPr id="26" name="Shape 24"/>
          <p:cNvSpPr/>
          <p:nvPr/>
        </p:nvSpPr>
        <p:spPr>
          <a:xfrm>
            <a:off x="411480" y="3968496"/>
            <a:ext cx="5577840" cy="1170432"/>
          </a:xfrm>
          <a:prstGeom prst="rect">
            <a:avLst/>
          </a:prstGeom>
          <a:solidFill>
            <a:srgbClr val="F4F6FC"/>
          </a:solidFill>
          <a:ln w="12700">
            <a:solidFill>
              <a:srgbClr val="D0DAF0"/>
            </a:solidFill>
            <a:prstDash val="solid"/>
          </a:ln>
        </p:spPr>
        <p:txBody>
          <a:bodyPr/>
          <a:lstStyle/>
          <a:p>
            <a:endParaRPr lang="en-US"/>
          </a:p>
        </p:txBody>
      </p:sp>
      <p:sp>
        <p:nvSpPr>
          <p:cNvPr id="27" name="Shape 25"/>
          <p:cNvSpPr/>
          <p:nvPr/>
        </p:nvSpPr>
        <p:spPr>
          <a:xfrm>
            <a:off x="411480" y="3968496"/>
            <a:ext cx="731520" cy="1170432"/>
          </a:xfrm>
          <a:prstGeom prst="rect">
            <a:avLst/>
          </a:prstGeom>
          <a:solidFill>
            <a:srgbClr val="1A2B5E"/>
          </a:solidFill>
          <a:ln w="12700">
            <a:solidFill>
              <a:srgbClr val="1A2B5E"/>
            </a:solidFill>
            <a:prstDash val="solid"/>
          </a:ln>
        </p:spPr>
        <p:txBody>
          <a:bodyPr/>
          <a:lstStyle/>
          <a:p>
            <a:endParaRPr lang="en-US"/>
          </a:p>
        </p:txBody>
      </p:sp>
      <p:sp>
        <p:nvSpPr>
          <p:cNvPr id="28" name="Text 26"/>
          <p:cNvSpPr txBox="1"/>
          <p:nvPr/>
        </p:nvSpPr>
        <p:spPr>
          <a:xfrm>
            <a:off x="448056" y="4352544"/>
            <a:ext cx="658368"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Ch 6–8</a:t>
            </a:r>
            <a:endParaRPr lang="en-US" sz="1100" dirty="0"/>
          </a:p>
        </p:txBody>
      </p:sp>
      <p:sp>
        <p:nvSpPr>
          <p:cNvPr id="29" name="Text 27"/>
          <p:cNvSpPr txBox="1"/>
          <p:nvPr/>
        </p:nvSpPr>
        <p:spPr>
          <a:xfrm>
            <a:off x="1252728" y="4023360"/>
            <a:ext cx="4617720" cy="274320"/>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Control, Functions, Parameters</a:t>
            </a:r>
            <a:endParaRPr lang="en-US" sz="1200" dirty="0"/>
          </a:p>
        </p:txBody>
      </p:sp>
      <p:sp>
        <p:nvSpPr>
          <p:cNvPr id="30" name="Text 28"/>
          <p:cNvSpPr txBox="1"/>
          <p:nvPr/>
        </p:nvSpPr>
        <p:spPr>
          <a:xfrm>
            <a:off x="1252728" y="4315968"/>
            <a:ext cx="4617720" cy="749808"/>
          </a:xfrm>
          <a:prstGeom prst="rect">
            <a:avLst/>
          </a:prstGeom>
          <a:noFill/>
          <a:ln/>
        </p:spPr>
        <p:txBody>
          <a:bodyPr wrap="square" lIns="0" tIns="0" rIns="0" bIns="0" rtlCol="0" anchor="ctr"/>
          <a:lstStyle/>
          <a:p>
            <a:pPr marL="0" indent="0">
              <a:buNone/>
            </a:pPr>
            <a:r>
              <a:rPr lang="en-US" sz="1050" dirty="0">
                <a:solidFill>
                  <a:srgbClr val="5A6A82"/>
                </a:solidFill>
                <a:latin typeface="Calibri" pitchFamily="34" charset="0"/>
                <a:ea typeface="Calibri" pitchFamily="34" charset="-122"/>
                <a:cs typeface="Calibri" pitchFamily="34" charset="-120"/>
              </a:rPr>
              <a:t>How does an if-statement work at the language level? What happens when you pass a variable into a function?</a:t>
            </a:r>
            <a:endParaRPr lang="en-US" sz="1050" dirty="0"/>
          </a:p>
        </p:txBody>
      </p:sp>
      <p:sp>
        <p:nvSpPr>
          <p:cNvPr id="31" name="Shape 29"/>
          <p:cNvSpPr/>
          <p:nvPr/>
        </p:nvSpPr>
        <p:spPr>
          <a:xfrm>
            <a:off x="6309360" y="3968496"/>
            <a:ext cx="5577840" cy="1170432"/>
          </a:xfrm>
          <a:prstGeom prst="rect">
            <a:avLst/>
          </a:prstGeom>
          <a:solidFill>
            <a:srgbClr val="F4F6FC"/>
          </a:solidFill>
          <a:ln w="12700">
            <a:solidFill>
              <a:srgbClr val="D0DAF0"/>
            </a:solidFill>
            <a:prstDash val="solid"/>
          </a:ln>
        </p:spPr>
        <p:txBody>
          <a:bodyPr/>
          <a:lstStyle/>
          <a:p>
            <a:endParaRPr lang="en-US"/>
          </a:p>
        </p:txBody>
      </p:sp>
      <p:sp>
        <p:nvSpPr>
          <p:cNvPr id="32" name="Shape 30"/>
          <p:cNvSpPr/>
          <p:nvPr/>
        </p:nvSpPr>
        <p:spPr>
          <a:xfrm>
            <a:off x="6309360" y="3968496"/>
            <a:ext cx="731520" cy="1170432"/>
          </a:xfrm>
          <a:prstGeom prst="rect">
            <a:avLst/>
          </a:prstGeom>
          <a:solidFill>
            <a:srgbClr val="1A2B5E"/>
          </a:solidFill>
          <a:ln w="12700">
            <a:solidFill>
              <a:srgbClr val="1A2B5E"/>
            </a:solidFill>
            <a:prstDash val="solid"/>
          </a:ln>
        </p:spPr>
        <p:txBody>
          <a:bodyPr/>
          <a:lstStyle/>
          <a:p>
            <a:endParaRPr lang="en-US"/>
          </a:p>
        </p:txBody>
      </p:sp>
      <p:sp>
        <p:nvSpPr>
          <p:cNvPr id="33" name="Text 31"/>
          <p:cNvSpPr txBox="1"/>
          <p:nvPr/>
        </p:nvSpPr>
        <p:spPr>
          <a:xfrm>
            <a:off x="6345936" y="4352544"/>
            <a:ext cx="658368"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Ch 9–10</a:t>
            </a:r>
            <a:endParaRPr lang="en-US" sz="1100" dirty="0"/>
          </a:p>
        </p:txBody>
      </p:sp>
      <p:sp>
        <p:nvSpPr>
          <p:cNvPr id="34" name="Text 32"/>
          <p:cNvSpPr txBox="1"/>
          <p:nvPr/>
        </p:nvSpPr>
        <p:spPr>
          <a:xfrm>
            <a:off x="7150608" y="4023360"/>
            <a:ext cx="4617720" cy="274320"/>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Memory Management</a:t>
            </a:r>
            <a:endParaRPr lang="en-US" sz="1200" dirty="0"/>
          </a:p>
        </p:txBody>
      </p:sp>
      <p:sp>
        <p:nvSpPr>
          <p:cNvPr id="35" name="Text 33"/>
          <p:cNvSpPr txBox="1"/>
          <p:nvPr/>
        </p:nvSpPr>
        <p:spPr>
          <a:xfrm>
            <a:off x="7150608" y="4315968"/>
            <a:ext cx="4617720" cy="749808"/>
          </a:xfrm>
          <a:prstGeom prst="rect">
            <a:avLst/>
          </a:prstGeom>
          <a:noFill/>
          <a:ln/>
        </p:spPr>
        <p:txBody>
          <a:bodyPr wrap="square" lIns="0" tIns="0" rIns="0" bIns="0" rtlCol="0" anchor="ctr"/>
          <a:lstStyle/>
          <a:p>
            <a:pPr marL="0" indent="0">
              <a:buNone/>
            </a:pPr>
            <a:r>
              <a:rPr lang="en-US" sz="1050" dirty="0">
                <a:solidFill>
                  <a:srgbClr val="5A6A82"/>
                </a:solidFill>
                <a:latin typeface="Calibri" pitchFamily="34" charset="0"/>
                <a:ea typeface="Calibri" pitchFamily="34" charset="-122"/>
                <a:cs typeface="Calibri" pitchFamily="34" charset="-120"/>
              </a:rPr>
              <a:t>The full story of C's malloc/free vs. GC — what goes wrong, how C# and Python solve it, what it costs.</a:t>
            </a:r>
            <a:endParaRPr lang="en-US" sz="1050" dirty="0"/>
          </a:p>
        </p:txBody>
      </p:sp>
      <p:sp>
        <p:nvSpPr>
          <p:cNvPr id="36" name="Shape 34"/>
          <p:cNvSpPr/>
          <p:nvPr/>
        </p:nvSpPr>
        <p:spPr>
          <a:xfrm>
            <a:off x="411480" y="5266944"/>
            <a:ext cx="5577840" cy="1170432"/>
          </a:xfrm>
          <a:prstGeom prst="rect">
            <a:avLst/>
          </a:prstGeom>
          <a:solidFill>
            <a:srgbClr val="F4F6FC"/>
          </a:solidFill>
          <a:ln w="12700">
            <a:solidFill>
              <a:srgbClr val="D0DAF0"/>
            </a:solidFill>
            <a:prstDash val="solid"/>
          </a:ln>
        </p:spPr>
        <p:txBody>
          <a:bodyPr/>
          <a:lstStyle/>
          <a:p>
            <a:endParaRPr lang="en-US"/>
          </a:p>
        </p:txBody>
      </p:sp>
      <p:sp>
        <p:nvSpPr>
          <p:cNvPr id="37" name="Shape 35"/>
          <p:cNvSpPr/>
          <p:nvPr/>
        </p:nvSpPr>
        <p:spPr>
          <a:xfrm>
            <a:off x="411480" y="5266944"/>
            <a:ext cx="731520" cy="1170432"/>
          </a:xfrm>
          <a:prstGeom prst="rect">
            <a:avLst/>
          </a:prstGeom>
          <a:solidFill>
            <a:srgbClr val="1A2B5E"/>
          </a:solidFill>
          <a:ln w="12700">
            <a:solidFill>
              <a:srgbClr val="1A2B5E"/>
            </a:solidFill>
            <a:prstDash val="solid"/>
          </a:ln>
        </p:spPr>
        <p:txBody>
          <a:bodyPr/>
          <a:lstStyle/>
          <a:p>
            <a:endParaRPr lang="en-US"/>
          </a:p>
        </p:txBody>
      </p:sp>
      <p:sp>
        <p:nvSpPr>
          <p:cNvPr id="38" name="Text 36"/>
          <p:cNvSpPr txBox="1"/>
          <p:nvPr/>
        </p:nvSpPr>
        <p:spPr>
          <a:xfrm>
            <a:off x="448056" y="5650992"/>
            <a:ext cx="658368"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Ch 11</a:t>
            </a:r>
            <a:endParaRPr lang="en-US" sz="1100" dirty="0"/>
          </a:p>
        </p:txBody>
      </p:sp>
      <p:sp>
        <p:nvSpPr>
          <p:cNvPr id="39" name="Text 37"/>
          <p:cNvSpPr txBox="1"/>
          <p:nvPr/>
        </p:nvSpPr>
        <p:spPr>
          <a:xfrm>
            <a:off x="1252728" y="5321808"/>
            <a:ext cx="4617720" cy="274320"/>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Programming Paradigms</a:t>
            </a:r>
            <a:endParaRPr lang="en-US" sz="1200" dirty="0"/>
          </a:p>
        </p:txBody>
      </p:sp>
      <p:sp>
        <p:nvSpPr>
          <p:cNvPr id="40" name="Text 38"/>
          <p:cNvSpPr txBox="1"/>
          <p:nvPr/>
        </p:nvSpPr>
        <p:spPr>
          <a:xfrm>
            <a:off x="1252728" y="5614416"/>
            <a:ext cx="4617720" cy="749808"/>
          </a:xfrm>
          <a:prstGeom prst="rect">
            <a:avLst/>
          </a:prstGeom>
          <a:noFill/>
          <a:ln/>
        </p:spPr>
        <p:txBody>
          <a:bodyPr wrap="square" lIns="0" tIns="0" rIns="0" bIns="0" rtlCol="0" anchor="ctr"/>
          <a:lstStyle/>
          <a:p>
            <a:pPr marL="0" indent="0">
              <a:buNone/>
            </a:pPr>
            <a:r>
              <a:rPr lang="en-US" sz="1050" dirty="0">
                <a:solidFill>
                  <a:srgbClr val="5A6A82"/>
                </a:solidFill>
                <a:latin typeface="Calibri" pitchFamily="34" charset="0"/>
                <a:ea typeface="Calibri" pitchFamily="34" charset="-122"/>
                <a:cs typeface="Calibri" pitchFamily="34" charset="-120"/>
              </a:rPr>
              <a:t>Procedural, OOP, functional — different ways of organising how a program thinks about problems.</a:t>
            </a:r>
            <a:endParaRPr lang="en-US" sz="1050" dirty="0"/>
          </a:p>
        </p:txBody>
      </p:sp>
      <p:sp>
        <p:nvSpPr>
          <p:cNvPr id="41" name="Shape 39"/>
          <p:cNvSpPr/>
          <p:nvPr/>
        </p:nvSpPr>
        <p:spPr>
          <a:xfrm>
            <a:off x="6309360" y="5266944"/>
            <a:ext cx="5577840" cy="1170432"/>
          </a:xfrm>
          <a:prstGeom prst="rect">
            <a:avLst/>
          </a:prstGeom>
          <a:solidFill>
            <a:srgbClr val="F4F6FC"/>
          </a:solidFill>
          <a:ln w="12700">
            <a:solidFill>
              <a:srgbClr val="D0DAF0"/>
            </a:solidFill>
            <a:prstDash val="solid"/>
          </a:ln>
        </p:spPr>
        <p:txBody>
          <a:bodyPr/>
          <a:lstStyle/>
          <a:p>
            <a:endParaRPr lang="en-US"/>
          </a:p>
        </p:txBody>
      </p:sp>
      <p:sp>
        <p:nvSpPr>
          <p:cNvPr id="42" name="Shape 40"/>
          <p:cNvSpPr/>
          <p:nvPr/>
        </p:nvSpPr>
        <p:spPr>
          <a:xfrm>
            <a:off x="6309360" y="5266944"/>
            <a:ext cx="731520" cy="1170432"/>
          </a:xfrm>
          <a:prstGeom prst="rect">
            <a:avLst/>
          </a:prstGeom>
          <a:solidFill>
            <a:srgbClr val="1A2B5E"/>
          </a:solidFill>
          <a:ln w="12700">
            <a:solidFill>
              <a:srgbClr val="1A2B5E"/>
            </a:solidFill>
            <a:prstDash val="solid"/>
          </a:ln>
        </p:spPr>
        <p:txBody>
          <a:bodyPr/>
          <a:lstStyle/>
          <a:p>
            <a:endParaRPr lang="en-US"/>
          </a:p>
        </p:txBody>
      </p:sp>
      <p:sp>
        <p:nvSpPr>
          <p:cNvPr id="43" name="Text 41"/>
          <p:cNvSpPr txBox="1"/>
          <p:nvPr/>
        </p:nvSpPr>
        <p:spPr>
          <a:xfrm>
            <a:off x="6345936" y="5650992"/>
            <a:ext cx="658368"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Ch 12</a:t>
            </a:r>
            <a:endParaRPr lang="en-US" sz="1100" dirty="0"/>
          </a:p>
        </p:txBody>
      </p:sp>
      <p:sp>
        <p:nvSpPr>
          <p:cNvPr id="44" name="Text 42"/>
          <p:cNvSpPr txBox="1"/>
          <p:nvPr/>
        </p:nvSpPr>
        <p:spPr>
          <a:xfrm>
            <a:off x="7150608" y="5321808"/>
            <a:ext cx="4617720" cy="274320"/>
          </a:xfrm>
          <a:prstGeom prst="rect">
            <a:avLst/>
          </a:prstGeom>
          <a:noFill/>
          <a:ln/>
        </p:spPr>
        <p:txBody>
          <a:bodyPr wrap="square" lIns="0" tIns="0" rIns="0" bIns="0" rtlCol="0" anchor="ctr"/>
          <a:lstStyle/>
          <a:p>
            <a:pPr marL="0" indent="0">
              <a:buNone/>
            </a:pPr>
            <a:r>
              <a:rPr lang="en-US" sz="1200" b="1" dirty="0">
                <a:solidFill>
                  <a:srgbClr val="1A2B5E"/>
                </a:solidFill>
                <a:latin typeface="Calibri" pitchFamily="34" charset="0"/>
                <a:ea typeface="Calibri" pitchFamily="34" charset="-122"/>
                <a:cs typeface="Calibri" pitchFamily="34" charset="-120"/>
              </a:rPr>
              <a:t>Final Evaluation</a:t>
            </a:r>
            <a:endParaRPr lang="en-US" sz="1200" dirty="0"/>
          </a:p>
        </p:txBody>
      </p:sp>
      <p:sp>
        <p:nvSpPr>
          <p:cNvPr id="45" name="Text 43"/>
          <p:cNvSpPr txBox="1"/>
          <p:nvPr/>
        </p:nvSpPr>
        <p:spPr>
          <a:xfrm>
            <a:off x="7150608" y="5614416"/>
            <a:ext cx="4617720" cy="749808"/>
          </a:xfrm>
          <a:prstGeom prst="rect">
            <a:avLst/>
          </a:prstGeom>
          <a:noFill/>
          <a:ln/>
        </p:spPr>
        <p:txBody>
          <a:bodyPr wrap="square" lIns="0" tIns="0" rIns="0" bIns="0" rtlCol="0" anchor="ctr"/>
          <a:lstStyle/>
          <a:p>
            <a:pPr marL="0" indent="0">
              <a:buNone/>
            </a:pPr>
            <a:r>
              <a:rPr lang="en-US" sz="1050" dirty="0">
                <a:solidFill>
                  <a:srgbClr val="5A6A82"/>
                </a:solidFill>
                <a:latin typeface="Calibri" pitchFamily="34" charset="0"/>
                <a:ea typeface="Calibri" pitchFamily="34" charset="-122"/>
                <a:cs typeface="Calibri" pitchFamily="34" charset="-120"/>
              </a:rPr>
              <a:t>Apply everything: evaluate C, C#, and Python across all dimensions studied.</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A2B5E"/>
          </a:solidFill>
          <a:ln/>
        </p:spPr>
        <p:txBody>
          <a:bodyPr/>
          <a:lstStyle/>
          <a:p>
            <a:endParaRPr lang="en-US"/>
          </a:p>
        </p:txBody>
      </p:sp>
      <p:sp>
        <p:nvSpPr>
          <p:cNvPr id="3" name="Shape 1"/>
          <p:cNvSpPr/>
          <p:nvPr/>
        </p:nvSpPr>
        <p:spPr>
          <a:xfrm>
            <a:off x="8961120" y="4114800"/>
            <a:ext cx="3657600" cy="3657600"/>
          </a:xfrm>
          <a:prstGeom prst="ellipse">
            <a:avLst/>
          </a:prstGeom>
          <a:solidFill>
            <a:srgbClr val="FFFFFF">
              <a:alpha val="8000"/>
            </a:srgbClr>
          </a:solidFill>
          <a:ln w="12700">
            <a:solidFill>
              <a:srgbClr val="FFFFFF">
                <a:alpha val="8000"/>
              </a:srgbClr>
            </a:solidFill>
            <a:prstDash val="solid"/>
          </a:ln>
        </p:spPr>
        <p:txBody>
          <a:bodyPr/>
          <a:lstStyle/>
          <a:p>
            <a:endParaRPr lang="en-US"/>
          </a:p>
        </p:txBody>
      </p:sp>
      <p:sp>
        <p:nvSpPr>
          <p:cNvPr id="4" name="Shape 2"/>
          <p:cNvSpPr/>
          <p:nvPr/>
        </p:nvSpPr>
        <p:spPr>
          <a:xfrm>
            <a:off x="9875520" y="5303520"/>
            <a:ext cx="2286000" cy="2286000"/>
          </a:xfrm>
          <a:prstGeom prst="ellipse">
            <a:avLst/>
          </a:prstGeom>
          <a:solidFill>
            <a:srgbClr val="FFFFFF">
              <a:alpha val="12000"/>
            </a:srgbClr>
          </a:solidFill>
          <a:ln w="12700">
            <a:solidFill>
              <a:srgbClr val="FFFFFF">
                <a:alpha val="12000"/>
              </a:srgbClr>
            </a:solidFill>
            <a:prstDash val="solid"/>
          </a:ln>
        </p:spPr>
        <p:txBody>
          <a:bodyPr/>
          <a:lstStyle/>
          <a:p>
            <a:endParaRPr lang="en-US"/>
          </a:p>
        </p:txBody>
      </p:sp>
      <p:sp>
        <p:nvSpPr>
          <p:cNvPr id="5" name="Text 3"/>
          <p:cNvSpPr txBox="1"/>
          <p:nvPr/>
        </p:nvSpPr>
        <p:spPr>
          <a:xfrm>
            <a:off x="640080" y="1645920"/>
            <a:ext cx="9144000" cy="201168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CSBS 315</a:t>
            </a:r>
            <a:endParaRPr lang="en-US" sz="3800" dirty="0"/>
          </a:p>
          <a:p>
            <a:pPr marL="0" indent="0">
              <a:buNone/>
            </a:pPr>
            <a:r>
              <a:rPr lang="en-US" sz="3800" b="1" dirty="0">
                <a:solidFill>
                  <a:srgbClr val="FFFFFF"/>
                </a:solidFill>
                <a:latin typeface="Calibri" pitchFamily="34" charset="0"/>
                <a:ea typeface="Calibri" pitchFamily="34" charset="-122"/>
                <a:cs typeface="Calibri" pitchFamily="34" charset="-120"/>
              </a:rPr>
              <a:t>Programming Language Design</a:t>
            </a:r>
            <a:endParaRPr lang="en-US" sz="3800" dirty="0"/>
          </a:p>
        </p:txBody>
      </p:sp>
      <p:sp>
        <p:nvSpPr>
          <p:cNvPr id="6" name="Text 4"/>
          <p:cNvSpPr txBox="1"/>
          <p:nvPr/>
        </p:nvSpPr>
        <p:spPr>
          <a:xfrm>
            <a:off x="640080" y="3749040"/>
            <a:ext cx="8229600" cy="731520"/>
          </a:xfrm>
          <a:prstGeom prst="rect">
            <a:avLst/>
          </a:prstGeom>
          <a:noFill/>
          <a:ln/>
        </p:spPr>
        <p:txBody>
          <a:bodyPr wrap="square" lIns="0" tIns="0" rIns="0" bIns="0" rtlCol="0" anchor="ctr"/>
          <a:lstStyle/>
          <a:p>
            <a:pPr marL="0" indent="0">
              <a:buNone/>
            </a:pPr>
            <a:r>
              <a:rPr lang="en-US" sz="1800" dirty="0">
                <a:solidFill>
                  <a:srgbClr val="B8C8F8"/>
                </a:solidFill>
                <a:latin typeface="Calibri" pitchFamily="34" charset="0"/>
                <a:ea typeface="Calibri" pitchFamily="34" charset="-122"/>
                <a:cs typeface="Calibri" pitchFamily="34" charset="-120"/>
              </a:rPr>
              <a:t>Chapter 1 Complete · See you next session</a:t>
            </a:r>
            <a:endParaRPr lang="en-US" sz="1800" dirty="0"/>
          </a:p>
        </p:txBody>
      </p:sp>
      <p:sp>
        <p:nvSpPr>
          <p:cNvPr id="7" name="Text 5"/>
          <p:cNvSpPr txBox="1"/>
          <p:nvPr/>
        </p:nvSpPr>
        <p:spPr>
          <a:xfrm>
            <a:off x="640080" y="6217920"/>
            <a:ext cx="5486400" cy="365760"/>
          </a:xfrm>
          <a:prstGeom prst="rect">
            <a:avLst/>
          </a:prstGeom>
          <a:noFill/>
          <a:ln/>
        </p:spPr>
        <p:txBody>
          <a:bodyPr wrap="square" lIns="0" tIns="0" rIns="0" bIns="0" rtlCol="0" anchor="ctr"/>
          <a:lstStyle/>
          <a:p>
            <a:pPr marL="0" indent="0">
              <a:buNone/>
            </a:pPr>
            <a:r>
              <a:rPr lang="en-US" sz="1100" dirty="0">
                <a:solidFill>
                  <a:srgbClr val="7A90B8"/>
                </a:solidFill>
                <a:latin typeface="Calibri" pitchFamily="34" charset="0"/>
                <a:ea typeface="Calibri" pitchFamily="34" charset="-122"/>
                <a:cs typeface="Calibri" pitchFamily="34" charset="-120"/>
              </a:rPr>
              <a:t>CSBS 315 · Chapter 1</a:t>
            </a:r>
            <a:endParaRPr lang="en-US" sz="1100" dirty="0"/>
          </a:p>
        </p:txBody>
      </p:sp>
      <p:sp>
        <p:nvSpPr>
          <p:cNvPr id="8" name="Text 6"/>
          <p:cNvSpPr txBox="1"/>
          <p:nvPr/>
        </p:nvSpPr>
        <p:spPr>
          <a:xfrm>
            <a:off x="640080" y="5029200"/>
            <a:ext cx="7315200" cy="320040"/>
          </a:xfrm>
          <a:prstGeom prst="rect">
            <a:avLst/>
          </a:prstGeom>
          <a:noFill/>
          <a:ln/>
        </p:spPr>
        <p:txBody>
          <a:bodyPr wrap="square" lIns="0" tIns="0" rIns="0" bIns="0" rtlCol="0" anchor="ctr"/>
          <a:lstStyle/>
          <a:p>
            <a:pPr marL="0" indent="0">
              <a:buNone/>
            </a:pPr>
            <a:r>
              <a:rPr lang="en-US" sz="1300" dirty="0">
                <a:solidFill>
                  <a:srgbClr val="7A90B8"/>
                </a:solidFill>
                <a:latin typeface="Calibri" pitchFamily="34" charset="0"/>
                <a:ea typeface="Calibri" pitchFamily="34" charset="-122"/>
                <a:cs typeface="Calibri" pitchFamily="34" charset="-120"/>
              </a:rPr>
              <a:t>dgill@clark.edu  ·  STEM Building Room 113</a:t>
            </a:r>
            <a:endParaRPr lang="en-US" sz="1300" dirty="0"/>
          </a:p>
        </p:txBody>
      </p:sp>
      <p:sp>
        <p:nvSpPr>
          <p:cNvPr id="9" name="Text 7"/>
          <p:cNvSpPr txBox="1"/>
          <p:nvPr/>
        </p:nvSpPr>
        <p:spPr>
          <a:xfrm>
            <a:off x="640080" y="5440680"/>
            <a:ext cx="7315200" cy="320040"/>
          </a:xfrm>
          <a:prstGeom prst="rect">
            <a:avLst/>
          </a:prstGeom>
          <a:noFill/>
          <a:ln/>
        </p:spPr>
        <p:txBody>
          <a:bodyPr wrap="square" lIns="0" tIns="0" rIns="0" bIns="0" rtlCol="0" anchor="ctr"/>
          <a:lstStyle/>
          <a:p>
            <a:pPr marL="0" indent="0">
              <a:buNone/>
            </a:pPr>
            <a:r>
              <a:rPr lang="en-US" sz="1300" dirty="0">
                <a:solidFill>
                  <a:srgbClr val="B8C8F8"/>
                </a:solidFill>
                <a:latin typeface="Calibri" pitchFamily="34" charset="0"/>
                <a:ea typeface="Calibri" pitchFamily="34" charset="-122"/>
                <a:cs typeface="Calibri" pitchFamily="34" charset="-120"/>
              </a:rPr>
              <a:t>Tutorial available in Canvas — work through it before Chapter 2.</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TotalTime>
  <Words>6828</Words>
  <Application>Microsoft Office PowerPoint</Application>
  <PresentationFormat>Widescreen</PresentationFormat>
  <Paragraphs>452</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Gill, Dimpy</cp:lastModifiedBy>
  <cp:revision>7</cp:revision>
  <dcterms:created xsi:type="dcterms:W3CDTF">2026-09-13T13:41:25Z</dcterms:created>
  <dcterms:modified xsi:type="dcterms:W3CDTF">2026-09-13T14:12:15Z</dcterms:modified>
</cp:coreProperties>
</file>