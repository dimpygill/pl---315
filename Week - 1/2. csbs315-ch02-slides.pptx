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5933" autoAdjust="0"/>
  </p:normalViewPr>
  <p:slideViewPr>
    <p:cSldViewPr snapToGrid="0" snapToObjects="1">
      <p:cViewPr>
        <p:scale>
          <a:sx n="96" d="100"/>
          <a:sy n="96" d="100"/>
        </p:scale>
        <p:origin x="4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9781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Chapter 2. Start by asking students a question before you say anything else:
"You already know Python. You may have seen C or C#. Here is something worth thinking about: if these three languages can all store data, make decisions, and repeat operations — why do they look so completely different from each other?"
Give students 10–15 seconds to think. You want them to feel the puzzle before you offer the answer.
Then say: "That is exactly the question this chapter answers. By the end, you will be able to explain — precisely — why each difference exists, and what the language designer was trying to achieve by making that choice."
This chapter builds four connected concepts in sequence: Code → Tokens → Syntax → Grammar. Every section adds one layer to that understanding. Estimated time for the full chapter: one 75-minute session.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roadmap slide should take about 60 seconds. Do not explain each step in detail — just orient students to the journey.
Say: "We are going to build these four ideas one at a time. Each one only makes sense after you have seen why you need it. So we start with code you already know, and we let the questions the code raises lead us to each new concept."
The key message: "We are not starting with definitions. We are starting with something familiar — a piece of code — and letting the concepts emerge naturally."
Come back to this slide at the end of the chapter to show students how far they have come.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chapter to get right. Spend 3–4 minutes here.
Show the three code examples and ask students to look — not read ahead, just look. Give them 20 seconds of silence.
Then ask: "What do you notice that is different between Python and C?" Take 2–3 responses. Students will notice: Python has no parentheses around the condition, no curly braces, no semicolons — and instead uses a colon and indentation.
Then ask the harder question: "Why? Was Python's designer just lazy? Did they forget the braces?" Students usually laugh — which is good. Then say:
"Guido van Rossum made a deliberate decision. He wanted code to read as close to plain English as possible. He felt parentheses and braces were visual noise — and indentation already shows structure, so why not make it official?"
"Dennis Ritchie, who designed C, was building an operating system. He needed code to be absolutely unambiguous — every block boundary had to be explicit. Braces removed any doubt about what belonged where."
Key message to land: "Neither was wrong. They were solving different problems for different readers. That is language design."
Do NOT move on until students understand that the differences are intentional, not accidental.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inductive entry into tokens. The goal is for students to discover the concept before you name it.
Before showing the answer chips at the bottom, ask the class: "How many pieces do you see in 'int age = 25;'?" 
Take responses. Students usually say 3–5 things. Write them on the board if you have one. Then reveal: there are five — int, age, =, 25, and the semicolon.
"Notice that each one is a distinct kind of thing. int is a type name — it tells us what kind of value age will hold. age is a name the programmer invented. = is an operation. 25 is a fixed number. And the semicolon is a structural signal — it says 'this statement is complete.'"
"Giving precise names to these categories is what this section is about. The word for each piece is: token."
Pause on the word. Write it if needed. "Token = the smallest unit that the language considers meaningful."
Then connect back: "This matters because every language we will study makes different decisions about which tokens to require — and those decisions are the source of all those differences we saw in the opening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row, reading the category name and definition aloud. Go slowly — students are building vocabulary they will use for the rest of the course.
For each type, give one example from the code they already saw:
- keyword → int (reserved by C — you cannot call a variable "int")
- identifier → age (invented by the programmer)
- literal → 25 (a fixed value baked into the code)
- operator → = (performs the assignment operation)
- punctuation → ; (tells the language the statement is done)
The most important distinction to emphasise: keyword vs identifier. Students often confuse these.
"If int is a keyword, can I call my variable 'int'?" Answer: No — and that's exactly why keywords exist as a separate category. The language reserves certain words and gives them fixed meanings. Your identifiers have to be different words.
Also worth noting: punctuation vs operator. The semicolon does not DO anything to a value — it just tells the parser structure. That is why it is punctuation, not an operator.
Ask: "What about the { and } we saw in C? Which category do those fall into?" Answer: punctuation — they structure the code without performing operations on values.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core of the tokens section. Give it 4 minutes.
Walk through the three rows top to bottom. The C and C# rows are identical — make this point explicitly: "C# deliberately copied C's basic token structure. That was a design decision by Microsoft — they wanted C programmers to feel immediately at home in C#."
Then move to Python. Point to the missing tokens and ask: "Why would a designer remove these two tokens?" 
For the type keyword: "Python decided that the programmer should not have to declare types. The language figures out the type of a value from context, when the code runs. This is called dynamic typing — and we will spend a whole chapter on it later. For now: one design choice → one fewer token."
For the semicolon: "Python decided that a newline is sufficient to end a statement. In C, you could write your entire program on one line if you wanted — because semicolons mark the boundaries. Python chose to use the line break instead. Cleaner, fewer characters — but now you cannot freely break statements across lines."
For the Think activity: Five tokens — result (identifier), = (operator), score (identifier), + (operator), 10 (literal). No semicolon token — the newline plays that role in Python but does not appear as a token you list.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syntax with this analogy. It is highly effective because students already understand English grammar intuitively.
Say: "You already know what it means for a sentence to be grammatically correct in English. You know 'The dog chased the cat' is right and 'Dog the chased cat the' is wrong — even though all the words are there. You are applying grammar rules without thinking about them."
"Programming languages do exactly the same thing. Once we have tokens — the pieces — the language needs rules for which orderings of those pieces are valid. Those rules are called syntax."
Then ask: "So syntax is about...?" Let students finish: structure, arrangement, form. Correct — syntax is purely about structure, not about what the code does. That distinction comes in Section 4.
This is a deliberate pause slide. Don't rush it. The concept of "rules for token arrangement" is the foundation everything else in this section builds 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works best as a puzzle. Show it before explaining — give students 15–20 seconds to find the difference.
Most students can spot it: the parentheses are missing in Version B. Then ask: "Is that actually a problem? The condition is still there — score &gt; 50 — the computer can still figure out what we mean, right?"
This is the perfect moment to introduce the idea that a programming language does NOT interpret intent. It follows rules mechanically. The grammar rule for an if-statement in C says: the token "if", then "(", then a condition, then ")", then the block. If the "(" is missing, the rule fails. That's a syntax error — not because the computer can't figure it out, but because it follows the rules, not the intent.
Then show the interesting twist: "But here is something worth thinking about. Version B — no parentheses, just the condition — is basically how Python writes an if-statement. So this is not about one way being right and the other wrong. It is about different languages having different rules."
This reinforces the central theme: syntax rules are choices, not universal laws.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three specific syntax differences. Move through them at a steady pace — about 90 seconds each.
Block delimiters (1): "In C and C#, curly braces are tokens. They are actual characters the language requires to mark where a block begins and ends. In Python, there are no brace tokens at all — instead, the amount of indentation determines what belongs inside the block. Both work. Both have consequences."
Statement terminators (2): "C and C# use the semicolon to say 'this statement is done.' Python uses the line break. This means in C you can write 'x=5; y=10; z=15;' all on one line — the semicolons are the boundaries. In Python you cannot do that as easily — each line is one statement."
Ask: "What would happen if you forgot a semicolon in C?" The compiler gives an error on the next line, which is confusing — the error appears to be in the wrong place.
Type declarations (3): "C requires that you always say what type a variable holds. C# lets you use 'var' and have the compiler figure it out. Python never requires a type declaration at all. These three positions represent three different language design philosophies — which we will examine in depth in Section 5 of this chapter."
Close: "These three things — block delimiters, statement terminators, and type declarations — account for the majority of the visible differences between C, C#, and Python. And every single one is a design decision."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grammar section needs to be introduced gently. Students may have heard the word "grammar" in the context of formal language theory or compiler courses — and that can cause anxiety. Defuse this upfront.
Say: "Grammar sounds scary but the core idea is simple. You already know what a grammar is — you use English grammar every day. A programming language grammar is just a more precise version of the same thing."
Then give the plain-English rule: "An assignment statement consists of a name, then an equals sign, then a value." Ask: "Does everyone understand that rule?" They will say yes.
"Good. A grammar rule is just that — but written in a notation that is precise enough for a computer to check. We are not going into compiler theory or formal language theory. We are going to look at a few small grammar rules, understand what they mean, and see how they capture the syntax decisions we've already been discussing."
The key message to land before moving on: "Grammar is where syntax choices become permanent. Once a language designer writes a grammar rule that says 'parentheses are required,' every programmer who ever uses that language must have parentheses there. That is why grammar decisions matter so much."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notation table symbol by symbol. Each row should take about 30 seconds.
&lt;name&gt; (angle brackets): "Things in angle brackets are rule names — they are like variables in the grammar. They point to other rules defined elsewhere. So &lt;identifier&gt; does not mean the literal word 'identifier' — it means 'whatever the grammar defines an identifier to be.'"
"text" (quotes): "Things in double quotes are exact literal tokens. The "=" in our rule means the actual equals sign character must appear in the code at that position. Not any operator — specifically =."
::= : "Read this as 'is defined as' or 'expands to.' The left side is the rule name. The right side is what that rule consists of. So our rule says: an assignment is defined as an identifier, followed by =, followed by a value."
| (pipe): "This means 'or.' We will see it on the next slide. It lets a rule say 'this or that is acceptable.'"
Then read the full rule aloud slowly: "An assignment is defined as: an identifier, then the = symbol, then a value." Then say: "Does that match the plain-English rule we started with?" Yes — it is exactly the same idea, just in precise notation.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grammar feel real and consequential. Spend 3–4 minutes here.
Walk through the C rule left to right: "The grammar says an if-statement in C must start with the keyword 'if', then a literal '(' token, then the condition, then a ')' token, then '{', then the statements, then '}'. Every one of those tokens is mandatory. The parentheses and braces are not stylistic — they are required by the grammar rule."
Then point to Python: "Now look at Python's rule. No parentheses. Instead of { and }, you get INDENT and DEDENT — special tokens that the language generates from the amount of indentation in your file. Not from explicit brace characters — from whitespace."
The INDENT/DEDENT concept is often surprising to students. Explain: "When Python reads your code, it looks at how much each line is indented. When the indentation increases, it generates an INDENT token. When it decreases, a DEDENT. Those tokens play the same role in Python's grammar that { and } play in C's grammar."
For the Think activity: A is valid (follows the rule exactly). B is invalid (no parentheses — the C grammar requires them). C is the tricky one — in C, you can omit braces when there is only one statement in the body. The grammar has an alternative form for that. But it is a famous source of bugs. Ask: "Why is C as valid? And why is it risky?" This generates good discussion.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crucial distinction and worth 3 minutes of careful explanation.
Say: "Syntax is the only thing we have been talking about so far in this chapter. But syntax is not the only thing that can go wrong with code. There are actually two completely separate questions a language asks about your program."
Point to the two boxes: "Syntax: is it written correctly? Does the token arrangement follow the grammar rules? And separately — semantics: does it mean something sensible? Are the types compatible? Does the variable exist?"
"These are checked at completely different stages. Syntax is checked before the program runs — it is a structural check. Semantics is checked later — sometimes at compile time (in C and C#), sometimes only when the code actually executes (in Python)."
Walk through the four examples:
Row 1: Both fine — nothing to say except "this is what we want."
Row 2: Syntax error — you cannot have + with nothing after it. The grammar requires an operand. The semantics is not even checked.
Row 3: "hello" + 3 — the structure is perfectly fine. Two values connected by +. But the meaning is broken — you cannot add a string to a number. This is a type error — semantic, not syntactic.
Row 4: y + 3 where y was never declared — again, the structure is valid (identifier + literal). But y does not exist. That is a semantic problem — an undefined variable.
Close: "The reason this distinction matters: a program can be syntactically perfect and completely wrong. Passing the syntax check is necessary but not sufficient for correct code."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section divider to set up expectations. Students are about to encounter the most intellectually demanding material in the chapter — but also the most rewarding.
Say: "Up until now we have been describing differences. We have said: Python uses indentation, C uses braces. We have noticed the differences. Now we are going to ask the harder question: why?"
"And the reason it is harder is that there is rarely a clean answer. Every syntax decision involves trade-offs. Choosing to maximise one thing almost always costs something else."
Read through the six trade-off categories. Ask students: "Can you already guess how some of these conflict? If you maximise readability, what might you sacrifice?" 
Expected student answers: explicitness, consistency. That is exactly right — Python maximises readability and sacrifices some explicitness. C maximises explicitness and sacrifices some readability for beginners.
"Hold those tensions in mind as we go through the next four slides. Each one is a specific trade-off decision — and for each one, the three languages made different choices."
This is also a good moment to remind students: "You are not here to decide which language is best. You are here to understand why each made the choices it did, and what the consequences are."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iconic syntax debate in programming and students will have opinions. Use that energy.
Start by showing the two code examples and asking: "Which do you find easier to read?" Take a quick show of hands. Usually Python wins for beginners. Then ask: "Does anyone prefer the C version? Why?"
Common answers for preferring C: "I know exactly where the block ends." "I can format it however I like." These are legitimate points — acknowledge them.
Gain for braces: "Structure is always explicit. There is never any ambiguity about which statements belong inside the block — the braces mark the exact boundaries. And because whitespace is ignored, you can format C code any way you like. Some teams use different indentation styles — it does not affect correctness."
Cost for braces: "Forgetting a closing brace is the single most common C beginner error. And the error message does not always point to the right place — the compiler sees the error much later when it realises the structure is unmatched."
Gain for indentation: "Your code has to look right. There is no way to visually mislead a reader — the indentation IS the structure. Every Python program in the world follows the same visual convention, because the language enforces it."
Cost for indentation: "Tabs and spaces look identical but produce different indentation levels. If you mix them, Python will give you an IndentationError that is genuinely mysterious. And pasting code from a web page, a PDF, or a different editor can silently corrupt your indentation."
Close: "Both approaches have worked for decades. The lesson is not which is right — the lesson is that this is a real design decision with real consequences either way."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three trade-offs more quickly — about 90 seconds each.
Trade-off 2 (semicolons vs newlines): "C and C# use semicolons because they want to be completely unambiguous about statement boundaries — and they want to allow statements to span multiple lines freely. Python uses newlines because its designer wanted less visual noise. The consequence: Python needs a special backslash character to continue a statement across multiple lines, which is less natural."
Trade-off 3 (type declarations): Walk through the three columns. "C requires you to always say what type a variable holds — this catches type errors at compile time. C# lets you use 'var' to have the compiler infer the type — you keep safety but write less. Python never requires type declarations — which makes code shorter but means type errors only appear when the code runs."
Ask: "When would the Python approach cause you the most pain?" Expected answers: large codebases, long-running programs, code others will maintain. These are exactly the scenarios where C# or C's approach is valuable.
Trade-off 4 (parentheses): "C required parentheses around if-conditions in the 1970s because it made the parser simpler. Once that decision was made, C# kept it — not because it was necessary, but because millions of programmers already expected it. Python's designer decided the colon was a cleaner boundary marker and dropped the parentheses as unnecessary visual noise." 
"Notice that this is not a performance difference. It is a readability preference — and reasonable people disagree."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synthesis activity. Give students 4–5 minutes to work through the questions in pairs or small groups before you discuss as a class. The goal is design-thinking, not syntax memorisation.
Tell students: "Don't just look at what is different. Look at what each language required — and what it left out. Ask why."
After group discussion, take responses question by question:
Q1 — What each language requires vs leaves implicit:
C requires: explicit type for score (int), parentheses, curly braces, return statement, main() function.
C# requires: explicit type conversion from string to int, parentheses, braces. Handles the entry point automatically.
Python leaves implicit: the type of score, block boundaries (indentation), entry point. Still requires explicit int() conversion.
Q2 — Intentional choices and goals:
C's explicitness — every type, every brace, every return — was intentional. C was built for systems programming where implicit behaviour is a bug, not a feature.
Python's minimalism — no braces, no type keywords, no semicolons — was intentional. Guido van Rossum wanted code that reads like pseudocode.
C#'s middle position — keeping braces but adding inference and richer libraries — was intentional. Microsoft wanted C and Java programmers to feel at home.
Q3 — Readability is not objective:
Most beginners say Python. But ask: would an experienced C programmer find Python's lack of explicit structure uncomfortable? Yes — because they expect to see block boundaries marked explicitly.
Key insight: "Readability depends on what you already know. A language that looks cluttered to a Python programmer looks clear and safe to a C programmer."
Q4 — Trade-offs:
C: Maximum control and transparency in exchange for verbosity.
C#: Safety and productivity in exchange for a more complex language.
Python: Speed of writing in exchange for catching errors later.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works well as a discussion prompt. For each misconception, ask the class first: "Who has heard this? Who believed this before today?" Take honest hands — students are usually willing to admit it.
Misconception 1 (Python indentation): "This is the one I want to make sure everyone leaves with clearly. Indentation in Python is not a style preference. It is not something your linter complains about. It is a hard syntax requirement. The language actually generates special tokens — called INDENT and DEDENT — from the physical indentation in your file. The parser uses those tokens exactly the way it uses { and } in C. If you indent incorrectly, Python refuses to run the code."
Misconception 2 (compiles = correct): "This is a very common mistake. Students see 'no errors' and think they are done. Compiling means: the structure is valid, the types check out (in C and C#). It says nothing about whether the logic is right. A compiler is not your QA engineer — it is a grammar checker. Nothing more."
Misconception 3 (one best syntax): "This is the deepest one to unpick. We have been working toward this all chapter. There is no objectively best syntax because there is no single goal to optimise for. C's syntax is better for systems programming. Python's syntax is better for rapid development. C#'s syntax is better for large teams. Each is better in its domain. Our job is to understand the choices, not to rank them."
This slide is a good place to pause and take questions before moving to the quiz.</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for a rapid-fire class discussion before sending students to the tutorial quiz.
For each question, show just the question first and take 2–3 answers from the class before revealing the answer column.
Q1 — Token types: Most students get this right now that they have seen the categories. The interesting follow-up: "Why is 'int' not an identifier, even though it looks like a word?" Because it is reserved — the language owns it, you cannot use it as a variable name.
Q3 — What syntax does: Students sometimes say "syntax controls what a program does." Push back: "Does syntax control execution? If I fix a syntax error, does the program automatically do the right thing?" No — syntax only controls structure. Execution is semantics.
Q5 — Syntax vs meaning: This is the hardest distinction for students to internalise. Emphasise: "result = 'hello' + 5 follows Python's grammar perfectly. Two values connected by +. The grammar does not say what types the values have to be. That is a semantic question — checked separately."
Q8 — Big picture: This is the answer the whole chapter has been building toward. If a student can give this answer confidently, they understand the chapter. "Each language was optimising for different goals." That one sentence is the takeaway.
Tell students: "The full 8-question quiz is in the tutorial. Go through it before the next session. The questions at the end connect syntax to the topics in Chapters 3, 4, and 5, so it is worth doing to prepare for what is coming."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close the chapter and preview what is coming. Give it 2–3 minutes.
For each connection, briefly explain the link:
Chapter 3 (Variable Binding): "When you write 'int score = 95' in C, the type keyword 'int' is a syntax element. But it also tells you something deeper — it tells you that C decided the type of this variable at write-time, not at runtime. The syntax is a window into the binding mechanism. We will explore that in Chapter 3."
Chapter 4 (Scope Rules): "We have talked about block delimiters — braces and indentation. In Chapter 4 we will discover that these block boundaries are exactly the scope boundaries. A variable declared inside a pair of braces in C exists only inside those braces. The syntax of the block and the scope of variables are the same thing."
Chapter 5 (Type Systems): "The presence or absence of a type keyword — int vs var vs nothing — is the visible surface of the type system. In Chapter 5 we go deep on what static typing and dynamic typing actually mean, how they work, and what the consequences are."
Close with the one-sentence summary. Ask a student to read it aloud. Then say: "That sentence should feel like something you understand now, not just memorised. Tokens, syntax, grammar, trade-offs — you have seen all of them in action today."
Ask: "If someone asked you tomorrow why Python uses indentation instead of braces, what would you say?" Let a student give the answer. If they can say "it was a deliberate design choice to enforce readability — and it has trade-offs," the chapter has landed.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Keep this brief — 60 seconds.
Remind students of two things:
1. The Chapter 2 tutorial is in Canvas. It has the interactive token explorer (students can type any code and see it break into tokens in real time), plus 8 quiz questions with instant feedback and detailed explanations. They should complete it before the next session.
2. Before Chapter 3, they should think about this question: "When you write 'x = 5' in Python, when does x get its value? When you type the code, or when it runs?" That question is the entry point for Chapter 3 on variable binding.
If there are questions, take them now. If not, say: "See you next session — we go deeper on what actually happens when a variable gets its value."
Contact: dgill@clark.edu, STEM Building Room 113.</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A2B5E"/>
          </a:solidFill>
          <a:ln/>
        </p:spPr>
        <p:txBody>
          <a:bodyPr/>
          <a:lstStyle/>
          <a:p>
            <a:endParaRPr lang="en-US"/>
          </a:p>
        </p:txBody>
      </p:sp>
      <p:sp>
        <p:nvSpPr>
          <p:cNvPr id="3" name="Shape 1"/>
          <p:cNvSpPr/>
          <p:nvPr/>
        </p:nvSpPr>
        <p:spPr>
          <a:xfrm>
            <a:off x="8686800" y="3840480"/>
            <a:ext cx="4572000" cy="4572000"/>
          </a:xfrm>
          <a:prstGeom prst="ellipse">
            <a:avLst/>
          </a:prstGeom>
          <a:solidFill>
            <a:srgbClr val="FFFFFF">
              <a:alpha val="7000"/>
            </a:srgbClr>
          </a:solidFill>
          <a:ln w="12700">
            <a:solidFill>
              <a:srgbClr val="FFFFFF">
                <a:alpha val="7000"/>
              </a:srgbClr>
            </a:solidFill>
            <a:prstDash val="solid"/>
          </a:ln>
        </p:spPr>
        <p:txBody>
          <a:bodyPr/>
          <a:lstStyle/>
          <a:p>
            <a:endParaRPr lang="en-US"/>
          </a:p>
        </p:txBody>
      </p:sp>
      <p:sp>
        <p:nvSpPr>
          <p:cNvPr id="4" name="Shape 2"/>
          <p:cNvSpPr/>
          <p:nvPr/>
        </p:nvSpPr>
        <p:spPr>
          <a:xfrm>
            <a:off x="10241280" y="5303520"/>
            <a:ext cx="2743200" cy="2743200"/>
          </a:xfrm>
          <a:prstGeom prst="ellipse">
            <a:avLst/>
          </a:prstGeom>
          <a:solidFill>
            <a:srgbClr val="FFFFFF">
              <a:alpha val="11000"/>
            </a:srgbClr>
          </a:solidFill>
          <a:ln w="12700">
            <a:solidFill>
              <a:srgbClr val="FFFFFF">
                <a:alpha val="11000"/>
              </a:srgbClr>
            </a:solidFill>
            <a:prstDash val="solid"/>
          </a:ln>
        </p:spPr>
        <p:txBody>
          <a:bodyPr/>
          <a:lstStyle/>
          <a:p>
            <a:endParaRPr lang="en-US"/>
          </a:p>
        </p:txBody>
      </p:sp>
      <p:sp>
        <p:nvSpPr>
          <p:cNvPr id="5" name="Text 3"/>
          <p:cNvSpPr txBox="1"/>
          <p:nvPr/>
        </p:nvSpPr>
        <p:spPr>
          <a:xfrm>
            <a:off x="640080" y="1828800"/>
            <a:ext cx="9144000" cy="2194560"/>
          </a:xfrm>
          <a:prstGeom prst="rect">
            <a:avLst/>
          </a:prstGeom>
          <a:noFill/>
          <a:ln/>
        </p:spPr>
        <p:txBody>
          <a:bodyPr wrap="square" lIns="0" tIns="0" rIns="0" bIns="0" rtlCol="0" anchor="ctr"/>
          <a:lstStyle/>
          <a:p>
            <a:pPr marL="0" indent="0">
              <a:lnSpc>
                <a:spcPct val="110000"/>
              </a:lnSpc>
              <a:buNone/>
            </a:pPr>
            <a:r>
              <a:rPr lang="en-US" sz="3600" b="1" dirty="0">
                <a:solidFill>
                  <a:srgbClr val="FFFFFF"/>
                </a:solidFill>
                <a:latin typeface="Calibri" pitchFamily="34" charset="0"/>
                <a:ea typeface="Calibri" pitchFamily="34" charset="-122"/>
                <a:cs typeface="Calibri" pitchFamily="34" charset="-120"/>
              </a:rPr>
              <a:t>Syntax, Tokens,</a:t>
            </a:r>
            <a:endParaRPr lang="en-US" sz="3600" dirty="0"/>
          </a:p>
          <a:p>
            <a:pPr marL="0" indent="0">
              <a:lnSpc>
                <a:spcPct val="110000"/>
              </a:lnSpc>
              <a:buNone/>
            </a:pPr>
            <a:r>
              <a:rPr lang="en-US" sz="3600" b="1" dirty="0">
                <a:solidFill>
                  <a:srgbClr val="FFFFFF"/>
                </a:solidFill>
                <a:latin typeface="Calibri" pitchFamily="34" charset="0"/>
                <a:ea typeface="Calibri" pitchFamily="34" charset="-122"/>
                <a:cs typeface="Calibri" pitchFamily="34" charset="-120"/>
              </a:rPr>
              <a:t>and Grammars</a:t>
            </a:r>
            <a:endParaRPr lang="en-US" sz="3600" dirty="0"/>
          </a:p>
        </p:txBody>
      </p:sp>
      <p:sp>
        <p:nvSpPr>
          <p:cNvPr id="6" name="Text 4"/>
          <p:cNvSpPr txBox="1"/>
          <p:nvPr/>
        </p:nvSpPr>
        <p:spPr>
          <a:xfrm>
            <a:off x="640080" y="4114800"/>
            <a:ext cx="8229600" cy="548640"/>
          </a:xfrm>
          <a:prstGeom prst="rect">
            <a:avLst/>
          </a:prstGeom>
          <a:noFill/>
          <a:ln/>
        </p:spPr>
        <p:txBody>
          <a:bodyPr wrap="square" lIns="0" tIns="0" rIns="0" bIns="0" rtlCol="0" anchor="ctr"/>
          <a:lstStyle/>
          <a:p>
            <a:pPr marL="0" indent="0">
              <a:buNone/>
            </a:pPr>
            <a:r>
              <a:rPr lang="en-US" sz="1700" dirty="0">
                <a:solidFill>
                  <a:srgbClr val="B8C8F8"/>
                </a:solidFill>
                <a:latin typeface="Calibri" pitchFamily="34" charset="0"/>
                <a:ea typeface="Calibri" pitchFamily="34" charset="-122"/>
                <a:cs typeface="Calibri" pitchFamily="34" charset="-120"/>
              </a:rPr>
              <a:t>Why do C, Python, and C# look so different — when they can all do the same things?</a:t>
            </a:r>
            <a:endParaRPr lang="en-US" sz="1700" dirty="0"/>
          </a:p>
        </p:txBody>
      </p:sp>
      <p:sp>
        <p:nvSpPr>
          <p:cNvPr id="7" name="Text 5"/>
          <p:cNvSpPr txBox="1"/>
          <p:nvPr/>
        </p:nvSpPr>
        <p:spPr>
          <a:xfrm>
            <a:off x="640080" y="6309360"/>
            <a:ext cx="5486400" cy="320040"/>
          </a:xfrm>
          <a:prstGeom prst="rect">
            <a:avLst/>
          </a:prstGeom>
          <a:noFill/>
          <a:ln/>
        </p:spPr>
        <p:txBody>
          <a:bodyPr wrap="square" lIns="0" tIns="0" rIns="0" bIns="0" rtlCol="0" anchor="ctr"/>
          <a:lstStyle/>
          <a:p>
            <a:pPr marL="0" indent="0">
              <a:buNone/>
            </a:pPr>
            <a:r>
              <a:rPr lang="en-US" sz="1100" dirty="0">
                <a:solidFill>
                  <a:srgbClr val="7A90B8"/>
                </a:solidFill>
                <a:latin typeface="Calibri" pitchFamily="34" charset="0"/>
                <a:ea typeface="Calibri" pitchFamily="34" charset="-122"/>
                <a:cs typeface="Calibri" pitchFamily="34" charset="-120"/>
              </a:rPr>
              <a:t>CSBS 315 · Chapter 2 of 12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51560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Chapter Roadmap — Four Concepts in Sequence</a:t>
            </a:r>
            <a:endParaRPr lang="en-US" sz="2200" dirty="0"/>
          </a:p>
        </p:txBody>
      </p:sp>
      <p:sp>
        <p:nvSpPr>
          <p:cNvPr id="4" name="Text 2"/>
          <p:cNvSpPr txBox="1"/>
          <p:nvPr/>
        </p:nvSpPr>
        <p:spPr>
          <a:xfrm>
            <a:off x="10515600" y="256032"/>
            <a:ext cx="150876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Overview</a:t>
            </a:r>
            <a:endParaRPr lang="en-US" sz="900" dirty="0"/>
          </a:p>
        </p:txBody>
      </p:sp>
      <p:sp>
        <p:nvSpPr>
          <p:cNvPr id="5" name="Shape 3"/>
          <p:cNvSpPr/>
          <p:nvPr/>
        </p:nvSpPr>
        <p:spPr>
          <a:xfrm>
            <a:off x="411480" y="1051560"/>
            <a:ext cx="502920" cy="502920"/>
          </a:xfrm>
          <a:prstGeom prst="rect">
            <a:avLst/>
          </a:prstGeom>
          <a:solidFill>
            <a:srgbClr val="1A2B5E"/>
          </a:solidFill>
          <a:ln/>
        </p:spPr>
        <p:txBody>
          <a:bodyPr/>
          <a:lstStyle/>
          <a:p>
            <a:endParaRPr lang="en-US"/>
          </a:p>
        </p:txBody>
      </p:sp>
      <p:sp>
        <p:nvSpPr>
          <p:cNvPr id="6" name="Text 4"/>
          <p:cNvSpPr txBox="1"/>
          <p:nvPr/>
        </p:nvSpPr>
        <p:spPr>
          <a:xfrm>
            <a:off x="411480" y="1124712"/>
            <a:ext cx="50292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078992" y="1088136"/>
            <a:ext cx="2560320" cy="274320"/>
          </a:xfrm>
          <a:prstGeom prst="rect">
            <a:avLst/>
          </a:prstGeom>
          <a:noFill/>
          <a:ln/>
        </p:spPr>
        <p:txBody>
          <a:bodyPr wrap="square" lIns="0" tIns="0" rIns="0" bIns="0" rtlCol="0" anchor="ctr"/>
          <a:lstStyle/>
          <a:p>
            <a:pPr marL="0" indent="0">
              <a:buNone/>
            </a:pPr>
            <a:r>
              <a:rPr lang="en-US" sz="1500" b="1" dirty="0">
                <a:solidFill>
                  <a:srgbClr val="1A2B5E"/>
                </a:solidFill>
                <a:latin typeface="Calibri" pitchFamily="34" charset="0"/>
                <a:ea typeface="Calibri" pitchFamily="34" charset="-122"/>
                <a:cs typeface="Calibri" pitchFamily="34" charset="-120"/>
              </a:rPr>
              <a:t>Code</a:t>
            </a:r>
            <a:endParaRPr lang="en-US" sz="1500" dirty="0"/>
          </a:p>
        </p:txBody>
      </p:sp>
      <p:sp>
        <p:nvSpPr>
          <p:cNvPr id="8" name="Text 6"/>
          <p:cNvSpPr txBox="1"/>
          <p:nvPr/>
        </p:nvSpPr>
        <p:spPr>
          <a:xfrm>
            <a:off x="1078992" y="1344168"/>
            <a:ext cx="10424160" cy="822960"/>
          </a:xfrm>
          <a:prstGeom prst="rect">
            <a:avLst/>
          </a:prstGeom>
          <a:noFill/>
          <a:ln/>
        </p:spPr>
        <p:txBody>
          <a:bodyPr wrap="square" lIns="0" tIns="0" rIns="0" bIns="0" rtlCol="0" anchor="ctr"/>
          <a:lstStyle/>
          <a:p>
            <a:pPr marL="0" indent="0">
              <a:lnSpc>
                <a:spcPct val="130000"/>
              </a:lnSpc>
              <a:buNone/>
            </a:pPr>
            <a:r>
              <a:rPr lang="en-US" sz="1300" dirty="0">
                <a:solidFill>
                  <a:srgbClr val="1E2A3A"/>
                </a:solidFill>
                <a:latin typeface="Calibri" pitchFamily="34" charset="0"/>
                <a:ea typeface="Calibri" pitchFamily="34" charset="-122"/>
                <a:cs typeface="Calibri" pitchFamily="34" charset="-120"/>
              </a:rPr>
              <a:t>What you already write as a programmer</a:t>
            </a:r>
            <a:endParaRPr lang="en-US" sz="1300" dirty="0"/>
          </a:p>
        </p:txBody>
      </p:sp>
      <p:sp>
        <p:nvSpPr>
          <p:cNvPr id="9" name="Text 7"/>
          <p:cNvSpPr txBox="1"/>
          <p:nvPr/>
        </p:nvSpPr>
        <p:spPr>
          <a:xfrm>
            <a:off x="530352" y="1618488"/>
            <a:ext cx="274320" cy="329184"/>
          </a:xfrm>
          <a:prstGeom prst="rect">
            <a:avLst/>
          </a:prstGeom>
          <a:noFill/>
          <a:ln/>
        </p:spPr>
        <p:txBody>
          <a:bodyPr wrap="square" lIns="0" tIns="0" rIns="0" bIns="0" rtlCol="0" anchor="ctr"/>
          <a:lstStyle/>
          <a:p>
            <a:pPr marL="0" indent="0" algn="ctr">
              <a:buNone/>
            </a:pPr>
            <a:r>
              <a:rPr lang="en-US" sz="1400" dirty="0">
                <a:solidFill>
                  <a:srgbClr val="5A6A82"/>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411480" y="2404872"/>
            <a:ext cx="502920" cy="502920"/>
          </a:xfrm>
          <a:prstGeom prst="rect">
            <a:avLst/>
          </a:prstGeom>
          <a:solidFill>
            <a:srgbClr val="1A2B5E"/>
          </a:solidFill>
          <a:ln/>
        </p:spPr>
        <p:txBody>
          <a:bodyPr/>
          <a:lstStyle/>
          <a:p>
            <a:endParaRPr lang="en-US"/>
          </a:p>
        </p:txBody>
      </p:sp>
      <p:sp>
        <p:nvSpPr>
          <p:cNvPr id="11" name="Text 9"/>
          <p:cNvSpPr txBox="1"/>
          <p:nvPr/>
        </p:nvSpPr>
        <p:spPr>
          <a:xfrm>
            <a:off x="411480" y="2478024"/>
            <a:ext cx="50292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1078992" y="2441448"/>
            <a:ext cx="2560320" cy="274320"/>
          </a:xfrm>
          <a:prstGeom prst="rect">
            <a:avLst/>
          </a:prstGeom>
          <a:noFill/>
          <a:ln/>
        </p:spPr>
        <p:txBody>
          <a:bodyPr wrap="square" lIns="0" tIns="0" rIns="0" bIns="0" rtlCol="0" anchor="ctr"/>
          <a:lstStyle/>
          <a:p>
            <a:pPr marL="0" indent="0">
              <a:buNone/>
            </a:pPr>
            <a:r>
              <a:rPr lang="en-US" sz="1500" b="1" dirty="0">
                <a:solidFill>
                  <a:srgbClr val="1A2B5E"/>
                </a:solidFill>
                <a:latin typeface="Calibri" pitchFamily="34" charset="0"/>
                <a:ea typeface="Calibri" pitchFamily="34" charset="-122"/>
                <a:cs typeface="Calibri" pitchFamily="34" charset="-120"/>
              </a:rPr>
              <a:t>Tokens</a:t>
            </a:r>
            <a:endParaRPr lang="en-US" sz="1500" dirty="0"/>
          </a:p>
        </p:txBody>
      </p:sp>
      <p:sp>
        <p:nvSpPr>
          <p:cNvPr id="13" name="Text 11"/>
          <p:cNvSpPr txBox="1"/>
          <p:nvPr/>
        </p:nvSpPr>
        <p:spPr>
          <a:xfrm>
            <a:off x="1078992" y="2697480"/>
            <a:ext cx="10424160" cy="822960"/>
          </a:xfrm>
          <a:prstGeom prst="rect">
            <a:avLst/>
          </a:prstGeom>
          <a:noFill/>
          <a:ln/>
        </p:spPr>
        <p:txBody>
          <a:bodyPr wrap="square" lIns="0" tIns="0" rIns="0" bIns="0" rtlCol="0" anchor="ctr"/>
          <a:lstStyle/>
          <a:p>
            <a:pPr marL="0" indent="0">
              <a:lnSpc>
                <a:spcPct val="130000"/>
              </a:lnSpc>
              <a:buNone/>
            </a:pPr>
            <a:r>
              <a:rPr lang="en-US" sz="1300" dirty="0">
                <a:solidFill>
                  <a:srgbClr val="1E2A3A"/>
                </a:solidFill>
                <a:latin typeface="Calibri" pitchFamily="34" charset="0"/>
                <a:ea typeface="Calibri" pitchFamily="34" charset="-122"/>
                <a:cs typeface="Calibri" pitchFamily="34" charset="-120"/>
              </a:rPr>
              <a:t>The individual building blocks inside any line of code</a:t>
            </a:r>
            <a:endParaRPr lang="en-US" sz="1300" dirty="0"/>
          </a:p>
        </p:txBody>
      </p:sp>
      <p:sp>
        <p:nvSpPr>
          <p:cNvPr id="14" name="Text 12"/>
          <p:cNvSpPr txBox="1"/>
          <p:nvPr/>
        </p:nvSpPr>
        <p:spPr>
          <a:xfrm>
            <a:off x="530352" y="2971800"/>
            <a:ext cx="274320" cy="329184"/>
          </a:xfrm>
          <a:prstGeom prst="rect">
            <a:avLst/>
          </a:prstGeom>
          <a:noFill/>
          <a:ln/>
        </p:spPr>
        <p:txBody>
          <a:bodyPr wrap="square" lIns="0" tIns="0" rIns="0" bIns="0" rtlCol="0" anchor="ctr"/>
          <a:lstStyle/>
          <a:p>
            <a:pPr marL="0" indent="0" algn="ctr">
              <a:buNone/>
            </a:pPr>
            <a:r>
              <a:rPr lang="en-US" sz="1400" dirty="0">
                <a:solidFill>
                  <a:srgbClr val="5A6A82"/>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411480" y="3758184"/>
            <a:ext cx="502920" cy="502920"/>
          </a:xfrm>
          <a:prstGeom prst="rect">
            <a:avLst/>
          </a:prstGeom>
          <a:solidFill>
            <a:srgbClr val="1A2B5E"/>
          </a:solidFill>
          <a:ln/>
        </p:spPr>
        <p:txBody>
          <a:bodyPr/>
          <a:lstStyle/>
          <a:p>
            <a:endParaRPr lang="en-US"/>
          </a:p>
        </p:txBody>
      </p:sp>
      <p:sp>
        <p:nvSpPr>
          <p:cNvPr id="16" name="Text 14"/>
          <p:cNvSpPr txBox="1"/>
          <p:nvPr/>
        </p:nvSpPr>
        <p:spPr>
          <a:xfrm>
            <a:off x="411480" y="3831336"/>
            <a:ext cx="50292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1078992" y="3794760"/>
            <a:ext cx="2560320" cy="274320"/>
          </a:xfrm>
          <a:prstGeom prst="rect">
            <a:avLst/>
          </a:prstGeom>
          <a:noFill/>
          <a:ln/>
        </p:spPr>
        <p:txBody>
          <a:bodyPr wrap="square" lIns="0" tIns="0" rIns="0" bIns="0" rtlCol="0" anchor="ctr"/>
          <a:lstStyle/>
          <a:p>
            <a:pPr marL="0" indent="0">
              <a:buNone/>
            </a:pPr>
            <a:r>
              <a:rPr lang="en-US" sz="1500" b="1" dirty="0">
                <a:solidFill>
                  <a:srgbClr val="1A2B5E"/>
                </a:solidFill>
                <a:latin typeface="Calibri" pitchFamily="34" charset="0"/>
                <a:ea typeface="Calibri" pitchFamily="34" charset="-122"/>
                <a:cs typeface="Calibri" pitchFamily="34" charset="-120"/>
              </a:rPr>
              <a:t>Syntax</a:t>
            </a:r>
            <a:endParaRPr lang="en-US" sz="1500" dirty="0"/>
          </a:p>
        </p:txBody>
      </p:sp>
      <p:sp>
        <p:nvSpPr>
          <p:cNvPr id="18" name="Text 16"/>
          <p:cNvSpPr txBox="1"/>
          <p:nvPr/>
        </p:nvSpPr>
        <p:spPr>
          <a:xfrm>
            <a:off x="1078992" y="4050792"/>
            <a:ext cx="10424160" cy="822960"/>
          </a:xfrm>
          <a:prstGeom prst="rect">
            <a:avLst/>
          </a:prstGeom>
          <a:noFill/>
          <a:ln/>
        </p:spPr>
        <p:txBody>
          <a:bodyPr wrap="square" lIns="0" tIns="0" rIns="0" bIns="0" rtlCol="0" anchor="ctr"/>
          <a:lstStyle/>
          <a:p>
            <a:pPr marL="0" indent="0">
              <a:lnSpc>
                <a:spcPct val="130000"/>
              </a:lnSpc>
              <a:buNone/>
            </a:pPr>
            <a:r>
              <a:rPr lang="en-US" sz="1300" dirty="0">
                <a:solidFill>
                  <a:srgbClr val="1E2A3A"/>
                </a:solidFill>
                <a:latin typeface="Calibri" pitchFamily="34" charset="0"/>
                <a:ea typeface="Calibri" pitchFamily="34" charset="-122"/>
                <a:cs typeface="Calibri" pitchFamily="34" charset="-120"/>
              </a:rPr>
              <a:t>The rules that say which token arrangements are valid</a:t>
            </a:r>
            <a:endParaRPr lang="en-US" sz="1300" dirty="0"/>
          </a:p>
        </p:txBody>
      </p:sp>
      <p:sp>
        <p:nvSpPr>
          <p:cNvPr id="19" name="Text 17"/>
          <p:cNvSpPr txBox="1"/>
          <p:nvPr/>
        </p:nvSpPr>
        <p:spPr>
          <a:xfrm>
            <a:off x="530352" y="4325112"/>
            <a:ext cx="274320" cy="329184"/>
          </a:xfrm>
          <a:prstGeom prst="rect">
            <a:avLst/>
          </a:prstGeom>
          <a:noFill/>
          <a:ln/>
        </p:spPr>
        <p:txBody>
          <a:bodyPr wrap="square" lIns="0" tIns="0" rIns="0" bIns="0" rtlCol="0" anchor="ctr"/>
          <a:lstStyle/>
          <a:p>
            <a:pPr marL="0" indent="0" algn="ctr">
              <a:buNone/>
            </a:pPr>
            <a:r>
              <a:rPr lang="en-US" sz="1400" dirty="0">
                <a:solidFill>
                  <a:srgbClr val="5A6A82"/>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411480" y="5111496"/>
            <a:ext cx="502920" cy="502920"/>
          </a:xfrm>
          <a:prstGeom prst="rect">
            <a:avLst/>
          </a:prstGeom>
          <a:solidFill>
            <a:srgbClr val="1A2B5E"/>
          </a:solidFill>
          <a:ln/>
        </p:spPr>
        <p:txBody>
          <a:bodyPr/>
          <a:lstStyle/>
          <a:p>
            <a:endParaRPr lang="en-US"/>
          </a:p>
        </p:txBody>
      </p:sp>
      <p:sp>
        <p:nvSpPr>
          <p:cNvPr id="21" name="Text 19"/>
          <p:cNvSpPr txBox="1"/>
          <p:nvPr/>
        </p:nvSpPr>
        <p:spPr>
          <a:xfrm>
            <a:off x="411480" y="5184648"/>
            <a:ext cx="50292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txBox="1"/>
          <p:nvPr/>
        </p:nvSpPr>
        <p:spPr>
          <a:xfrm>
            <a:off x="1078992" y="5148072"/>
            <a:ext cx="2560320" cy="274320"/>
          </a:xfrm>
          <a:prstGeom prst="rect">
            <a:avLst/>
          </a:prstGeom>
          <a:noFill/>
          <a:ln/>
        </p:spPr>
        <p:txBody>
          <a:bodyPr wrap="square" lIns="0" tIns="0" rIns="0" bIns="0" rtlCol="0" anchor="ctr"/>
          <a:lstStyle/>
          <a:p>
            <a:pPr marL="0" indent="0">
              <a:buNone/>
            </a:pPr>
            <a:r>
              <a:rPr lang="en-US" sz="1500" b="1" dirty="0">
                <a:solidFill>
                  <a:srgbClr val="1A2B5E"/>
                </a:solidFill>
                <a:latin typeface="Calibri" pitchFamily="34" charset="0"/>
                <a:ea typeface="Calibri" pitchFamily="34" charset="-122"/>
                <a:cs typeface="Calibri" pitchFamily="34" charset="-120"/>
              </a:rPr>
              <a:t>Grammar</a:t>
            </a:r>
            <a:endParaRPr lang="en-US" sz="1500" dirty="0"/>
          </a:p>
        </p:txBody>
      </p:sp>
      <p:sp>
        <p:nvSpPr>
          <p:cNvPr id="23" name="Text 21"/>
          <p:cNvSpPr txBox="1"/>
          <p:nvPr/>
        </p:nvSpPr>
        <p:spPr>
          <a:xfrm>
            <a:off x="1078992" y="5404104"/>
            <a:ext cx="10424160" cy="822960"/>
          </a:xfrm>
          <a:prstGeom prst="rect">
            <a:avLst/>
          </a:prstGeom>
          <a:noFill/>
          <a:ln/>
        </p:spPr>
        <p:txBody>
          <a:bodyPr wrap="square" lIns="0" tIns="0" rIns="0" bIns="0" rtlCol="0" anchor="ctr"/>
          <a:lstStyle/>
          <a:p>
            <a:pPr marL="0" indent="0">
              <a:lnSpc>
                <a:spcPct val="130000"/>
              </a:lnSpc>
              <a:buNone/>
            </a:pPr>
            <a:r>
              <a:rPr lang="en-US" sz="1300" dirty="0">
                <a:solidFill>
                  <a:srgbClr val="1E2A3A"/>
                </a:solidFill>
                <a:latin typeface="Calibri" pitchFamily="34" charset="0"/>
                <a:ea typeface="Calibri" pitchFamily="34" charset="-122"/>
                <a:cs typeface="Calibri" pitchFamily="34" charset="-120"/>
              </a:rPr>
              <a:t>The formal description of those rules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A2B5E"/>
          </a:solidFill>
          <a:ln/>
        </p:spPr>
        <p:txBody>
          <a:bodyPr/>
          <a:lstStyle/>
          <a:p>
            <a:endParaRPr lang="en-US"/>
          </a:p>
        </p:txBody>
      </p:sp>
      <p:sp>
        <p:nvSpPr>
          <p:cNvPr id="3" name="Shape 1"/>
          <p:cNvSpPr/>
          <p:nvPr/>
        </p:nvSpPr>
        <p:spPr>
          <a:xfrm>
            <a:off x="3840480" y="0"/>
            <a:ext cx="8321040" cy="6858000"/>
          </a:xfrm>
          <a:prstGeom prst="rect">
            <a:avLst/>
          </a:prstGeom>
          <a:solidFill>
            <a:srgbClr val="F4F6FC"/>
          </a:solidFill>
          <a:ln/>
        </p:spPr>
        <p:txBody>
          <a:bodyPr/>
          <a:lstStyle/>
          <a:p>
            <a:endParaRPr lang="en-US"/>
          </a:p>
        </p:txBody>
      </p:sp>
      <p:sp>
        <p:nvSpPr>
          <p:cNvPr id="4" name="Text 2"/>
          <p:cNvSpPr txBox="1"/>
          <p:nvPr/>
        </p:nvSpPr>
        <p:spPr>
          <a:xfrm>
            <a:off x="274320" y="2560320"/>
            <a:ext cx="3291840" cy="274320"/>
          </a:xfrm>
          <a:prstGeom prst="rect">
            <a:avLst/>
          </a:prstGeom>
          <a:noFill/>
          <a:ln/>
        </p:spPr>
        <p:txBody>
          <a:bodyPr wrap="square" lIns="0" tIns="0" rIns="0" bIns="0" rtlCol="0" anchor="ctr"/>
          <a:lstStyle/>
          <a:p>
            <a:pPr marL="0" indent="0">
              <a:buNone/>
            </a:pPr>
            <a:r>
              <a:rPr lang="en-US" sz="1100" dirty="0">
                <a:solidFill>
                  <a:srgbClr val="7A90B8"/>
                </a:solidFill>
                <a:latin typeface="Calibri" pitchFamily="34" charset="0"/>
                <a:ea typeface="Calibri" pitchFamily="34" charset="-122"/>
                <a:cs typeface="Calibri" pitchFamily="34" charset="-120"/>
              </a:rPr>
              <a:t>Section 0</a:t>
            </a:r>
            <a:endParaRPr lang="en-US" sz="1100" dirty="0"/>
          </a:p>
        </p:txBody>
      </p:sp>
      <p:sp>
        <p:nvSpPr>
          <p:cNvPr id="5" name="Text 3"/>
          <p:cNvSpPr txBox="1"/>
          <p:nvPr/>
        </p:nvSpPr>
        <p:spPr>
          <a:xfrm>
            <a:off x="274320" y="2880360"/>
            <a:ext cx="3291840" cy="1645920"/>
          </a:xfrm>
          <a:prstGeom prst="rect">
            <a:avLst/>
          </a:prstGeom>
          <a:noFill/>
          <a:ln/>
        </p:spPr>
        <p:txBody>
          <a:bodyPr wrap="square" lIns="0" tIns="0" rIns="0" bIns="0" rtlCol="0" anchor="ctr"/>
          <a:lstStyle/>
          <a:p>
            <a:pPr marL="0" indent="0">
              <a:lnSpc>
                <a:spcPct val="110000"/>
              </a:lnSpc>
              <a:buNone/>
            </a:pPr>
            <a:r>
              <a:rPr lang="en-US" sz="2000" b="1" dirty="0">
                <a:solidFill>
                  <a:srgbClr val="FFFFFF"/>
                </a:solidFill>
                <a:latin typeface="Calibri" pitchFamily="34" charset="0"/>
                <a:ea typeface="Calibri" pitchFamily="34" charset="-122"/>
                <a:cs typeface="Calibri" pitchFamily="34" charset="-120"/>
              </a:rPr>
              <a:t>The Opening</a:t>
            </a:r>
            <a:endParaRPr lang="en-US" sz="2000" dirty="0"/>
          </a:p>
          <a:p>
            <a:pPr marL="0" indent="0">
              <a:lnSpc>
                <a:spcPct val="110000"/>
              </a:lnSpc>
              <a:buNone/>
            </a:pPr>
            <a:r>
              <a:rPr lang="en-US" sz="2000" b="1" dirty="0">
                <a:solidFill>
                  <a:srgbClr val="FFFFFF"/>
                </a:solidFill>
                <a:latin typeface="Calibri" pitchFamily="34" charset="0"/>
                <a:ea typeface="Calibri" pitchFamily="34" charset="-122"/>
                <a:cs typeface="Calibri" pitchFamily="34" charset="-120"/>
              </a:rPr>
              <a:t>Question</a:t>
            </a:r>
            <a:endParaRPr lang="en-US" sz="2000" dirty="0"/>
          </a:p>
        </p:txBody>
      </p:sp>
      <p:sp>
        <p:nvSpPr>
          <p:cNvPr id="6" name="Text 4"/>
          <p:cNvSpPr txBox="1"/>
          <p:nvPr/>
        </p:nvSpPr>
        <p:spPr>
          <a:xfrm>
            <a:off x="4206240" y="2651760"/>
            <a:ext cx="7680960" cy="1371600"/>
          </a:xfrm>
          <a:prstGeom prst="rect">
            <a:avLst/>
          </a:prstGeom>
          <a:noFill/>
          <a:ln/>
        </p:spPr>
        <p:txBody>
          <a:bodyPr wrap="square" lIns="0" tIns="0" rIns="0" bIns="0" rtlCol="0" anchor="ctr"/>
          <a:lstStyle/>
          <a:p>
            <a:pPr marL="0" indent="0">
              <a:lnSpc>
                <a:spcPct val="130000"/>
              </a:lnSpc>
              <a:buNone/>
            </a:pPr>
            <a:r>
              <a:rPr lang="en-US" sz="1600" dirty="0">
                <a:solidFill>
                  <a:srgbClr val="1E2A3A"/>
                </a:solidFill>
                <a:latin typeface="Calibri" pitchFamily="34" charset="0"/>
                <a:ea typeface="Calibri" pitchFamily="34" charset="-122"/>
                <a:cs typeface="Calibri" pitchFamily="34" charset="-120"/>
              </a:rPr>
              <a:t>Why don't all programming languages look the same?</a:t>
            </a:r>
            <a:endParaRPr lang="en-US" sz="1600" dirty="0"/>
          </a:p>
        </p:txBody>
      </p:sp>
      <p:sp>
        <p:nvSpPr>
          <p:cNvPr id="7" name="Text 5"/>
          <p:cNvSpPr txBox="1"/>
          <p:nvPr/>
        </p:nvSpPr>
        <p:spPr>
          <a:xfrm>
            <a:off x="4206240" y="1371600"/>
            <a:ext cx="7680960" cy="274320"/>
          </a:xfrm>
          <a:prstGeom prst="rect">
            <a:avLst/>
          </a:prstGeom>
          <a:noFill/>
          <a:ln/>
        </p:spPr>
        <p:txBody>
          <a:bodyPr wrap="square" lIns="0" tIns="0" rIns="0" bIns="0" rtlCol="0" anchor="ctr"/>
          <a:lstStyle/>
          <a:p>
            <a:pPr marL="0" indent="0">
              <a:buNone/>
            </a:pPr>
            <a:r>
              <a:rPr lang="en-US" sz="1300" b="1" dirty="0">
                <a:solidFill>
                  <a:srgbClr val="1E2A3A"/>
                </a:solidFill>
                <a:latin typeface="Calibri" pitchFamily="34" charset="0"/>
                <a:ea typeface="Calibri" pitchFamily="34" charset="-122"/>
                <a:cs typeface="Calibri" pitchFamily="34" charset="-120"/>
              </a:rPr>
              <a:t>Three languages. One task. Very different code.</a:t>
            </a:r>
            <a:endParaRPr lang="en-US" sz="1300" dirty="0"/>
          </a:p>
        </p:txBody>
      </p:sp>
      <p:sp>
        <p:nvSpPr>
          <p:cNvPr id="8" name="Text 6"/>
          <p:cNvSpPr txBox="1"/>
          <p:nvPr/>
        </p:nvSpPr>
        <p:spPr>
          <a:xfrm>
            <a:off x="4206240" y="1664208"/>
            <a:ext cx="76809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Every difference you see below is a deliberate design decision.</a:t>
            </a:r>
            <a:endParaRPr lang="en-US" sz="1300" dirty="0"/>
          </a:p>
        </p:txBody>
      </p:sp>
      <p:sp>
        <p:nvSpPr>
          <p:cNvPr id="9" name="Shape 7"/>
          <p:cNvSpPr/>
          <p:nvPr/>
        </p:nvSpPr>
        <p:spPr>
          <a:xfrm>
            <a:off x="4206240" y="2029968"/>
            <a:ext cx="2487168" cy="292608"/>
          </a:xfrm>
          <a:prstGeom prst="roundRect">
            <a:avLst>
              <a:gd name="adj" fmla="val 21875"/>
            </a:avLst>
          </a:prstGeom>
          <a:solidFill>
            <a:srgbClr val="E8F0FE"/>
          </a:solidFill>
          <a:ln w="12700">
            <a:solidFill>
              <a:srgbClr val="E8F0FE"/>
            </a:solidFill>
            <a:prstDash val="solid"/>
          </a:ln>
        </p:spPr>
        <p:txBody>
          <a:bodyPr/>
          <a:lstStyle/>
          <a:p>
            <a:endParaRPr lang="en-US"/>
          </a:p>
        </p:txBody>
      </p:sp>
      <p:sp>
        <p:nvSpPr>
          <p:cNvPr id="10" name="Text 8"/>
          <p:cNvSpPr txBox="1"/>
          <p:nvPr/>
        </p:nvSpPr>
        <p:spPr>
          <a:xfrm>
            <a:off x="4279392" y="2066544"/>
            <a:ext cx="2340864" cy="219456"/>
          </a:xfrm>
          <a:prstGeom prst="rect">
            <a:avLst/>
          </a:prstGeom>
          <a:noFill/>
          <a:ln/>
        </p:spPr>
        <p:txBody>
          <a:bodyPr wrap="square" lIns="0" tIns="0" rIns="0" bIns="0" rtlCol="0" anchor="ctr"/>
          <a:lstStyle/>
          <a:p>
            <a:pPr marL="0" indent="0">
              <a:buNone/>
            </a:pPr>
            <a:r>
              <a:rPr lang="en-US" sz="1200" b="1" dirty="0">
                <a:solidFill>
                  <a:srgbClr val="2E5BFF"/>
                </a:solidFill>
                <a:latin typeface="Courier New" pitchFamily="34" charset="0"/>
                <a:ea typeface="Courier New" pitchFamily="34" charset="-122"/>
                <a:cs typeface="Courier New" pitchFamily="34" charset="-120"/>
              </a:rPr>
              <a:t>C</a:t>
            </a:r>
            <a:endParaRPr lang="en-US" sz="1200" dirty="0"/>
          </a:p>
        </p:txBody>
      </p:sp>
      <p:sp>
        <p:nvSpPr>
          <p:cNvPr id="11" name="Shape 9"/>
          <p:cNvSpPr/>
          <p:nvPr/>
        </p:nvSpPr>
        <p:spPr>
          <a:xfrm>
            <a:off x="4206240" y="2395728"/>
            <a:ext cx="2487168" cy="1170432"/>
          </a:xfrm>
          <a:prstGeom prst="rect">
            <a:avLst/>
          </a:prstGeom>
          <a:solidFill>
            <a:srgbClr val="EEF1FA"/>
          </a:solidFill>
          <a:ln w="12700">
            <a:solidFill>
              <a:srgbClr val="D0DAF0"/>
            </a:solidFill>
            <a:prstDash val="solid"/>
          </a:ln>
        </p:spPr>
        <p:txBody>
          <a:bodyPr/>
          <a:lstStyle/>
          <a:p>
            <a:endParaRPr lang="en-US"/>
          </a:p>
        </p:txBody>
      </p:sp>
      <p:sp>
        <p:nvSpPr>
          <p:cNvPr id="12" name="Text 10"/>
          <p:cNvSpPr txBox="1"/>
          <p:nvPr/>
        </p:nvSpPr>
        <p:spPr>
          <a:xfrm>
            <a:off x="4334256" y="2487168"/>
            <a:ext cx="2286000" cy="1005840"/>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if (score &gt; 50)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printf("Pass\n");</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t>
            </a:r>
            <a:endParaRPr lang="en-US" sz="1100" dirty="0"/>
          </a:p>
        </p:txBody>
      </p:sp>
      <p:sp>
        <p:nvSpPr>
          <p:cNvPr id="13" name="Shape 11"/>
          <p:cNvSpPr/>
          <p:nvPr/>
        </p:nvSpPr>
        <p:spPr>
          <a:xfrm>
            <a:off x="6839712" y="2029968"/>
            <a:ext cx="2487168" cy="292608"/>
          </a:xfrm>
          <a:prstGeom prst="roundRect">
            <a:avLst>
              <a:gd name="adj" fmla="val 21875"/>
            </a:avLst>
          </a:prstGeom>
          <a:solidFill>
            <a:srgbClr val="F3E8FE"/>
          </a:solidFill>
          <a:ln w="12700">
            <a:solidFill>
              <a:srgbClr val="F3E8FE"/>
            </a:solidFill>
            <a:prstDash val="solid"/>
          </a:ln>
        </p:spPr>
        <p:txBody>
          <a:bodyPr/>
          <a:lstStyle/>
          <a:p>
            <a:endParaRPr lang="en-US"/>
          </a:p>
        </p:txBody>
      </p:sp>
      <p:sp>
        <p:nvSpPr>
          <p:cNvPr id="14" name="Text 12"/>
          <p:cNvSpPr txBox="1"/>
          <p:nvPr/>
        </p:nvSpPr>
        <p:spPr>
          <a:xfrm>
            <a:off x="6912864" y="2066544"/>
            <a:ext cx="2340864" cy="219456"/>
          </a:xfrm>
          <a:prstGeom prst="rect">
            <a:avLst/>
          </a:prstGeom>
          <a:noFill/>
          <a:ln/>
        </p:spPr>
        <p:txBody>
          <a:bodyPr wrap="square" lIns="0" tIns="0" rIns="0" bIns="0" rtlCol="0" anchor="ctr"/>
          <a:lstStyle/>
          <a:p>
            <a:pPr marL="0" indent="0">
              <a:buNone/>
            </a:pPr>
            <a:r>
              <a:rPr lang="en-US" sz="1200" b="1" dirty="0">
                <a:solidFill>
                  <a:srgbClr val="7B2FBE"/>
                </a:solidFill>
                <a:latin typeface="Courier New" pitchFamily="34" charset="0"/>
                <a:ea typeface="Courier New" pitchFamily="34" charset="-122"/>
                <a:cs typeface="Courier New" pitchFamily="34" charset="-120"/>
              </a:rPr>
              <a:t>C#</a:t>
            </a:r>
            <a:endParaRPr lang="en-US" sz="1200" dirty="0"/>
          </a:p>
        </p:txBody>
      </p:sp>
      <p:sp>
        <p:nvSpPr>
          <p:cNvPr id="15" name="Shape 13"/>
          <p:cNvSpPr/>
          <p:nvPr/>
        </p:nvSpPr>
        <p:spPr>
          <a:xfrm>
            <a:off x="6839712" y="2395728"/>
            <a:ext cx="2487168" cy="1170432"/>
          </a:xfrm>
          <a:prstGeom prst="rect">
            <a:avLst/>
          </a:prstGeom>
          <a:solidFill>
            <a:srgbClr val="EEF1FA"/>
          </a:solidFill>
          <a:ln w="12700">
            <a:solidFill>
              <a:srgbClr val="D0DAF0"/>
            </a:solidFill>
            <a:prstDash val="solid"/>
          </a:ln>
        </p:spPr>
        <p:txBody>
          <a:bodyPr/>
          <a:lstStyle/>
          <a:p>
            <a:endParaRPr lang="en-US"/>
          </a:p>
        </p:txBody>
      </p:sp>
      <p:sp>
        <p:nvSpPr>
          <p:cNvPr id="16" name="Text 14"/>
          <p:cNvSpPr txBox="1"/>
          <p:nvPr/>
        </p:nvSpPr>
        <p:spPr>
          <a:xfrm>
            <a:off x="6967728" y="2487168"/>
            <a:ext cx="2286000" cy="1005840"/>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if (score &gt; 50)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Console.WriteLine("Pass");</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t>
            </a:r>
            <a:endParaRPr lang="en-US" sz="1100" dirty="0"/>
          </a:p>
        </p:txBody>
      </p:sp>
      <p:sp>
        <p:nvSpPr>
          <p:cNvPr id="17" name="Shape 15"/>
          <p:cNvSpPr/>
          <p:nvPr/>
        </p:nvSpPr>
        <p:spPr>
          <a:xfrm>
            <a:off x="9473184" y="2029968"/>
            <a:ext cx="2487168" cy="292608"/>
          </a:xfrm>
          <a:prstGeom prst="roundRect">
            <a:avLst>
              <a:gd name="adj" fmla="val 21875"/>
            </a:avLst>
          </a:prstGeom>
          <a:solidFill>
            <a:srgbClr val="FEF3E8"/>
          </a:solidFill>
          <a:ln w="12700">
            <a:solidFill>
              <a:srgbClr val="FEF3E8"/>
            </a:solidFill>
            <a:prstDash val="solid"/>
          </a:ln>
        </p:spPr>
        <p:txBody>
          <a:bodyPr/>
          <a:lstStyle/>
          <a:p>
            <a:endParaRPr lang="en-US"/>
          </a:p>
        </p:txBody>
      </p:sp>
      <p:sp>
        <p:nvSpPr>
          <p:cNvPr id="18" name="Text 16"/>
          <p:cNvSpPr txBox="1"/>
          <p:nvPr/>
        </p:nvSpPr>
        <p:spPr>
          <a:xfrm>
            <a:off x="9546336" y="2066544"/>
            <a:ext cx="2340864" cy="219456"/>
          </a:xfrm>
          <a:prstGeom prst="rect">
            <a:avLst/>
          </a:prstGeom>
          <a:noFill/>
          <a:ln/>
        </p:spPr>
        <p:txBody>
          <a:bodyPr wrap="square" lIns="0" tIns="0" rIns="0" bIns="0" rtlCol="0" anchor="ctr"/>
          <a:lstStyle/>
          <a:p>
            <a:pPr marL="0" indent="0">
              <a:buNone/>
            </a:pPr>
            <a:r>
              <a:rPr lang="en-US" sz="1200" b="1" dirty="0">
                <a:solidFill>
                  <a:srgbClr val="C05E00"/>
                </a:solidFill>
                <a:latin typeface="Courier New" pitchFamily="34" charset="0"/>
                <a:ea typeface="Courier New" pitchFamily="34" charset="-122"/>
                <a:cs typeface="Courier New" pitchFamily="34" charset="-120"/>
              </a:rPr>
              <a:t>Python</a:t>
            </a:r>
            <a:endParaRPr lang="en-US" sz="1200" dirty="0"/>
          </a:p>
        </p:txBody>
      </p:sp>
      <p:sp>
        <p:nvSpPr>
          <p:cNvPr id="19" name="Shape 17"/>
          <p:cNvSpPr/>
          <p:nvPr/>
        </p:nvSpPr>
        <p:spPr>
          <a:xfrm>
            <a:off x="9473184" y="2395728"/>
            <a:ext cx="2487168" cy="1170432"/>
          </a:xfrm>
          <a:prstGeom prst="rect">
            <a:avLst/>
          </a:prstGeom>
          <a:solidFill>
            <a:srgbClr val="EEF1FA"/>
          </a:solidFill>
          <a:ln w="12700">
            <a:solidFill>
              <a:srgbClr val="D0DAF0"/>
            </a:solidFill>
            <a:prstDash val="solid"/>
          </a:ln>
        </p:spPr>
        <p:txBody>
          <a:bodyPr/>
          <a:lstStyle/>
          <a:p>
            <a:endParaRPr lang="en-US"/>
          </a:p>
        </p:txBody>
      </p:sp>
      <p:sp>
        <p:nvSpPr>
          <p:cNvPr id="20" name="Text 18"/>
          <p:cNvSpPr txBox="1"/>
          <p:nvPr/>
        </p:nvSpPr>
        <p:spPr>
          <a:xfrm>
            <a:off x="9601200" y="2487168"/>
            <a:ext cx="2286000" cy="1005840"/>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if score &gt; 50:</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print("Pass")</a:t>
            </a:r>
            <a:endParaRPr lang="en-US" sz="1100" dirty="0"/>
          </a:p>
        </p:txBody>
      </p:sp>
      <p:sp>
        <p:nvSpPr>
          <p:cNvPr id="21" name="Shape 19"/>
          <p:cNvSpPr/>
          <p:nvPr/>
        </p:nvSpPr>
        <p:spPr>
          <a:xfrm>
            <a:off x="4206240" y="3749040"/>
            <a:ext cx="54864" cy="658368"/>
          </a:xfrm>
          <a:prstGeom prst="rect">
            <a:avLst/>
          </a:prstGeom>
          <a:solidFill>
            <a:srgbClr val="2E5BFF"/>
          </a:solidFill>
          <a:ln/>
        </p:spPr>
        <p:txBody>
          <a:bodyPr/>
          <a:lstStyle/>
          <a:p>
            <a:endParaRPr lang="en-US"/>
          </a:p>
        </p:txBody>
      </p:sp>
      <p:sp>
        <p:nvSpPr>
          <p:cNvPr id="22" name="Shape 20"/>
          <p:cNvSpPr/>
          <p:nvPr/>
        </p:nvSpPr>
        <p:spPr>
          <a:xfrm>
            <a:off x="4261104" y="3749040"/>
            <a:ext cx="7626096" cy="658368"/>
          </a:xfrm>
          <a:prstGeom prst="rect">
            <a:avLst/>
          </a:prstGeom>
          <a:solidFill>
            <a:srgbClr val="EFF6FF"/>
          </a:solidFill>
          <a:ln w="12700">
            <a:solidFill>
              <a:srgbClr val="BFDBFE"/>
            </a:solidFill>
            <a:prstDash val="solid"/>
          </a:ln>
        </p:spPr>
        <p:txBody>
          <a:bodyPr/>
          <a:lstStyle/>
          <a:p>
            <a:endParaRPr lang="en-US"/>
          </a:p>
        </p:txBody>
      </p:sp>
      <p:sp>
        <p:nvSpPr>
          <p:cNvPr id="23" name="Text 21"/>
          <p:cNvSpPr txBox="1"/>
          <p:nvPr/>
        </p:nvSpPr>
        <p:spPr>
          <a:xfrm>
            <a:off x="4407408" y="3840480"/>
            <a:ext cx="7388352" cy="475488"/>
          </a:xfrm>
          <a:prstGeom prst="rect">
            <a:avLst/>
          </a:prstGeom>
          <a:noFill/>
          <a:ln/>
        </p:spPr>
        <p:txBody>
          <a:bodyPr wrap="square" lIns="0" tIns="0" rIns="0" bIns="0" rtlCol="0" anchor="ctr"/>
          <a:lstStyle/>
          <a:p>
            <a:pPr marL="0" indent="0">
              <a:lnSpc>
                <a:spcPct val="135000"/>
              </a:lnSpc>
              <a:buNone/>
            </a:pPr>
            <a:r>
              <a:rPr lang="en-US" sz="1200" dirty="0">
                <a:solidFill>
                  <a:srgbClr val="1E3A8A"/>
                </a:solidFill>
                <a:latin typeface="Calibri" pitchFamily="34" charset="0"/>
                <a:ea typeface="Calibri" pitchFamily="34" charset="-122"/>
                <a:cs typeface="Calibri" pitchFamily="34" charset="-120"/>
              </a:rPr>
              <a:t>Parentheses, braces, colons, indentation — none of these are random. Ask: why did each language make that specific choice?</a:t>
            </a:r>
            <a:endParaRPr lang="en-US" sz="1200" dirty="0"/>
          </a:p>
        </p:txBody>
      </p:sp>
      <p:sp>
        <p:nvSpPr>
          <p:cNvPr id="24" name="Shape 22"/>
          <p:cNvSpPr/>
          <p:nvPr/>
        </p:nvSpPr>
        <p:spPr>
          <a:xfrm>
            <a:off x="4206240" y="4590288"/>
            <a:ext cx="54864" cy="1005840"/>
          </a:xfrm>
          <a:prstGeom prst="rect">
            <a:avLst/>
          </a:prstGeom>
          <a:solidFill>
            <a:srgbClr val="6D28D9"/>
          </a:solidFill>
          <a:ln/>
        </p:spPr>
        <p:txBody>
          <a:bodyPr/>
          <a:lstStyle/>
          <a:p>
            <a:endParaRPr lang="en-US"/>
          </a:p>
        </p:txBody>
      </p:sp>
      <p:sp>
        <p:nvSpPr>
          <p:cNvPr id="25" name="Shape 23"/>
          <p:cNvSpPr/>
          <p:nvPr/>
        </p:nvSpPr>
        <p:spPr>
          <a:xfrm>
            <a:off x="4261104" y="4590288"/>
            <a:ext cx="7626096" cy="1005840"/>
          </a:xfrm>
          <a:prstGeom prst="rect">
            <a:avLst/>
          </a:prstGeom>
          <a:solidFill>
            <a:srgbClr val="F5F3FF"/>
          </a:solidFill>
          <a:ln w="12700">
            <a:solidFill>
              <a:srgbClr val="C4B5FD"/>
            </a:solidFill>
            <a:prstDash val="solid"/>
          </a:ln>
        </p:spPr>
        <p:txBody>
          <a:bodyPr/>
          <a:lstStyle/>
          <a:p>
            <a:endParaRPr lang="en-US"/>
          </a:p>
        </p:txBody>
      </p:sp>
      <p:sp>
        <p:nvSpPr>
          <p:cNvPr id="26" name="Text 24"/>
          <p:cNvSpPr txBox="1"/>
          <p:nvPr/>
        </p:nvSpPr>
        <p:spPr>
          <a:xfrm>
            <a:off x="4407408" y="4681728"/>
            <a:ext cx="7388352" cy="219456"/>
          </a:xfrm>
          <a:prstGeom prst="rect">
            <a:avLst/>
          </a:prstGeom>
          <a:noFill/>
          <a:ln/>
        </p:spPr>
        <p:txBody>
          <a:bodyPr wrap="square" lIns="0" tIns="0" rIns="0" bIns="0" rtlCol="0" anchor="ctr"/>
          <a:lstStyle/>
          <a:p>
            <a:pPr marL="0" indent="0">
              <a:buNone/>
            </a:pPr>
            <a:r>
              <a:rPr lang="en-US" sz="1000" b="1" dirty="0">
                <a:solidFill>
                  <a:srgbClr val="6D28D9"/>
                </a:solidFill>
                <a:latin typeface="Calibri" pitchFamily="34" charset="0"/>
                <a:ea typeface="Calibri" pitchFamily="34" charset="-122"/>
                <a:cs typeface="Calibri" pitchFamily="34" charset="-120"/>
              </a:rPr>
              <a:t>🤔  THINK</a:t>
            </a:r>
            <a:endParaRPr lang="en-US" sz="1000" dirty="0"/>
          </a:p>
        </p:txBody>
      </p:sp>
      <p:sp>
        <p:nvSpPr>
          <p:cNvPr id="27" name="Text 25"/>
          <p:cNvSpPr txBox="1"/>
          <p:nvPr/>
        </p:nvSpPr>
        <p:spPr>
          <a:xfrm>
            <a:off x="4407408" y="4919472"/>
            <a:ext cx="7388352" cy="585216"/>
          </a:xfrm>
          <a:prstGeom prst="rect">
            <a:avLst/>
          </a:prstGeom>
          <a:noFill/>
          <a:ln/>
        </p:spPr>
        <p:txBody>
          <a:bodyPr wrap="square" lIns="0" tIns="0" rIns="0" bIns="0" rtlCol="0" anchor="ctr"/>
          <a:lstStyle/>
          <a:p>
            <a:pPr marL="0" indent="0">
              <a:lnSpc>
                <a:spcPct val="135000"/>
              </a:lnSpc>
              <a:buNone/>
            </a:pPr>
            <a:r>
              <a:rPr lang="en-US" sz="1200" dirty="0">
                <a:solidFill>
                  <a:srgbClr val="4C1D95"/>
                </a:solidFill>
                <a:latin typeface="Calibri" pitchFamily="34" charset="0"/>
                <a:ea typeface="Calibri" pitchFamily="34" charset="-122"/>
                <a:cs typeface="Calibri" pitchFamily="34" charset="-120"/>
              </a:rPr>
              <a:t>Pick one visible difference between Python and C. Why might a language designer have made that choice?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A2B5E"/>
          </a:solidFill>
          <a:ln/>
        </p:spPr>
        <p:txBody>
          <a:bodyPr/>
          <a:lstStyle/>
          <a:p>
            <a:endParaRPr lang="en-US"/>
          </a:p>
        </p:txBody>
      </p:sp>
      <p:sp>
        <p:nvSpPr>
          <p:cNvPr id="3" name="Shape 1"/>
          <p:cNvSpPr/>
          <p:nvPr/>
        </p:nvSpPr>
        <p:spPr>
          <a:xfrm>
            <a:off x="3840480" y="0"/>
            <a:ext cx="8321040" cy="6858000"/>
          </a:xfrm>
          <a:prstGeom prst="rect">
            <a:avLst/>
          </a:prstGeom>
          <a:solidFill>
            <a:srgbClr val="F4F6FC"/>
          </a:solidFill>
          <a:ln/>
        </p:spPr>
        <p:txBody>
          <a:bodyPr/>
          <a:lstStyle/>
          <a:p>
            <a:endParaRPr lang="en-US"/>
          </a:p>
        </p:txBody>
      </p:sp>
      <p:sp>
        <p:nvSpPr>
          <p:cNvPr id="4" name="Text 2"/>
          <p:cNvSpPr txBox="1"/>
          <p:nvPr/>
        </p:nvSpPr>
        <p:spPr>
          <a:xfrm>
            <a:off x="274320" y="2560320"/>
            <a:ext cx="3291840" cy="274320"/>
          </a:xfrm>
          <a:prstGeom prst="rect">
            <a:avLst/>
          </a:prstGeom>
          <a:noFill/>
          <a:ln/>
        </p:spPr>
        <p:txBody>
          <a:bodyPr wrap="square" lIns="0" tIns="0" rIns="0" bIns="0" rtlCol="0" anchor="ctr"/>
          <a:lstStyle/>
          <a:p>
            <a:pPr marL="0" indent="0">
              <a:buNone/>
            </a:pPr>
            <a:r>
              <a:rPr lang="en-US" sz="1100" dirty="0">
                <a:solidFill>
                  <a:srgbClr val="7A90B8"/>
                </a:solidFill>
                <a:latin typeface="Calibri" pitchFamily="34" charset="0"/>
                <a:ea typeface="Calibri" pitchFamily="34" charset="-122"/>
                <a:cs typeface="Calibri" pitchFamily="34" charset="-120"/>
              </a:rPr>
              <a:t>Section 1</a:t>
            </a:r>
            <a:endParaRPr lang="en-US" sz="1100" dirty="0"/>
          </a:p>
        </p:txBody>
      </p:sp>
      <p:sp>
        <p:nvSpPr>
          <p:cNvPr id="5" name="Text 3"/>
          <p:cNvSpPr txBox="1"/>
          <p:nvPr/>
        </p:nvSpPr>
        <p:spPr>
          <a:xfrm>
            <a:off x="274320" y="2880360"/>
            <a:ext cx="3291840" cy="1645920"/>
          </a:xfrm>
          <a:prstGeom prst="rect">
            <a:avLst/>
          </a:prstGeom>
          <a:noFill/>
          <a:ln/>
        </p:spPr>
        <p:txBody>
          <a:bodyPr wrap="square" lIns="0" tIns="0" rIns="0" bIns="0" rtlCol="0" anchor="ctr"/>
          <a:lstStyle/>
          <a:p>
            <a:pPr marL="0" indent="0">
              <a:lnSpc>
                <a:spcPct val="110000"/>
              </a:lnSpc>
              <a:buNone/>
            </a:pPr>
            <a:r>
              <a:rPr lang="en-US" sz="2000" b="1" dirty="0">
                <a:solidFill>
                  <a:srgbClr val="FFFFFF"/>
                </a:solidFill>
                <a:latin typeface="Calibri" pitchFamily="34" charset="0"/>
                <a:ea typeface="Calibri" pitchFamily="34" charset="-122"/>
                <a:cs typeface="Calibri" pitchFamily="34" charset="-120"/>
              </a:rPr>
              <a:t>Tokens</a:t>
            </a:r>
            <a:endParaRPr lang="en-US" sz="2000" dirty="0"/>
          </a:p>
        </p:txBody>
      </p:sp>
      <p:sp>
        <p:nvSpPr>
          <p:cNvPr id="6" name="Text 4"/>
          <p:cNvSpPr txBox="1"/>
          <p:nvPr/>
        </p:nvSpPr>
        <p:spPr>
          <a:xfrm>
            <a:off x="4206240" y="2651760"/>
            <a:ext cx="7680960" cy="1371600"/>
          </a:xfrm>
          <a:prstGeom prst="rect">
            <a:avLst/>
          </a:prstGeom>
          <a:noFill/>
          <a:ln/>
        </p:spPr>
        <p:txBody>
          <a:bodyPr wrap="square" lIns="0" tIns="0" rIns="0" bIns="0" rtlCol="0" anchor="ctr"/>
          <a:lstStyle/>
          <a:p>
            <a:pPr marL="0" indent="0">
              <a:lnSpc>
                <a:spcPct val="130000"/>
              </a:lnSpc>
              <a:buNone/>
            </a:pPr>
            <a:r>
              <a:rPr lang="en-US" sz="1600" dirty="0">
                <a:solidFill>
                  <a:srgbClr val="1E2A3A"/>
                </a:solidFill>
                <a:latin typeface="Calibri" pitchFamily="34" charset="0"/>
                <a:ea typeface="Calibri" pitchFamily="34" charset="-122"/>
                <a:cs typeface="Calibri" pitchFamily="34" charset="-120"/>
              </a:rPr>
              <a:t>The smallest units that a programming language recognises as meaningful.</a:t>
            </a:r>
            <a:endParaRPr lang="en-US" sz="1600" dirty="0"/>
          </a:p>
        </p:txBody>
      </p:sp>
      <p:sp>
        <p:nvSpPr>
          <p:cNvPr id="7" name="Text 5"/>
          <p:cNvSpPr txBox="1"/>
          <p:nvPr/>
        </p:nvSpPr>
        <p:spPr>
          <a:xfrm>
            <a:off x="4206240" y="1371600"/>
            <a:ext cx="7680960" cy="274320"/>
          </a:xfrm>
          <a:prstGeom prst="rect">
            <a:avLst/>
          </a:prstGeom>
          <a:noFill/>
          <a:ln/>
        </p:spPr>
        <p:txBody>
          <a:bodyPr wrap="square" lIns="0" tIns="0" rIns="0" bIns="0" rtlCol="0" anchor="ctr"/>
          <a:lstStyle/>
          <a:p>
            <a:pPr marL="0" indent="0">
              <a:buNone/>
            </a:pPr>
            <a:r>
              <a:rPr lang="en-US" sz="1300" b="1" dirty="0">
                <a:solidFill>
                  <a:srgbClr val="1E2A3A"/>
                </a:solidFill>
                <a:latin typeface="Calibri" pitchFamily="34" charset="0"/>
                <a:ea typeface="Calibri" pitchFamily="34" charset="-122"/>
                <a:cs typeface="Calibri" pitchFamily="34" charset="-120"/>
              </a:rPr>
              <a:t>Start here:</a:t>
            </a:r>
            <a:endParaRPr lang="en-US" sz="1300" dirty="0"/>
          </a:p>
        </p:txBody>
      </p:sp>
      <p:sp>
        <p:nvSpPr>
          <p:cNvPr id="8" name="Shape 6"/>
          <p:cNvSpPr/>
          <p:nvPr/>
        </p:nvSpPr>
        <p:spPr>
          <a:xfrm>
            <a:off x="4206240" y="1719072"/>
            <a:ext cx="7680960" cy="566928"/>
          </a:xfrm>
          <a:prstGeom prst="rect">
            <a:avLst/>
          </a:prstGeom>
          <a:solidFill>
            <a:srgbClr val="EEF1FA"/>
          </a:solidFill>
          <a:ln w="12700">
            <a:solidFill>
              <a:srgbClr val="D0DAF0"/>
            </a:solidFill>
            <a:prstDash val="solid"/>
          </a:ln>
        </p:spPr>
        <p:txBody>
          <a:bodyPr/>
          <a:lstStyle/>
          <a:p>
            <a:endParaRPr lang="en-US"/>
          </a:p>
        </p:txBody>
      </p:sp>
      <p:sp>
        <p:nvSpPr>
          <p:cNvPr id="9" name="Text 7"/>
          <p:cNvSpPr txBox="1"/>
          <p:nvPr/>
        </p:nvSpPr>
        <p:spPr>
          <a:xfrm>
            <a:off x="4334256" y="1810512"/>
            <a:ext cx="7479792" cy="402336"/>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int age = 25;</a:t>
            </a:r>
            <a:endParaRPr lang="en-US" sz="1100" dirty="0"/>
          </a:p>
        </p:txBody>
      </p:sp>
      <p:sp>
        <p:nvSpPr>
          <p:cNvPr id="10" name="Text 8"/>
          <p:cNvSpPr txBox="1"/>
          <p:nvPr/>
        </p:nvSpPr>
        <p:spPr>
          <a:xfrm>
            <a:off x="4206240" y="2450592"/>
            <a:ext cx="7680960" cy="713232"/>
          </a:xfrm>
          <a:prstGeom prst="rect">
            <a:avLst/>
          </a:prstGeom>
          <a:noFill/>
          <a:ln/>
        </p:spPr>
        <p:txBody>
          <a:bodyPr wrap="square" lIns="0" tIns="0" rIns="0" bIns="0" rtlCol="0" anchor="ctr"/>
          <a:lstStyle/>
          <a:p>
            <a:pPr marL="0" indent="0">
              <a:lnSpc>
                <a:spcPct val="140000"/>
              </a:lnSpc>
              <a:buNone/>
            </a:pPr>
            <a:r>
              <a:rPr lang="en-US" sz="1300" dirty="0">
                <a:solidFill>
                  <a:srgbClr val="1E2A3A"/>
                </a:solidFill>
                <a:latin typeface="Calibri" pitchFamily="34" charset="0"/>
                <a:ea typeface="Calibri" pitchFamily="34" charset="-122"/>
                <a:cs typeface="Calibri" pitchFamily="34" charset="-120"/>
              </a:rPr>
              <a:t>You read that as one statement. But before the language can do anything with it, it breaks the line into individual pieces — the smallest units that carry distinct meaning.</a:t>
            </a:r>
            <a:endParaRPr lang="en-US" sz="1300" dirty="0"/>
          </a:p>
        </p:txBody>
      </p:sp>
      <p:sp>
        <p:nvSpPr>
          <p:cNvPr id="11" name="Text 9"/>
          <p:cNvSpPr txBox="1"/>
          <p:nvPr/>
        </p:nvSpPr>
        <p:spPr>
          <a:xfrm>
            <a:off x="4206240" y="3218688"/>
            <a:ext cx="7680960" cy="329184"/>
          </a:xfrm>
          <a:prstGeom prst="rect">
            <a:avLst/>
          </a:prstGeom>
          <a:noFill/>
          <a:ln/>
        </p:spPr>
        <p:txBody>
          <a:bodyPr wrap="square" lIns="0" tIns="0" rIns="0" bIns="0" rtlCol="0" anchor="ctr"/>
          <a:lstStyle/>
          <a:p>
            <a:pPr marL="0" indent="0">
              <a:buNone/>
            </a:pPr>
            <a:r>
              <a:rPr lang="en-US" sz="1500" b="1" dirty="0">
                <a:solidFill>
                  <a:srgbClr val="1A2B5E"/>
                </a:solidFill>
                <a:latin typeface="Calibri" pitchFamily="34" charset="0"/>
                <a:ea typeface="Calibri" pitchFamily="34" charset="-122"/>
                <a:cs typeface="Calibri" pitchFamily="34" charset="-120"/>
              </a:rPr>
              <a:t>Those pieces are called tokens.</a:t>
            </a:r>
            <a:endParaRPr lang="en-US" sz="1500" dirty="0"/>
          </a:p>
        </p:txBody>
      </p:sp>
      <p:sp>
        <p:nvSpPr>
          <p:cNvPr id="12" name="Text 10"/>
          <p:cNvSpPr txBox="1"/>
          <p:nvPr/>
        </p:nvSpPr>
        <p:spPr>
          <a:xfrm>
            <a:off x="4206240" y="3703320"/>
            <a:ext cx="7680960" cy="502920"/>
          </a:xfrm>
          <a:prstGeom prst="rect">
            <a:avLst/>
          </a:prstGeom>
          <a:noFill/>
          <a:ln/>
        </p:spPr>
        <p:txBody>
          <a:bodyPr wrap="square" lIns="0" tIns="0" rIns="0" bIns="0" rtlCol="0" anchor="ctr"/>
          <a:lstStyle/>
          <a:p>
            <a:pPr marL="0" indent="0">
              <a:lnSpc>
                <a:spcPct val="135000"/>
              </a:lnSpc>
              <a:buNone/>
            </a:pPr>
            <a:r>
              <a:rPr lang="en-US" sz="1300" dirty="0">
                <a:solidFill>
                  <a:srgbClr val="4C1D95"/>
                </a:solidFill>
                <a:latin typeface="Calibri" pitchFamily="34" charset="0"/>
                <a:ea typeface="Calibri" pitchFamily="34" charset="-122"/>
                <a:cs typeface="Calibri" pitchFamily="34" charset="-120"/>
              </a:rPr>
              <a:t>Before reading on — how many distinct pieces can you identify in   int age = 25;  ?</a:t>
            </a:r>
            <a:endParaRPr lang="en-US" sz="1300" dirty="0"/>
          </a:p>
        </p:txBody>
      </p:sp>
      <p:sp>
        <p:nvSpPr>
          <p:cNvPr id="13" name="Text 11"/>
          <p:cNvSpPr txBox="1"/>
          <p:nvPr/>
        </p:nvSpPr>
        <p:spPr>
          <a:xfrm>
            <a:off x="4206240" y="4224528"/>
            <a:ext cx="7680960" cy="329184"/>
          </a:xfrm>
          <a:prstGeom prst="rect">
            <a:avLst/>
          </a:prstGeom>
          <a:noFill/>
          <a:ln/>
        </p:spPr>
        <p:txBody>
          <a:bodyPr wrap="square" lIns="0" tIns="0" rIns="0" bIns="0" rtlCol="0" anchor="ctr"/>
          <a:lstStyle/>
          <a:p>
            <a:pPr marL="0" indent="0">
              <a:buNone/>
            </a:pPr>
            <a:r>
              <a:rPr lang="en-US" sz="1200" b="1" dirty="0">
                <a:solidFill>
                  <a:srgbClr val="6D28D9"/>
                </a:solidFill>
                <a:latin typeface="Calibri" pitchFamily="34" charset="0"/>
                <a:ea typeface="Calibri" pitchFamily="34" charset="-122"/>
                <a:cs typeface="Calibri" pitchFamily="34" charset="-120"/>
              </a:rPr>
              <a:t>🤔  Try it first — write your list, then advance the slide.</a:t>
            </a:r>
            <a:endParaRPr lang="en-US" sz="1200" dirty="0"/>
          </a:p>
        </p:txBody>
      </p:sp>
      <p:sp>
        <p:nvSpPr>
          <p:cNvPr id="14" name="Text 12"/>
          <p:cNvSpPr txBox="1"/>
          <p:nvPr/>
        </p:nvSpPr>
        <p:spPr>
          <a:xfrm>
            <a:off x="4206240" y="4709160"/>
            <a:ext cx="2743200" cy="274320"/>
          </a:xfrm>
          <a:prstGeom prst="rect">
            <a:avLst/>
          </a:prstGeom>
          <a:noFill/>
          <a:ln/>
        </p:spPr>
        <p:txBody>
          <a:bodyPr wrap="square" lIns="0" tIns="0" rIns="0" bIns="0" rtlCol="0" anchor="ctr"/>
          <a:lstStyle/>
          <a:p>
            <a:pPr marL="0" indent="0">
              <a:buNone/>
            </a:pPr>
            <a:r>
              <a:rPr lang="en-US" sz="1200" dirty="0">
                <a:solidFill>
                  <a:srgbClr val="5A6A82"/>
                </a:solidFill>
                <a:latin typeface="Calibri" pitchFamily="34" charset="0"/>
                <a:ea typeface="Calibri" pitchFamily="34" charset="-122"/>
                <a:cs typeface="Calibri" pitchFamily="34" charset="-120"/>
              </a:rPr>
              <a:t>The five tokens:</a:t>
            </a:r>
            <a:endParaRPr lang="en-US" sz="1200" dirty="0"/>
          </a:p>
        </p:txBody>
      </p:sp>
      <p:sp>
        <p:nvSpPr>
          <p:cNvPr id="15" name="Shape 13"/>
          <p:cNvSpPr/>
          <p:nvPr/>
        </p:nvSpPr>
        <p:spPr>
          <a:xfrm>
            <a:off x="4206240" y="5029200"/>
            <a:ext cx="777240" cy="320040"/>
          </a:xfrm>
          <a:prstGeom prst="roundRect">
            <a:avLst>
              <a:gd name="adj" fmla="val 17143"/>
            </a:avLst>
          </a:prstGeom>
          <a:solidFill>
            <a:srgbClr val="F3E8FF"/>
          </a:solidFill>
          <a:ln w="12700">
            <a:solidFill>
              <a:srgbClr val="F3E8FF"/>
            </a:solidFill>
            <a:prstDash val="solid"/>
          </a:ln>
        </p:spPr>
        <p:txBody>
          <a:bodyPr/>
          <a:lstStyle/>
          <a:p>
            <a:endParaRPr lang="en-US"/>
          </a:p>
        </p:txBody>
      </p:sp>
      <p:sp>
        <p:nvSpPr>
          <p:cNvPr id="16" name="Text 14"/>
          <p:cNvSpPr txBox="1"/>
          <p:nvPr/>
        </p:nvSpPr>
        <p:spPr>
          <a:xfrm>
            <a:off x="4242816" y="5074920"/>
            <a:ext cx="704088" cy="237744"/>
          </a:xfrm>
          <a:prstGeom prst="rect">
            <a:avLst/>
          </a:prstGeom>
          <a:noFill/>
          <a:ln/>
        </p:spPr>
        <p:txBody>
          <a:bodyPr wrap="square" lIns="0" tIns="0" rIns="0" bIns="0" rtlCol="0" anchor="ctr"/>
          <a:lstStyle/>
          <a:p>
            <a:pPr marL="0" indent="0" algn="ctr">
              <a:buNone/>
            </a:pPr>
            <a:r>
              <a:rPr lang="en-US" sz="1100" b="1" dirty="0">
                <a:solidFill>
                  <a:srgbClr val="7C3AED"/>
                </a:solidFill>
                <a:latin typeface="Courier New" pitchFamily="34" charset="0"/>
                <a:ea typeface="Courier New" pitchFamily="34" charset="-122"/>
                <a:cs typeface="Courier New" pitchFamily="34" charset="-120"/>
              </a:rPr>
              <a:t>int</a:t>
            </a:r>
            <a:endParaRPr lang="en-US" sz="1100" dirty="0"/>
          </a:p>
        </p:txBody>
      </p:sp>
      <p:sp>
        <p:nvSpPr>
          <p:cNvPr id="17" name="Shape 15"/>
          <p:cNvSpPr/>
          <p:nvPr/>
        </p:nvSpPr>
        <p:spPr>
          <a:xfrm>
            <a:off x="5084064" y="5029200"/>
            <a:ext cx="777240" cy="320040"/>
          </a:xfrm>
          <a:prstGeom prst="roundRect">
            <a:avLst>
              <a:gd name="adj" fmla="val 17143"/>
            </a:avLst>
          </a:prstGeom>
          <a:solidFill>
            <a:srgbClr val="DBEAFE"/>
          </a:solidFill>
          <a:ln w="12700">
            <a:solidFill>
              <a:srgbClr val="DBEAFE"/>
            </a:solidFill>
            <a:prstDash val="solid"/>
          </a:ln>
        </p:spPr>
        <p:txBody>
          <a:bodyPr/>
          <a:lstStyle/>
          <a:p>
            <a:endParaRPr lang="en-US"/>
          </a:p>
        </p:txBody>
      </p:sp>
      <p:sp>
        <p:nvSpPr>
          <p:cNvPr id="18" name="Text 16"/>
          <p:cNvSpPr txBox="1"/>
          <p:nvPr/>
        </p:nvSpPr>
        <p:spPr>
          <a:xfrm>
            <a:off x="5120640" y="5074920"/>
            <a:ext cx="704088" cy="237744"/>
          </a:xfrm>
          <a:prstGeom prst="rect">
            <a:avLst/>
          </a:prstGeom>
          <a:noFill/>
          <a:ln/>
        </p:spPr>
        <p:txBody>
          <a:bodyPr wrap="square" lIns="0" tIns="0" rIns="0" bIns="0" rtlCol="0" anchor="ctr"/>
          <a:lstStyle/>
          <a:p>
            <a:pPr marL="0" indent="0" algn="ctr">
              <a:buNone/>
            </a:pPr>
            <a:r>
              <a:rPr lang="en-US" sz="1100" b="1" dirty="0">
                <a:solidFill>
                  <a:srgbClr val="1E40AF"/>
                </a:solidFill>
                <a:latin typeface="Courier New" pitchFamily="34" charset="0"/>
                <a:ea typeface="Courier New" pitchFamily="34" charset="-122"/>
                <a:cs typeface="Courier New" pitchFamily="34" charset="-120"/>
              </a:rPr>
              <a:t>age</a:t>
            </a:r>
            <a:endParaRPr lang="en-US" sz="1100" dirty="0"/>
          </a:p>
        </p:txBody>
      </p:sp>
      <p:sp>
        <p:nvSpPr>
          <p:cNvPr id="19" name="Shape 17"/>
          <p:cNvSpPr/>
          <p:nvPr/>
        </p:nvSpPr>
        <p:spPr>
          <a:xfrm>
            <a:off x="5961888" y="5029200"/>
            <a:ext cx="777240" cy="320040"/>
          </a:xfrm>
          <a:prstGeom prst="roundRect">
            <a:avLst>
              <a:gd name="adj" fmla="val 17143"/>
            </a:avLst>
          </a:prstGeom>
          <a:solidFill>
            <a:srgbClr val="FEF9C3"/>
          </a:solidFill>
          <a:ln w="12700">
            <a:solidFill>
              <a:srgbClr val="FEF9C3"/>
            </a:solidFill>
            <a:prstDash val="solid"/>
          </a:ln>
        </p:spPr>
        <p:txBody>
          <a:bodyPr/>
          <a:lstStyle/>
          <a:p>
            <a:endParaRPr lang="en-US"/>
          </a:p>
        </p:txBody>
      </p:sp>
      <p:sp>
        <p:nvSpPr>
          <p:cNvPr id="20" name="Text 18"/>
          <p:cNvSpPr txBox="1"/>
          <p:nvPr/>
        </p:nvSpPr>
        <p:spPr>
          <a:xfrm>
            <a:off x="5998464" y="5074920"/>
            <a:ext cx="704088" cy="237744"/>
          </a:xfrm>
          <a:prstGeom prst="rect">
            <a:avLst/>
          </a:prstGeom>
          <a:noFill/>
          <a:ln/>
        </p:spPr>
        <p:txBody>
          <a:bodyPr wrap="square" lIns="0" tIns="0" rIns="0" bIns="0" rtlCol="0" anchor="ctr"/>
          <a:lstStyle/>
          <a:p>
            <a:pPr marL="0" indent="0" algn="ctr">
              <a:buNone/>
            </a:pPr>
            <a:r>
              <a:rPr lang="en-US" sz="1100" b="1" dirty="0">
                <a:solidFill>
                  <a:srgbClr val="854D0E"/>
                </a:solidFill>
                <a:latin typeface="Courier New" pitchFamily="34" charset="0"/>
                <a:ea typeface="Courier New" pitchFamily="34" charset="-122"/>
                <a:cs typeface="Courier New" pitchFamily="34" charset="-120"/>
              </a:rPr>
              <a:t>=</a:t>
            </a:r>
            <a:endParaRPr lang="en-US" sz="1100" dirty="0"/>
          </a:p>
        </p:txBody>
      </p:sp>
      <p:sp>
        <p:nvSpPr>
          <p:cNvPr id="21" name="Shape 19"/>
          <p:cNvSpPr/>
          <p:nvPr/>
        </p:nvSpPr>
        <p:spPr>
          <a:xfrm>
            <a:off x="6839712" y="5029200"/>
            <a:ext cx="777240" cy="320040"/>
          </a:xfrm>
          <a:prstGeom prst="roundRect">
            <a:avLst>
              <a:gd name="adj" fmla="val 17143"/>
            </a:avLst>
          </a:prstGeom>
          <a:solidFill>
            <a:srgbClr val="DCFCE7"/>
          </a:solidFill>
          <a:ln w="12700">
            <a:solidFill>
              <a:srgbClr val="DCFCE7"/>
            </a:solidFill>
            <a:prstDash val="solid"/>
          </a:ln>
        </p:spPr>
        <p:txBody>
          <a:bodyPr/>
          <a:lstStyle/>
          <a:p>
            <a:endParaRPr lang="en-US"/>
          </a:p>
        </p:txBody>
      </p:sp>
      <p:sp>
        <p:nvSpPr>
          <p:cNvPr id="22" name="Text 20"/>
          <p:cNvSpPr txBox="1"/>
          <p:nvPr/>
        </p:nvSpPr>
        <p:spPr>
          <a:xfrm>
            <a:off x="6876288" y="5074920"/>
            <a:ext cx="704088" cy="237744"/>
          </a:xfrm>
          <a:prstGeom prst="rect">
            <a:avLst/>
          </a:prstGeom>
          <a:noFill/>
          <a:ln/>
        </p:spPr>
        <p:txBody>
          <a:bodyPr wrap="square" lIns="0" tIns="0" rIns="0" bIns="0" rtlCol="0" anchor="ctr"/>
          <a:lstStyle/>
          <a:p>
            <a:pPr marL="0" indent="0" algn="ctr">
              <a:buNone/>
            </a:pPr>
            <a:r>
              <a:rPr lang="en-US" sz="1100" b="1" dirty="0">
                <a:solidFill>
                  <a:srgbClr val="166534"/>
                </a:solidFill>
                <a:latin typeface="Courier New" pitchFamily="34" charset="0"/>
                <a:ea typeface="Courier New" pitchFamily="34" charset="-122"/>
                <a:cs typeface="Courier New" pitchFamily="34" charset="-120"/>
              </a:rPr>
              <a:t>25</a:t>
            </a:r>
            <a:endParaRPr lang="en-US" sz="1100" dirty="0"/>
          </a:p>
        </p:txBody>
      </p:sp>
      <p:sp>
        <p:nvSpPr>
          <p:cNvPr id="23" name="Shape 21"/>
          <p:cNvSpPr/>
          <p:nvPr/>
        </p:nvSpPr>
        <p:spPr>
          <a:xfrm>
            <a:off x="7717536" y="5029200"/>
            <a:ext cx="777240" cy="320040"/>
          </a:xfrm>
          <a:prstGeom prst="roundRect">
            <a:avLst>
              <a:gd name="adj" fmla="val 17143"/>
            </a:avLst>
          </a:prstGeom>
          <a:solidFill>
            <a:srgbClr val="F1F5F9"/>
          </a:solidFill>
          <a:ln w="12700">
            <a:solidFill>
              <a:srgbClr val="F1F5F9"/>
            </a:solidFill>
            <a:prstDash val="solid"/>
          </a:ln>
        </p:spPr>
        <p:txBody>
          <a:bodyPr/>
          <a:lstStyle/>
          <a:p>
            <a:endParaRPr lang="en-US"/>
          </a:p>
        </p:txBody>
      </p:sp>
      <p:sp>
        <p:nvSpPr>
          <p:cNvPr id="24" name="Text 22"/>
          <p:cNvSpPr txBox="1"/>
          <p:nvPr/>
        </p:nvSpPr>
        <p:spPr>
          <a:xfrm>
            <a:off x="7754112" y="5074920"/>
            <a:ext cx="704088" cy="237744"/>
          </a:xfrm>
          <a:prstGeom prst="rect">
            <a:avLst/>
          </a:prstGeom>
          <a:noFill/>
          <a:ln/>
        </p:spPr>
        <p:txBody>
          <a:bodyPr wrap="square" lIns="0" tIns="0" rIns="0" bIns="0" rtlCol="0" anchor="ctr"/>
          <a:lstStyle/>
          <a:p>
            <a:pPr marL="0" indent="0" algn="ctr">
              <a:buNone/>
            </a:pPr>
            <a:r>
              <a:rPr lang="en-US" sz="1100" b="1" dirty="0">
                <a:solidFill>
                  <a:srgbClr val="475569"/>
                </a:solidFill>
                <a:latin typeface="Courier New" pitchFamily="34" charset="0"/>
                <a:ea typeface="Courier New" pitchFamily="34" charset="-122"/>
                <a:cs typeface="Courier New" pitchFamily="34" charset="-120"/>
              </a:rPr>
              <a: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51560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Five Token Categories</a:t>
            </a:r>
            <a:endParaRPr lang="en-US" sz="2200" dirty="0"/>
          </a:p>
        </p:txBody>
      </p:sp>
      <p:sp>
        <p:nvSpPr>
          <p:cNvPr id="4" name="Text 2"/>
          <p:cNvSpPr txBox="1"/>
          <p:nvPr/>
        </p:nvSpPr>
        <p:spPr>
          <a:xfrm>
            <a:off x="10515600" y="256032"/>
            <a:ext cx="150876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1 · Tokens</a:t>
            </a:r>
            <a:endParaRPr lang="en-US" sz="900" dirty="0"/>
          </a:p>
        </p:txBody>
      </p:sp>
      <p:sp>
        <p:nvSpPr>
          <p:cNvPr id="5" name="Shape 3"/>
          <p:cNvSpPr/>
          <p:nvPr/>
        </p:nvSpPr>
        <p:spPr>
          <a:xfrm>
            <a:off x="411480" y="987552"/>
            <a:ext cx="1417320" cy="987552"/>
          </a:xfrm>
          <a:prstGeom prst="roundRect">
            <a:avLst>
              <a:gd name="adj" fmla="val 5556"/>
            </a:avLst>
          </a:prstGeom>
          <a:solidFill>
            <a:srgbClr val="E0D8FE"/>
          </a:solidFill>
          <a:ln w="12700">
            <a:solidFill>
              <a:srgbClr val="E0D8FE"/>
            </a:solidFill>
            <a:prstDash val="solid"/>
          </a:ln>
        </p:spPr>
        <p:txBody>
          <a:bodyPr/>
          <a:lstStyle/>
          <a:p>
            <a:endParaRPr lang="en-US"/>
          </a:p>
        </p:txBody>
      </p:sp>
      <p:sp>
        <p:nvSpPr>
          <p:cNvPr id="6" name="Text 4"/>
          <p:cNvSpPr txBox="1"/>
          <p:nvPr/>
        </p:nvSpPr>
        <p:spPr>
          <a:xfrm>
            <a:off x="475488" y="1307592"/>
            <a:ext cx="1298448" cy="274320"/>
          </a:xfrm>
          <a:prstGeom prst="rect">
            <a:avLst/>
          </a:prstGeom>
          <a:noFill/>
          <a:ln/>
        </p:spPr>
        <p:txBody>
          <a:bodyPr wrap="square" lIns="0" tIns="0" rIns="0" bIns="0" rtlCol="0" anchor="ctr"/>
          <a:lstStyle/>
          <a:p>
            <a:pPr marL="0" indent="0" algn="ctr">
              <a:buNone/>
            </a:pPr>
            <a:r>
              <a:rPr lang="en-US" sz="1200" b="1" dirty="0">
                <a:solidFill>
                  <a:srgbClr val="4C1D95"/>
                </a:solidFill>
                <a:latin typeface="Courier New" pitchFamily="34" charset="0"/>
                <a:ea typeface="Courier New" pitchFamily="34" charset="-122"/>
                <a:cs typeface="Courier New" pitchFamily="34" charset="-120"/>
              </a:rPr>
              <a:t>keyword</a:t>
            </a:r>
            <a:endParaRPr lang="en-US" sz="1200" dirty="0"/>
          </a:p>
        </p:txBody>
      </p:sp>
      <p:sp>
        <p:nvSpPr>
          <p:cNvPr id="7" name="Text 5"/>
          <p:cNvSpPr txBox="1"/>
          <p:nvPr/>
        </p:nvSpPr>
        <p:spPr>
          <a:xfrm>
            <a:off x="1965960" y="1060704"/>
            <a:ext cx="6583680" cy="457200"/>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A reserved word the language owns — you cannot use it as a variable name</a:t>
            </a:r>
            <a:endParaRPr lang="en-US" sz="1200" dirty="0"/>
          </a:p>
        </p:txBody>
      </p:sp>
      <p:sp>
        <p:nvSpPr>
          <p:cNvPr id="8" name="Text 6"/>
          <p:cNvSpPr txBox="1"/>
          <p:nvPr/>
        </p:nvSpPr>
        <p:spPr>
          <a:xfrm>
            <a:off x="1965960" y="1554480"/>
            <a:ext cx="6583680" cy="329184"/>
          </a:xfrm>
          <a:prstGeom prst="rect">
            <a:avLst/>
          </a:prstGeom>
          <a:noFill/>
          <a:ln/>
        </p:spPr>
        <p:txBody>
          <a:bodyPr wrap="square" lIns="0" tIns="0" rIns="0" bIns="0" rtlCol="0" anchor="ctr"/>
          <a:lstStyle/>
          <a:p>
            <a:pPr marL="0" indent="0">
              <a:buNone/>
            </a:pPr>
            <a:r>
              <a:rPr lang="en-US" sz="1100" dirty="0">
                <a:solidFill>
                  <a:srgbClr val="5A6A82"/>
                </a:solidFill>
                <a:latin typeface="Courier New" pitchFamily="34" charset="0"/>
                <a:ea typeface="Courier New" pitchFamily="34" charset="-122"/>
                <a:cs typeface="Courier New" pitchFamily="34" charset="-120"/>
              </a:rPr>
              <a:t>if, while, return, def, class</a:t>
            </a:r>
            <a:endParaRPr lang="en-US" sz="1100" dirty="0"/>
          </a:p>
        </p:txBody>
      </p:sp>
      <p:sp>
        <p:nvSpPr>
          <p:cNvPr id="9" name="Text 7"/>
          <p:cNvSpPr txBox="1"/>
          <p:nvPr/>
        </p:nvSpPr>
        <p:spPr>
          <a:xfrm>
            <a:off x="8641080" y="1554480"/>
            <a:ext cx="365760" cy="274320"/>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e.g.</a:t>
            </a:r>
            <a:endParaRPr lang="en-US" sz="1000" dirty="0"/>
          </a:p>
        </p:txBody>
      </p:sp>
      <p:sp>
        <p:nvSpPr>
          <p:cNvPr id="10" name="Shape 8"/>
          <p:cNvSpPr/>
          <p:nvPr/>
        </p:nvSpPr>
        <p:spPr>
          <a:xfrm>
            <a:off x="411480" y="2103120"/>
            <a:ext cx="1417320" cy="987552"/>
          </a:xfrm>
          <a:prstGeom prst="roundRect">
            <a:avLst>
              <a:gd name="adj" fmla="val 5556"/>
            </a:avLst>
          </a:prstGeom>
          <a:solidFill>
            <a:srgbClr val="DBEAFE"/>
          </a:solidFill>
          <a:ln w="12700">
            <a:solidFill>
              <a:srgbClr val="DBEAFE"/>
            </a:solidFill>
            <a:prstDash val="solid"/>
          </a:ln>
        </p:spPr>
        <p:txBody>
          <a:bodyPr/>
          <a:lstStyle/>
          <a:p>
            <a:endParaRPr lang="en-US"/>
          </a:p>
        </p:txBody>
      </p:sp>
      <p:sp>
        <p:nvSpPr>
          <p:cNvPr id="11" name="Text 9"/>
          <p:cNvSpPr txBox="1"/>
          <p:nvPr/>
        </p:nvSpPr>
        <p:spPr>
          <a:xfrm>
            <a:off x="475488" y="2423160"/>
            <a:ext cx="1298448" cy="274320"/>
          </a:xfrm>
          <a:prstGeom prst="rect">
            <a:avLst/>
          </a:prstGeom>
          <a:noFill/>
          <a:ln/>
        </p:spPr>
        <p:txBody>
          <a:bodyPr wrap="square" lIns="0" tIns="0" rIns="0" bIns="0" rtlCol="0" anchor="ctr"/>
          <a:lstStyle/>
          <a:p>
            <a:pPr marL="0" indent="0" algn="ctr">
              <a:buNone/>
            </a:pPr>
            <a:r>
              <a:rPr lang="en-US" sz="1200" b="1" dirty="0">
                <a:solidFill>
                  <a:srgbClr val="1E40AF"/>
                </a:solidFill>
                <a:latin typeface="Courier New" pitchFamily="34" charset="0"/>
                <a:ea typeface="Courier New" pitchFamily="34" charset="-122"/>
                <a:cs typeface="Courier New" pitchFamily="34" charset="-120"/>
              </a:rPr>
              <a:t>identifier</a:t>
            </a:r>
            <a:endParaRPr lang="en-US" sz="1200" dirty="0"/>
          </a:p>
        </p:txBody>
      </p:sp>
      <p:sp>
        <p:nvSpPr>
          <p:cNvPr id="12" name="Text 10"/>
          <p:cNvSpPr txBox="1"/>
          <p:nvPr/>
        </p:nvSpPr>
        <p:spPr>
          <a:xfrm>
            <a:off x="1965960" y="2176272"/>
            <a:ext cx="6583680" cy="457200"/>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A name the programmer creates — for a variable, function, or class</a:t>
            </a:r>
            <a:endParaRPr lang="en-US" sz="1200" dirty="0"/>
          </a:p>
        </p:txBody>
      </p:sp>
      <p:sp>
        <p:nvSpPr>
          <p:cNvPr id="13" name="Text 11"/>
          <p:cNvSpPr txBox="1"/>
          <p:nvPr/>
        </p:nvSpPr>
        <p:spPr>
          <a:xfrm>
            <a:off x="1965960" y="2670048"/>
            <a:ext cx="6583680" cy="329184"/>
          </a:xfrm>
          <a:prstGeom prst="rect">
            <a:avLst/>
          </a:prstGeom>
          <a:noFill/>
          <a:ln/>
        </p:spPr>
        <p:txBody>
          <a:bodyPr wrap="square" lIns="0" tIns="0" rIns="0" bIns="0" rtlCol="0" anchor="ctr"/>
          <a:lstStyle/>
          <a:p>
            <a:pPr marL="0" indent="0">
              <a:buNone/>
            </a:pPr>
            <a:r>
              <a:rPr lang="en-US" sz="1100" dirty="0">
                <a:solidFill>
                  <a:srgbClr val="5A6A82"/>
                </a:solidFill>
                <a:latin typeface="Courier New" pitchFamily="34" charset="0"/>
                <a:ea typeface="Courier New" pitchFamily="34" charset="-122"/>
                <a:cs typeface="Courier New" pitchFamily="34" charset="-120"/>
              </a:rPr>
              <a:t>age, score, calculate_total, Student</a:t>
            </a:r>
            <a:endParaRPr lang="en-US" sz="1100" dirty="0"/>
          </a:p>
        </p:txBody>
      </p:sp>
      <p:sp>
        <p:nvSpPr>
          <p:cNvPr id="14" name="Text 12"/>
          <p:cNvSpPr txBox="1"/>
          <p:nvPr/>
        </p:nvSpPr>
        <p:spPr>
          <a:xfrm>
            <a:off x="8641080" y="2670048"/>
            <a:ext cx="365760" cy="274320"/>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e.g.</a:t>
            </a:r>
            <a:endParaRPr lang="en-US" sz="1000" dirty="0"/>
          </a:p>
        </p:txBody>
      </p:sp>
      <p:sp>
        <p:nvSpPr>
          <p:cNvPr id="15" name="Shape 13"/>
          <p:cNvSpPr/>
          <p:nvPr/>
        </p:nvSpPr>
        <p:spPr>
          <a:xfrm>
            <a:off x="411480" y="3218688"/>
            <a:ext cx="1417320" cy="987552"/>
          </a:xfrm>
          <a:prstGeom prst="roundRect">
            <a:avLst>
              <a:gd name="adj" fmla="val 5556"/>
            </a:avLst>
          </a:prstGeom>
          <a:solidFill>
            <a:srgbClr val="DCFCE7"/>
          </a:solidFill>
          <a:ln w="12700">
            <a:solidFill>
              <a:srgbClr val="DCFCE7"/>
            </a:solidFill>
            <a:prstDash val="solid"/>
          </a:ln>
        </p:spPr>
        <p:txBody>
          <a:bodyPr/>
          <a:lstStyle/>
          <a:p>
            <a:endParaRPr lang="en-US"/>
          </a:p>
        </p:txBody>
      </p:sp>
      <p:sp>
        <p:nvSpPr>
          <p:cNvPr id="16" name="Text 14"/>
          <p:cNvSpPr txBox="1"/>
          <p:nvPr/>
        </p:nvSpPr>
        <p:spPr>
          <a:xfrm>
            <a:off x="475488" y="3538728"/>
            <a:ext cx="1298448" cy="274320"/>
          </a:xfrm>
          <a:prstGeom prst="rect">
            <a:avLst/>
          </a:prstGeom>
          <a:noFill/>
          <a:ln/>
        </p:spPr>
        <p:txBody>
          <a:bodyPr wrap="square" lIns="0" tIns="0" rIns="0" bIns="0" rtlCol="0" anchor="ctr"/>
          <a:lstStyle/>
          <a:p>
            <a:pPr marL="0" indent="0" algn="ctr">
              <a:buNone/>
            </a:pPr>
            <a:r>
              <a:rPr lang="en-US" sz="1200" b="1" dirty="0">
                <a:solidFill>
                  <a:srgbClr val="166534"/>
                </a:solidFill>
                <a:latin typeface="Courier New" pitchFamily="34" charset="0"/>
                <a:ea typeface="Courier New" pitchFamily="34" charset="-122"/>
                <a:cs typeface="Courier New" pitchFamily="34" charset="-120"/>
              </a:rPr>
              <a:t>literal</a:t>
            </a:r>
            <a:endParaRPr lang="en-US" sz="1200" dirty="0"/>
          </a:p>
        </p:txBody>
      </p:sp>
      <p:sp>
        <p:nvSpPr>
          <p:cNvPr id="17" name="Text 15"/>
          <p:cNvSpPr txBox="1"/>
          <p:nvPr/>
        </p:nvSpPr>
        <p:spPr>
          <a:xfrm>
            <a:off x="1965960" y="3291840"/>
            <a:ext cx="6583680" cy="457200"/>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A fixed value written directly in the code</a:t>
            </a:r>
            <a:endParaRPr lang="en-US" sz="1200" dirty="0"/>
          </a:p>
        </p:txBody>
      </p:sp>
      <p:sp>
        <p:nvSpPr>
          <p:cNvPr id="18" name="Text 16"/>
          <p:cNvSpPr txBox="1"/>
          <p:nvPr/>
        </p:nvSpPr>
        <p:spPr>
          <a:xfrm>
            <a:off x="1965960" y="3785616"/>
            <a:ext cx="6583680" cy="329184"/>
          </a:xfrm>
          <a:prstGeom prst="rect">
            <a:avLst/>
          </a:prstGeom>
          <a:noFill/>
          <a:ln/>
        </p:spPr>
        <p:txBody>
          <a:bodyPr wrap="square" lIns="0" tIns="0" rIns="0" bIns="0" rtlCol="0" anchor="ctr"/>
          <a:lstStyle/>
          <a:p>
            <a:pPr marL="0" indent="0">
              <a:buNone/>
            </a:pPr>
            <a:r>
              <a:rPr lang="en-US" sz="1100" dirty="0">
                <a:solidFill>
                  <a:srgbClr val="5A6A82"/>
                </a:solidFill>
                <a:latin typeface="Courier New" pitchFamily="34" charset="0"/>
                <a:ea typeface="Courier New" pitchFamily="34" charset="-122"/>
                <a:cs typeface="Courier New" pitchFamily="34" charset="-120"/>
              </a:rPr>
              <a:t>25, 3.14, "Hello", true</a:t>
            </a:r>
            <a:endParaRPr lang="en-US" sz="1100" dirty="0"/>
          </a:p>
        </p:txBody>
      </p:sp>
      <p:sp>
        <p:nvSpPr>
          <p:cNvPr id="19" name="Text 17"/>
          <p:cNvSpPr txBox="1"/>
          <p:nvPr/>
        </p:nvSpPr>
        <p:spPr>
          <a:xfrm>
            <a:off x="8641080" y="3785616"/>
            <a:ext cx="365760" cy="274320"/>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e.g.</a:t>
            </a:r>
            <a:endParaRPr lang="en-US" sz="1000" dirty="0"/>
          </a:p>
        </p:txBody>
      </p:sp>
      <p:sp>
        <p:nvSpPr>
          <p:cNvPr id="20" name="Shape 18"/>
          <p:cNvSpPr/>
          <p:nvPr/>
        </p:nvSpPr>
        <p:spPr>
          <a:xfrm>
            <a:off x="411480" y="4334256"/>
            <a:ext cx="1417320" cy="987552"/>
          </a:xfrm>
          <a:prstGeom prst="roundRect">
            <a:avLst>
              <a:gd name="adj" fmla="val 5556"/>
            </a:avLst>
          </a:prstGeom>
          <a:solidFill>
            <a:srgbClr val="FEF9C3"/>
          </a:solidFill>
          <a:ln w="12700">
            <a:solidFill>
              <a:srgbClr val="FEF9C3"/>
            </a:solidFill>
            <a:prstDash val="solid"/>
          </a:ln>
        </p:spPr>
        <p:txBody>
          <a:bodyPr/>
          <a:lstStyle/>
          <a:p>
            <a:endParaRPr lang="en-US"/>
          </a:p>
        </p:txBody>
      </p:sp>
      <p:sp>
        <p:nvSpPr>
          <p:cNvPr id="21" name="Text 19"/>
          <p:cNvSpPr txBox="1"/>
          <p:nvPr/>
        </p:nvSpPr>
        <p:spPr>
          <a:xfrm>
            <a:off x="475488" y="4654296"/>
            <a:ext cx="1298448" cy="274320"/>
          </a:xfrm>
          <a:prstGeom prst="rect">
            <a:avLst/>
          </a:prstGeom>
          <a:noFill/>
          <a:ln/>
        </p:spPr>
        <p:txBody>
          <a:bodyPr wrap="square" lIns="0" tIns="0" rIns="0" bIns="0" rtlCol="0" anchor="ctr"/>
          <a:lstStyle/>
          <a:p>
            <a:pPr marL="0" indent="0" algn="ctr">
              <a:buNone/>
            </a:pPr>
            <a:r>
              <a:rPr lang="en-US" sz="1200" b="1" dirty="0">
                <a:solidFill>
                  <a:srgbClr val="854D0E"/>
                </a:solidFill>
                <a:latin typeface="Courier New" pitchFamily="34" charset="0"/>
                <a:ea typeface="Courier New" pitchFamily="34" charset="-122"/>
                <a:cs typeface="Courier New" pitchFamily="34" charset="-120"/>
              </a:rPr>
              <a:t>operator</a:t>
            </a:r>
            <a:endParaRPr lang="en-US" sz="1200" dirty="0"/>
          </a:p>
        </p:txBody>
      </p:sp>
      <p:sp>
        <p:nvSpPr>
          <p:cNvPr id="22" name="Text 20"/>
          <p:cNvSpPr txBox="1"/>
          <p:nvPr/>
        </p:nvSpPr>
        <p:spPr>
          <a:xfrm>
            <a:off x="1965960" y="4407408"/>
            <a:ext cx="6583680" cy="457200"/>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A symbol that performs an operation on values</a:t>
            </a:r>
            <a:endParaRPr lang="en-US" sz="1200" dirty="0"/>
          </a:p>
        </p:txBody>
      </p:sp>
      <p:sp>
        <p:nvSpPr>
          <p:cNvPr id="23" name="Text 21"/>
          <p:cNvSpPr txBox="1"/>
          <p:nvPr/>
        </p:nvSpPr>
        <p:spPr>
          <a:xfrm>
            <a:off x="1965960" y="4901184"/>
            <a:ext cx="6583680" cy="329184"/>
          </a:xfrm>
          <a:prstGeom prst="rect">
            <a:avLst/>
          </a:prstGeom>
          <a:noFill/>
          <a:ln/>
        </p:spPr>
        <p:txBody>
          <a:bodyPr wrap="square" lIns="0" tIns="0" rIns="0" bIns="0" rtlCol="0" anchor="ctr"/>
          <a:lstStyle/>
          <a:p>
            <a:pPr marL="0" indent="0">
              <a:buNone/>
            </a:pPr>
            <a:r>
              <a:rPr lang="en-US" sz="1100" dirty="0">
                <a:solidFill>
                  <a:srgbClr val="5A6A82"/>
                </a:solidFill>
                <a:latin typeface="Courier New" pitchFamily="34" charset="0"/>
                <a:ea typeface="Courier New" pitchFamily="34" charset="-122"/>
                <a:cs typeface="Courier New" pitchFamily="34" charset="-120"/>
              </a:rPr>
              <a:t>=, +, ==, &gt;, &amp;&amp;</a:t>
            </a:r>
            <a:endParaRPr lang="en-US" sz="1100" dirty="0"/>
          </a:p>
        </p:txBody>
      </p:sp>
      <p:sp>
        <p:nvSpPr>
          <p:cNvPr id="24" name="Text 22"/>
          <p:cNvSpPr txBox="1"/>
          <p:nvPr/>
        </p:nvSpPr>
        <p:spPr>
          <a:xfrm>
            <a:off x="8641080" y="4901184"/>
            <a:ext cx="365760" cy="274320"/>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e.g.</a:t>
            </a:r>
            <a:endParaRPr lang="en-US" sz="1000" dirty="0"/>
          </a:p>
        </p:txBody>
      </p:sp>
      <p:sp>
        <p:nvSpPr>
          <p:cNvPr id="25" name="Shape 23"/>
          <p:cNvSpPr/>
          <p:nvPr/>
        </p:nvSpPr>
        <p:spPr>
          <a:xfrm>
            <a:off x="411480" y="5449824"/>
            <a:ext cx="1417320" cy="987552"/>
          </a:xfrm>
          <a:prstGeom prst="roundRect">
            <a:avLst>
              <a:gd name="adj" fmla="val 5556"/>
            </a:avLst>
          </a:prstGeom>
          <a:solidFill>
            <a:srgbClr val="F1F5F9"/>
          </a:solidFill>
          <a:ln w="12700">
            <a:solidFill>
              <a:srgbClr val="F1F5F9"/>
            </a:solidFill>
            <a:prstDash val="solid"/>
          </a:ln>
        </p:spPr>
        <p:txBody>
          <a:bodyPr/>
          <a:lstStyle/>
          <a:p>
            <a:endParaRPr lang="en-US"/>
          </a:p>
        </p:txBody>
      </p:sp>
      <p:sp>
        <p:nvSpPr>
          <p:cNvPr id="26" name="Text 24"/>
          <p:cNvSpPr txBox="1"/>
          <p:nvPr/>
        </p:nvSpPr>
        <p:spPr>
          <a:xfrm>
            <a:off x="475488" y="5769864"/>
            <a:ext cx="1298448" cy="274320"/>
          </a:xfrm>
          <a:prstGeom prst="rect">
            <a:avLst/>
          </a:prstGeom>
          <a:noFill/>
          <a:ln/>
        </p:spPr>
        <p:txBody>
          <a:bodyPr wrap="square" lIns="0" tIns="0" rIns="0" bIns="0" rtlCol="0" anchor="ctr"/>
          <a:lstStyle/>
          <a:p>
            <a:pPr marL="0" indent="0" algn="ctr">
              <a:buNone/>
            </a:pPr>
            <a:r>
              <a:rPr lang="en-US" sz="1200" b="1" dirty="0">
                <a:solidFill>
                  <a:srgbClr val="475569"/>
                </a:solidFill>
                <a:latin typeface="Courier New" pitchFamily="34" charset="0"/>
                <a:ea typeface="Courier New" pitchFamily="34" charset="-122"/>
                <a:cs typeface="Courier New" pitchFamily="34" charset="-120"/>
              </a:rPr>
              <a:t>punctuation</a:t>
            </a:r>
            <a:endParaRPr lang="en-US" sz="1200" dirty="0"/>
          </a:p>
        </p:txBody>
      </p:sp>
      <p:sp>
        <p:nvSpPr>
          <p:cNvPr id="27" name="Text 25"/>
          <p:cNvSpPr txBox="1"/>
          <p:nvPr/>
        </p:nvSpPr>
        <p:spPr>
          <a:xfrm>
            <a:off x="1965960" y="5522976"/>
            <a:ext cx="6583680" cy="457200"/>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A structural character that organises the code — not an operator</a:t>
            </a:r>
            <a:endParaRPr lang="en-US" sz="1200" dirty="0"/>
          </a:p>
        </p:txBody>
      </p:sp>
      <p:sp>
        <p:nvSpPr>
          <p:cNvPr id="28" name="Text 26"/>
          <p:cNvSpPr txBox="1"/>
          <p:nvPr/>
        </p:nvSpPr>
        <p:spPr>
          <a:xfrm>
            <a:off x="1965960" y="6016752"/>
            <a:ext cx="6583680" cy="329184"/>
          </a:xfrm>
          <a:prstGeom prst="rect">
            <a:avLst/>
          </a:prstGeom>
          <a:noFill/>
          <a:ln/>
        </p:spPr>
        <p:txBody>
          <a:bodyPr wrap="square" lIns="0" tIns="0" rIns="0" bIns="0" rtlCol="0" anchor="ctr"/>
          <a:lstStyle/>
          <a:p>
            <a:pPr marL="0" indent="0">
              <a:buNone/>
            </a:pPr>
            <a:r>
              <a:rPr lang="en-US" sz="1100" dirty="0">
                <a:solidFill>
                  <a:srgbClr val="5A6A82"/>
                </a:solidFill>
                <a:latin typeface="Courier New" pitchFamily="34" charset="0"/>
                <a:ea typeface="Courier New" pitchFamily="34" charset="-122"/>
                <a:cs typeface="Courier New" pitchFamily="34" charset="-120"/>
              </a:rPr>
              <a:t>; { } ( ) : ,</a:t>
            </a:r>
            <a:endParaRPr lang="en-US" sz="1100" dirty="0"/>
          </a:p>
        </p:txBody>
      </p:sp>
      <p:sp>
        <p:nvSpPr>
          <p:cNvPr id="29" name="Text 27"/>
          <p:cNvSpPr txBox="1"/>
          <p:nvPr/>
        </p:nvSpPr>
        <p:spPr>
          <a:xfrm>
            <a:off x="8641080" y="6016752"/>
            <a:ext cx="365760" cy="274320"/>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e.g.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51560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Same Statement — Three Languages — Different Tokens</a:t>
            </a:r>
            <a:endParaRPr lang="en-US" sz="2200" dirty="0"/>
          </a:p>
        </p:txBody>
      </p:sp>
      <p:sp>
        <p:nvSpPr>
          <p:cNvPr id="4" name="Text 2"/>
          <p:cNvSpPr txBox="1"/>
          <p:nvPr/>
        </p:nvSpPr>
        <p:spPr>
          <a:xfrm>
            <a:off x="10515600" y="256032"/>
            <a:ext cx="150876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1 · Tokens</a:t>
            </a:r>
            <a:endParaRPr lang="en-US" sz="900" dirty="0"/>
          </a:p>
        </p:txBody>
      </p:sp>
      <p:sp>
        <p:nvSpPr>
          <p:cNvPr id="5" name="Text 3"/>
          <p:cNvSpPr txBox="1"/>
          <p:nvPr/>
        </p:nvSpPr>
        <p:spPr>
          <a:xfrm>
            <a:off x="411480" y="960120"/>
            <a:ext cx="11338560" cy="274320"/>
          </a:xfrm>
          <a:prstGeom prst="rect">
            <a:avLst/>
          </a:prstGeom>
          <a:noFill/>
          <a:ln/>
        </p:spPr>
        <p:txBody>
          <a:bodyPr wrap="square" lIns="0" tIns="0" rIns="0" bIns="0" rtlCol="0" anchor="ctr"/>
          <a:lstStyle/>
          <a:p>
            <a:pPr marL="0" indent="0">
              <a:buNone/>
            </a:pPr>
            <a:r>
              <a:rPr lang="en-US" sz="1200" dirty="0">
                <a:solidFill>
                  <a:srgbClr val="5A6A82"/>
                </a:solidFill>
                <a:latin typeface="Calibri" pitchFamily="34" charset="0"/>
                <a:ea typeface="Calibri" pitchFamily="34" charset="-122"/>
                <a:cs typeface="Calibri" pitchFamily="34" charset="-120"/>
              </a:rPr>
              <a:t>Store a value called "age" set to 25</a:t>
            </a:r>
            <a:endParaRPr lang="en-US" sz="1200" dirty="0"/>
          </a:p>
        </p:txBody>
      </p:sp>
      <p:sp>
        <p:nvSpPr>
          <p:cNvPr id="6" name="Shape 4"/>
          <p:cNvSpPr/>
          <p:nvPr/>
        </p:nvSpPr>
        <p:spPr>
          <a:xfrm>
            <a:off x="411480" y="1298448"/>
            <a:ext cx="685800" cy="256032"/>
          </a:xfrm>
          <a:prstGeom prst="roundRect">
            <a:avLst>
              <a:gd name="adj" fmla="val 28571"/>
            </a:avLst>
          </a:prstGeom>
          <a:solidFill>
            <a:srgbClr val="E8F0FE"/>
          </a:solidFill>
          <a:ln w="12700">
            <a:solidFill>
              <a:srgbClr val="E8F0FE"/>
            </a:solidFill>
            <a:prstDash val="solid"/>
          </a:ln>
        </p:spPr>
        <p:txBody>
          <a:bodyPr/>
          <a:lstStyle/>
          <a:p>
            <a:endParaRPr lang="en-US"/>
          </a:p>
        </p:txBody>
      </p:sp>
      <p:sp>
        <p:nvSpPr>
          <p:cNvPr id="7" name="Text 5"/>
          <p:cNvSpPr txBox="1"/>
          <p:nvPr/>
        </p:nvSpPr>
        <p:spPr>
          <a:xfrm>
            <a:off x="448056" y="1325880"/>
            <a:ext cx="612648" cy="201168"/>
          </a:xfrm>
          <a:prstGeom prst="rect">
            <a:avLst/>
          </a:prstGeom>
          <a:noFill/>
          <a:ln/>
        </p:spPr>
        <p:txBody>
          <a:bodyPr wrap="square" lIns="0" tIns="0" rIns="0" bIns="0" rtlCol="0" anchor="ctr"/>
          <a:lstStyle/>
          <a:p>
            <a:pPr marL="0" indent="0" algn="ctr">
              <a:buNone/>
            </a:pPr>
            <a:r>
              <a:rPr lang="en-US" sz="1000" b="1" dirty="0">
                <a:solidFill>
                  <a:srgbClr val="2E5BFF"/>
                </a:solidFill>
                <a:latin typeface="Courier New" pitchFamily="34" charset="0"/>
                <a:ea typeface="Courier New" pitchFamily="34" charset="-122"/>
                <a:cs typeface="Courier New" pitchFamily="34" charset="-120"/>
              </a:rPr>
              <a:t>C</a:t>
            </a:r>
            <a:endParaRPr lang="en-US" sz="1000" dirty="0"/>
          </a:p>
        </p:txBody>
      </p:sp>
      <p:sp>
        <p:nvSpPr>
          <p:cNvPr id="8" name="Shape 6"/>
          <p:cNvSpPr/>
          <p:nvPr/>
        </p:nvSpPr>
        <p:spPr>
          <a:xfrm>
            <a:off x="1234440" y="1261872"/>
            <a:ext cx="3200400" cy="457200"/>
          </a:xfrm>
          <a:prstGeom prst="rect">
            <a:avLst/>
          </a:prstGeom>
          <a:solidFill>
            <a:srgbClr val="EEF1FA"/>
          </a:solidFill>
          <a:ln w="12700">
            <a:solidFill>
              <a:srgbClr val="D0DAF0"/>
            </a:solidFill>
            <a:prstDash val="solid"/>
          </a:ln>
        </p:spPr>
        <p:txBody>
          <a:bodyPr/>
          <a:lstStyle/>
          <a:p>
            <a:endParaRPr lang="en-US"/>
          </a:p>
        </p:txBody>
      </p:sp>
      <p:sp>
        <p:nvSpPr>
          <p:cNvPr id="9" name="Text 7"/>
          <p:cNvSpPr txBox="1"/>
          <p:nvPr/>
        </p:nvSpPr>
        <p:spPr>
          <a:xfrm>
            <a:off x="1362456" y="1353312"/>
            <a:ext cx="2999232" cy="29260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int age = 25;</a:t>
            </a:r>
            <a:endParaRPr lang="en-US" sz="1100" dirty="0"/>
          </a:p>
        </p:txBody>
      </p:sp>
      <p:sp>
        <p:nvSpPr>
          <p:cNvPr id="10" name="Text 8"/>
          <p:cNvSpPr txBox="1"/>
          <p:nvPr/>
        </p:nvSpPr>
        <p:spPr>
          <a:xfrm>
            <a:off x="4572000" y="1316736"/>
            <a:ext cx="868680" cy="347472"/>
          </a:xfrm>
          <a:prstGeom prst="rect">
            <a:avLst/>
          </a:prstGeom>
          <a:noFill/>
          <a:ln/>
        </p:spPr>
        <p:txBody>
          <a:bodyPr wrap="square" lIns="0" tIns="0" rIns="0" bIns="0" rtlCol="0" anchor="ctr"/>
          <a:lstStyle/>
          <a:p>
            <a:pPr marL="0" indent="0">
              <a:buNone/>
            </a:pPr>
            <a:r>
              <a:rPr lang="en-US" sz="1100" dirty="0">
                <a:solidFill>
                  <a:srgbClr val="5A6A82"/>
                </a:solidFill>
                <a:latin typeface="Calibri" pitchFamily="34" charset="0"/>
                <a:ea typeface="Calibri" pitchFamily="34" charset="-122"/>
                <a:cs typeface="Calibri" pitchFamily="34" charset="-120"/>
              </a:rPr>
              <a:t>5 tokens →</a:t>
            </a:r>
            <a:endParaRPr lang="en-US" sz="1100" dirty="0"/>
          </a:p>
        </p:txBody>
      </p:sp>
      <p:sp>
        <p:nvSpPr>
          <p:cNvPr id="11" name="Shape 9"/>
          <p:cNvSpPr/>
          <p:nvPr/>
        </p:nvSpPr>
        <p:spPr>
          <a:xfrm>
            <a:off x="5468112" y="1280160"/>
            <a:ext cx="777240" cy="320040"/>
          </a:xfrm>
          <a:prstGeom prst="roundRect">
            <a:avLst>
              <a:gd name="adj" fmla="val 17143"/>
            </a:avLst>
          </a:prstGeom>
          <a:solidFill>
            <a:srgbClr val="F3E8FF"/>
          </a:solidFill>
          <a:ln w="12700">
            <a:solidFill>
              <a:srgbClr val="F3E8FF"/>
            </a:solidFill>
            <a:prstDash val="solid"/>
          </a:ln>
        </p:spPr>
        <p:txBody>
          <a:bodyPr/>
          <a:lstStyle/>
          <a:p>
            <a:endParaRPr lang="en-US"/>
          </a:p>
        </p:txBody>
      </p:sp>
      <p:sp>
        <p:nvSpPr>
          <p:cNvPr id="12" name="Text 10"/>
          <p:cNvSpPr txBox="1"/>
          <p:nvPr/>
        </p:nvSpPr>
        <p:spPr>
          <a:xfrm>
            <a:off x="5504688" y="1325880"/>
            <a:ext cx="704088" cy="237744"/>
          </a:xfrm>
          <a:prstGeom prst="rect">
            <a:avLst/>
          </a:prstGeom>
          <a:noFill/>
          <a:ln/>
        </p:spPr>
        <p:txBody>
          <a:bodyPr wrap="square" lIns="0" tIns="0" rIns="0" bIns="0" rtlCol="0" anchor="ctr"/>
          <a:lstStyle/>
          <a:p>
            <a:pPr marL="0" indent="0" algn="ctr">
              <a:buNone/>
            </a:pPr>
            <a:r>
              <a:rPr lang="en-US" sz="1100" b="1" dirty="0">
                <a:solidFill>
                  <a:srgbClr val="7C3AED"/>
                </a:solidFill>
                <a:latin typeface="Courier New" pitchFamily="34" charset="0"/>
                <a:ea typeface="Courier New" pitchFamily="34" charset="-122"/>
                <a:cs typeface="Courier New" pitchFamily="34" charset="-120"/>
              </a:rPr>
              <a:t>int</a:t>
            </a:r>
            <a:endParaRPr lang="en-US" sz="1100" dirty="0"/>
          </a:p>
        </p:txBody>
      </p:sp>
      <p:sp>
        <p:nvSpPr>
          <p:cNvPr id="13" name="Shape 11"/>
          <p:cNvSpPr/>
          <p:nvPr/>
        </p:nvSpPr>
        <p:spPr>
          <a:xfrm>
            <a:off x="6309360" y="1280160"/>
            <a:ext cx="777240" cy="320040"/>
          </a:xfrm>
          <a:prstGeom prst="roundRect">
            <a:avLst>
              <a:gd name="adj" fmla="val 17143"/>
            </a:avLst>
          </a:prstGeom>
          <a:solidFill>
            <a:srgbClr val="DBEAFE"/>
          </a:solidFill>
          <a:ln w="12700">
            <a:solidFill>
              <a:srgbClr val="DBEAFE"/>
            </a:solidFill>
            <a:prstDash val="solid"/>
          </a:ln>
        </p:spPr>
        <p:txBody>
          <a:bodyPr/>
          <a:lstStyle/>
          <a:p>
            <a:endParaRPr lang="en-US"/>
          </a:p>
        </p:txBody>
      </p:sp>
      <p:sp>
        <p:nvSpPr>
          <p:cNvPr id="14" name="Text 12"/>
          <p:cNvSpPr txBox="1"/>
          <p:nvPr/>
        </p:nvSpPr>
        <p:spPr>
          <a:xfrm>
            <a:off x="6345936" y="1325880"/>
            <a:ext cx="704088" cy="237744"/>
          </a:xfrm>
          <a:prstGeom prst="rect">
            <a:avLst/>
          </a:prstGeom>
          <a:noFill/>
          <a:ln/>
        </p:spPr>
        <p:txBody>
          <a:bodyPr wrap="square" lIns="0" tIns="0" rIns="0" bIns="0" rtlCol="0" anchor="ctr"/>
          <a:lstStyle/>
          <a:p>
            <a:pPr marL="0" indent="0" algn="ctr">
              <a:buNone/>
            </a:pPr>
            <a:r>
              <a:rPr lang="en-US" sz="1100" b="1" dirty="0">
                <a:solidFill>
                  <a:srgbClr val="1E40AF"/>
                </a:solidFill>
                <a:latin typeface="Courier New" pitchFamily="34" charset="0"/>
                <a:ea typeface="Courier New" pitchFamily="34" charset="-122"/>
                <a:cs typeface="Courier New" pitchFamily="34" charset="-120"/>
              </a:rPr>
              <a:t>age</a:t>
            </a:r>
            <a:endParaRPr lang="en-US" sz="1100" dirty="0"/>
          </a:p>
        </p:txBody>
      </p:sp>
      <p:sp>
        <p:nvSpPr>
          <p:cNvPr id="15" name="Shape 13"/>
          <p:cNvSpPr/>
          <p:nvPr/>
        </p:nvSpPr>
        <p:spPr>
          <a:xfrm>
            <a:off x="7150608" y="1280160"/>
            <a:ext cx="777240" cy="320040"/>
          </a:xfrm>
          <a:prstGeom prst="roundRect">
            <a:avLst>
              <a:gd name="adj" fmla="val 17143"/>
            </a:avLst>
          </a:prstGeom>
          <a:solidFill>
            <a:srgbClr val="FEF9C3"/>
          </a:solidFill>
          <a:ln w="12700">
            <a:solidFill>
              <a:srgbClr val="FEF9C3"/>
            </a:solidFill>
            <a:prstDash val="solid"/>
          </a:ln>
        </p:spPr>
        <p:txBody>
          <a:bodyPr/>
          <a:lstStyle/>
          <a:p>
            <a:endParaRPr lang="en-US"/>
          </a:p>
        </p:txBody>
      </p:sp>
      <p:sp>
        <p:nvSpPr>
          <p:cNvPr id="16" name="Text 14"/>
          <p:cNvSpPr txBox="1"/>
          <p:nvPr/>
        </p:nvSpPr>
        <p:spPr>
          <a:xfrm>
            <a:off x="7187184" y="1325880"/>
            <a:ext cx="704088" cy="237744"/>
          </a:xfrm>
          <a:prstGeom prst="rect">
            <a:avLst/>
          </a:prstGeom>
          <a:noFill/>
          <a:ln/>
        </p:spPr>
        <p:txBody>
          <a:bodyPr wrap="square" lIns="0" tIns="0" rIns="0" bIns="0" rtlCol="0" anchor="ctr"/>
          <a:lstStyle/>
          <a:p>
            <a:pPr marL="0" indent="0" algn="ctr">
              <a:buNone/>
            </a:pPr>
            <a:r>
              <a:rPr lang="en-US" sz="1100" b="1" dirty="0">
                <a:solidFill>
                  <a:srgbClr val="854D0E"/>
                </a:solidFill>
                <a:latin typeface="Courier New" pitchFamily="34" charset="0"/>
                <a:ea typeface="Courier New" pitchFamily="34" charset="-122"/>
                <a:cs typeface="Courier New" pitchFamily="34" charset="-120"/>
              </a:rPr>
              <a:t>=</a:t>
            </a:r>
            <a:endParaRPr lang="en-US" sz="1100" dirty="0"/>
          </a:p>
        </p:txBody>
      </p:sp>
      <p:sp>
        <p:nvSpPr>
          <p:cNvPr id="17" name="Shape 15"/>
          <p:cNvSpPr/>
          <p:nvPr/>
        </p:nvSpPr>
        <p:spPr>
          <a:xfrm>
            <a:off x="7991856" y="1280160"/>
            <a:ext cx="777240" cy="320040"/>
          </a:xfrm>
          <a:prstGeom prst="roundRect">
            <a:avLst>
              <a:gd name="adj" fmla="val 17143"/>
            </a:avLst>
          </a:prstGeom>
          <a:solidFill>
            <a:srgbClr val="DCFCE7"/>
          </a:solidFill>
          <a:ln w="12700">
            <a:solidFill>
              <a:srgbClr val="DCFCE7"/>
            </a:solidFill>
            <a:prstDash val="solid"/>
          </a:ln>
        </p:spPr>
        <p:txBody>
          <a:bodyPr/>
          <a:lstStyle/>
          <a:p>
            <a:endParaRPr lang="en-US"/>
          </a:p>
        </p:txBody>
      </p:sp>
      <p:sp>
        <p:nvSpPr>
          <p:cNvPr id="18" name="Text 16"/>
          <p:cNvSpPr txBox="1"/>
          <p:nvPr/>
        </p:nvSpPr>
        <p:spPr>
          <a:xfrm>
            <a:off x="8028432" y="1325880"/>
            <a:ext cx="704088" cy="237744"/>
          </a:xfrm>
          <a:prstGeom prst="rect">
            <a:avLst/>
          </a:prstGeom>
          <a:noFill/>
          <a:ln/>
        </p:spPr>
        <p:txBody>
          <a:bodyPr wrap="square" lIns="0" tIns="0" rIns="0" bIns="0" rtlCol="0" anchor="ctr"/>
          <a:lstStyle/>
          <a:p>
            <a:pPr marL="0" indent="0" algn="ctr">
              <a:buNone/>
            </a:pPr>
            <a:r>
              <a:rPr lang="en-US" sz="1100" b="1" dirty="0">
                <a:solidFill>
                  <a:srgbClr val="166534"/>
                </a:solidFill>
                <a:latin typeface="Courier New" pitchFamily="34" charset="0"/>
                <a:ea typeface="Courier New" pitchFamily="34" charset="-122"/>
                <a:cs typeface="Courier New" pitchFamily="34" charset="-120"/>
              </a:rPr>
              <a:t>25</a:t>
            </a:r>
            <a:endParaRPr lang="en-US" sz="1100" dirty="0"/>
          </a:p>
        </p:txBody>
      </p:sp>
      <p:sp>
        <p:nvSpPr>
          <p:cNvPr id="19" name="Shape 17"/>
          <p:cNvSpPr/>
          <p:nvPr/>
        </p:nvSpPr>
        <p:spPr>
          <a:xfrm>
            <a:off x="8833104" y="1280160"/>
            <a:ext cx="777240" cy="320040"/>
          </a:xfrm>
          <a:prstGeom prst="roundRect">
            <a:avLst>
              <a:gd name="adj" fmla="val 17143"/>
            </a:avLst>
          </a:prstGeom>
          <a:solidFill>
            <a:srgbClr val="F1F5F9"/>
          </a:solidFill>
          <a:ln w="12700">
            <a:solidFill>
              <a:srgbClr val="F1F5F9"/>
            </a:solidFill>
            <a:prstDash val="solid"/>
          </a:ln>
        </p:spPr>
        <p:txBody>
          <a:bodyPr/>
          <a:lstStyle/>
          <a:p>
            <a:endParaRPr lang="en-US"/>
          </a:p>
        </p:txBody>
      </p:sp>
      <p:sp>
        <p:nvSpPr>
          <p:cNvPr id="20" name="Text 18"/>
          <p:cNvSpPr txBox="1"/>
          <p:nvPr/>
        </p:nvSpPr>
        <p:spPr>
          <a:xfrm>
            <a:off x="8869680" y="1325880"/>
            <a:ext cx="704088" cy="237744"/>
          </a:xfrm>
          <a:prstGeom prst="rect">
            <a:avLst/>
          </a:prstGeom>
          <a:noFill/>
          <a:ln/>
        </p:spPr>
        <p:txBody>
          <a:bodyPr wrap="square" lIns="0" tIns="0" rIns="0" bIns="0" rtlCol="0" anchor="ctr"/>
          <a:lstStyle/>
          <a:p>
            <a:pPr marL="0" indent="0" algn="ctr">
              <a:buNone/>
            </a:pPr>
            <a:r>
              <a:rPr lang="en-US" sz="1100" b="1" dirty="0">
                <a:solidFill>
                  <a:srgbClr val="475569"/>
                </a:solidFill>
                <a:latin typeface="Courier New" pitchFamily="34" charset="0"/>
                <a:ea typeface="Courier New" pitchFamily="34" charset="-122"/>
                <a:cs typeface="Courier New" pitchFamily="34" charset="-120"/>
              </a:rPr>
              <a:t>;</a:t>
            </a:r>
            <a:endParaRPr lang="en-US" sz="1100" dirty="0"/>
          </a:p>
        </p:txBody>
      </p:sp>
      <p:sp>
        <p:nvSpPr>
          <p:cNvPr id="21" name="Shape 19"/>
          <p:cNvSpPr/>
          <p:nvPr/>
        </p:nvSpPr>
        <p:spPr>
          <a:xfrm>
            <a:off x="411480" y="1938528"/>
            <a:ext cx="685800" cy="256032"/>
          </a:xfrm>
          <a:prstGeom prst="roundRect">
            <a:avLst>
              <a:gd name="adj" fmla="val 28571"/>
            </a:avLst>
          </a:prstGeom>
          <a:solidFill>
            <a:srgbClr val="F3E8FE"/>
          </a:solidFill>
          <a:ln w="12700">
            <a:solidFill>
              <a:srgbClr val="F3E8FE"/>
            </a:solidFill>
            <a:prstDash val="solid"/>
          </a:ln>
        </p:spPr>
        <p:txBody>
          <a:bodyPr/>
          <a:lstStyle/>
          <a:p>
            <a:endParaRPr lang="en-US"/>
          </a:p>
        </p:txBody>
      </p:sp>
      <p:sp>
        <p:nvSpPr>
          <p:cNvPr id="22" name="Text 20"/>
          <p:cNvSpPr txBox="1"/>
          <p:nvPr/>
        </p:nvSpPr>
        <p:spPr>
          <a:xfrm>
            <a:off x="448056" y="1965960"/>
            <a:ext cx="612648" cy="201168"/>
          </a:xfrm>
          <a:prstGeom prst="rect">
            <a:avLst/>
          </a:prstGeom>
          <a:noFill/>
          <a:ln/>
        </p:spPr>
        <p:txBody>
          <a:bodyPr wrap="square" lIns="0" tIns="0" rIns="0" bIns="0" rtlCol="0" anchor="ctr"/>
          <a:lstStyle/>
          <a:p>
            <a:pPr marL="0" indent="0" algn="ctr">
              <a:buNone/>
            </a:pPr>
            <a:r>
              <a:rPr lang="en-US" sz="1000" b="1" dirty="0">
                <a:solidFill>
                  <a:srgbClr val="7B2FBE"/>
                </a:solidFill>
                <a:latin typeface="Courier New" pitchFamily="34" charset="0"/>
                <a:ea typeface="Courier New" pitchFamily="34" charset="-122"/>
                <a:cs typeface="Courier New" pitchFamily="34" charset="-120"/>
              </a:rPr>
              <a:t>C#</a:t>
            </a:r>
            <a:endParaRPr lang="en-US" sz="1000" dirty="0"/>
          </a:p>
        </p:txBody>
      </p:sp>
      <p:sp>
        <p:nvSpPr>
          <p:cNvPr id="23" name="Shape 21"/>
          <p:cNvSpPr/>
          <p:nvPr/>
        </p:nvSpPr>
        <p:spPr>
          <a:xfrm>
            <a:off x="1234440" y="1901952"/>
            <a:ext cx="3200400" cy="457200"/>
          </a:xfrm>
          <a:prstGeom prst="rect">
            <a:avLst/>
          </a:prstGeom>
          <a:solidFill>
            <a:srgbClr val="EEF1FA"/>
          </a:solidFill>
          <a:ln w="12700">
            <a:solidFill>
              <a:srgbClr val="D0DAF0"/>
            </a:solidFill>
            <a:prstDash val="solid"/>
          </a:ln>
        </p:spPr>
        <p:txBody>
          <a:bodyPr/>
          <a:lstStyle/>
          <a:p>
            <a:endParaRPr lang="en-US"/>
          </a:p>
        </p:txBody>
      </p:sp>
      <p:sp>
        <p:nvSpPr>
          <p:cNvPr id="24" name="Text 22"/>
          <p:cNvSpPr txBox="1"/>
          <p:nvPr/>
        </p:nvSpPr>
        <p:spPr>
          <a:xfrm>
            <a:off x="1362456" y="1993392"/>
            <a:ext cx="2999232" cy="29260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int age = 25;</a:t>
            </a:r>
            <a:endParaRPr lang="en-US" sz="1100" dirty="0"/>
          </a:p>
        </p:txBody>
      </p:sp>
      <p:sp>
        <p:nvSpPr>
          <p:cNvPr id="25" name="Text 23"/>
          <p:cNvSpPr txBox="1"/>
          <p:nvPr/>
        </p:nvSpPr>
        <p:spPr>
          <a:xfrm>
            <a:off x="4572000" y="1956816"/>
            <a:ext cx="868680" cy="347472"/>
          </a:xfrm>
          <a:prstGeom prst="rect">
            <a:avLst/>
          </a:prstGeom>
          <a:noFill/>
          <a:ln/>
        </p:spPr>
        <p:txBody>
          <a:bodyPr wrap="square" lIns="0" tIns="0" rIns="0" bIns="0" rtlCol="0" anchor="ctr"/>
          <a:lstStyle/>
          <a:p>
            <a:pPr marL="0" indent="0">
              <a:buNone/>
            </a:pPr>
            <a:r>
              <a:rPr lang="en-US" sz="1100" dirty="0">
                <a:solidFill>
                  <a:srgbClr val="5A6A82"/>
                </a:solidFill>
                <a:latin typeface="Calibri" pitchFamily="34" charset="0"/>
                <a:ea typeface="Calibri" pitchFamily="34" charset="-122"/>
                <a:cs typeface="Calibri" pitchFamily="34" charset="-120"/>
              </a:rPr>
              <a:t>5 tokens →</a:t>
            </a:r>
            <a:endParaRPr lang="en-US" sz="1100" dirty="0"/>
          </a:p>
        </p:txBody>
      </p:sp>
      <p:sp>
        <p:nvSpPr>
          <p:cNvPr id="26" name="Shape 24"/>
          <p:cNvSpPr/>
          <p:nvPr/>
        </p:nvSpPr>
        <p:spPr>
          <a:xfrm>
            <a:off x="5468112" y="1920240"/>
            <a:ext cx="777240" cy="320040"/>
          </a:xfrm>
          <a:prstGeom prst="roundRect">
            <a:avLst>
              <a:gd name="adj" fmla="val 17143"/>
            </a:avLst>
          </a:prstGeom>
          <a:solidFill>
            <a:srgbClr val="F3E8FF"/>
          </a:solidFill>
          <a:ln w="12700">
            <a:solidFill>
              <a:srgbClr val="F3E8FF"/>
            </a:solidFill>
            <a:prstDash val="solid"/>
          </a:ln>
        </p:spPr>
        <p:txBody>
          <a:bodyPr/>
          <a:lstStyle/>
          <a:p>
            <a:endParaRPr lang="en-US"/>
          </a:p>
        </p:txBody>
      </p:sp>
      <p:sp>
        <p:nvSpPr>
          <p:cNvPr id="27" name="Text 25"/>
          <p:cNvSpPr txBox="1"/>
          <p:nvPr/>
        </p:nvSpPr>
        <p:spPr>
          <a:xfrm>
            <a:off x="5504688" y="1965960"/>
            <a:ext cx="704088" cy="237744"/>
          </a:xfrm>
          <a:prstGeom prst="rect">
            <a:avLst/>
          </a:prstGeom>
          <a:noFill/>
          <a:ln/>
        </p:spPr>
        <p:txBody>
          <a:bodyPr wrap="square" lIns="0" tIns="0" rIns="0" bIns="0" rtlCol="0" anchor="ctr"/>
          <a:lstStyle/>
          <a:p>
            <a:pPr marL="0" indent="0" algn="ctr">
              <a:buNone/>
            </a:pPr>
            <a:r>
              <a:rPr lang="en-US" sz="1100" b="1" dirty="0">
                <a:solidFill>
                  <a:srgbClr val="7C3AED"/>
                </a:solidFill>
                <a:latin typeface="Courier New" pitchFamily="34" charset="0"/>
                <a:ea typeface="Courier New" pitchFamily="34" charset="-122"/>
                <a:cs typeface="Courier New" pitchFamily="34" charset="-120"/>
              </a:rPr>
              <a:t>int</a:t>
            </a:r>
            <a:endParaRPr lang="en-US" sz="1100" dirty="0"/>
          </a:p>
        </p:txBody>
      </p:sp>
      <p:sp>
        <p:nvSpPr>
          <p:cNvPr id="28" name="Shape 26"/>
          <p:cNvSpPr/>
          <p:nvPr/>
        </p:nvSpPr>
        <p:spPr>
          <a:xfrm>
            <a:off x="6309360" y="1920240"/>
            <a:ext cx="777240" cy="320040"/>
          </a:xfrm>
          <a:prstGeom prst="roundRect">
            <a:avLst>
              <a:gd name="adj" fmla="val 17143"/>
            </a:avLst>
          </a:prstGeom>
          <a:solidFill>
            <a:srgbClr val="DBEAFE"/>
          </a:solidFill>
          <a:ln w="12700">
            <a:solidFill>
              <a:srgbClr val="DBEAFE"/>
            </a:solidFill>
            <a:prstDash val="solid"/>
          </a:ln>
        </p:spPr>
        <p:txBody>
          <a:bodyPr/>
          <a:lstStyle/>
          <a:p>
            <a:endParaRPr lang="en-US"/>
          </a:p>
        </p:txBody>
      </p:sp>
      <p:sp>
        <p:nvSpPr>
          <p:cNvPr id="29" name="Text 27"/>
          <p:cNvSpPr txBox="1"/>
          <p:nvPr/>
        </p:nvSpPr>
        <p:spPr>
          <a:xfrm>
            <a:off x="6345936" y="1965960"/>
            <a:ext cx="704088" cy="237744"/>
          </a:xfrm>
          <a:prstGeom prst="rect">
            <a:avLst/>
          </a:prstGeom>
          <a:noFill/>
          <a:ln/>
        </p:spPr>
        <p:txBody>
          <a:bodyPr wrap="square" lIns="0" tIns="0" rIns="0" bIns="0" rtlCol="0" anchor="ctr"/>
          <a:lstStyle/>
          <a:p>
            <a:pPr marL="0" indent="0" algn="ctr">
              <a:buNone/>
            </a:pPr>
            <a:r>
              <a:rPr lang="en-US" sz="1100" b="1" dirty="0">
                <a:solidFill>
                  <a:srgbClr val="1E40AF"/>
                </a:solidFill>
                <a:latin typeface="Courier New" pitchFamily="34" charset="0"/>
                <a:ea typeface="Courier New" pitchFamily="34" charset="-122"/>
                <a:cs typeface="Courier New" pitchFamily="34" charset="-120"/>
              </a:rPr>
              <a:t>age</a:t>
            </a:r>
            <a:endParaRPr lang="en-US" sz="1100" dirty="0"/>
          </a:p>
        </p:txBody>
      </p:sp>
      <p:sp>
        <p:nvSpPr>
          <p:cNvPr id="30" name="Shape 28"/>
          <p:cNvSpPr/>
          <p:nvPr/>
        </p:nvSpPr>
        <p:spPr>
          <a:xfrm>
            <a:off x="7150608" y="1920240"/>
            <a:ext cx="777240" cy="320040"/>
          </a:xfrm>
          <a:prstGeom prst="roundRect">
            <a:avLst>
              <a:gd name="adj" fmla="val 17143"/>
            </a:avLst>
          </a:prstGeom>
          <a:solidFill>
            <a:srgbClr val="FEF9C3"/>
          </a:solidFill>
          <a:ln w="12700">
            <a:solidFill>
              <a:srgbClr val="FEF9C3"/>
            </a:solidFill>
            <a:prstDash val="solid"/>
          </a:ln>
        </p:spPr>
        <p:txBody>
          <a:bodyPr/>
          <a:lstStyle/>
          <a:p>
            <a:endParaRPr lang="en-US"/>
          </a:p>
        </p:txBody>
      </p:sp>
      <p:sp>
        <p:nvSpPr>
          <p:cNvPr id="31" name="Text 29"/>
          <p:cNvSpPr txBox="1"/>
          <p:nvPr/>
        </p:nvSpPr>
        <p:spPr>
          <a:xfrm>
            <a:off x="7187184" y="1965960"/>
            <a:ext cx="704088" cy="237744"/>
          </a:xfrm>
          <a:prstGeom prst="rect">
            <a:avLst/>
          </a:prstGeom>
          <a:noFill/>
          <a:ln/>
        </p:spPr>
        <p:txBody>
          <a:bodyPr wrap="square" lIns="0" tIns="0" rIns="0" bIns="0" rtlCol="0" anchor="ctr"/>
          <a:lstStyle/>
          <a:p>
            <a:pPr marL="0" indent="0" algn="ctr">
              <a:buNone/>
            </a:pPr>
            <a:r>
              <a:rPr lang="en-US" sz="1100" b="1" dirty="0">
                <a:solidFill>
                  <a:srgbClr val="854D0E"/>
                </a:solidFill>
                <a:latin typeface="Courier New" pitchFamily="34" charset="0"/>
                <a:ea typeface="Courier New" pitchFamily="34" charset="-122"/>
                <a:cs typeface="Courier New" pitchFamily="34" charset="-120"/>
              </a:rPr>
              <a:t>=</a:t>
            </a:r>
            <a:endParaRPr lang="en-US" sz="1100" dirty="0"/>
          </a:p>
        </p:txBody>
      </p:sp>
      <p:sp>
        <p:nvSpPr>
          <p:cNvPr id="32" name="Shape 30"/>
          <p:cNvSpPr/>
          <p:nvPr/>
        </p:nvSpPr>
        <p:spPr>
          <a:xfrm>
            <a:off x="7991856" y="1920240"/>
            <a:ext cx="777240" cy="320040"/>
          </a:xfrm>
          <a:prstGeom prst="roundRect">
            <a:avLst>
              <a:gd name="adj" fmla="val 17143"/>
            </a:avLst>
          </a:prstGeom>
          <a:solidFill>
            <a:srgbClr val="DCFCE7"/>
          </a:solidFill>
          <a:ln w="12700">
            <a:solidFill>
              <a:srgbClr val="DCFCE7"/>
            </a:solidFill>
            <a:prstDash val="solid"/>
          </a:ln>
        </p:spPr>
        <p:txBody>
          <a:bodyPr/>
          <a:lstStyle/>
          <a:p>
            <a:endParaRPr lang="en-US"/>
          </a:p>
        </p:txBody>
      </p:sp>
      <p:sp>
        <p:nvSpPr>
          <p:cNvPr id="33" name="Text 31"/>
          <p:cNvSpPr txBox="1"/>
          <p:nvPr/>
        </p:nvSpPr>
        <p:spPr>
          <a:xfrm>
            <a:off x="8028432" y="1965960"/>
            <a:ext cx="704088" cy="237744"/>
          </a:xfrm>
          <a:prstGeom prst="rect">
            <a:avLst/>
          </a:prstGeom>
          <a:noFill/>
          <a:ln/>
        </p:spPr>
        <p:txBody>
          <a:bodyPr wrap="square" lIns="0" tIns="0" rIns="0" bIns="0" rtlCol="0" anchor="ctr"/>
          <a:lstStyle/>
          <a:p>
            <a:pPr marL="0" indent="0" algn="ctr">
              <a:buNone/>
            </a:pPr>
            <a:r>
              <a:rPr lang="en-US" sz="1100" b="1" dirty="0">
                <a:solidFill>
                  <a:srgbClr val="166534"/>
                </a:solidFill>
                <a:latin typeface="Courier New" pitchFamily="34" charset="0"/>
                <a:ea typeface="Courier New" pitchFamily="34" charset="-122"/>
                <a:cs typeface="Courier New" pitchFamily="34" charset="-120"/>
              </a:rPr>
              <a:t>25</a:t>
            </a:r>
            <a:endParaRPr lang="en-US" sz="1100" dirty="0"/>
          </a:p>
        </p:txBody>
      </p:sp>
      <p:sp>
        <p:nvSpPr>
          <p:cNvPr id="34" name="Shape 32"/>
          <p:cNvSpPr/>
          <p:nvPr/>
        </p:nvSpPr>
        <p:spPr>
          <a:xfrm>
            <a:off x="8833104" y="1920240"/>
            <a:ext cx="777240" cy="320040"/>
          </a:xfrm>
          <a:prstGeom prst="roundRect">
            <a:avLst>
              <a:gd name="adj" fmla="val 17143"/>
            </a:avLst>
          </a:prstGeom>
          <a:solidFill>
            <a:srgbClr val="F1F5F9"/>
          </a:solidFill>
          <a:ln w="12700">
            <a:solidFill>
              <a:srgbClr val="F1F5F9"/>
            </a:solidFill>
            <a:prstDash val="solid"/>
          </a:ln>
        </p:spPr>
        <p:txBody>
          <a:bodyPr/>
          <a:lstStyle/>
          <a:p>
            <a:endParaRPr lang="en-US"/>
          </a:p>
        </p:txBody>
      </p:sp>
      <p:sp>
        <p:nvSpPr>
          <p:cNvPr id="35" name="Text 33"/>
          <p:cNvSpPr txBox="1"/>
          <p:nvPr/>
        </p:nvSpPr>
        <p:spPr>
          <a:xfrm>
            <a:off x="8869680" y="1965960"/>
            <a:ext cx="704088" cy="237744"/>
          </a:xfrm>
          <a:prstGeom prst="rect">
            <a:avLst/>
          </a:prstGeom>
          <a:noFill/>
          <a:ln/>
        </p:spPr>
        <p:txBody>
          <a:bodyPr wrap="square" lIns="0" tIns="0" rIns="0" bIns="0" rtlCol="0" anchor="ctr"/>
          <a:lstStyle/>
          <a:p>
            <a:pPr marL="0" indent="0" algn="ctr">
              <a:buNone/>
            </a:pPr>
            <a:r>
              <a:rPr lang="en-US" sz="1100" b="1" dirty="0">
                <a:solidFill>
                  <a:srgbClr val="475569"/>
                </a:solidFill>
                <a:latin typeface="Courier New" pitchFamily="34" charset="0"/>
                <a:ea typeface="Courier New" pitchFamily="34" charset="-122"/>
                <a:cs typeface="Courier New" pitchFamily="34" charset="-120"/>
              </a:rPr>
              <a:t>;</a:t>
            </a:r>
            <a:endParaRPr lang="en-US" sz="1100" dirty="0"/>
          </a:p>
        </p:txBody>
      </p:sp>
      <p:sp>
        <p:nvSpPr>
          <p:cNvPr id="36" name="Text 34"/>
          <p:cNvSpPr txBox="1"/>
          <p:nvPr/>
        </p:nvSpPr>
        <p:spPr>
          <a:xfrm>
            <a:off x="5468112" y="2414016"/>
            <a:ext cx="6400800" cy="274320"/>
          </a:xfrm>
          <a:prstGeom prst="rect">
            <a:avLst/>
          </a:prstGeom>
          <a:noFill/>
          <a:ln/>
        </p:spPr>
        <p:txBody>
          <a:bodyPr wrap="square" lIns="0" tIns="0" rIns="0" bIns="0" rtlCol="0" anchor="ctr"/>
          <a:lstStyle/>
          <a:p>
            <a:pPr marL="0" indent="0">
              <a:buNone/>
            </a:pPr>
            <a:r>
              <a:rPr lang="en-US" sz="1100" i="1" dirty="0">
                <a:solidFill>
                  <a:srgbClr val="5A6A82"/>
                </a:solidFill>
                <a:latin typeface="Calibri" pitchFamily="34" charset="0"/>
                <a:ea typeface="Calibri" pitchFamily="34" charset="-122"/>
                <a:cs typeface="Calibri" pitchFamily="34" charset="-120"/>
              </a:rPr>
              <a:t>← Identical to C. C# deliberately mirrors C's token structure for basic declarations.</a:t>
            </a:r>
            <a:endParaRPr lang="en-US" sz="1100" dirty="0"/>
          </a:p>
        </p:txBody>
      </p:sp>
      <p:sp>
        <p:nvSpPr>
          <p:cNvPr id="37" name="Shape 35"/>
          <p:cNvSpPr/>
          <p:nvPr/>
        </p:nvSpPr>
        <p:spPr>
          <a:xfrm>
            <a:off x="411480" y="2724912"/>
            <a:ext cx="685800" cy="256032"/>
          </a:xfrm>
          <a:prstGeom prst="roundRect">
            <a:avLst>
              <a:gd name="adj" fmla="val 28571"/>
            </a:avLst>
          </a:prstGeom>
          <a:solidFill>
            <a:srgbClr val="FEF3E8"/>
          </a:solidFill>
          <a:ln w="12700">
            <a:solidFill>
              <a:srgbClr val="FEF3E8"/>
            </a:solidFill>
            <a:prstDash val="solid"/>
          </a:ln>
        </p:spPr>
        <p:txBody>
          <a:bodyPr/>
          <a:lstStyle/>
          <a:p>
            <a:endParaRPr lang="en-US"/>
          </a:p>
        </p:txBody>
      </p:sp>
      <p:sp>
        <p:nvSpPr>
          <p:cNvPr id="38" name="Text 36"/>
          <p:cNvSpPr txBox="1"/>
          <p:nvPr/>
        </p:nvSpPr>
        <p:spPr>
          <a:xfrm>
            <a:off x="448056" y="2752344"/>
            <a:ext cx="612648" cy="201168"/>
          </a:xfrm>
          <a:prstGeom prst="rect">
            <a:avLst/>
          </a:prstGeom>
          <a:noFill/>
          <a:ln/>
        </p:spPr>
        <p:txBody>
          <a:bodyPr wrap="square" lIns="0" tIns="0" rIns="0" bIns="0" rtlCol="0" anchor="ctr"/>
          <a:lstStyle/>
          <a:p>
            <a:pPr marL="0" indent="0" algn="ctr">
              <a:buNone/>
            </a:pPr>
            <a:r>
              <a:rPr lang="en-US" sz="1000" b="1" dirty="0">
                <a:solidFill>
                  <a:srgbClr val="C05E00"/>
                </a:solidFill>
                <a:latin typeface="Courier New" pitchFamily="34" charset="0"/>
                <a:ea typeface="Courier New" pitchFamily="34" charset="-122"/>
                <a:cs typeface="Courier New" pitchFamily="34" charset="-120"/>
              </a:rPr>
              <a:t>Python</a:t>
            </a:r>
            <a:endParaRPr lang="en-US" sz="1000" dirty="0"/>
          </a:p>
        </p:txBody>
      </p:sp>
      <p:sp>
        <p:nvSpPr>
          <p:cNvPr id="39" name="Shape 37"/>
          <p:cNvSpPr/>
          <p:nvPr/>
        </p:nvSpPr>
        <p:spPr>
          <a:xfrm>
            <a:off x="1234440" y="2688336"/>
            <a:ext cx="3200400" cy="457200"/>
          </a:xfrm>
          <a:prstGeom prst="rect">
            <a:avLst/>
          </a:prstGeom>
          <a:solidFill>
            <a:srgbClr val="EEF1FA"/>
          </a:solidFill>
          <a:ln w="12700">
            <a:solidFill>
              <a:srgbClr val="D0DAF0"/>
            </a:solidFill>
            <a:prstDash val="solid"/>
          </a:ln>
        </p:spPr>
        <p:txBody>
          <a:bodyPr/>
          <a:lstStyle/>
          <a:p>
            <a:endParaRPr lang="en-US"/>
          </a:p>
        </p:txBody>
      </p:sp>
      <p:sp>
        <p:nvSpPr>
          <p:cNvPr id="40" name="Text 38"/>
          <p:cNvSpPr txBox="1"/>
          <p:nvPr/>
        </p:nvSpPr>
        <p:spPr>
          <a:xfrm>
            <a:off x="1362456" y="2779776"/>
            <a:ext cx="2999232" cy="29260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age = 25</a:t>
            </a:r>
            <a:endParaRPr lang="en-US" sz="1100" dirty="0"/>
          </a:p>
        </p:txBody>
      </p:sp>
      <p:sp>
        <p:nvSpPr>
          <p:cNvPr id="41" name="Text 39"/>
          <p:cNvSpPr txBox="1"/>
          <p:nvPr/>
        </p:nvSpPr>
        <p:spPr>
          <a:xfrm>
            <a:off x="4572000" y="2743200"/>
            <a:ext cx="868680" cy="347472"/>
          </a:xfrm>
          <a:prstGeom prst="rect">
            <a:avLst/>
          </a:prstGeom>
          <a:noFill/>
          <a:ln/>
        </p:spPr>
        <p:txBody>
          <a:bodyPr wrap="square" lIns="0" tIns="0" rIns="0" bIns="0" rtlCol="0" anchor="ctr"/>
          <a:lstStyle/>
          <a:p>
            <a:pPr marL="0" indent="0">
              <a:buNone/>
            </a:pPr>
            <a:r>
              <a:rPr lang="en-US" sz="1100" dirty="0">
                <a:solidFill>
                  <a:srgbClr val="5A6A82"/>
                </a:solidFill>
                <a:latin typeface="Calibri" pitchFamily="34" charset="0"/>
                <a:ea typeface="Calibri" pitchFamily="34" charset="-122"/>
                <a:cs typeface="Calibri" pitchFamily="34" charset="-120"/>
              </a:rPr>
              <a:t>3 tokens →</a:t>
            </a:r>
            <a:endParaRPr lang="en-US" sz="1100" dirty="0"/>
          </a:p>
        </p:txBody>
      </p:sp>
      <p:sp>
        <p:nvSpPr>
          <p:cNvPr id="42" name="Shape 40"/>
          <p:cNvSpPr/>
          <p:nvPr/>
        </p:nvSpPr>
        <p:spPr>
          <a:xfrm>
            <a:off x="5468112" y="2706624"/>
            <a:ext cx="777240" cy="320040"/>
          </a:xfrm>
          <a:prstGeom prst="roundRect">
            <a:avLst>
              <a:gd name="adj" fmla="val 17143"/>
            </a:avLst>
          </a:prstGeom>
          <a:solidFill>
            <a:srgbClr val="DBEAFE"/>
          </a:solidFill>
          <a:ln w="12700">
            <a:solidFill>
              <a:srgbClr val="DBEAFE"/>
            </a:solidFill>
            <a:prstDash val="solid"/>
          </a:ln>
        </p:spPr>
        <p:txBody>
          <a:bodyPr/>
          <a:lstStyle/>
          <a:p>
            <a:endParaRPr lang="en-US"/>
          </a:p>
        </p:txBody>
      </p:sp>
      <p:sp>
        <p:nvSpPr>
          <p:cNvPr id="43" name="Text 41"/>
          <p:cNvSpPr txBox="1"/>
          <p:nvPr/>
        </p:nvSpPr>
        <p:spPr>
          <a:xfrm>
            <a:off x="5504688" y="2752344"/>
            <a:ext cx="704088" cy="237744"/>
          </a:xfrm>
          <a:prstGeom prst="rect">
            <a:avLst/>
          </a:prstGeom>
          <a:noFill/>
          <a:ln/>
        </p:spPr>
        <p:txBody>
          <a:bodyPr wrap="square" lIns="0" tIns="0" rIns="0" bIns="0" rtlCol="0" anchor="ctr"/>
          <a:lstStyle/>
          <a:p>
            <a:pPr marL="0" indent="0" algn="ctr">
              <a:buNone/>
            </a:pPr>
            <a:r>
              <a:rPr lang="en-US" sz="1100" b="1" dirty="0">
                <a:solidFill>
                  <a:srgbClr val="1E40AF"/>
                </a:solidFill>
                <a:latin typeface="Courier New" pitchFamily="34" charset="0"/>
                <a:ea typeface="Courier New" pitchFamily="34" charset="-122"/>
                <a:cs typeface="Courier New" pitchFamily="34" charset="-120"/>
              </a:rPr>
              <a:t>age</a:t>
            </a:r>
            <a:endParaRPr lang="en-US" sz="1100" dirty="0"/>
          </a:p>
        </p:txBody>
      </p:sp>
      <p:sp>
        <p:nvSpPr>
          <p:cNvPr id="44" name="Shape 42"/>
          <p:cNvSpPr/>
          <p:nvPr/>
        </p:nvSpPr>
        <p:spPr>
          <a:xfrm>
            <a:off x="6309360" y="2706624"/>
            <a:ext cx="777240" cy="320040"/>
          </a:xfrm>
          <a:prstGeom prst="roundRect">
            <a:avLst>
              <a:gd name="adj" fmla="val 17143"/>
            </a:avLst>
          </a:prstGeom>
          <a:solidFill>
            <a:srgbClr val="FEF9C3"/>
          </a:solidFill>
          <a:ln w="12700">
            <a:solidFill>
              <a:srgbClr val="FEF9C3"/>
            </a:solidFill>
            <a:prstDash val="solid"/>
          </a:ln>
        </p:spPr>
        <p:txBody>
          <a:bodyPr/>
          <a:lstStyle/>
          <a:p>
            <a:endParaRPr lang="en-US"/>
          </a:p>
        </p:txBody>
      </p:sp>
      <p:sp>
        <p:nvSpPr>
          <p:cNvPr id="45" name="Text 43"/>
          <p:cNvSpPr txBox="1"/>
          <p:nvPr/>
        </p:nvSpPr>
        <p:spPr>
          <a:xfrm>
            <a:off x="6345936" y="2752344"/>
            <a:ext cx="704088" cy="237744"/>
          </a:xfrm>
          <a:prstGeom prst="rect">
            <a:avLst/>
          </a:prstGeom>
          <a:noFill/>
          <a:ln/>
        </p:spPr>
        <p:txBody>
          <a:bodyPr wrap="square" lIns="0" tIns="0" rIns="0" bIns="0" rtlCol="0" anchor="ctr"/>
          <a:lstStyle/>
          <a:p>
            <a:pPr marL="0" indent="0" algn="ctr">
              <a:buNone/>
            </a:pPr>
            <a:r>
              <a:rPr lang="en-US" sz="1100" b="1" dirty="0">
                <a:solidFill>
                  <a:srgbClr val="854D0E"/>
                </a:solidFill>
                <a:latin typeface="Courier New" pitchFamily="34" charset="0"/>
                <a:ea typeface="Courier New" pitchFamily="34" charset="-122"/>
                <a:cs typeface="Courier New" pitchFamily="34" charset="-120"/>
              </a:rPr>
              <a:t>=</a:t>
            </a:r>
            <a:endParaRPr lang="en-US" sz="1100" dirty="0"/>
          </a:p>
        </p:txBody>
      </p:sp>
      <p:sp>
        <p:nvSpPr>
          <p:cNvPr id="46" name="Shape 44"/>
          <p:cNvSpPr/>
          <p:nvPr/>
        </p:nvSpPr>
        <p:spPr>
          <a:xfrm>
            <a:off x="7150608" y="2706624"/>
            <a:ext cx="777240" cy="320040"/>
          </a:xfrm>
          <a:prstGeom prst="roundRect">
            <a:avLst>
              <a:gd name="adj" fmla="val 17143"/>
            </a:avLst>
          </a:prstGeom>
          <a:solidFill>
            <a:srgbClr val="DCFCE7"/>
          </a:solidFill>
          <a:ln w="12700">
            <a:solidFill>
              <a:srgbClr val="DCFCE7"/>
            </a:solidFill>
            <a:prstDash val="solid"/>
          </a:ln>
        </p:spPr>
        <p:txBody>
          <a:bodyPr/>
          <a:lstStyle/>
          <a:p>
            <a:endParaRPr lang="en-US"/>
          </a:p>
        </p:txBody>
      </p:sp>
      <p:sp>
        <p:nvSpPr>
          <p:cNvPr id="47" name="Text 45"/>
          <p:cNvSpPr txBox="1"/>
          <p:nvPr/>
        </p:nvSpPr>
        <p:spPr>
          <a:xfrm>
            <a:off x="7187184" y="2752344"/>
            <a:ext cx="704088" cy="237744"/>
          </a:xfrm>
          <a:prstGeom prst="rect">
            <a:avLst/>
          </a:prstGeom>
          <a:noFill/>
          <a:ln/>
        </p:spPr>
        <p:txBody>
          <a:bodyPr wrap="square" lIns="0" tIns="0" rIns="0" bIns="0" rtlCol="0" anchor="ctr"/>
          <a:lstStyle/>
          <a:p>
            <a:pPr marL="0" indent="0" algn="ctr">
              <a:buNone/>
            </a:pPr>
            <a:r>
              <a:rPr lang="en-US" sz="1100" b="1" dirty="0">
                <a:solidFill>
                  <a:srgbClr val="166534"/>
                </a:solidFill>
                <a:latin typeface="Courier New" pitchFamily="34" charset="0"/>
                <a:ea typeface="Courier New" pitchFamily="34" charset="-122"/>
                <a:cs typeface="Courier New" pitchFamily="34" charset="-120"/>
              </a:rPr>
              <a:t>25</a:t>
            </a:r>
            <a:endParaRPr lang="en-US" sz="1100" dirty="0"/>
          </a:p>
        </p:txBody>
      </p:sp>
      <p:sp>
        <p:nvSpPr>
          <p:cNvPr id="48" name="Text 46"/>
          <p:cNvSpPr txBox="1"/>
          <p:nvPr/>
        </p:nvSpPr>
        <p:spPr>
          <a:xfrm>
            <a:off x="5468112" y="3218688"/>
            <a:ext cx="1645920" cy="256032"/>
          </a:xfrm>
          <a:prstGeom prst="rect">
            <a:avLst/>
          </a:prstGeom>
          <a:noFill/>
          <a:ln/>
        </p:spPr>
        <p:txBody>
          <a:bodyPr wrap="square" lIns="0" tIns="0" rIns="0" bIns="0" rtlCol="0" anchor="ctr"/>
          <a:lstStyle/>
          <a:p>
            <a:pPr marL="0" indent="0">
              <a:buNone/>
            </a:pPr>
            <a:r>
              <a:rPr lang="en-US" sz="1100" b="1" dirty="0">
                <a:solidFill>
                  <a:srgbClr val="9B1C1C"/>
                </a:solidFill>
                <a:latin typeface="Calibri" pitchFamily="34" charset="0"/>
                <a:ea typeface="Calibri" pitchFamily="34" charset="-122"/>
                <a:cs typeface="Calibri" pitchFamily="34" charset="-120"/>
              </a:rPr>
              <a:t>Missing token 1:</a:t>
            </a:r>
            <a:endParaRPr lang="en-US" sz="1100" dirty="0"/>
          </a:p>
        </p:txBody>
      </p:sp>
      <p:sp>
        <p:nvSpPr>
          <p:cNvPr id="49" name="Shape 47"/>
          <p:cNvSpPr/>
          <p:nvPr/>
        </p:nvSpPr>
        <p:spPr>
          <a:xfrm>
            <a:off x="7205472" y="3182112"/>
            <a:ext cx="777240" cy="320040"/>
          </a:xfrm>
          <a:prstGeom prst="roundRect">
            <a:avLst>
              <a:gd name="adj" fmla="val 17143"/>
            </a:avLst>
          </a:prstGeom>
          <a:solidFill>
            <a:srgbClr val="F3E8FF"/>
          </a:solidFill>
          <a:ln w="12700">
            <a:solidFill>
              <a:srgbClr val="F3E8FF"/>
            </a:solidFill>
            <a:prstDash val="solid"/>
          </a:ln>
        </p:spPr>
        <p:txBody>
          <a:bodyPr/>
          <a:lstStyle/>
          <a:p>
            <a:endParaRPr lang="en-US"/>
          </a:p>
        </p:txBody>
      </p:sp>
      <p:sp>
        <p:nvSpPr>
          <p:cNvPr id="50" name="Text 48"/>
          <p:cNvSpPr txBox="1"/>
          <p:nvPr/>
        </p:nvSpPr>
        <p:spPr>
          <a:xfrm>
            <a:off x="7242048" y="3227832"/>
            <a:ext cx="704088" cy="237744"/>
          </a:xfrm>
          <a:prstGeom prst="rect">
            <a:avLst/>
          </a:prstGeom>
          <a:noFill/>
          <a:ln/>
        </p:spPr>
        <p:txBody>
          <a:bodyPr wrap="square" lIns="0" tIns="0" rIns="0" bIns="0" rtlCol="0" anchor="ctr"/>
          <a:lstStyle/>
          <a:p>
            <a:pPr marL="0" indent="0" algn="ctr">
              <a:buNone/>
            </a:pPr>
            <a:r>
              <a:rPr lang="en-US" sz="1100" b="1" dirty="0">
                <a:solidFill>
                  <a:srgbClr val="7C3AED"/>
                </a:solidFill>
                <a:latin typeface="Courier New" pitchFamily="34" charset="0"/>
                <a:ea typeface="Courier New" pitchFamily="34" charset="-122"/>
                <a:cs typeface="Courier New" pitchFamily="34" charset="-120"/>
              </a:rPr>
              <a:t>int</a:t>
            </a:r>
            <a:endParaRPr lang="en-US" sz="1100" dirty="0"/>
          </a:p>
        </p:txBody>
      </p:sp>
      <p:sp>
        <p:nvSpPr>
          <p:cNvPr id="51" name="Text 49"/>
          <p:cNvSpPr txBox="1"/>
          <p:nvPr/>
        </p:nvSpPr>
        <p:spPr>
          <a:xfrm>
            <a:off x="8065008" y="3218688"/>
            <a:ext cx="3931920" cy="256032"/>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 Python uses dynamic typing — types are determined at runtime, not declared in code.</a:t>
            </a:r>
            <a:endParaRPr lang="en-US" sz="1100" dirty="0"/>
          </a:p>
        </p:txBody>
      </p:sp>
      <p:sp>
        <p:nvSpPr>
          <p:cNvPr id="52" name="Text 50"/>
          <p:cNvSpPr txBox="1"/>
          <p:nvPr/>
        </p:nvSpPr>
        <p:spPr>
          <a:xfrm>
            <a:off x="5468112" y="3566160"/>
            <a:ext cx="1645920" cy="256032"/>
          </a:xfrm>
          <a:prstGeom prst="rect">
            <a:avLst/>
          </a:prstGeom>
          <a:noFill/>
          <a:ln/>
        </p:spPr>
        <p:txBody>
          <a:bodyPr wrap="square" lIns="0" tIns="0" rIns="0" bIns="0" rtlCol="0" anchor="ctr"/>
          <a:lstStyle/>
          <a:p>
            <a:pPr marL="0" indent="0">
              <a:buNone/>
            </a:pPr>
            <a:r>
              <a:rPr lang="en-US" sz="1100" b="1" dirty="0">
                <a:solidFill>
                  <a:srgbClr val="9B1C1C"/>
                </a:solidFill>
                <a:latin typeface="Calibri" pitchFamily="34" charset="0"/>
                <a:ea typeface="Calibri" pitchFamily="34" charset="-122"/>
                <a:cs typeface="Calibri" pitchFamily="34" charset="-120"/>
              </a:rPr>
              <a:t>Missing token 2:</a:t>
            </a:r>
            <a:endParaRPr lang="en-US" sz="1100" dirty="0"/>
          </a:p>
        </p:txBody>
      </p:sp>
      <p:sp>
        <p:nvSpPr>
          <p:cNvPr id="53" name="Shape 51"/>
          <p:cNvSpPr/>
          <p:nvPr/>
        </p:nvSpPr>
        <p:spPr>
          <a:xfrm>
            <a:off x="7205472" y="3529584"/>
            <a:ext cx="777240" cy="320040"/>
          </a:xfrm>
          <a:prstGeom prst="roundRect">
            <a:avLst>
              <a:gd name="adj" fmla="val 17143"/>
            </a:avLst>
          </a:prstGeom>
          <a:solidFill>
            <a:srgbClr val="F1F5F9"/>
          </a:solidFill>
          <a:ln w="12700">
            <a:solidFill>
              <a:srgbClr val="F1F5F9"/>
            </a:solidFill>
            <a:prstDash val="solid"/>
          </a:ln>
        </p:spPr>
        <p:txBody>
          <a:bodyPr/>
          <a:lstStyle/>
          <a:p>
            <a:endParaRPr lang="en-US"/>
          </a:p>
        </p:txBody>
      </p:sp>
      <p:sp>
        <p:nvSpPr>
          <p:cNvPr id="54" name="Text 52"/>
          <p:cNvSpPr txBox="1"/>
          <p:nvPr/>
        </p:nvSpPr>
        <p:spPr>
          <a:xfrm>
            <a:off x="7242048" y="3575304"/>
            <a:ext cx="704088" cy="237744"/>
          </a:xfrm>
          <a:prstGeom prst="rect">
            <a:avLst/>
          </a:prstGeom>
          <a:noFill/>
          <a:ln/>
        </p:spPr>
        <p:txBody>
          <a:bodyPr wrap="square" lIns="0" tIns="0" rIns="0" bIns="0" rtlCol="0" anchor="ctr"/>
          <a:lstStyle/>
          <a:p>
            <a:pPr marL="0" indent="0" algn="ctr">
              <a:buNone/>
            </a:pPr>
            <a:r>
              <a:rPr lang="en-US" sz="1100" b="1" dirty="0">
                <a:solidFill>
                  <a:srgbClr val="475569"/>
                </a:solidFill>
                <a:latin typeface="Courier New" pitchFamily="34" charset="0"/>
                <a:ea typeface="Courier New" pitchFamily="34" charset="-122"/>
                <a:cs typeface="Courier New" pitchFamily="34" charset="-120"/>
              </a:rPr>
              <a:t>;</a:t>
            </a:r>
            <a:endParaRPr lang="en-US" sz="1100" dirty="0"/>
          </a:p>
        </p:txBody>
      </p:sp>
      <p:sp>
        <p:nvSpPr>
          <p:cNvPr id="55" name="Text 53"/>
          <p:cNvSpPr txBox="1"/>
          <p:nvPr/>
        </p:nvSpPr>
        <p:spPr>
          <a:xfrm>
            <a:off x="8065008" y="3566160"/>
            <a:ext cx="3931920" cy="256032"/>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 Python uses the newline to end statements. No explicit terminator needed.</a:t>
            </a:r>
            <a:endParaRPr lang="en-US" sz="1100" dirty="0"/>
          </a:p>
        </p:txBody>
      </p:sp>
      <p:sp>
        <p:nvSpPr>
          <p:cNvPr id="56" name="Shape 54"/>
          <p:cNvSpPr/>
          <p:nvPr/>
        </p:nvSpPr>
        <p:spPr>
          <a:xfrm>
            <a:off x="411480" y="4041648"/>
            <a:ext cx="54864" cy="749808"/>
          </a:xfrm>
          <a:prstGeom prst="rect">
            <a:avLst/>
          </a:prstGeom>
          <a:solidFill>
            <a:srgbClr val="2E5BFF"/>
          </a:solidFill>
          <a:ln/>
        </p:spPr>
        <p:txBody>
          <a:bodyPr/>
          <a:lstStyle/>
          <a:p>
            <a:endParaRPr lang="en-US"/>
          </a:p>
        </p:txBody>
      </p:sp>
      <p:sp>
        <p:nvSpPr>
          <p:cNvPr id="57" name="Shape 55"/>
          <p:cNvSpPr/>
          <p:nvPr/>
        </p:nvSpPr>
        <p:spPr>
          <a:xfrm>
            <a:off x="466344" y="4041648"/>
            <a:ext cx="11283696" cy="749808"/>
          </a:xfrm>
          <a:prstGeom prst="rect">
            <a:avLst/>
          </a:prstGeom>
          <a:solidFill>
            <a:srgbClr val="EFF6FF"/>
          </a:solidFill>
          <a:ln w="12700">
            <a:solidFill>
              <a:srgbClr val="BFDBFE"/>
            </a:solidFill>
            <a:prstDash val="solid"/>
          </a:ln>
        </p:spPr>
        <p:txBody>
          <a:bodyPr/>
          <a:lstStyle/>
          <a:p>
            <a:endParaRPr lang="en-US"/>
          </a:p>
        </p:txBody>
      </p:sp>
      <p:sp>
        <p:nvSpPr>
          <p:cNvPr id="58" name="Text 56"/>
          <p:cNvSpPr txBox="1"/>
          <p:nvPr/>
        </p:nvSpPr>
        <p:spPr>
          <a:xfrm>
            <a:off x="612648" y="4133088"/>
            <a:ext cx="11045952" cy="566928"/>
          </a:xfrm>
          <a:prstGeom prst="rect">
            <a:avLst/>
          </a:prstGeom>
          <a:noFill/>
          <a:ln/>
        </p:spPr>
        <p:txBody>
          <a:bodyPr wrap="square" lIns="0" tIns="0" rIns="0" bIns="0" rtlCol="0" anchor="ctr"/>
          <a:lstStyle/>
          <a:p>
            <a:pPr marL="0" indent="0">
              <a:lnSpc>
                <a:spcPct val="135000"/>
              </a:lnSpc>
              <a:buNone/>
            </a:pPr>
            <a:r>
              <a:rPr lang="en-US" sz="1200" dirty="0">
                <a:solidFill>
                  <a:srgbClr val="1E3A8A"/>
                </a:solidFill>
                <a:latin typeface="Calibri" pitchFamily="34" charset="0"/>
                <a:ea typeface="Calibri" pitchFamily="34" charset="-122"/>
                <a:cs typeface="Calibri" pitchFamily="34" charset="-120"/>
              </a:rPr>
              <a:t>2 tokens removed = 2 design decisions made. Every missing token reflects a deliberate choice about what the language will handle implicitly vs what it asks the programmer to state explicitly.</a:t>
            </a:r>
            <a:endParaRPr lang="en-US" sz="1200" dirty="0"/>
          </a:p>
        </p:txBody>
      </p:sp>
      <p:sp>
        <p:nvSpPr>
          <p:cNvPr id="59" name="Shape 57"/>
          <p:cNvSpPr/>
          <p:nvPr/>
        </p:nvSpPr>
        <p:spPr>
          <a:xfrm>
            <a:off x="411480" y="4937760"/>
            <a:ext cx="54864" cy="749808"/>
          </a:xfrm>
          <a:prstGeom prst="rect">
            <a:avLst/>
          </a:prstGeom>
          <a:solidFill>
            <a:srgbClr val="6D28D9"/>
          </a:solidFill>
          <a:ln/>
        </p:spPr>
        <p:txBody>
          <a:bodyPr/>
          <a:lstStyle/>
          <a:p>
            <a:endParaRPr lang="en-US"/>
          </a:p>
        </p:txBody>
      </p:sp>
      <p:sp>
        <p:nvSpPr>
          <p:cNvPr id="60" name="Shape 58"/>
          <p:cNvSpPr/>
          <p:nvPr/>
        </p:nvSpPr>
        <p:spPr>
          <a:xfrm>
            <a:off x="466344" y="4937760"/>
            <a:ext cx="11283696" cy="749808"/>
          </a:xfrm>
          <a:prstGeom prst="rect">
            <a:avLst/>
          </a:prstGeom>
          <a:solidFill>
            <a:srgbClr val="F5F3FF"/>
          </a:solidFill>
          <a:ln w="12700">
            <a:solidFill>
              <a:srgbClr val="C4B5FD"/>
            </a:solidFill>
            <a:prstDash val="solid"/>
          </a:ln>
        </p:spPr>
        <p:txBody>
          <a:bodyPr/>
          <a:lstStyle/>
          <a:p>
            <a:endParaRPr lang="en-US"/>
          </a:p>
        </p:txBody>
      </p:sp>
      <p:sp>
        <p:nvSpPr>
          <p:cNvPr id="61" name="Text 59"/>
          <p:cNvSpPr txBox="1"/>
          <p:nvPr/>
        </p:nvSpPr>
        <p:spPr>
          <a:xfrm>
            <a:off x="612648" y="5029200"/>
            <a:ext cx="11045952" cy="219456"/>
          </a:xfrm>
          <a:prstGeom prst="rect">
            <a:avLst/>
          </a:prstGeom>
          <a:noFill/>
          <a:ln/>
        </p:spPr>
        <p:txBody>
          <a:bodyPr wrap="square" lIns="0" tIns="0" rIns="0" bIns="0" rtlCol="0" anchor="ctr"/>
          <a:lstStyle/>
          <a:p>
            <a:pPr marL="0" indent="0">
              <a:buNone/>
            </a:pPr>
            <a:r>
              <a:rPr lang="en-US" sz="1000" b="1" dirty="0">
                <a:solidFill>
                  <a:srgbClr val="6D28D9"/>
                </a:solidFill>
                <a:latin typeface="Calibri" pitchFamily="34" charset="0"/>
                <a:ea typeface="Calibri" pitchFamily="34" charset="-122"/>
                <a:cs typeface="Calibri" pitchFamily="34" charset="-120"/>
              </a:rPr>
              <a:t>🤔  THINK</a:t>
            </a:r>
            <a:endParaRPr lang="en-US" sz="1000" dirty="0"/>
          </a:p>
        </p:txBody>
      </p:sp>
      <p:sp>
        <p:nvSpPr>
          <p:cNvPr id="62" name="Text 60"/>
          <p:cNvSpPr txBox="1"/>
          <p:nvPr/>
        </p:nvSpPr>
        <p:spPr>
          <a:xfrm>
            <a:off x="612648" y="5266944"/>
            <a:ext cx="11045952" cy="329184"/>
          </a:xfrm>
          <a:prstGeom prst="rect">
            <a:avLst/>
          </a:prstGeom>
          <a:noFill/>
          <a:ln/>
        </p:spPr>
        <p:txBody>
          <a:bodyPr wrap="square" lIns="0" tIns="0" rIns="0" bIns="0" rtlCol="0" anchor="ctr"/>
          <a:lstStyle/>
          <a:p>
            <a:pPr marL="0" indent="0">
              <a:lnSpc>
                <a:spcPct val="135000"/>
              </a:lnSpc>
              <a:buNone/>
            </a:pPr>
            <a:r>
              <a:rPr lang="en-US" sz="1200" dirty="0">
                <a:solidFill>
                  <a:srgbClr val="4C1D95"/>
                </a:solidFill>
                <a:latin typeface="Calibri" pitchFamily="34" charset="0"/>
                <a:ea typeface="Calibri" pitchFamily="34" charset="-122"/>
                <a:cs typeface="Calibri" pitchFamily="34" charset="-120"/>
              </a:rPr>
              <a:t>In Python's result = score + 10, how many tokens are there? List each one and name its type. Hint: remember that Python uses newlines instead of semicolons.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A2B5E"/>
          </a:solidFill>
          <a:ln/>
        </p:spPr>
        <p:txBody>
          <a:bodyPr/>
          <a:lstStyle/>
          <a:p>
            <a:endParaRPr lang="en-US"/>
          </a:p>
        </p:txBody>
      </p:sp>
      <p:sp>
        <p:nvSpPr>
          <p:cNvPr id="3" name="Shape 1"/>
          <p:cNvSpPr/>
          <p:nvPr/>
        </p:nvSpPr>
        <p:spPr>
          <a:xfrm>
            <a:off x="3840480" y="0"/>
            <a:ext cx="8321040" cy="6858000"/>
          </a:xfrm>
          <a:prstGeom prst="rect">
            <a:avLst/>
          </a:prstGeom>
          <a:solidFill>
            <a:srgbClr val="F4F6FC"/>
          </a:solidFill>
          <a:ln/>
        </p:spPr>
        <p:txBody>
          <a:bodyPr/>
          <a:lstStyle/>
          <a:p>
            <a:endParaRPr lang="en-US"/>
          </a:p>
        </p:txBody>
      </p:sp>
      <p:sp>
        <p:nvSpPr>
          <p:cNvPr id="4" name="Text 2"/>
          <p:cNvSpPr txBox="1"/>
          <p:nvPr/>
        </p:nvSpPr>
        <p:spPr>
          <a:xfrm>
            <a:off x="274320" y="2560320"/>
            <a:ext cx="3291840" cy="274320"/>
          </a:xfrm>
          <a:prstGeom prst="rect">
            <a:avLst/>
          </a:prstGeom>
          <a:noFill/>
          <a:ln/>
        </p:spPr>
        <p:txBody>
          <a:bodyPr wrap="square" lIns="0" tIns="0" rIns="0" bIns="0" rtlCol="0" anchor="ctr"/>
          <a:lstStyle/>
          <a:p>
            <a:pPr marL="0" indent="0">
              <a:buNone/>
            </a:pPr>
            <a:r>
              <a:rPr lang="en-US" sz="1100" dirty="0">
                <a:solidFill>
                  <a:srgbClr val="7A90B8"/>
                </a:solidFill>
                <a:latin typeface="Calibri" pitchFamily="34" charset="0"/>
                <a:ea typeface="Calibri" pitchFamily="34" charset="-122"/>
                <a:cs typeface="Calibri" pitchFamily="34" charset="-120"/>
              </a:rPr>
              <a:t>Section 2</a:t>
            </a:r>
            <a:endParaRPr lang="en-US" sz="1100" dirty="0"/>
          </a:p>
        </p:txBody>
      </p:sp>
      <p:sp>
        <p:nvSpPr>
          <p:cNvPr id="5" name="Text 3"/>
          <p:cNvSpPr txBox="1"/>
          <p:nvPr/>
        </p:nvSpPr>
        <p:spPr>
          <a:xfrm>
            <a:off x="274320" y="2880360"/>
            <a:ext cx="3291840" cy="1645920"/>
          </a:xfrm>
          <a:prstGeom prst="rect">
            <a:avLst/>
          </a:prstGeom>
          <a:noFill/>
          <a:ln/>
        </p:spPr>
        <p:txBody>
          <a:bodyPr wrap="square" lIns="0" tIns="0" rIns="0" bIns="0" rtlCol="0" anchor="ctr"/>
          <a:lstStyle/>
          <a:p>
            <a:pPr marL="0" indent="0">
              <a:lnSpc>
                <a:spcPct val="110000"/>
              </a:lnSpc>
              <a:buNone/>
            </a:pPr>
            <a:r>
              <a:rPr lang="en-US" sz="2000" b="1" dirty="0">
                <a:solidFill>
                  <a:srgbClr val="FFFFFF"/>
                </a:solidFill>
                <a:latin typeface="Calibri" pitchFamily="34" charset="0"/>
                <a:ea typeface="Calibri" pitchFamily="34" charset="-122"/>
                <a:cs typeface="Calibri" pitchFamily="34" charset="-120"/>
              </a:rPr>
              <a:t>Syntax</a:t>
            </a:r>
            <a:endParaRPr lang="en-US" sz="2000" dirty="0"/>
          </a:p>
        </p:txBody>
      </p:sp>
      <p:sp>
        <p:nvSpPr>
          <p:cNvPr id="6" name="Text 4"/>
          <p:cNvSpPr txBox="1"/>
          <p:nvPr/>
        </p:nvSpPr>
        <p:spPr>
          <a:xfrm>
            <a:off x="4206240" y="2651760"/>
            <a:ext cx="7680960" cy="1371600"/>
          </a:xfrm>
          <a:prstGeom prst="rect">
            <a:avLst/>
          </a:prstGeom>
          <a:noFill/>
          <a:ln/>
        </p:spPr>
        <p:txBody>
          <a:bodyPr wrap="square" lIns="0" tIns="0" rIns="0" bIns="0" rtlCol="0" anchor="ctr"/>
          <a:lstStyle/>
          <a:p>
            <a:pPr marL="0" indent="0">
              <a:lnSpc>
                <a:spcPct val="130000"/>
              </a:lnSpc>
              <a:buNone/>
            </a:pPr>
            <a:r>
              <a:rPr lang="en-US" sz="1600" dirty="0">
                <a:solidFill>
                  <a:srgbClr val="1E2A3A"/>
                </a:solidFill>
                <a:latin typeface="Calibri" pitchFamily="34" charset="0"/>
                <a:ea typeface="Calibri" pitchFamily="34" charset="-122"/>
                <a:cs typeface="Calibri" pitchFamily="34" charset="-120"/>
              </a:rPr>
              <a:t>The rules that define which token arrangements form valid code.</a:t>
            </a:r>
            <a:endParaRPr lang="en-US" sz="1600" dirty="0"/>
          </a:p>
        </p:txBody>
      </p:sp>
      <p:sp>
        <p:nvSpPr>
          <p:cNvPr id="7" name="Text 5"/>
          <p:cNvSpPr txBox="1"/>
          <p:nvPr/>
        </p:nvSpPr>
        <p:spPr>
          <a:xfrm>
            <a:off x="4206240" y="1371600"/>
            <a:ext cx="7680960" cy="329184"/>
          </a:xfrm>
          <a:prstGeom prst="rect">
            <a:avLst/>
          </a:prstGeom>
          <a:noFill/>
          <a:ln/>
        </p:spPr>
        <p:txBody>
          <a:bodyPr wrap="square" lIns="0" tIns="0" rIns="0" bIns="0" rtlCol="0" anchor="ctr"/>
          <a:lstStyle/>
          <a:p>
            <a:pPr marL="0" indent="0">
              <a:buNone/>
            </a:pPr>
            <a:r>
              <a:rPr lang="en-US" sz="1400" b="1" dirty="0">
                <a:solidFill>
                  <a:srgbClr val="1E2A3A"/>
                </a:solidFill>
                <a:latin typeface="Calibri" pitchFamily="34" charset="0"/>
                <a:ea typeface="Calibri" pitchFamily="34" charset="-122"/>
                <a:cs typeface="Calibri" pitchFamily="34" charset="-120"/>
              </a:rPr>
              <a:t>Tokens are the pieces. Syntax answers the next question:</a:t>
            </a:r>
            <a:endParaRPr lang="en-US" sz="1400" dirty="0"/>
          </a:p>
        </p:txBody>
      </p:sp>
      <p:sp>
        <p:nvSpPr>
          <p:cNvPr id="8" name="Text 6"/>
          <p:cNvSpPr txBox="1"/>
          <p:nvPr/>
        </p:nvSpPr>
        <p:spPr>
          <a:xfrm>
            <a:off x="4206240" y="1755648"/>
            <a:ext cx="7680960" cy="777240"/>
          </a:xfrm>
          <a:prstGeom prst="rect">
            <a:avLst/>
          </a:prstGeom>
          <a:noFill/>
          <a:ln/>
        </p:spPr>
        <p:txBody>
          <a:bodyPr wrap="square" lIns="0" tIns="0" rIns="0" bIns="0" rtlCol="0" anchor="ctr"/>
          <a:lstStyle/>
          <a:p>
            <a:pPr marL="0" indent="0">
              <a:lnSpc>
                <a:spcPct val="145000"/>
              </a:lnSpc>
              <a:buNone/>
            </a:pPr>
            <a:r>
              <a:rPr lang="en-US" sz="1400" dirty="0">
                <a:solidFill>
                  <a:srgbClr val="1A2B5E"/>
                </a:solidFill>
                <a:latin typeface="Calibri" pitchFamily="34" charset="0"/>
                <a:ea typeface="Calibri" pitchFamily="34" charset="-122"/>
                <a:cs typeface="Calibri" pitchFamily="34" charset="-120"/>
              </a:rPr>
              <a:t>Not every combination of tokens is a valid program.</a:t>
            </a:r>
            <a:endParaRPr lang="en-US" sz="1400" dirty="0"/>
          </a:p>
          <a:p>
            <a:pPr marL="0" indent="0">
              <a:lnSpc>
                <a:spcPct val="145000"/>
              </a:lnSpc>
              <a:buNone/>
            </a:pPr>
            <a:r>
              <a:rPr lang="en-US" sz="1400" dirty="0">
                <a:solidFill>
                  <a:srgbClr val="1A2B5E"/>
                </a:solidFill>
                <a:latin typeface="Calibri" pitchFamily="34" charset="0"/>
                <a:ea typeface="Calibri" pitchFamily="34" charset="-122"/>
                <a:cs typeface="Calibri" pitchFamily="34" charset="-120"/>
              </a:rPr>
              <a:t>How does the language decide which arrangements are allowed?</a:t>
            </a:r>
            <a:endParaRPr lang="en-US" sz="1400" dirty="0"/>
          </a:p>
        </p:txBody>
      </p:sp>
      <p:sp>
        <p:nvSpPr>
          <p:cNvPr id="9" name="Shape 7"/>
          <p:cNvSpPr/>
          <p:nvPr/>
        </p:nvSpPr>
        <p:spPr>
          <a:xfrm>
            <a:off x="4206240" y="2724911"/>
            <a:ext cx="7955280" cy="2277785"/>
          </a:xfrm>
          <a:prstGeom prst="rect">
            <a:avLst/>
          </a:prstGeom>
          <a:solidFill>
            <a:srgbClr val="FFFBEB"/>
          </a:solidFill>
          <a:ln w="12700">
            <a:solidFill>
              <a:srgbClr val="FCD34D"/>
            </a:solidFill>
            <a:prstDash val="solid"/>
          </a:ln>
        </p:spPr>
        <p:txBody>
          <a:bodyPr/>
          <a:lstStyle/>
          <a:p>
            <a:endParaRPr lang="en-US"/>
          </a:p>
        </p:txBody>
      </p:sp>
      <p:sp>
        <p:nvSpPr>
          <p:cNvPr id="10" name="Text 8"/>
          <p:cNvSpPr txBox="1"/>
          <p:nvPr/>
        </p:nvSpPr>
        <p:spPr>
          <a:xfrm>
            <a:off x="4407408" y="2816352"/>
            <a:ext cx="7315200" cy="256032"/>
          </a:xfrm>
          <a:prstGeom prst="rect">
            <a:avLst/>
          </a:prstGeom>
          <a:noFill/>
          <a:ln/>
        </p:spPr>
        <p:txBody>
          <a:bodyPr wrap="square" lIns="0" tIns="0" rIns="0" bIns="0" rtlCol="0" anchor="ctr"/>
          <a:lstStyle/>
          <a:p>
            <a:pPr marL="0" indent="0">
              <a:buNone/>
            </a:pPr>
            <a:r>
              <a:rPr lang="en-US" sz="1200" b="1" dirty="0">
                <a:solidFill>
                  <a:srgbClr val="92400E"/>
                </a:solidFill>
                <a:latin typeface="Calibri" pitchFamily="34" charset="0"/>
                <a:ea typeface="Calibri" pitchFamily="34" charset="-122"/>
                <a:cs typeface="Calibri" pitchFamily="34" charset="-120"/>
              </a:rPr>
              <a:t>💡  An English analogy</a:t>
            </a:r>
            <a:endParaRPr lang="en-US" sz="1200" dirty="0"/>
          </a:p>
        </p:txBody>
      </p:sp>
      <p:sp>
        <p:nvSpPr>
          <p:cNvPr id="11" name="Text 9"/>
          <p:cNvSpPr txBox="1"/>
          <p:nvPr/>
        </p:nvSpPr>
        <p:spPr>
          <a:xfrm>
            <a:off x="4407408" y="3108959"/>
            <a:ext cx="7223760" cy="1668449"/>
          </a:xfrm>
          <a:prstGeom prst="rect">
            <a:avLst/>
          </a:prstGeom>
          <a:noFill/>
          <a:ln/>
        </p:spPr>
        <p:txBody>
          <a:bodyPr wrap="square" lIns="0" tIns="0" rIns="0" bIns="0" rtlCol="0" anchor="ctr"/>
          <a:lstStyle/>
          <a:p>
            <a:pPr marL="0" indent="0">
              <a:lnSpc>
                <a:spcPct val="142000"/>
              </a:lnSpc>
              <a:buNone/>
            </a:pPr>
            <a:r>
              <a:rPr lang="en-US" sz="1200" dirty="0">
                <a:solidFill>
                  <a:srgbClr val="78350F"/>
                </a:solidFill>
                <a:latin typeface="Calibri" pitchFamily="34" charset="0"/>
                <a:ea typeface="Calibri" pitchFamily="34" charset="-122"/>
                <a:cs typeface="Calibri" pitchFamily="34" charset="-120"/>
              </a:rPr>
              <a:t>"The dog chased the cat" — grammatically correct.</a:t>
            </a:r>
            <a:endParaRPr lang="en-US" sz="1200" dirty="0"/>
          </a:p>
          <a:p>
            <a:pPr marL="0" indent="0">
              <a:lnSpc>
                <a:spcPct val="142000"/>
              </a:lnSpc>
              <a:buNone/>
            </a:pPr>
            <a:r>
              <a:rPr lang="en-US" sz="1200" dirty="0">
                <a:solidFill>
                  <a:srgbClr val="78350F"/>
                </a:solidFill>
                <a:latin typeface="Calibri" pitchFamily="34" charset="0"/>
                <a:ea typeface="Calibri" pitchFamily="34" charset="-122"/>
                <a:cs typeface="Calibri" pitchFamily="34" charset="-120"/>
              </a:rPr>
              <a:t>"Dog the chased cat the" — same words, wrong order.</a:t>
            </a:r>
            <a:endParaRPr lang="en-US" sz="1200" dirty="0"/>
          </a:p>
          <a:p>
            <a:pPr marL="0" indent="0">
              <a:lnSpc>
                <a:spcPct val="142000"/>
              </a:lnSpc>
              <a:buNone/>
            </a:pPr>
            <a:endParaRPr lang="en-US" sz="1200" dirty="0"/>
          </a:p>
          <a:p>
            <a:pPr marL="0" indent="0">
              <a:lnSpc>
                <a:spcPct val="142000"/>
              </a:lnSpc>
              <a:buNone/>
            </a:pPr>
            <a:r>
              <a:rPr lang="en-US" sz="1200" dirty="0">
                <a:solidFill>
                  <a:srgbClr val="78350F"/>
                </a:solidFill>
                <a:latin typeface="Calibri" pitchFamily="34" charset="0"/>
                <a:ea typeface="Calibri" pitchFamily="34" charset="-122"/>
                <a:cs typeface="Calibri" pitchFamily="34" charset="-120"/>
              </a:rPr>
              <a:t>Programming languages work exactly the same way. Tokens are the words. Syntax determines which orderings form valid statements.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51560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What Changed — and Why Does It Matter?</a:t>
            </a:r>
            <a:endParaRPr lang="en-US" sz="2200" dirty="0"/>
          </a:p>
        </p:txBody>
      </p:sp>
      <p:sp>
        <p:nvSpPr>
          <p:cNvPr id="4" name="Text 2"/>
          <p:cNvSpPr txBox="1"/>
          <p:nvPr/>
        </p:nvSpPr>
        <p:spPr>
          <a:xfrm>
            <a:off x="10515600" y="256032"/>
            <a:ext cx="150876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2 · Syntax</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Both versions look similar. One is valid C. One is a syntax error. What changed?</a:t>
            </a:r>
            <a:endParaRPr lang="en-US" sz="1300" dirty="0"/>
          </a:p>
        </p:txBody>
      </p:sp>
      <p:sp>
        <p:nvSpPr>
          <p:cNvPr id="6" name="Shape 4"/>
          <p:cNvSpPr/>
          <p:nvPr/>
        </p:nvSpPr>
        <p:spPr>
          <a:xfrm>
            <a:off x="411480" y="1353312"/>
            <a:ext cx="5394960" cy="2194560"/>
          </a:xfrm>
          <a:prstGeom prst="rect">
            <a:avLst/>
          </a:prstGeom>
          <a:solidFill>
            <a:srgbClr val="EAF7EE"/>
          </a:solidFill>
          <a:ln w="12700">
            <a:solidFill>
              <a:srgbClr val="6EE7B7"/>
            </a:solidFill>
            <a:prstDash val="solid"/>
          </a:ln>
        </p:spPr>
        <p:txBody>
          <a:bodyPr/>
          <a:lstStyle/>
          <a:p>
            <a:endParaRPr lang="en-US"/>
          </a:p>
        </p:txBody>
      </p:sp>
      <p:sp>
        <p:nvSpPr>
          <p:cNvPr id="7" name="Text 5"/>
          <p:cNvSpPr txBox="1"/>
          <p:nvPr/>
        </p:nvSpPr>
        <p:spPr>
          <a:xfrm>
            <a:off x="594360" y="1444752"/>
            <a:ext cx="5029200" cy="274320"/>
          </a:xfrm>
          <a:prstGeom prst="rect">
            <a:avLst/>
          </a:prstGeom>
          <a:noFill/>
          <a:ln/>
        </p:spPr>
        <p:txBody>
          <a:bodyPr wrap="square" lIns="0" tIns="0" rIns="0" bIns="0" rtlCol="0" anchor="ctr"/>
          <a:lstStyle/>
          <a:p>
            <a:pPr marL="0" indent="0">
              <a:buNone/>
            </a:pPr>
            <a:r>
              <a:rPr lang="en-US" sz="1200" b="1" dirty="0">
                <a:solidFill>
                  <a:srgbClr val="1A7A3C"/>
                </a:solidFill>
                <a:latin typeface="Calibri" pitchFamily="34" charset="0"/>
                <a:ea typeface="Calibri" pitchFamily="34" charset="-122"/>
                <a:cs typeface="Calibri" pitchFamily="34" charset="-120"/>
              </a:rPr>
              <a:t>✓  Version A — valid C</a:t>
            </a:r>
            <a:endParaRPr lang="en-US" sz="1200" dirty="0"/>
          </a:p>
        </p:txBody>
      </p:sp>
      <p:sp>
        <p:nvSpPr>
          <p:cNvPr id="8" name="Shape 6"/>
          <p:cNvSpPr/>
          <p:nvPr/>
        </p:nvSpPr>
        <p:spPr>
          <a:xfrm>
            <a:off x="594360" y="1783080"/>
            <a:ext cx="5029200" cy="1234440"/>
          </a:xfrm>
          <a:prstGeom prst="rect">
            <a:avLst/>
          </a:prstGeom>
          <a:solidFill>
            <a:srgbClr val="EEF1FA"/>
          </a:solidFill>
          <a:ln w="12700">
            <a:solidFill>
              <a:srgbClr val="D0DAF0"/>
            </a:solidFill>
            <a:prstDash val="solid"/>
          </a:ln>
        </p:spPr>
        <p:txBody>
          <a:bodyPr/>
          <a:lstStyle/>
          <a:p>
            <a:endParaRPr lang="en-US"/>
          </a:p>
        </p:txBody>
      </p:sp>
      <p:sp>
        <p:nvSpPr>
          <p:cNvPr id="9" name="Text 7"/>
          <p:cNvSpPr txBox="1"/>
          <p:nvPr/>
        </p:nvSpPr>
        <p:spPr>
          <a:xfrm>
            <a:off x="722376" y="1874520"/>
            <a:ext cx="4828032" cy="106984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if (score &gt; 50)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printf("Pass\n");</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6355080" y="1353312"/>
            <a:ext cx="5394960" cy="2194560"/>
          </a:xfrm>
          <a:prstGeom prst="rect">
            <a:avLst/>
          </a:prstGeom>
          <a:solidFill>
            <a:srgbClr val="FEF2F2"/>
          </a:solidFill>
          <a:ln w="12700">
            <a:solidFill>
              <a:srgbClr val="FCA5A5"/>
            </a:solidFill>
            <a:prstDash val="solid"/>
          </a:ln>
        </p:spPr>
        <p:txBody>
          <a:bodyPr/>
          <a:lstStyle/>
          <a:p>
            <a:endParaRPr lang="en-US"/>
          </a:p>
        </p:txBody>
      </p:sp>
      <p:sp>
        <p:nvSpPr>
          <p:cNvPr id="11" name="Text 9"/>
          <p:cNvSpPr txBox="1"/>
          <p:nvPr/>
        </p:nvSpPr>
        <p:spPr>
          <a:xfrm>
            <a:off x="6537960" y="1444752"/>
            <a:ext cx="5029200" cy="274320"/>
          </a:xfrm>
          <a:prstGeom prst="rect">
            <a:avLst/>
          </a:prstGeom>
          <a:noFill/>
          <a:ln/>
        </p:spPr>
        <p:txBody>
          <a:bodyPr wrap="square" lIns="0" tIns="0" rIns="0" bIns="0" rtlCol="0" anchor="ctr"/>
          <a:lstStyle/>
          <a:p>
            <a:pPr marL="0" indent="0">
              <a:buNone/>
            </a:pPr>
            <a:r>
              <a:rPr lang="en-US" sz="1200" b="1" dirty="0">
                <a:solidFill>
                  <a:srgbClr val="9B1C1C"/>
                </a:solidFill>
                <a:latin typeface="Calibri" pitchFamily="34" charset="0"/>
                <a:ea typeface="Calibri" pitchFamily="34" charset="-122"/>
                <a:cs typeface="Calibri" pitchFamily="34" charset="-120"/>
              </a:rPr>
              <a:t>✗  Version B — syntax error in C</a:t>
            </a:r>
            <a:endParaRPr lang="en-US" sz="1200" dirty="0"/>
          </a:p>
        </p:txBody>
      </p:sp>
      <p:sp>
        <p:nvSpPr>
          <p:cNvPr id="12" name="Shape 10"/>
          <p:cNvSpPr/>
          <p:nvPr/>
        </p:nvSpPr>
        <p:spPr>
          <a:xfrm>
            <a:off x="6537960" y="1783080"/>
            <a:ext cx="5029200" cy="1234440"/>
          </a:xfrm>
          <a:prstGeom prst="rect">
            <a:avLst/>
          </a:prstGeom>
          <a:solidFill>
            <a:srgbClr val="EEF1FA"/>
          </a:solidFill>
          <a:ln w="12700">
            <a:solidFill>
              <a:srgbClr val="D0DAF0"/>
            </a:solidFill>
            <a:prstDash val="solid"/>
          </a:ln>
        </p:spPr>
        <p:txBody>
          <a:bodyPr/>
          <a:lstStyle/>
          <a:p>
            <a:endParaRPr lang="en-US"/>
          </a:p>
        </p:txBody>
      </p:sp>
      <p:sp>
        <p:nvSpPr>
          <p:cNvPr id="13" name="Text 11"/>
          <p:cNvSpPr txBox="1"/>
          <p:nvPr/>
        </p:nvSpPr>
        <p:spPr>
          <a:xfrm>
            <a:off x="6665976" y="1874520"/>
            <a:ext cx="4828032" cy="106984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if score &gt; 50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printf("Pass\n");</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t>
            </a:r>
            <a:endParaRPr lang="en-US" sz="1100" dirty="0"/>
          </a:p>
        </p:txBody>
      </p:sp>
      <p:sp>
        <p:nvSpPr>
          <p:cNvPr id="14" name="Text 12"/>
          <p:cNvSpPr txBox="1"/>
          <p:nvPr/>
        </p:nvSpPr>
        <p:spPr>
          <a:xfrm>
            <a:off x="5577840" y="2194560"/>
            <a:ext cx="1005840" cy="365760"/>
          </a:xfrm>
          <a:prstGeom prst="rect">
            <a:avLst/>
          </a:prstGeom>
          <a:noFill/>
          <a:ln/>
        </p:spPr>
        <p:txBody>
          <a:bodyPr wrap="square" lIns="0" tIns="0" rIns="0" bIns="0" rtlCol="0" anchor="ctr"/>
          <a:lstStyle/>
          <a:p>
            <a:pPr marL="0" indent="0" algn="ctr">
              <a:buNone/>
            </a:pPr>
            <a:r>
              <a:rPr lang="en-US" sz="1400" b="1" dirty="0">
                <a:solidFill>
                  <a:srgbClr val="5A6A82"/>
                </a:solidFill>
                <a:latin typeface="Calibri" pitchFamily="34" charset="0"/>
                <a:ea typeface="Calibri" pitchFamily="34" charset="-122"/>
                <a:cs typeface="Calibri" pitchFamily="34" charset="-120"/>
              </a:rPr>
              <a:t>←  vs  →</a:t>
            </a:r>
            <a:endParaRPr lang="en-US" sz="1400" dirty="0"/>
          </a:p>
        </p:txBody>
      </p:sp>
      <p:sp>
        <p:nvSpPr>
          <p:cNvPr id="15" name="Text 13"/>
          <p:cNvSpPr txBox="1"/>
          <p:nvPr/>
        </p:nvSpPr>
        <p:spPr>
          <a:xfrm>
            <a:off x="411480" y="3730752"/>
            <a:ext cx="11338560" cy="274320"/>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What changed: the parentheses ( ) around the condition were removed.</a:t>
            </a:r>
            <a:endParaRPr lang="en-US" sz="1300" dirty="0"/>
          </a:p>
        </p:txBody>
      </p:sp>
      <p:sp>
        <p:nvSpPr>
          <p:cNvPr id="16" name="Text 14"/>
          <p:cNvSpPr txBox="1"/>
          <p:nvPr/>
        </p:nvSpPr>
        <p:spPr>
          <a:xfrm>
            <a:off x="411480" y="4041648"/>
            <a:ext cx="7772400" cy="594360"/>
          </a:xfrm>
          <a:prstGeom prst="rect">
            <a:avLst/>
          </a:prstGeom>
          <a:noFill/>
          <a:ln/>
        </p:spPr>
        <p:txBody>
          <a:bodyPr wrap="square" lIns="0" tIns="0" rIns="0" bIns="0" rtlCol="0" anchor="ctr"/>
          <a:lstStyle/>
          <a:p>
            <a:pPr marL="0" indent="0">
              <a:lnSpc>
                <a:spcPct val="135000"/>
              </a:lnSpc>
              <a:buNone/>
            </a:pPr>
            <a:r>
              <a:rPr lang="en-US" sz="1300" dirty="0">
                <a:solidFill>
                  <a:srgbClr val="1E2A3A"/>
                </a:solidFill>
                <a:latin typeface="Calibri" pitchFamily="34" charset="0"/>
                <a:ea typeface="Calibri" pitchFamily="34" charset="-122"/>
                <a:cs typeface="Calibri" pitchFamily="34" charset="-120"/>
              </a:rPr>
              <a:t>In C, the parentheses around an if-condition are not optional — they are a required part of the grammar rule. Removing them produces a token arrangement that C's rules do not permit.</a:t>
            </a:r>
            <a:endParaRPr lang="en-US" sz="1300" dirty="0"/>
          </a:p>
        </p:txBody>
      </p:sp>
      <p:sp>
        <p:nvSpPr>
          <p:cNvPr id="17" name="Shape 15"/>
          <p:cNvSpPr/>
          <p:nvPr/>
        </p:nvSpPr>
        <p:spPr>
          <a:xfrm>
            <a:off x="8366760" y="3730752"/>
            <a:ext cx="3611880" cy="1280160"/>
          </a:xfrm>
          <a:prstGeom prst="rect">
            <a:avLst/>
          </a:prstGeom>
          <a:solidFill>
            <a:srgbClr val="F5F3FF"/>
          </a:solidFill>
          <a:ln w="12700">
            <a:solidFill>
              <a:srgbClr val="C4B5FD"/>
            </a:solidFill>
            <a:prstDash val="solid"/>
          </a:ln>
        </p:spPr>
        <p:txBody>
          <a:bodyPr/>
          <a:lstStyle/>
          <a:p>
            <a:endParaRPr lang="en-US"/>
          </a:p>
        </p:txBody>
      </p:sp>
      <p:sp>
        <p:nvSpPr>
          <p:cNvPr id="18" name="Text 16"/>
          <p:cNvSpPr txBox="1"/>
          <p:nvPr/>
        </p:nvSpPr>
        <p:spPr>
          <a:xfrm>
            <a:off x="8549640" y="3822192"/>
            <a:ext cx="3246120" cy="256032"/>
          </a:xfrm>
          <a:prstGeom prst="rect">
            <a:avLst/>
          </a:prstGeom>
          <a:noFill/>
          <a:ln/>
        </p:spPr>
        <p:txBody>
          <a:bodyPr wrap="square" lIns="0" tIns="0" rIns="0" bIns="0" rtlCol="0" anchor="ctr"/>
          <a:lstStyle/>
          <a:p>
            <a:pPr marL="0" indent="0">
              <a:buNone/>
            </a:pPr>
            <a:r>
              <a:rPr lang="en-US" sz="1100" b="1" dirty="0">
                <a:solidFill>
                  <a:srgbClr val="6D28D9"/>
                </a:solidFill>
                <a:latin typeface="Calibri" pitchFamily="34" charset="0"/>
                <a:ea typeface="Calibri" pitchFamily="34" charset="-122"/>
                <a:cs typeface="Calibri" pitchFamily="34" charset="-120"/>
              </a:rPr>
              <a:t>💡  Interesting twist</a:t>
            </a:r>
            <a:endParaRPr lang="en-US" sz="1100" dirty="0"/>
          </a:p>
        </p:txBody>
      </p:sp>
      <p:sp>
        <p:nvSpPr>
          <p:cNvPr id="19" name="Text 17"/>
          <p:cNvSpPr txBox="1"/>
          <p:nvPr/>
        </p:nvSpPr>
        <p:spPr>
          <a:xfrm>
            <a:off x="8549640" y="4114800"/>
            <a:ext cx="3246120" cy="822960"/>
          </a:xfrm>
          <a:prstGeom prst="rect">
            <a:avLst/>
          </a:prstGeom>
          <a:noFill/>
          <a:ln/>
        </p:spPr>
        <p:txBody>
          <a:bodyPr wrap="square" lIns="0" tIns="0" rIns="0" bIns="0" rtlCol="0" anchor="ctr"/>
          <a:lstStyle/>
          <a:p>
            <a:pPr marL="0" indent="0">
              <a:lnSpc>
                <a:spcPct val="135000"/>
              </a:lnSpc>
              <a:buNone/>
            </a:pPr>
            <a:r>
              <a:rPr lang="en-US" sz="1100" dirty="0">
                <a:solidFill>
                  <a:srgbClr val="4C1D95"/>
                </a:solidFill>
                <a:latin typeface="Calibri" pitchFamily="34" charset="0"/>
                <a:ea typeface="Calibri" pitchFamily="34" charset="-122"/>
                <a:cs typeface="Calibri" pitchFamily="34" charset="-120"/>
              </a:rPr>
              <a:t>Version B would be valid in Python — with a colon at the end. Different languages, different rules for the same tokens.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51560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Three Syntax Elements That Differ Across Languages</a:t>
            </a:r>
            <a:endParaRPr lang="en-US" sz="2200" dirty="0"/>
          </a:p>
        </p:txBody>
      </p:sp>
      <p:sp>
        <p:nvSpPr>
          <p:cNvPr id="4" name="Text 2"/>
          <p:cNvSpPr txBox="1"/>
          <p:nvPr/>
        </p:nvSpPr>
        <p:spPr>
          <a:xfrm>
            <a:off x="10515600" y="256032"/>
            <a:ext cx="150876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2 · Syntax</a:t>
            </a:r>
            <a:endParaRPr lang="en-US" sz="900" dirty="0"/>
          </a:p>
        </p:txBody>
      </p:sp>
      <p:sp>
        <p:nvSpPr>
          <p:cNvPr id="5" name="Shape 3"/>
          <p:cNvSpPr/>
          <p:nvPr/>
        </p:nvSpPr>
        <p:spPr>
          <a:xfrm>
            <a:off x="411480" y="960120"/>
            <a:ext cx="11338560" cy="1719072"/>
          </a:xfrm>
          <a:prstGeom prst="rect">
            <a:avLst/>
          </a:prstGeom>
          <a:solidFill>
            <a:srgbClr val="FFFFFF"/>
          </a:solidFill>
          <a:ln w="12700">
            <a:solidFill>
              <a:srgbClr val="D0DAF0"/>
            </a:solidFill>
            <a:prstDash val="solid"/>
          </a:ln>
        </p:spPr>
        <p:txBody>
          <a:bodyPr/>
          <a:lstStyle/>
          <a:p>
            <a:endParaRPr lang="en-US"/>
          </a:p>
        </p:txBody>
      </p:sp>
      <p:sp>
        <p:nvSpPr>
          <p:cNvPr id="6" name="Text 4"/>
          <p:cNvSpPr txBox="1"/>
          <p:nvPr/>
        </p:nvSpPr>
        <p:spPr>
          <a:xfrm>
            <a:off x="594360" y="1042416"/>
            <a:ext cx="10789920" cy="274320"/>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① Block delimiters — how does the language mark a group of statements?</a:t>
            </a:r>
            <a:endParaRPr lang="en-US" sz="1300" dirty="0"/>
          </a:p>
        </p:txBody>
      </p:sp>
      <p:sp>
        <p:nvSpPr>
          <p:cNvPr id="7" name="Shape 5"/>
          <p:cNvSpPr/>
          <p:nvPr/>
        </p:nvSpPr>
        <p:spPr>
          <a:xfrm>
            <a:off x="594360" y="1389888"/>
            <a:ext cx="685800" cy="256032"/>
          </a:xfrm>
          <a:prstGeom prst="roundRect">
            <a:avLst>
              <a:gd name="adj" fmla="val 28571"/>
            </a:avLst>
          </a:prstGeom>
          <a:solidFill>
            <a:srgbClr val="E8F0FE"/>
          </a:solidFill>
          <a:ln w="12700">
            <a:solidFill>
              <a:srgbClr val="E8F0FE"/>
            </a:solidFill>
            <a:prstDash val="solid"/>
          </a:ln>
        </p:spPr>
        <p:txBody>
          <a:bodyPr/>
          <a:lstStyle/>
          <a:p>
            <a:endParaRPr lang="en-US"/>
          </a:p>
        </p:txBody>
      </p:sp>
      <p:sp>
        <p:nvSpPr>
          <p:cNvPr id="8" name="Text 6"/>
          <p:cNvSpPr txBox="1"/>
          <p:nvPr/>
        </p:nvSpPr>
        <p:spPr>
          <a:xfrm>
            <a:off x="630936" y="1417320"/>
            <a:ext cx="612648" cy="201168"/>
          </a:xfrm>
          <a:prstGeom prst="rect">
            <a:avLst/>
          </a:prstGeom>
          <a:noFill/>
          <a:ln/>
        </p:spPr>
        <p:txBody>
          <a:bodyPr wrap="square" lIns="0" tIns="0" rIns="0" bIns="0" rtlCol="0" anchor="ctr"/>
          <a:lstStyle/>
          <a:p>
            <a:pPr marL="0" indent="0" algn="ctr">
              <a:buNone/>
            </a:pPr>
            <a:r>
              <a:rPr lang="en-US" sz="1000" b="1" dirty="0">
                <a:solidFill>
                  <a:srgbClr val="2E5BFF"/>
                </a:solidFill>
                <a:latin typeface="Courier New" pitchFamily="34" charset="0"/>
                <a:ea typeface="Courier New" pitchFamily="34" charset="-122"/>
                <a:cs typeface="Courier New" pitchFamily="34" charset="-120"/>
              </a:rPr>
              <a:t>C / C#</a:t>
            </a:r>
            <a:endParaRPr lang="en-US" sz="1000" dirty="0"/>
          </a:p>
        </p:txBody>
      </p:sp>
      <p:sp>
        <p:nvSpPr>
          <p:cNvPr id="9" name="Shape 7"/>
          <p:cNvSpPr/>
          <p:nvPr/>
        </p:nvSpPr>
        <p:spPr>
          <a:xfrm>
            <a:off x="1417320" y="1371600"/>
            <a:ext cx="4114800" cy="685800"/>
          </a:xfrm>
          <a:prstGeom prst="rect">
            <a:avLst/>
          </a:prstGeom>
          <a:solidFill>
            <a:srgbClr val="EEF1FA"/>
          </a:solidFill>
          <a:ln w="12700">
            <a:solidFill>
              <a:srgbClr val="D0DAF0"/>
            </a:solidFill>
            <a:prstDash val="solid"/>
          </a:ln>
        </p:spPr>
        <p:txBody>
          <a:bodyPr/>
          <a:lstStyle/>
          <a:p>
            <a:endParaRPr lang="en-US"/>
          </a:p>
        </p:txBody>
      </p:sp>
      <p:sp>
        <p:nvSpPr>
          <p:cNvPr id="10" name="Text 8"/>
          <p:cNvSpPr txBox="1"/>
          <p:nvPr/>
        </p:nvSpPr>
        <p:spPr>
          <a:xfrm>
            <a:off x="1545336" y="1463040"/>
            <a:ext cx="3913632" cy="52120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if (x &gt; 0) { doA(); doB();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doC(); // always runs</a:t>
            </a:r>
            <a:endParaRPr lang="en-US" sz="1100" dirty="0"/>
          </a:p>
        </p:txBody>
      </p:sp>
      <p:sp>
        <p:nvSpPr>
          <p:cNvPr id="11" name="Text 9"/>
          <p:cNvSpPr txBox="1"/>
          <p:nvPr/>
        </p:nvSpPr>
        <p:spPr>
          <a:xfrm>
            <a:off x="5669280" y="1417320"/>
            <a:ext cx="5852160" cy="566928"/>
          </a:xfrm>
          <a:prstGeom prst="rect">
            <a:avLst/>
          </a:prstGeom>
          <a:noFill/>
          <a:ln/>
        </p:spPr>
        <p:txBody>
          <a:bodyPr wrap="square" lIns="0" tIns="0" rIns="0" bIns="0" rtlCol="0" anchor="ctr"/>
          <a:lstStyle/>
          <a:p>
            <a:pPr marL="0" indent="0">
              <a:lnSpc>
                <a:spcPct val="135000"/>
              </a:lnSpc>
              <a:buNone/>
            </a:pPr>
            <a:r>
              <a:rPr lang="en-US" sz="1200" dirty="0">
                <a:solidFill>
                  <a:srgbClr val="1E2A3A"/>
                </a:solidFill>
                <a:latin typeface="Calibri" pitchFamily="34" charset="0"/>
                <a:ea typeface="Calibri" pitchFamily="34" charset="-122"/>
                <a:cs typeface="Calibri" pitchFamily="34" charset="-120"/>
              </a:rPr>
              <a:t>{ } tokens mark exact block boundaries regardless of visual indentation.</a:t>
            </a:r>
            <a:endParaRPr lang="en-US" sz="1200" dirty="0"/>
          </a:p>
        </p:txBody>
      </p:sp>
      <p:sp>
        <p:nvSpPr>
          <p:cNvPr id="12" name="Shape 10"/>
          <p:cNvSpPr/>
          <p:nvPr/>
        </p:nvSpPr>
        <p:spPr>
          <a:xfrm>
            <a:off x="5687568" y="1664208"/>
            <a:ext cx="685800" cy="256032"/>
          </a:xfrm>
          <a:prstGeom prst="roundRect">
            <a:avLst>
              <a:gd name="adj" fmla="val 28571"/>
            </a:avLst>
          </a:prstGeom>
          <a:solidFill>
            <a:srgbClr val="FEF3E8"/>
          </a:solidFill>
          <a:ln w="12700">
            <a:solidFill>
              <a:srgbClr val="FEF3E8"/>
            </a:solidFill>
            <a:prstDash val="solid"/>
          </a:ln>
        </p:spPr>
        <p:txBody>
          <a:bodyPr/>
          <a:lstStyle/>
          <a:p>
            <a:endParaRPr lang="en-US"/>
          </a:p>
        </p:txBody>
      </p:sp>
      <p:sp>
        <p:nvSpPr>
          <p:cNvPr id="13" name="Text 11"/>
          <p:cNvSpPr txBox="1"/>
          <p:nvPr/>
        </p:nvSpPr>
        <p:spPr>
          <a:xfrm>
            <a:off x="5724144" y="1691640"/>
            <a:ext cx="612648" cy="201168"/>
          </a:xfrm>
          <a:prstGeom prst="rect">
            <a:avLst/>
          </a:prstGeom>
          <a:noFill/>
          <a:ln/>
        </p:spPr>
        <p:txBody>
          <a:bodyPr wrap="square" lIns="0" tIns="0" rIns="0" bIns="0" rtlCol="0" anchor="ctr"/>
          <a:lstStyle/>
          <a:p>
            <a:pPr marL="0" indent="0" algn="ctr">
              <a:buNone/>
            </a:pPr>
            <a:r>
              <a:rPr lang="en-US" sz="1000" b="1" dirty="0">
                <a:solidFill>
                  <a:srgbClr val="C05E00"/>
                </a:solidFill>
                <a:latin typeface="Courier New" pitchFamily="34" charset="0"/>
                <a:ea typeface="Courier New" pitchFamily="34" charset="-122"/>
                <a:cs typeface="Courier New" pitchFamily="34" charset="-120"/>
              </a:rPr>
              <a:t>Python</a:t>
            </a:r>
            <a:endParaRPr lang="en-US" sz="1000" dirty="0"/>
          </a:p>
        </p:txBody>
      </p:sp>
      <p:sp>
        <p:nvSpPr>
          <p:cNvPr id="14" name="Shape 12"/>
          <p:cNvSpPr/>
          <p:nvPr/>
        </p:nvSpPr>
        <p:spPr>
          <a:xfrm>
            <a:off x="411480" y="2798064"/>
            <a:ext cx="11338560" cy="1572768"/>
          </a:xfrm>
          <a:prstGeom prst="rect">
            <a:avLst/>
          </a:prstGeom>
          <a:solidFill>
            <a:srgbClr val="FFFFFF"/>
          </a:solidFill>
          <a:ln w="12700">
            <a:solidFill>
              <a:srgbClr val="D0DAF0"/>
            </a:solidFill>
            <a:prstDash val="solid"/>
          </a:ln>
        </p:spPr>
        <p:txBody>
          <a:bodyPr/>
          <a:lstStyle/>
          <a:p>
            <a:endParaRPr lang="en-US"/>
          </a:p>
        </p:txBody>
      </p:sp>
      <p:sp>
        <p:nvSpPr>
          <p:cNvPr id="15" name="Text 13"/>
          <p:cNvSpPr txBox="1"/>
          <p:nvPr/>
        </p:nvSpPr>
        <p:spPr>
          <a:xfrm>
            <a:off x="594360" y="2871216"/>
            <a:ext cx="10789920" cy="274320"/>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② Statement terminators — how does the language know a statement is complete?</a:t>
            </a:r>
            <a:endParaRPr lang="en-US" sz="1300" dirty="0"/>
          </a:p>
        </p:txBody>
      </p:sp>
      <p:sp>
        <p:nvSpPr>
          <p:cNvPr id="16" name="Shape 14"/>
          <p:cNvSpPr/>
          <p:nvPr/>
        </p:nvSpPr>
        <p:spPr>
          <a:xfrm>
            <a:off x="594360" y="3200400"/>
            <a:ext cx="685800" cy="256032"/>
          </a:xfrm>
          <a:prstGeom prst="roundRect">
            <a:avLst>
              <a:gd name="adj" fmla="val 28571"/>
            </a:avLst>
          </a:prstGeom>
          <a:solidFill>
            <a:srgbClr val="E8F0FE"/>
          </a:solidFill>
          <a:ln w="12700">
            <a:solidFill>
              <a:srgbClr val="E8F0FE"/>
            </a:solidFill>
            <a:prstDash val="solid"/>
          </a:ln>
        </p:spPr>
        <p:txBody>
          <a:bodyPr/>
          <a:lstStyle/>
          <a:p>
            <a:endParaRPr lang="en-US"/>
          </a:p>
        </p:txBody>
      </p:sp>
      <p:sp>
        <p:nvSpPr>
          <p:cNvPr id="17" name="Text 15"/>
          <p:cNvSpPr txBox="1"/>
          <p:nvPr/>
        </p:nvSpPr>
        <p:spPr>
          <a:xfrm>
            <a:off x="630936" y="3227832"/>
            <a:ext cx="612648" cy="201168"/>
          </a:xfrm>
          <a:prstGeom prst="rect">
            <a:avLst/>
          </a:prstGeom>
          <a:noFill/>
          <a:ln/>
        </p:spPr>
        <p:txBody>
          <a:bodyPr wrap="square" lIns="0" tIns="0" rIns="0" bIns="0" rtlCol="0" anchor="ctr"/>
          <a:lstStyle/>
          <a:p>
            <a:pPr marL="0" indent="0" algn="ctr">
              <a:buNone/>
            </a:pPr>
            <a:r>
              <a:rPr lang="en-US" sz="1000" b="1" dirty="0">
                <a:solidFill>
                  <a:srgbClr val="2E5BFF"/>
                </a:solidFill>
                <a:latin typeface="Courier New" pitchFamily="34" charset="0"/>
                <a:ea typeface="Courier New" pitchFamily="34" charset="-122"/>
                <a:cs typeface="Courier New" pitchFamily="34" charset="-120"/>
              </a:rPr>
              <a:t>C / C#</a:t>
            </a:r>
            <a:endParaRPr lang="en-US" sz="1000" dirty="0"/>
          </a:p>
        </p:txBody>
      </p:sp>
      <p:sp>
        <p:nvSpPr>
          <p:cNvPr id="18" name="Shape 16"/>
          <p:cNvSpPr/>
          <p:nvPr/>
        </p:nvSpPr>
        <p:spPr>
          <a:xfrm>
            <a:off x="1417320" y="3163824"/>
            <a:ext cx="4114800" cy="566928"/>
          </a:xfrm>
          <a:prstGeom prst="rect">
            <a:avLst/>
          </a:prstGeom>
          <a:solidFill>
            <a:srgbClr val="EEF1FA"/>
          </a:solidFill>
          <a:ln w="12700">
            <a:solidFill>
              <a:srgbClr val="D0DAF0"/>
            </a:solidFill>
            <a:prstDash val="solid"/>
          </a:ln>
        </p:spPr>
        <p:txBody>
          <a:bodyPr/>
          <a:lstStyle/>
          <a:p>
            <a:endParaRPr lang="en-US"/>
          </a:p>
        </p:txBody>
      </p:sp>
      <p:sp>
        <p:nvSpPr>
          <p:cNvPr id="19" name="Text 17"/>
          <p:cNvSpPr txBox="1"/>
          <p:nvPr/>
        </p:nvSpPr>
        <p:spPr>
          <a:xfrm>
            <a:off x="1545336" y="3255264"/>
            <a:ext cx="3913632" cy="402336"/>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x = 5;   y = x + 10;</a:t>
            </a:r>
            <a:endParaRPr lang="en-US" sz="1100" dirty="0"/>
          </a:p>
        </p:txBody>
      </p:sp>
      <p:sp>
        <p:nvSpPr>
          <p:cNvPr id="20" name="Text 18"/>
          <p:cNvSpPr txBox="1"/>
          <p:nvPr/>
        </p:nvSpPr>
        <p:spPr>
          <a:xfrm>
            <a:off x="5669280" y="3200400"/>
            <a:ext cx="5852160" cy="502920"/>
          </a:xfrm>
          <a:prstGeom prst="rect">
            <a:avLst/>
          </a:prstGeom>
          <a:noFill/>
          <a:ln/>
        </p:spPr>
        <p:txBody>
          <a:bodyPr wrap="square" lIns="0" tIns="0" rIns="0" bIns="0" rtlCol="0" anchor="ctr"/>
          <a:lstStyle/>
          <a:p>
            <a:pPr marL="0" indent="0">
              <a:lnSpc>
                <a:spcPct val="135000"/>
              </a:lnSpc>
              <a:buNone/>
            </a:pPr>
            <a:r>
              <a:rPr lang="en-US" sz="1200" dirty="0">
                <a:solidFill>
                  <a:srgbClr val="1E2A3A"/>
                </a:solidFill>
                <a:latin typeface="Calibri" pitchFamily="34" charset="0"/>
                <a:ea typeface="Calibri" pitchFamily="34" charset="-122"/>
                <a:cs typeface="Calibri" pitchFamily="34" charset="-120"/>
              </a:rPr>
              <a:t>Semicolons — explicit and unambiguous. Statements can even span multiple lines.</a:t>
            </a:r>
            <a:endParaRPr lang="en-US" sz="1200" dirty="0"/>
          </a:p>
        </p:txBody>
      </p:sp>
      <p:sp>
        <p:nvSpPr>
          <p:cNvPr id="21" name="Shape 19"/>
          <p:cNvSpPr/>
          <p:nvPr/>
        </p:nvSpPr>
        <p:spPr>
          <a:xfrm>
            <a:off x="594360" y="3767328"/>
            <a:ext cx="685800" cy="256032"/>
          </a:xfrm>
          <a:prstGeom prst="roundRect">
            <a:avLst>
              <a:gd name="adj" fmla="val 28571"/>
            </a:avLst>
          </a:prstGeom>
          <a:solidFill>
            <a:srgbClr val="FEF3E8"/>
          </a:solidFill>
          <a:ln w="12700">
            <a:solidFill>
              <a:srgbClr val="FEF3E8"/>
            </a:solidFill>
            <a:prstDash val="solid"/>
          </a:ln>
        </p:spPr>
        <p:txBody>
          <a:bodyPr/>
          <a:lstStyle/>
          <a:p>
            <a:endParaRPr lang="en-US"/>
          </a:p>
        </p:txBody>
      </p:sp>
      <p:sp>
        <p:nvSpPr>
          <p:cNvPr id="22" name="Text 20"/>
          <p:cNvSpPr txBox="1"/>
          <p:nvPr/>
        </p:nvSpPr>
        <p:spPr>
          <a:xfrm>
            <a:off x="630936" y="3794760"/>
            <a:ext cx="612648" cy="201168"/>
          </a:xfrm>
          <a:prstGeom prst="rect">
            <a:avLst/>
          </a:prstGeom>
          <a:noFill/>
          <a:ln/>
        </p:spPr>
        <p:txBody>
          <a:bodyPr wrap="square" lIns="0" tIns="0" rIns="0" bIns="0" rtlCol="0" anchor="ctr"/>
          <a:lstStyle/>
          <a:p>
            <a:pPr marL="0" indent="0" algn="ctr">
              <a:buNone/>
            </a:pPr>
            <a:r>
              <a:rPr lang="en-US" sz="1000" b="1" dirty="0">
                <a:solidFill>
                  <a:srgbClr val="C05E00"/>
                </a:solidFill>
                <a:latin typeface="Courier New" pitchFamily="34" charset="0"/>
                <a:ea typeface="Courier New" pitchFamily="34" charset="-122"/>
                <a:cs typeface="Courier New" pitchFamily="34" charset="-120"/>
              </a:rPr>
              <a:t>Python</a:t>
            </a:r>
            <a:endParaRPr lang="en-US" sz="1000" dirty="0"/>
          </a:p>
        </p:txBody>
      </p:sp>
      <p:sp>
        <p:nvSpPr>
          <p:cNvPr id="23" name="Shape 21"/>
          <p:cNvSpPr/>
          <p:nvPr/>
        </p:nvSpPr>
        <p:spPr>
          <a:xfrm>
            <a:off x="1417320" y="3730752"/>
            <a:ext cx="4114800" cy="566928"/>
          </a:xfrm>
          <a:prstGeom prst="rect">
            <a:avLst/>
          </a:prstGeom>
          <a:solidFill>
            <a:srgbClr val="EEF1FA"/>
          </a:solidFill>
          <a:ln w="12700">
            <a:solidFill>
              <a:srgbClr val="D0DAF0"/>
            </a:solidFill>
            <a:prstDash val="solid"/>
          </a:ln>
        </p:spPr>
        <p:txBody>
          <a:bodyPr/>
          <a:lstStyle/>
          <a:p>
            <a:endParaRPr lang="en-US"/>
          </a:p>
        </p:txBody>
      </p:sp>
      <p:sp>
        <p:nvSpPr>
          <p:cNvPr id="24" name="Text 22"/>
          <p:cNvSpPr txBox="1"/>
          <p:nvPr/>
        </p:nvSpPr>
        <p:spPr>
          <a:xfrm>
            <a:off x="1545336" y="3822192"/>
            <a:ext cx="3913632" cy="402336"/>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x = 5</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y = x + 10</a:t>
            </a:r>
            <a:endParaRPr lang="en-US" sz="1100" dirty="0"/>
          </a:p>
        </p:txBody>
      </p:sp>
      <p:sp>
        <p:nvSpPr>
          <p:cNvPr id="25" name="Text 23"/>
          <p:cNvSpPr txBox="1"/>
          <p:nvPr/>
        </p:nvSpPr>
        <p:spPr>
          <a:xfrm>
            <a:off x="5669280" y="3767328"/>
            <a:ext cx="5852160" cy="411480"/>
          </a:xfrm>
          <a:prstGeom prst="rect">
            <a:avLst/>
          </a:prstGeom>
          <a:noFill/>
          <a:ln/>
        </p:spPr>
        <p:txBody>
          <a:bodyPr wrap="square" lIns="0" tIns="0" rIns="0" bIns="0" rtlCol="0" anchor="ctr"/>
          <a:lstStyle/>
          <a:p>
            <a:pPr marL="0" indent="0">
              <a:lnSpc>
                <a:spcPct val="135000"/>
              </a:lnSpc>
              <a:buNone/>
            </a:pPr>
            <a:r>
              <a:rPr lang="en-US" sz="1200" dirty="0">
                <a:solidFill>
                  <a:srgbClr val="1E2A3A"/>
                </a:solidFill>
                <a:latin typeface="Calibri" pitchFamily="34" charset="0"/>
                <a:ea typeface="Calibri" pitchFamily="34" charset="-122"/>
                <a:cs typeface="Calibri" pitchFamily="34" charset="-120"/>
              </a:rPr>
              <a:t>Newlines — the end of a line ends the statement.</a:t>
            </a:r>
            <a:endParaRPr lang="en-US" sz="1200" dirty="0"/>
          </a:p>
        </p:txBody>
      </p:sp>
      <p:sp>
        <p:nvSpPr>
          <p:cNvPr id="26" name="Shape 24"/>
          <p:cNvSpPr/>
          <p:nvPr/>
        </p:nvSpPr>
        <p:spPr>
          <a:xfrm>
            <a:off x="411480" y="4480560"/>
            <a:ext cx="11338560" cy="1298448"/>
          </a:xfrm>
          <a:prstGeom prst="rect">
            <a:avLst/>
          </a:prstGeom>
          <a:solidFill>
            <a:srgbClr val="FFFFFF"/>
          </a:solidFill>
          <a:ln w="12700">
            <a:solidFill>
              <a:srgbClr val="D0DAF0"/>
            </a:solidFill>
            <a:prstDash val="solid"/>
          </a:ln>
        </p:spPr>
        <p:txBody>
          <a:bodyPr/>
          <a:lstStyle/>
          <a:p>
            <a:endParaRPr lang="en-US"/>
          </a:p>
        </p:txBody>
      </p:sp>
      <p:sp>
        <p:nvSpPr>
          <p:cNvPr id="27" name="Text 25"/>
          <p:cNvSpPr txBox="1"/>
          <p:nvPr/>
        </p:nvSpPr>
        <p:spPr>
          <a:xfrm>
            <a:off x="594360" y="4553712"/>
            <a:ext cx="10789920" cy="274320"/>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③ Type declarations — must the programmer state the type of each variable?</a:t>
            </a:r>
            <a:endParaRPr lang="en-US" sz="1300" dirty="0"/>
          </a:p>
        </p:txBody>
      </p:sp>
      <p:sp>
        <p:nvSpPr>
          <p:cNvPr id="28" name="Shape 26"/>
          <p:cNvSpPr/>
          <p:nvPr/>
        </p:nvSpPr>
        <p:spPr>
          <a:xfrm>
            <a:off x="594360" y="4919472"/>
            <a:ext cx="685800" cy="256032"/>
          </a:xfrm>
          <a:prstGeom prst="roundRect">
            <a:avLst>
              <a:gd name="adj" fmla="val 28571"/>
            </a:avLst>
          </a:prstGeom>
          <a:solidFill>
            <a:srgbClr val="E8F0FE"/>
          </a:solidFill>
          <a:ln w="12700">
            <a:solidFill>
              <a:srgbClr val="E8F0FE"/>
            </a:solidFill>
            <a:prstDash val="solid"/>
          </a:ln>
        </p:spPr>
        <p:txBody>
          <a:bodyPr/>
          <a:lstStyle/>
          <a:p>
            <a:endParaRPr lang="en-US"/>
          </a:p>
        </p:txBody>
      </p:sp>
      <p:sp>
        <p:nvSpPr>
          <p:cNvPr id="29" name="Text 27"/>
          <p:cNvSpPr txBox="1"/>
          <p:nvPr/>
        </p:nvSpPr>
        <p:spPr>
          <a:xfrm>
            <a:off x="630936" y="4946904"/>
            <a:ext cx="612648" cy="201168"/>
          </a:xfrm>
          <a:prstGeom prst="rect">
            <a:avLst/>
          </a:prstGeom>
          <a:noFill/>
          <a:ln/>
        </p:spPr>
        <p:txBody>
          <a:bodyPr wrap="square" lIns="0" tIns="0" rIns="0" bIns="0" rtlCol="0" anchor="ctr"/>
          <a:lstStyle/>
          <a:p>
            <a:pPr marL="0" indent="0" algn="ctr">
              <a:buNone/>
            </a:pPr>
            <a:r>
              <a:rPr lang="en-US" sz="1000" b="1" dirty="0">
                <a:solidFill>
                  <a:srgbClr val="2E5BFF"/>
                </a:solidFill>
                <a:latin typeface="Courier New" pitchFamily="34" charset="0"/>
                <a:ea typeface="Courier New" pitchFamily="34" charset="-122"/>
                <a:cs typeface="Courier New" pitchFamily="34" charset="-120"/>
              </a:rPr>
              <a:t>C</a:t>
            </a:r>
            <a:endParaRPr lang="en-US" sz="1000" dirty="0"/>
          </a:p>
        </p:txBody>
      </p:sp>
      <p:sp>
        <p:nvSpPr>
          <p:cNvPr id="30" name="Shape 28"/>
          <p:cNvSpPr/>
          <p:nvPr/>
        </p:nvSpPr>
        <p:spPr>
          <a:xfrm>
            <a:off x="1417320" y="4882896"/>
            <a:ext cx="2377440" cy="457200"/>
          </a:xfrm>
          <a:prstGeom prst="rect">
            <a:avLst/>
          </a:prstGeom>
          <a:solidFill>
            <a:srgbClr val="EEF1FA"/>
          </a:solidFill>
          <a:ln w="12700">
            <a:solidFill>
              <a:srgbClr val="D0DAF0"/>
            </a:solidFill>
            <a:prstDash val="solid"/>
          </a:ln>
        </p:spPr>
        <p:txBody>
          <a:bodyPr/>
          <a:lstStyle/>
          <a:p>
            <a:endParaRPr lang="en-US"/>
          </a:p>
        </p:txBody>
      </p:sp>
      <p:sp>
        <p:nvSpPr>
          <p:cNvPr id="31" name="Text 29"/>
          <p:cNvSpPr txBox="1"/>
          <p:nvPr/>
        </p:nvSpPr>
        <p:spPr>
          <a:xfrm>
            <a:off x="1545336" y="4974336"/>
            <a:ext cx="2176272" cy="29260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int score = 95;</a:t>
            </a:r>
            <a:endParaRPr lang="en-US" sz="1100" dirty="0"/>
          </a:p>
        </p:txBody>
      </p:sp>
      <p:sp>
        <p:nvSpPr>
          <p:cNvPr id="32" name="Shape 30"/>
          <p:cNvSpPr/>
          <p:nvPr/>
        </p:nvSpPr>
        <p:spPr>
          <a:xfrm>
            <a:off x="3977640" y="4919472"/>
            <a:ext cx="685800" cy="256032"/>
          </a:xfrm>
          <a:prstGeom prst="roundRect">
            <a:avLst>
              <a:gd name="adj" fmla="val 28571"/>
            </a:avLst>
          </a:prstGeom>
          <a:solidFill>
            <a:srgbClr val="F3E8FE"/>
          </a:solidFill>
          <a:ln w="12700">
            <a:solidFill>
              <a:srgbClr val="F3E8FE"/>
            </a:solidFill>
            <a:prstDash val="solid"/>
          </a:ln>
        </p:spPr>
        <p:txBody>
          <a:bodyPr/>
          <a:lstStyle/>
          <a:p>
            <a:endParaRPr lang="en-US"/>
          </a:p>
        </p:txBody>
      </p:sp>
      <p:sp>
        <p:nvSpPr>
          <p:cNvPr id="33" name="Text 31"/>
          <p:cNvSpPr txBox="1"/>
          <p:nvPr/>
        </p:nvSpPr>
        <p:spPr>
          <a:xfrm>
            <a:off x="4014216" y="4946904"/>
            <a:ext cx="612648" cy="201168"/>
          </a:xfrm>
          <a:prstGeom prst="rect">
            <a:avLst/>
          </a:prstGeom>
          <a:noFill/>
          <a:ln/>
        </p:spPr>
        <p:txBody>
          <a:bodyPr wrap="square" lIns="0" tIns="0" rIns="0" bIns="0" rtlCol="0" anchor="ctr"/>
          <a:lstStyle/>
          <a:p>
            <a:pPr marL="0" indent="0" algn="ctr">
              <a:buNone/>
            </a:pPr>
            <a:r>
              <a:rPr lang="en-US" sz="1000" b="1" dirty="0">
                <a:solidFill>
                  <a:srgbClr val="7B2FBE"/>
                </a:solidFill>
                <a:latin typeface="Courier New" pitchFamily="34" charset="0"/>
                <a:ea typeface="Courier New" pitchFamily="34" charset="-122"/>
                <a:cs typeface="Courier New" pitchFamily="34" charset="-120"/>
              </a:rPr>
              <a:t>C#</a:t>
            </a:r>
            <a:endParaRPr lang="en-US" sz="1000" dirty="0"/>
          </a:p>
        </p:txBody>
      </p:sp>
      <p:sp>
        <p:nvSpPr>
          <p:cNvPr id="34" name="Shape 32"/>
          <p:cNvSpPr/>
          <p:nvPr/>
        </p:nvSpPr>
        <p:spPr>
          <a:xfrm>
            <a:off x="4754880" y="4882896"/>
            <a:ext cx="2377440" cy="457200"/>
          </a:xfrm>
          <a:prstGeom prst="rect">
            <a:avLst/>
          </a:prstGeom>
          <a:solidFill>
            <a:srgbClr val="EEF1FA"/>
          </a:solidFill>
          <a:ln w="12700">
            <a:solidFill>
              <a:srgbClr val="D0DAF0"/>
            </a:solidFill>
            <a:prstDash val="solid"/>
          </a:ln>
        </p:spPr>
        <p:txBody>
          <a:bodyPr/>
          <a:lstStyle/>
          <a:p>
            <a:endParaRPr lang="en-US"/>
          </a:p>
        </p:txBody>
      </p:sp>
      <p:sp>
        <p:nvSpPr>
          <p:cNvPr id="35" name="Text 33"/>
          <p:cNvSpPr txBox="1"/>
          <p:nvPr/>
        </p:nvSpPr>
        <p:spPr>
          <a:xfrm>
            <a:off x="4882896" y="4974336"/>
            <a:ext cx="2176272" cy="29260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var score = 95;</a:t>
            </a:r>
            <a:endParaRPr lang="en-US" sz="1100" dirty="0"/>
          </a:p>
        </p:txBody>
      </p:sp>
      <p:sp>
        <p:nvSpPr>
          <p:cNvPr id="36" name="Shape 34"/>
          <p:cNvSpPr/>
          <p:nvPr/>
        </p:nvSpPr>
        <p:spPr>
          <a:xfrm>
            <a:off x="7296912" y="4919472"/>
            <a:ext cx="685800" cy="256032"/>
          </a:xfrm>
          <a:prstGeom prst="roundRect">
            <a:avLst>
              <a:gd name="adj" fmla="val 28571"/>
            </a:avLst>
          </a:prstGeom>
          <a:solidFill>
            <a:srgbClr val="FEF3E8"/>
          </a:solidFill>
          <a:ln w="12700">
            <a:solidFill>
              <a:srgbClr val="FEF3E8"/>
            </a:solidFill>
            <a:prstDash val="solid"/>
          </a:ln>
        </p:spPr>
        <p:txBody>
          <a:bodyPr/>
          <a:lstStyle/>
          <a:p>
            <a:endParaRPr lang="en-US"/>
          </a:p>
        </p:txBody>
      </p:sp>
      <p:sp>
        <p:nvSpPr>
          <p:cNvPr id="37" name="Text 35"/>
          <p:cNvSpPr txBox="1"/>
          <p:nvPr/>
        </p:nvSpPr>
        <p:spPr>
          <a:xfrm>
            <a:off x="7333488" y="4946904"/>
            <a:ext cx="612648" cy="201168"/>
          </a:xfrm>
          <a:prstGeom prst="rect">
            <a:avLst/>
          </a:prstGeom>
          <a:noFill/>
          <a:ln/>
        </p:spPr>
        <p:txBody>
          <a:bodyPr wrap="square" lIns="0" tIns="0" rIns="0" bIns="0" rtlCol="0" anchor="ctr"/>
          <a:lstStyle/>
          <a:p>
            <a:pPr marL="0" indent="0" algn="ctr">
              <a:buNone/>
            </a:pPr>
            <a:r>
              <a:rPr lang="en-US" sz="1000" b="1" dirty="0">
                <a:solidFill>
                  <a:srgbClr val="C05E00"/>
                </a:solidFill>
                <a:latin typeface="Courier New" pitchFamily="34" charset="0"/>
                <a:ea typeface="Courier New" pitchFamily="34" charset="-122"/>
                <a:cs typeface="Courier New" pitchFamily="34" charset="-120"/>
              </a:rPr>
              <a:t>Python</a:t>
            </a:r>
            <a:endParaRPr lang="en-US" sz="1000" dirty="0"/>
          </a:p>
        </p:txBody>
      </p:sp>
      <p:sp>
        <p:nvSpPr>
          <p:cNvPr id="38" name="Shape 36"/>
          <p:cNvSpPr/>
          <p:nvPr/>
        </p:nvSpPr>
        <p:spPr>
          <a:xfrm>
            <a:off x="8229600" y="4882896"/>
            <a:ext cx="2377440" cy="457200"/>
          </a:xfrm>
          <a:prstGeom prst="rect">
            <a:avLst/>
          </a:prstGeom>
          <a:solidFill>
            <a:srgbClr val="EEF1FA"/>
          </a:solidFill>
          <a:ln w="12700">
            <a:solidFill>
              <a:srgbClr val="D0DAF0"/>
            </a:solidFill>
            <a:prstDash val="solid"/>
          </a:ln>
        </p:spPr>
        <p:txBody>
          <a:bodyPr/>
          <a:lstStyle/>
          <a:p>
            <a:endParaRPr lang="en-US"/>
          </a:p>
        </p:txBody>
      </p:sp>
      <p:sp>
        <p:nvSpPr>
          <p:cNvPr id="39" name="Text 37"/>
          <p:cNvSpPr txBox="1"/>
          <p:nvPr/>
        </p:nvSpPr>
        <p:spPr>
          <a:xfrm>
            <a:off x="8357616" y="4974336"/>
            <a:ext cx="2176272" cy="29260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score = 95</a:t>
            </a:r>
            <a:endParaRPr lang="en-US" sz="1100" dirty="0"/>
          </a:p>
        </p:txBody>
      </p:sp>
      <p:sp>
        <p:nvSpPr>
          <p:cNvPr id="40" name="Text 38"/>
          <p:cNvSpPr txBox="1"/>
          <p:nvPr/>
        </p:nvSpPr>
        <p:spPr>
          <a:xfrm>
            <a:off x="594360" y="5394960"/>
            <a:ext cx="10972800" cy="274320"/>
          </a:xfrm>
          <a:prstGeom prst="rect">
            <a:avLst/>
          </a:prstGeom>
          <a:noFill/>
          <a:ln/>
        </p:spPr>
        <p:txBody>
          <a:bodyPr wrap="square" lIns="0" tIns="0" rIns="0" bIns="0" rtlCol="0" anchor="ctr"/>
          <a:lstStyle/>
          <a:p>
            <a:pPr marL="0" indent="0">
              <a:buNone/>
            </a:pPr>
            <a:r>
              <a:rPr lang="en-US" sz="1100" dirty="0">
                <a:solidFill>
                  <a:srgbClr val="5A6A82"/>
                </a:solidFill>
                <a:latin typeface="Calibri" pitchFamily="34" charset="0"/>
                <a:ea typeface="Calibri" pitchFamily="34" charset="-122"/>
                <a:cs typeface="Calibri" pitchFamily="34" charset="-120"/>
              </a:rPr>
              <a:t>Always explicit     Explicit or inferred     Never declared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A2B5E"/>
          </a:solidFill>
          <a:ln/>
        </p:spPr>
        <p:txBody>
          <a:bodyPr/>
          <a:lstStyle/>
          <a:p>
            <a:endParaRPr lang="en-US"/>
          </a:p>
        </p:txBody>
      </p:sp>
      <p:sp>
        <p:nvSpPr>
          <p:cNvPr id="3" name="Shape 1"/>
          <p:cNvSpPr/>
          <p:nvPr/>
        </p:nvSpPr>
        <p:spPr>
          <a:xfrm>
            <a:off x="3840480" y="0"/>
            <a:ext cx="8321040" cy="6858000"/>
          </a:xfrm>
          <a:prstGeom prst="rect">
            <a:avLst/>
          </a:prstGeom>
          <a:solidFill>
            <a:srgbClr val="F4F6FC"/>
          </a:solidFill>
          <a:ln/>
        </p:spPr>
        <p:txBody>
          <a:bodyPr/>
          <a:lstStyle/>
          <a:p>
            <a:endParaRPr lang="en-US"/>
          </a:p>
        </p:txBody>
      </p:sp>
      <p:sp>
        <p:nvSpPr>
          <p:cNvPr id="4" name="Text 2"/>
          <p:cNvSpPr txBox="1"/>
          <p:nvPr/>
        </p:nvSpPr>
        <p:spPr>
          <a:xfrm>
            <a:off x="274320" y="2560320"/>
            <a:ext cx="3291840" cy="274320"/>
          </a:xfrm>
          <a:prstGeom prst="rect">
            <a:avLst/>
          </a:prstGeom>
          <a:noFill/>
          <a:ln/>
        </p:spPr>
        <p:txBody>
          <a:bodyPr wrap="square" lIns="0" tIns="0" rIns="0" bIns="0" rtlCol="0" anchor="ctr"/>
          <a:lstStyle/>
          <a:p>
            <a:pPr marL="0" indent="0">
              <a:buNone/>
            </a:pPr>
            <a:r>
              <a:rPr lang="en-US" sz="1100" dirty="0">
                <a:solidFill>
                  <a:srgbClr val="7A90B8"/>
                </a:solidFill>
                <a:latin typeface="Calibri" pitchFamily="34" charset="0"/>
                <a:ea typeface="Calibri" pitchFamily="34" charset="-122"/>
                <a:cs typeface="Calibri" pitchFamily="34" charset="-120"/>
              </a:rPr>
              <a:t>Section 3</a:t>
            </a:r>
            <a:endParaRPr lang="en-US" sz="1100" dirty="0"/>
          </a:p>
        </p:txBody>
      </p:sp>
      <p:sp>
        <p:nvSpPr>
          <p:cNvPr id="5" name="Text 3"/>
          <p:cNvSpPr txBox="1"/>
          <p:nvPr/>
        </p:nvSpPr>
        <p:spPr>
          <a:xfrm>
            <a:off x="274320" y="2880360"/>
            <a:ext cx="3291840" cy="1645920"/>
          </a:xfrm>
          <a:prstGeom prst="rect">
            <a:avLst/>
          </a:prstGeom>
          <a:noFill/>
          <a:ln/>
        </p:spPr>
        <p:txBody>
          <a:bodyPr wrap="square" lIns="0" tIns="0" rIns="0" bIns="0" rtlCol="0" anchor="ctr"/>
          <a:lstStyle/>
          <a:p>
            <a:pPr marL="0" indent="0">
              <a:lnSpc>
                <a:spcPct val="110000"/>
              </a:lnSpc>
              <a:buNone/>
            </a:pPr>
            <a:r>
              <a:rPr lang="en-US" sz="2000" b="1" dirty="0">
                <a:solidFill>
                  <a:srgbClr val="FFFFFF"/>
                </a:solidFill>
                <a:latin typeface="Calibri" pitchFamily="34" charset="0"/>
                <a:ea typeface="Calibri" pitchFamily="34" charset="-122"/>
                <a:cs typeface="Calibri" pitchFamily="34" charset="-120"/>
              </a:rPr>
              <a:t>Grammar</a:t>
            </a:r>
            <a:endParaRPr lang="en-US" sz="2000" dirty="0"/>
          </a:p>
        </p:txBody>
      </p:sp>
      <p:sp>
        <p:nvSpPr>
          <p:cNvPr id="6" name="Text 4"/>
          <p:cNvSpPr txBox="1"/>
          <p:nvPr/>
        </p:nvSpPr>
        <p:spPr>
          <a:xfrm>
            <a:off x="4206240" y="2651760"/>
            <a:ext cx="7680960" cy="1371600"/>
          </a:xfrm>
          <a:prstGeom prst="rect">
            <a:avLst/>
          </a:prstGeom>
          <a:noFill/>
          <a:ln/>
        </p:spPr>
        <p:txBody>
          <a:bodyPr wrap="square" lIns="0" tIns="0" rIns="0" bIns="0" rtlCol="0" anchor="ctr"/>
          <a:lstStyle/>
          <a:p>
            <a:pPr marL="0" indent="0">
              <a:lnSpc>
                <a:spcPct val="130000"/>
              </a:lnSpc>
              <a:buNone/>
            </a:pPr>
            <a:r>
              <a:rPr lang="en-US" sz="1600" dirty="0">
                <a:solidFill>
                  <a:srgbClr val="1E2A3A"/>
                </a:solidFill>
                <a:latin typeface="Calibri" pitchFamily="34" charset="0"/>
                <a:ea typeface="Calibri" pitchFamily="34" charset="-122"/>
                <a:cs typeface="Calibri" pitchFamily="34" charset="-120"/>
              </a:rPr>
              <a:t>How does a language make its rules precise enough for a compiler to enforce them?</a:t>
            </a:r>
            <a:endParaRPr lang="en-US" sz="1600" dirty="0"/>
          </a:p>
        </p:txBody>
      </p:sp>
      <p:sp>
        <p:nvSpPr>
          <p:cNvPr id="7" name="Text 5"/>
          <p:cNvSpPr txBox="1"/>
          <p:nvPr/>
        </p:nvSpPr>
        <p:spPr>
          <a:xfrm>
            <a:off x="4206240" y="1371600"/>
            <a:ext cx="7680960" cy="320040"/>
          </a:xfrm>
          <a:prstGeom prst="rect">
            <a:avLst/>
          </a:prstGeom>
          <a:noFill/>
          <a:ln/>
        </p:spPr>
        <p:txBody>
          <a:bodyPr wrap="square" lIns="0" tIns="0" rIns="0" bIns="0" rtlCol="0" anchor="ctr"/>
          <a:lstStyle/>
          <a:p>
            <a:pPr marL="0" indent="0">
              <a:buNone/>
            </a:pPr>
            <a:r>
              <a:rPr lang="en-US" sz="1400" b="1" dirty="0">
                <a:solidFill>
                  <a:srgbClr val="1E2A3A"/>
                </a:solidFill>
                <a:latin typeface="Calibri" pitchFamily="34" charset="0"/>
                <a:ea typeface="Calibri" pitchFamily="34" charset="-122"/>
                <a:cs typeface="Calibri" pitchFamily="34" charset="-120"/>
              </a:rPr>
              <a:t>Syntax rules exist. But how does a language make them precise?</a:t>
            </a:r>
            <a:endParaRPr lang="en-US" sz="1400" dirty="0"/>
          </a:p>
        </p:txBody>
      </p:sp>
      <p:sp>
        <p:nvSpPr>
          <p:cNvPr id="8" name="Text 6"/>
          <p:cNvSpPr txBox="1"/>
          <p:nvPr/>
        </p:nvSpPr>
        <p:spPr>
          <a:xfrm>
            <a:off x="4206240" y="1737360"/>
            <a:ext cx="7680960" cy="804672"/>
          </a:xfrm>
          <a:prstGeom prst="rect">
            <a:avLst/>
          </a:prstGeom>
          <a:noFill/>
          <a:ln/>
        </p:spPr>
        <p:txBody>
          <a:bodyPr wrap="square" lIns="0" tIns="0" rIns="0" bIns="0" rtlCol="0" anchor="ctr"/>
          <a:lstStyle/>
          <a:p>
            <a:pPr marL="0" indent="0">
              <a:lnSpc>
                <a:spcPct val="142000"/>
              </a:lnSpc>
              <a:buNone/>
            </a:pPr>
            <a:r>
              <a:rPr lang="en-US" sz="1400" dirty="0">
                <a:solidFill>
                  <a:srgbClr val="1E2A3A"/>
                </a:solidFill>
                <a:latin typeface="Calibri" pitchFamily="34" charset="0"/>
                <a:ea typeface="Calibri" pitchFamily="34" charset="-122"/>
                <a:cs typeface="Calibri" pitchFamily="34" charset="-120"/>
              </a:rPr>
              <a:t>"You need braces after an if." That rule is clear to a human — but it is not precise enough to build a compiler from. A compiler needs rules with zero ambiguity.</a:t>
            </a:r>
            <a:endParaRPr lang="en-US" sz="1400" dirty="0"/>
          </a:p>
        </p:txBody>
      </p:sp>
      <p:sp>
        <p:nvSpPr>
          <p:cNvPr id="9" name="Text 7"/>
          <p:cNvSpPr txBox="1"/>
          <p:nvPr/>
        </p:nvSpPr>
        <p:spPr>
          <a:xfrm>
            <a:off x="4206240" y="2651760"/>
            <a:ext cx="7680960" cy="594360"/>
          </a:xfrm>
          <a:prstGeom prst="rect">
            <a:avLst/>
          </a:prstGeom>
          <a:noFill/>
          <a:ln/>
        </p:spPr>
        <p:txBody>
          <a:bodyPr wrap="square" lIns="0" tIns="0" rIns="0" bIns="0" rtlCol="0" anchor="ctr"/>
          <a:lstStyle/>
          <a:p>
            <a:pPr marL="0" indent="0">
              <a:lnSpc>
                <a:spcPct val="135000"/>
              </a:lnSpc>
              <a:buNone/>
            </a:pPr>
            <a:r>
              <a:rPr lang="en-US" sz="1400" b="1" dirty="0">
                <a:solidFill>
                  <a:srgbClr val="1A2B5E"/>
                </a:solidFill>
                <a:latin typeface="Calibri" pitchFamily="34" charset="0"/>
                <a:ea typeface="Calibri" pitchFamily="34" charset="-122"/>
                <a:cs typeface="Calibri" pitchFamily="34" charset="-120"/>
              </a:rPr>
              <a:t>The answer is a grammar — a formal, written description of every valid structure a language allows.</a:t>
            </a:r>
            <a:endParaRPr lang="en-US" sz="1400" dirty="0"/>
          </a:p>
        </p:txBody>
      </p:sp>
      <p:sp>
        <p:nvSpPr>
          <p:cNvPr id="10" name="Shape 8"/>
          <p:cNvSpPr/>
          <p:nvPr/>
        </p:nvSpPr>
        <p:spPr>
          <a:xfrm>
            <a:off x="4160520" y="3601013"/>
            <a:ext cx="7680960" cy="2197475"/>
          </a:xfrm>
          <a:prstGeom prst="rect">
            <a:avLst/>
          </a:prstGeom>
          <a:solidFill>
            <a:srgbClr val="FFFBEB"/>
          </a:solidFill>
          <a:ln w="12700">
            <a:solidFill>
              <a:srgbClr val="FCD34D"/>
            </a:solidFill>
            <a:prstDash val="solid"/>
          </a:ln>
        </p:spPr>
        <p:txBody>
          <a:bodyPr/>
          <a:lstStyle/>
          <a:p>
            <a:endParaRPr lang="en-US"/>
          </a:p>
        </p:txBody>
      </p:sp>
      <p:sp>
        <p:nvSpPr>
          <p:cNvPr id="11" name="Text 9"/>
          <p:cNvSpPr txBox="1"/>
          <p:nvPr/>
        </p:nvSpPr>
        <p:spPr>
          <a:xfrm>
            <a:off x="4389120" y="3729162"/>
            <a:ext cx="7223760" cy="256032"/>
          </a:xfrm>
          <a:prstGeom prst="rect">
            <a:avLst/>
          </a:prstGeom>
          <a:noFill/>
          <a:ln/>
        </p:spPr>
        <p:txBody>
          <a:bodyPr wrap="square" lIns="0" tIns="0" rIns="0" bIns="0" rtlCol="0" anchor="ctr"/>
          <a:lstStyle/>
          <a:p>
            <a:pPr marL="0" indent="0">
              <a:buNone/>
            </a:pPr>
            <a:r>
              <a:rPr lang="en-US" sz="1200" b="1" dirty="0">
                <a:solidFill>
                  <a:srgbClr val="92400E"/>
                </a:solidFill>
                <a:latin typeface="Calibri" pitchFamily="34" charset="0"/>
                <a:ea typeface="Calibri" pitchFamily="34" charset="-122"/>
                <a:cs typeface="Calibri" pitchFamily="34" charset="-120"/>
              </a:rPr>
              <a:t>💡  Start with plain English</a:t>
            </a:r>
            <a:endParaRPr lang="en-US" sz="1200" dirty="0"/>
          </a:p>
        </p:txBody>
      </p:sp>
      <p:sp>
        <p:nvSpPr>
          <p:cNvPr id="12" name="Text 10"/>
          <p:cNvSpPr txBox="1"/>
          <p:nvPr/>
        </p:nvSpPr>
        <p:spPr>
          <a:xfrm>
            <a:off x="4460947" y="4110527"/>
            <a:ext cx="7151933" cy="1349270"/>
          </a:xfrm>
          <a:prstGeom prst="rect">
            <a:avLst/>
          </a:prstGeom>
          <a:noFill/>
          <a:ln/>
        </p:spPr>
        <p:txBody>
          <a:bodyPr wrap="square" lIns="0" tIns="0" rIns="0" bIns="0" rtlCol="0" anchor="ctr"/>
          <a:lstStyle/>
          <a:p>
            <a:pPr marL="0" indent="0">
              <a:lnSpc>
                <a:spcPct val="140000"/>
              </a:lnSpc>
              <a:buNone/>
            </a:pPr>
            <a:r>
              <a:rPr lang="en-US" sz="1200" dirty="0">
                <a:solidFill>
                  <a:srgbClr val="78350F"/>
                </a:solidFill>
                <a:latin typeface="Calibri" pitchFamily="34" charset="0"/>
                <a:ea typeface="Calibri" pitchFamily="34" charset="-122"/>
                <a:cs typeface="Calibri" pitchFamily="34" charset="-120"/>
              </a:rPr>
              <a:t>"An assignment statement consists of a name, then an equals sign, then a value."</a:t>
            </a:r>
            <a:endParaRPr lang="en-US" sz="1200" dirty="0"/>
          </a:p>
          <a:p>
            <a:pPr marL="0" indent="0">
              <a:lnSpc>
                <a:spcPct val="140000"/>
              </a:lnSpc>
              <a:buNone/>
            </a:pPr>
            <a:endParaRPr lang="en-US" sz="1200" dirty="0"/>
          </a:p>
          <a:p>
            <a:pPr marL="0" indent="0">
              <a:lnSpc>
                <a:spcPct val="140000"/>
              </a:lnSpc>
              <a:buNone/>
            </a:pPr>
            <a:r>
              <a:rPr lang="en-US" sz="1200" dirty="0">
                <a:solidFill>
                  <a:srgbClr val="78350F"/>
                </a:solidFill>
                <a:latin typeface="Calibri" pitchFamily="34" charset="0"/>
                <a:ea typeface="Calibri" pitchFamily="34" charset="-122"/>
                <a:cs typeface="Calibri" pitchFamily="34" charset="-120"/>
              </a:rPr>
              <a:t>You just understood that rule. A grammar is a way of writing that rule precisely — so a compiler can use it without any human judgment.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51560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From Plain English to a Grammar Rule</a:t>
            </a:r>
            <a:endParaRPr lang="en-US" sz="2200" dirty="0"/>
          </a:p>
        </p:txBody>
      </p:sp>
      <p:sp>
        <p:nvSpPr>
          <p:cNvPr id="4" name="Text 2"/>
          <p:cNvSpPr txBox="1"/>
          <p:nvPr/>
        </p:nvSpPr>
        <p:spPr>
          <a:xfrm>
            <a:off x="10515600" y="256032"/>
            <a:ext cx="150876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3 · Grammar</a:t>
            </a:r>
            <a:endParaRPr lang="en-US" sz="900" dirty="0"/>
          </a:p>
        </p:txBody>
      </p:sp>
      <p:sp>
        <p:nvSpPr>
          <p:cNvPr id="5" name="Shape 3"/>
          <p:cNvSpPr/>
          <p:nvPr/>
        </p:nvSpPr>
        <p:spPr>
          <a:xfrm>
            <a:off x="411480" y="960120"/>
            <a:ext cx="11338560" cy="658368"/>
          </a:xfrm>
          <a:prstGeom prst="rect">
            <a:avLst/>
          </a:prstGeom>
          <a:solidFill>
            <a:srgbClr val="FFFBEB"/>
          </a:solidFill>
          <a:ln w="12700">
            <a:solidFill>
              <a:srgbClr val="FCD34D"/>
            </a:solidFill>
            <a:prstDash val="solid"/>
          </a:ln>
        </p:spPr>
        <p:txBody>
          <a:bodyPr/>
          <a:lstStyle/>
          <a:p>
            <a:endParaRPr lang="en-US"/>
          </a:p>
        </p:txBody>
      </p:sp>
      <p:sp>
        <p:nvSpPr>
          <p:cNvPr id="6" name="Text 4"/>
          <p:cNvSpPr txBox="1"/>
          <p:nvPr/>
        </p:nvSpPr>
        <p:spPr>
          <a:xfrm>
            <a:off x="594360" y="1042416"/>
            <a:ext cx="1463040" cy="256032"/>
          </a:xfrm>
          <a:prstGeom prst="rect">
            <a:avLst/>
          </a:prstGeom>
          <a:noFill/>
          <a:ln/>
        </p:spPr>
        <p:txBody>
          <a:bodyPr wrap="square" lIns="0" tIns="0" rIns="0" bIns="0" rtlCol="0" anchor="ctr"/>
          <a:lstStyle/>
          <a:p>
            <a:pPr marL="0" indent="0">
              <a:buNone/>
            </a:pPr>
            <a:r>
              <a:rPr lang="en-US" sz="1200" b="1" dirty="0">
                <a:solidFill>
                  <a:srgbClr val="92400E"/>
                </a:solidFill>
                <a:latin typeface="Calibri" pitchFamily="34" charset="0"/>
                <a:ea typeface="Calibri" pitchFamily="34" charset="-122"/>
                <a:cs typeface="Calibri" pitchFamily="34" charset="-120"/>
              </a:rPr>
              <a:t>Plain English:</a:t>
            </a:r>
            <a:endParaRPr lang="en-US" sz="1200" dirty="0"/>
          </a:p>
        </p:txBody>
      </p:sp>
      <p:sp>
        <p:nvSpPr>
          <p:cNvPr id="7" name="Text 5"/>
          <p:cNvSpPr txBox="1"/>
          <p:nvPr/>
        </p:nvSpPr>
        <p:spPr>
          <a:xfrm>
            <a:off x="2148840" y="1042416"/>
            <a:ext cx="9418320" cy="475488"/>
          </a:xfrm>
          <a:prstGeom prst="rect">
            <a:avLst/>
          </a:prstGeom>
          <a:noFill/>
          <a:ln/>
        </p:spPr>
        <p:txBody>
          <a:bodyPr wrap="square" lIns="0" tIns="0" rIns="0" bIns="0" rtlCol="0" anchor="ctr"/>
          <a:lstStyle/>
          <a:p>
            <a:pPr marL="0" indent="0">
              <a:buNone/>
            </a:pPr>
            <a:r>
              <a:rPr lang="en-US" sz="1300" dirty="0">
                <a:solidFill>
                  <a:srgbClr val="78350F"/>
                </a:solidFill>
                <a:latin typeface="Calibri" pitchFamily="34" charset="0"/>
                <a:ea typeface="Calibri" pitchFamily="34" charset="-122"/>
                <a:cs typeface="Calibri" pitchFamily="34" charset="-120"/>
              </a:rPr>
              <a:t>"An assignment statement consists of a name, then an equals sign, then a value."</a:t>
            </a:r>
            <a:endParaRPr lang="en-US" sz="1300" dirty="0"/>
          </a:p>
        </p:txBody>
      </p:sp>
      <p:sp>
        <p:nvSpPr>
          <p:cNvPr id="8" name="Text 6"/>
          <p:cNvSpPr txBox="1"/>
          <p:nvPr/>
        </p:nvSpPr>
        <p:spPr>
          <a:xfrm>
            <a:off x="411480" y="1719072"/>
            <a:ext cx="6400800" cy="274320"/>
          </a:xfrm>
          <a:prstGeom prst="rect">
            <a:avLst/>
          </a:prstGeom>
          <a:noFill/>
          <a:ln/>
        </p:spPr>
        <p:txBody>
          <a:bodyPr wrap="square" lIns="0" tIns="0" rIns="0" bIns="0" rtlCol="0" anchor="ctr"/>
          <a:lstStyle/>
          <a:p>
            <a:pPr marL="0" indent="0">
              <a:buNone/>
            </a:pPr>
            <a:r>
              <a:rPr lang="en-US" sz="1200" dirty="0">
                <a:solidFill>
                  <a:srgbClr val="5A6A82"/>
                </a:solidFill>
                <a:latin typeface="Calibri" pitchFamily="34" charset="0"/>
                <a:ea typeface="Calibri" pitchFamily="34" charset="-122"/>
                <a:cs typeface="Calibri" pitchFamily="34" charset="-120"/>
              </a:rPr>
              <a:t>↓  The same rule written as a grammar rule:</a:t>
            </a:r>
            <a:endParaRPr lang="en-US" sz="1200" dirty="0"/>
          </a:p>
        </p:txBody>
      </p:sp>
      <p:sp>
        <p:nvSpPr>
          <p:cNvPr id="9" name="Shape 7"/>
          <p:cNvSpPr/>
          <p:nvPr/>
        </p:nvSpPr>
        <p:spPr>
          <a:xfrm>
            <a:off x="411480" y="2048256"/>
            <a:ext cx="11338560" cy="713232"/>
          </a:xfrm>
          <a:prstGeom prst="rect">
            <a:avLst/>
          </a:prstGeom>
          <a:solidFill>
            <a:srgbClr val="EEF1FA"/>
          </a:solidFill>
          <a:ln w="12700">
            <a:solidFill>
              <a:srgbClr val="D0DAF0"/>
            </a:solidFill>
            <a:prstDash val="solid"/>
          </a:ln>
        </p:spPr>
        <p:txBody>
          <a:bodyPr/>
          <a:lstStyle/>
          <a:p>
            <a:endParaRPr lang="en-US"/>
          </a:p>
        </p:txBody>
      </p:sp>
      <p:sp>
        <p:nvSpPr>
          <p:cNvPr id="10" name="Shape 8"/>
          <p:cNvSpPr/>
          <p:nvPr/>
        </p:nvSpPr>
        <p:spPr>
          <a:xfrm>
            <a:off x="411480" y="2048256"/>
            <a:ext cx="54864" cy="713232"/>
          </a:xfrm>
          <a:prstGeom prst="rect">
            <a:avLst/>
          </a:prstGeom>
          <a:solidFill>
            <a:srgbClr val="2E5BFF"/>
          </a:solidFill>
          <a:ln/>
        </p:spPr>
        <p:txBody>
          <a:bodyPr/>
          <a:lstStyle/>
          <a:p>
            <a:endParaRPr lang="en-US"/>
          </a:p>
        </p:txBody>
      </p:sp>
      <p:sp>
        <p:nvSpPr>
          <p:cNvPr id="11" name="Text 9"/>
          <p:cNvSpPr txBox="1"/>
          <p:nvPr/>
        </p:nvSpPr>
        <p:spPr>
          <a:xfrm>
            <a:off x="640080" y="2212848"/>
            <a:ext cx="10881360" cy="384048"/>
          </a:xfrm>
          <a:prstGeom prst="rect">
            <a:avLst/>
          </a:prstGeom>
          <a:noFill/>
          <a:ln/>
        </p:spPr>
        <p:txBody>
          <a:bodyPr wrap="square" lIns="0" tIns="0" rIns="0" bIns="0" rtlCol="0" anchor="ctr"/>
          <a:lstStyle/>
          <a:p>
            <a:pPr marL="0" indent="0">
              <a:buNone/>
            </a:pPr>
            <a:r>
              <a:rPr lang="en-US" sz="1600" dirty="0">
                <a:solidFill>
                  <a:srgbClr val="1A2B5E"/>
                </a:solidFill>
                <a:latin typeface="Courier New" pitchFamily="34" charset="0"/>
                <a:ea typeface="Courier New" pitchFamily="34" charset="-122"/>
                <a:cs typeface="Courier New" pitchFamily="34" charset="-120"/>
              </a:rPr>
              <a:t>&lt;assignment&gt;  ::=  &lt;identifier&gt;  "="  &lt;value&gt;</a:t>
            </a:r>
            <a:endParaRPr lang="en-US" sz="1600" dirty="0"/>
          </a:p>
        </p:txBody>
      </p:sp>
      <p:sp>
        <p:nvSpPr>
          <p:cNvPr id="12" name="Text 10"/>
          <p:cNvSpPr txBox="1"/>
          <p:nvPr/>
        </p:nvSpPr>
        <p:spPr>
          <a:xfrm>
            <a:off x="411480" y="2907792"/>
            <a:ext cx="3657600" cy="274320"/>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Reading the notation:</a:t>
            </a:r>
            <a:endParaRPr lang="en-US" sz="1300" dirty="0"/>
          </a:p>
        </p:txBody>
      </p:sp>
      <p:sp>
        <p:nvSpPr>
          <p:cNvPr id="13" name="Shape 11"/>
          <p:cNvSpPr/>
          <p:nvPr/>
        </p:nvSpPr>
        <p:spPr>
          <a:xfrm>
            <a:off x="411480" y="3218688"/>
            <a:ext cx="1371600" cy="749808"/>
          </a:xfrm>
          <a:prstGeom prst="rect">
            <a:avLst/>
          </a:prstGeom>
          <a:solidFill>
            <a:srgbClr val="EEF1FA"/>
          </a:solidFill>
          <a:ln w="12700">
            <a:solidFill>
              <a:srgbClr val="D0DAF0"/>
            </a:solidFill>
            <a:prstDash val="solid"/>
          </a:ln>
        </p:spPr>
        <p:txBody>
          <a:bodyPr/>
          <a:lstStyle/>
          <a:p>
            <a:endParaRPr lang="en-US"/>
          </a:p>
        </p:txBody>
      </p:sp>
      <p:sp>
        <p:nvSpPr>
          <p:cNvPr id="14" name="Text 12"/>
          <p:cNvSpPr txBox="1"/>
          <p:nvPr/>
        </p:nvSpPr>
        <p:spPr>
          <a:xfrm>
            <a:off x="475488" y="3419856"/>
            <a:ext cx="1243584" cy="347472"/>
          </a:xfrm>
          <a:prstGeom prst="rect">
            <a:avLst/>
          </a:prstGeom>
          <a:noFill/>
          <a:ln/>
        </p:spPr>
        <p:txBody>
          <a:bodyPr wrap="square" lIns="0" tIns="0" rIns="0" bIns="0" rtlCol="0" anchor="ctr"/>
          <a:lstStyle/>
          <a:p>
            <a:pPr marL="0" indent="0" algn="ctr">
              <a:buNone/>
            </a:pPr>
            <a:r>
              <a:rPr lang="en-US" sz="1400" b="1" dirty="0">
                <a:solidFill>
                  <a:srgbClr val="1A2B5E"/>
                </a:solidFill>
                <a:latin typeface="Courier New" pitchFamily="34" charset="0"/>
                <a:ea typeface="Courier New" pitchFamily="34" charset="-122"/>
                <a:cs typeface="Courier New" pitchFamily="34" charset="-120"/>
              </a:rPr>
              <a:t>&lt;name&gt;</a:t>
            </a:r>
            <a:endParaRPr lang="en-US" sz="1400" dirty="0"/>
          </a:p>
        </p:txBody>
      </p:sp>
      <p:sp>
        <p:nvSpPr>
          <p:cNvPr id="15" name="Text 13"/>
          <p:cNvSpPr txBox="1"/>
          <p:nvPr/>
        </p:nvSpPr>
        <p:spPr>
          <a:xfrm>
            <a:off x="1920240" y="3291840"/>
            <a:ext cx="6858000" cy="502920"/>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A grammar rule — something the grammar defines elsewhere</a:t>
            </a:r>
            <a:endParaRPr lang="en-US" sz="1200" dirty="0"/>
          </a:p>
        </p:txBody>
      </p:sp>
      <p:sp>
        <p:nvSpPr>
          <p:cNvPr id="16" name="Text 14"/>
          <p:cNvSpPr txBox="1"/>
          <p:nvPr/>
        </p:nvSpPr>
        <p:spPr>
          <a:xfrm>
            <a:off x="8915400" y="3401568"/>
            <a:ext cx="2834640" cy="347472"/>
          </a:xfrm>
          <a:prstGeom prst="rect">
            <a:avLst/>
          </a:prstGeom>
          <a:noFill/>
          <a:ln/>
        </p:spPr>
        <p:txBody>
          <a:bodyPr wrap="square" lIns="0" tIns="0" rIns="0" bIns="0" rtlCol="0" anchor="ctr"/>
          <a:lstStyle/>
          <a:p>
            <a:pPr marL="0" indent="0">
              <a:buNone/>
            </a:pPr>
            <a:r>
              <a:rPr lang="en-US" sz="1100" dirty="0">
                <a:solidFill>
                  <a:srgbClr val="5A6A82"/>
                </a:solidFill>
                <a:latin typeface="Courier New" pitchFamily="34" charset="0"/>
                <a:ea typeface="Courier New" pitchFamily="34" charset="-122"/>
                <a:cs typeface="Courier New" pitchFamily="34" charset="-120"/>
              </a:rPr>
              <a:t>e.g. &lt;identifier&gt;, &lt;value&gt;</a:t>
            </a:r>
            <a:endParaRPr lang="en-US" sz="1100" dirty="0"/>
          </a:p>
        </p:txBody>
      </p:sp>
      <p:sp>
        <p:nvSpPr>
          <p:cNvPr id="17" name="Shape 15"/>
          <p:cNvSpPr/>
          <p:nvPr/>
        </p:nvSpPr>
        <p:spPr>
          <a:xfrm>
            <a:off x="411480" y="4087368"/>
            <a:ext cx="1371600" cy="749808"/>
          </a:xfrm>
          <a:prstGeom prst="rect">
            <a:avLst/>
          </a:prstGeom>
          <a:solidFill>
            <a:srgbClr val="EEF1FA"/>
          </a:solidFill>
          <a:ln w="12700">
            <a:solidFill>
              <a:srgbClr val="D0DAF0"/>
            </a:solidFill>
            <a:prstDash val="solid"/>
          </a:ln>
        </p:spPr>
        <p:txBody>
          <a:bodyPr/>
          <a:lstStyle/>
          <a:p>
            <a:endParaRPr lang="en-US"/>
          </a:p>
        </p:txBody>
      </p:sp>
      <p:sp>
        <p:nvSpPr>
          <p:cNvPr id="18" name="Text 16"/>
          <p:cNvSpPr txBox="1"/>
          <p:nvPr/>
        </p:nvSpPr>
        <p:spPr>
          <a:xfrm>
            <a:off x="475488" y="4288536"/>
            <a:ext cx="1243584" cy="347472"/>
          </a:xfrm>
          <a:prstGeom prst="rect">
            <a:avLst/>
          </a:prstGeom>
          <a:noFill/>
          <a:ln/>
        </p:spPr>
        <p:txBody>
          <a:bodyPr wrap="square" lIns="0" tIns="0" rIns="0" bIns="0" rtlCol="0" anchor="ctr"/>
          <a:lstStyle/>
          <a:p>
            <a:pPr marL="0" indent="0" algn="ctr">
              <a:buNone/>
            </a:pPr>
            <a:r>
              <a:rPr lang="en-US" sz="1400" b="1" dirty="0">
                <a:solidFill>
                  <a:srgbClr val="1A2B5E"/>
                </a:solidFill>
                <a:latin typeface="Courier New" pitchFamily="34" charset="0"/>
                <a:ea typeface="Courier New" pitchFamily="34" charset="-122"/>
                <a:cs typeface="Courier New" pitchFamily="34" charset="-120"/>
              </a:rPr>
              <a:t>"text"</a:t>
            </a:r>
            <a:endParaRPr lang="en-US" sz="1400" dirty="0"/>
          </a:p>
        </p:txBody>
      </p:sp>
      <p:sp>
        <p:nvSpPr>
          <p:cNvPr id="19" name="Text 17"/>
          <p:cNvSpPr txBox="1"/>
          <p:nvPr/>
        </p:nvSpPr>
        <p:spPr>
          <a:xfrm>
            <a:off x="1920240" y="4160520"/>
            <a:ext cx="6858000" cy="502920"/>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An exact token that must appear literally in the code</a:t>
            </a:r>
            <a:endParaRPr lang="en-US" sz="1200" dirty="0"/>
          </a:p>
        </p:txBody>
      </p:sp>
      <p:sp>
        <p:nvSpPr>
          <p:cNvPr id="20" name="Text 18"/>
          <p:cNvSpPr txBox="1"/>
          <p:nvPr/>
        </p:nvSpPr>
        <p:spPr>
          <a:xfrm>
            <a:off x="8915400" y="4270248"/>
            <a:ext cx="2834640" cy="347472"/>
          </a:xfrm>
          <a:prstGeom prst="rect">
            <a:avLst/>
          </a:prstGeom>
          <a:noFill/>
          <a:ln/>
        </p:spPr>
        <p:txBody>
          <a:bodyPr wrap="square" lIns="0" tIns="0" rIns="0" bIns="0" rtlCol="0" anchor="ctr"/>
          <a:lstStyle/>
          <a:p>
            <a:pPr marL="0" indent="0">
              <a:buNone/>
            </a:pPr>
            <a:r>
              <a:rPr lang="en-US" sz="1100" dirty="0">
                <a:solidFill>
                  <a:srgbClr val="5A6A82"/>
                </a:solidFill>
                <a:latin typeface="Courier New" pitchFamily="34" charset="0"/>
                <a:ea typeface="Courier New" pitchFamily="34" charset="-122"/>
                <a:cs typeface="Courier New" pitchFamily="34" charset="-120"/>
              </a:rPr>
              <a:t>e.g. "="</a:t>
            </a:r>
            <a:endParaRPr lang="en-US" sz="1100" dirty="0"/>
          </a:p>
        </p:txBody>
      </p:sp>
      <p:sp>
        <p:nvSpPr>
          <p:cNvPr id="21" name="Shape 19"/>
          <p:cNvSpPr/>
          <p:nvPr/>
        </p:nvSpPr>
        <p:spPr>
          <a:xfrm>
            <a:off x="411480" y="4956048"/>
            <a:ext cx="1371600" cy="749808"/>
          </a:xfrm>
          <a:prstGeom prst="rect">
            <a:avLst/>
          </a:prstGeom>
          <a:solidFill>
            <a:srgbClr val="EEF1FA"/>
          </a:solidFill>
          <a:ln w="12700">
            <a:solidFill>
              <a:srgbClr val="D0DAF0"/>
            </a:solidFill>
            <a:prstDash val="solid"/>
          </a:ln>
        </p:spPr>
        <p:txBody>
          <a:bodyPr/>
          <a:lstStyle/>
          <a:p>
            <a:endParaRPr lang="en-US"/>
          </a:p>
        </p:txBody>
      </p:sp>
      <p:sp>
        <p:nvSpPr>
          <p:cNvPr id="22" name="Text 20"/>
          <p:cNvSpPr txBox="1"/>
          <p:nvPr/>
        </p:nvSpPr>
        <p:spPr>
          <a:xfrm>
            <a:off x="475488" y="5157216"/>
            <a:ext cx="1243584" cy="347472"/>
          </a:xfrm>
          <a:prstGeom prst="rect">
            <a:avLst/>
          </a:prstGeom>
          <a:noFill/>
          <a:ln/>
        </p:spPr>
        <p:txBody>
          <a:bodyPr wrap="square" lIns="0" tIns="0" rIns="0" bIns="0" rtlCol="0" anchor="ctr"/>
          <a:lstStyle/>
          <a:p>
            <a:pPr marL="0" indent="0" algn="ctr">
              <a:buNone/>
            </a:pPr>
            <a:r>
              <a:rPr lang="en-US" sz="1400" b="1" dirty="0">
                <a:solidFill>
                  <a:srgbClr val="1A2B5E"/>
                </a:solidFill>
                <a:latin typeface="Courier New" pitchFamily="34" charset="0"/>
                <a:ea typeface="Courier New" pitchFamily="34" charset="-122"/>
                <a:cs typeface="Courier New" pitchFamily="34" charset="-120"/>
              </a:rPr>
              <a:t>::=</a:t>
            </a:r>
            <a:endParaRPr lang="en-US" sz="1400" dirty="0"/>
          </a:p>
        </p:txBody>
      </p:sp>
      <p:sp>
        <p:nvSpPr>
          <p:cNvPr id="23" name="Text 21"/>
          <p:cNvSpPr txBox="1"/>
          <p:nvPr/>
        </p:nvSpPr>
        <p:spPr>
          <a:xfrm>
            <a:off x="1920240" y="5029200"/>
            <a:ext cx="6858000" cy="502920"/>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"is defined as" — the left side expands to the right side</a:t>
            </a:r>
            <a:endParaRPr lang="en-US" sz="1200" dirty="0"/>
          </a:p>
        </p:txBody>
      </p:sp>
      <p:sp>
        <p:nvSpPr>
          <p:cNvPr id="24" name="Text 22"/>
          <p:cNvSpPr txBox="1"/>
          <p:nvPr/>
        </p:nvSpPr>
        <p:spPr>
          <a:xfrm>
            <a:off x="8915400" y="5138928"/>
            <a:ext cx="2834640" cy="347472"/>
          </a:xfrm>
          <a:prstGeom prst="rect">
            <a:avLst/>
          </a:prstGeom>
          <a:noFill/>
          <a:ln/>
        </p:spPr>
        <p:txBody>
          <a:bodyPr wrap="square" lIns="0" tIns="0" rIns="0" bIns="0" rtlCol="0" anchor="ctr"/>
          <a:lstStyle/>
          <a:p>
            <a:pPr marL="0" indent="0">
              <a:buNone/>
            </a:pPr>
            <a:r>
              <a:rPr lang="en-US" sz="1100" dirty="0">
                <a:solidFill>
                  <a:srgbClr val="5A6A82"/>
                </a:solidFill>
                <a:latin typeface="Courier New" pitchFamily="34" charset="0"/>
                <a:ea typeface="Courier New" pitchFamily="34" charset="-122"/>
                <a:cs typeface="Courier New" pitchFamily="34" charset="-120"/>
              </a:rPr>
              <a:t>e.g. the rule itself</a:t>
            </a:r>
            <a:endParaRPr lang="en-US" sz="1100" dirty="0"/>
          </a:p>
        </p:txBody>
      </p:sp>
      <p:sp>
        <p:nvSpPr>
          <p:cNvPr id="25" name="Shape 23"/>
          <p:cNvSpPr/>
          <p:nvPr/>
        </p:nvSpPr>
        <p:spPr>
          <a:xfrm>
            <a:off x="411480" y="5824728"/>
            <a:ext cx="1371600" cy="749808"/>
          </a:xfrm>
          <a:prstGeom prst="rect">
            <a:avLst/>
          </a:prstGeom>
          <a:solidFill>
            <a:srgbClr val="EEF1FA"/>
          </a:solidFill>
          <a:ln w="12700">
            <a:solidFill>
              <a:srgbClr val="D0DAF0"/>
            </a:solidFill>
            <a:prstDash val="solid"/>
          </a:ln>
        </p:spPr>
        <p:txBody>
          <a:bodyPr/>
          <a:lstStyle/>
          <a:p>
            <a:endParaRPr lang="en-US"/>
          </a:p>
        </p:txBody>
      </p:sp>
      <p:sp>
        <p:nvSpPr>
          <p:cNvPr id="26" name="Text 24"/>
          <p:cNvSpPr txBox="1"/>
          <p:nvPr/>
        </p:nvSpPr>
        <p:spPr>
          <a:xfrm>
            <a:off x="475488" y="6025896"/>
            <a:ext cx="1243584" cy="347472"/>
          </a:xfrm>
          <a:prstGeom prst="rect">
            <a:avLst/>
          </a:prstGeom>
          <a:noFill/>
          <a:ln/>
        </p:spPr>
        <p:txBody>
          <a:bodyPr wrap="square" lIns="0" tIns="0" rIns="0" bIns="0" rtlCol="0" anchor="ctr"/>
          <a:lstStyle/>
          <a:p>
            <a:pPr marL="0" indent="0" algn="ctr">
              <a:buNone/>
            </a:pPr>
            <a:r>
              <a:rPr lang="en-US" sz="1400" b="1" dirty="0">
                <a:solidFill>
                  <a:srgbClr val="1A2B5E"/>
                </a:solidFill>
                <a:latin typeface="Courier New" pitchFamily="34" charset="0"/>
                <a:ea typeface="Courier New" pitchFamily="34" charset="-122"/>
                <a:cs typeface="Courier New" pitchFamily="34" charset="-120"/>
              </a:rPr>
              <a:t>|</a:t>
            </a:r>
            <a:endParaRPr lang="en-US" sz="1400" dirty="0"/>
          </a:p>
        </p:txBody>
      </p:sp>
      <p:sp>
        <p:nvSpPr>
          <p:cNvPr id="27" name="Text 25"/>
          <p:cNvSpPr txBox="1"/>
          <p:nvPr/>
        </p:nvSpPr>
        <p:spPr>
          <a:xfrm>
            <a:off x="1920240" y="5897880"/>
            <a:ext cx="6858000" cy="502920"/>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"or" — choose one of the alternatives</a:t>
            </a:r>
            <a:endParaRPr lang="en-US" sz="1200" dirty="0"/>
          </a:p>
        </p:txBody>
      </p:sp>
      <p:sp>
        <p:nvSpPr>
          <p:cNvPr id="28" name="Text 26"/>
          <p:cNvSpPr txBox="1"/>
          <p:nvPr/>
        </p:nvSpPr>
        <p:spPr>
          <a:xfrm>
            <a:off x="8915400" y="6007608"/>
            <a:ext cx="2834640" cy="347472"/>
          </a:xfrm>
          <a:prstGeom prst="rect">
            <a:avLst/>
          </a:prstGeom>
          <a:noFill/>
          <a:ln/>
        </p:spPr>
        <p:txBody>
          <a:bodyPr wrap="square" lIns="0" tIns="0" rIns="0" bIns="0" rtlCol="0" anchor="ctr"/>
          <a:lstStyle/>
          <a:p>
            <a:pPr marL="0" indent="0">
              <a:buNone/>
            </a:pPr>
            <a:r>
              <a:rPr lang="en-US" sz="1100" dirty="0">
                <a:solidFill>
                  <a:srgbClr val="5A6A82"/>
                </a:solidFill>
                <a:latin typeface="Courier New" pitchFamily="34" charset="0"/>
                <a:ea typeface="Courier New" pitchFamily="34" charset="-122"/>
                <a:cs typeface="Courier New" pitchFamily="34" charset="-120"/>
              </a:rPr>
              <a:t>e.g. used in examples on the next slide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51560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Grammar Rules Capture Syntax Decisions</a:t>
            </a:r>
            <a:endParaRPr lang="en-US" sz="2200" dirty="0"/>
          </a:p>
        </p:txBody>
      </p:sp>
      <p:sp>
        <p:nvSpPr>
          <p:cNvPr id="4" name="Text 2"/>
          <p:cNvSpPr txBox="1"/>
          <p:nvPr/>
        </p:nvSpPr>
        <p:spPr>
          <a:xfrm>
            <a:off x="10515600" y="256032"/>
            <a:ext cx="150876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3 · Grammar</a:t>
            </a:r>
            <a:endParaRPr lang="en-US" sz="900" dirty="0"/>
          </a:p>
        </p:txBody>
      </p:sp>
      <p:sp>
        <p:nvSpPr>
          <p:cNvPr id="5" name="Text 3"/>
          <p:cNvSpPr txBox="1"/>
          <p:nvPr/>
        </p:nvSpPr>
        <p:spPr>
          <a:xfrm>
            <a:off x="411480" y="987552"/>
            <a:ext cx="11338560" cy="347472"/>
          </a:xfrm>
          <a:prstGeom prst="rect">
            <a:avLst/>
          </a:prstGeom>
          <a:noFill/>
          <a:ln/>
        </p:spPr>
        <p:txBody>
          <a:bodyPr wrap="square" lIns="0" tIns="0" rIns="0" bIns="0" rtlCol="0" anchor="ctr"/>
          <a:lstStyle/>
          <a:p>
            <a:pPr marL="0" indent="0">
              <a:lnSpc>
                <a:spcPct val="130000"/>
              </a:lnSpc>
              <a:buNone/>
            </a:pPr>
            <a:r>
              <a:rPr lang="en-US" sz="1300" dirty="0">
                <a:solidFill>
                  <a:srgbClr val="5A6A82"/>
                </a:solidFill>
                <a:latin typeface="Calibri" pitchFamily="34" charset="0"/>
                <a:ea typeface="Calibri" pitchFamily="34" charset="-122"/>
                <a:cs typeface="Calibri" pitchFamily="34" charset="-120"/>
              </a:rPr>
              <a:t>The grammar rule for an if-statement is where the parentheses and braces become mandatory — or not.</a:t>
            </a:r>
            <a:endParaRPr lang="en-US" sz="1300" dirty="0"/>
          </a:p>
        </p:txBody>
      </p:sp>
      <p:sp>
        <p:nvSpPr>
          <p:cNvPr id="6" name="Shape 4"/>
          <p:cNvSpPr/>
          <p:nvPr/>
        </p:nvSpPr>
        <p:spPr>
          <a:xfrm>
            <a:off x="411480" y="1417320"/>
            <a:ext cx="5532120" cy="2468880"/>
          </a:xfrm>
          <a:prstGeom prst="rect">
            <a:avLst/>
          </a:prstGeom>
          <a:solidFill>
            <a:srgbClr val="FFFFFF"/>
          </a:solidFill>
          <a:ln w="12700">
            <a:solidFill>
              <a:srgbClr val="D0DAF0"/>
            </a:solidFill>
            <a:prstDash val="solid"/>
          </a:ln>
        </p:spPr>
        <p:txBody>
          <a:bodyPr/>
          <a:lstStyle/>
          <a:p>
            <a:endParaRPr lang="en-US"/>
          </a:p>
        </p:txBody>
      </p:sp>
      <p:sp>
        <p:nvSpPr>
          <p:cNvPr id="7" name="Shape 5"/>
          <p:cNvSpPr/>
          <p:nvPr/>
        </p:nvSpPr>
        <p:spPr>
          <a:xfrm>
            <a:off x="411480" y="1417320"/>
            <a:ext cx="5532120" cy="329184"/>
          </a:xfrm>
          <a:prstGeom prst="rect">
            <a:avLst/>
          </a:prstGeom>
          <a:solidFill>
            <a:srgbClr val="E8F0FE"/>
          </a:solidFill>
          <a:ln w="12700">
            <a:solidFill>
              <a:srgbClr val="E8F0FE"/>
            </a:solidFill>
            <a:prstDash val="solid"/>
          </a:ln>
        </p:spPr>
        <p:txBody>
          <a:bodyPr/>
          <a:lstStyle/>
          <a:p>
            <a:endParaRPr lang="en-US"/>
          </a:p>
        </p:txBody>
      </p:sp>
      <p:sp>
        <p:nvSpPr>
          <p:cNvPr id="8" name="Text 6"/>
          <p:cNvSpPr txBox="1"/>
          <p:nvPr/>
        </p:nvSpPr>
        <p:spPr>
          <a:xfrm>
            <a:off x="594360" y="1481328"/>
            <a:ext cx="5212080" cy="219456"/>
          </a:xfrm>
          <a:prstGeom prst="rect">
            <a:avLst/>
          </a:prstGeom>
          <a:noFill/>
          <a:ln/>
        </p:spPr>
        <p:txBody>
          <a:bodyPr wrap="square" lIns="0" tIns="0" rIns="0" bIns="0" rtlCol="0" anchor="ctr"/>
          <a:lstStyle/>
          <a:p>
            <a:pPr marL="0" indent="0">
              <a:buNone/>
            </a:pPr>
            <a:r>
              <a:rPr lang="en-US" sz="1200" b="1" dirty="0">
                <a:solidFill>
                  <a:srgbClr val="2E5BFF"/>
                </a:solidFill>
                <a:latin typeface="Calibri" pitchFamily="34" charset="0"/>
                <a:ea typeface="Calibri" pitchFamily="34" charset="-122"/>
                <a:cs typeface="Calibri" pitchFamily="34" charset="-120"/>
              </a:rPr>
              <a:t>C — if-statement grammar</a:t>
            </a:r>
            <a:endParaRPr lang="en-US" sz="1200" dirty="0"/>
          </a:p>
        </p:txBody>
      </p:sp>
      <p:sp>
        <p:nvSpPr>
          <p:cNvPr id="9" name="Shape 7"/>
          <p:cNvSpPr/>
          <p:nvPr/>
        </p:nvSpPr>
        <p:spPr>
          <a:xfrm>
            <a:off x="594360" y="1810512"/>
            <a:ext cx="5166360" cy="1417320"/>
          </a:xfrm>
          <a:prstGeom prst="rect">
            <a:avLst/>
          </a:prstGeom>
          <a:solidFill>
            <a:srgbClr val="EEF1FA"/>
          </a:solidFill>
          <a:ln w="12700">
            <a:solidFill>
              <a:srgbClr val="D0DAF0"/>
            </a:solidFill>
            <a:prstDash val="solid"/>
          </a:ln>
        </p:spPr>
        <p:txBody>
          <a:bodyPr/>
          <a:lstStyle/>
          <a:p>
            <a:endParaRPr lang="en-US"/>
          </a:p>
        </p:txBody>
      </p:sp>
      <p:sp>
        <p:nvSpPr>
          <p:cNvPr id="10" name="Shape 8"/>
          <p:cNvSpPr/>
          <p:nvPr/>
        </p:nvSpPr>
        <p:spPr>
          <a:xfrm>
            <a:off x="594360" y="1810512"/>
            <a:ext cx="45720" cy="1417320"/>
          </a:xfrm>
          <a:prstGeom prst="rect">
            <a:avLst/>
          </a:prstGeom>
          <a:solidFill>
            <a:srgbClr val="2E5BFF"/>
          </a:solidFill>
          <a:ln/>
        </p:spPr>
        <p:txBody>
          <a:bodyPr/>
          <a:lstStyle/>
          <a:p>
            <a:endParaRPr lang="en-US"/>
          </a:p>
        </p:txBody>
      </p:sp>
      <p:sp>
        <p:nvSpPr>
          <p:cNvPr id="11" name="Text 9"/>
          <p:cNvSpPr txBox="1"/>
          <p:nvPr/>
        </p:nvSpPr>
        <p:spPr>
          <a:xfrm>
            <a:off x="804672" y="1901952"/>
            <a:ext cx="4800600" cy="1234440"/>
          </a:xfrm>
          <a:prstGeom prst="rect">
            <a:avLst/>
          </a:prstGeom>
          <a:noFill/>
          <a:ln/>
        </p:spPr>
        <p:txBody>
          <a:bodyPr wrap="square" lIns="0" tIns="0" rIns="0" bIns="0" rtlCol="0" anchor="ctr"/>
          <a:lstStyle/>
          <a:p>
            <a:pPr marL="0" indent="0">
              <a:lnSpc>
                <a:spcPct val="160000"/>
              </a:lnSpc>
              <a:buNone/>
            </a:pPr>
            <a:r>
              <a:rPr lang="en-US" sz="1300" dirty="0">
                <a:solidFill>
                  <a:srgbClr val="1A2B5E"/>
                </a:solidFill>
                <a:latin typeface="Courier New" pitchFamily="34" charset="0"/>
                <a:ea typeface="Courier New" pitchFamily="34" charset="-122"/>
                <a:cs typeface="Courier New" pitchFamily="34" charset="-120"/>
              </a:rPr>
              <a:t>&lt;if-stmt&gt;  ::=</a:t>
            </a:r>
            <a:endParaRPr lang="en-US" sz="1300" dirty="0"/>
          </a:p>
          <a:p>
            <a:pPr marL="0" indent="0">
              <a:lnSpc>
                <a:spcPct val="160000"/>
              </a:lnSpc>
              <a:buNone/>
            </a:pPr>
            <a:r>
              <a:rPr lang="en-US" sz="1300" dirty="0">
                <a:solidFill>
                  <a:srgbClr val="1A2B5E"/>
                </a:solidFill>
                <a:latin typeface="Courier New" pitchFamily="34" charset="0"/>
                <a:ea typeface="Courier New" pitchFamily="34" charset="-122"/>
                <a:cs typeface="Courier New" pitchFamily="34" charset="-120"/>
              </a:rPr>
              <a:t>  "if"  "("  &lt;condition&gt;  ")"</a:t>
            </a:r>
            <a:endParaRPr lang="en-US" sz="1300" dirty="0"/>
          </a:p>
          <a:p>
            <a:pPr marL="0" indent="0">
              <a:lnSpc>
                <a:spcPct val="160000"/>
              </a:lnSpc>
              <a:buNone/>
            </a:pPr>
            <a:r>
              <a:rPr lang="en-US" sz="1300" dirty="0">
                <a:solidFill>
                  <a:srgbClr val="1A2B5E"/>
                </a:solidFill>
                <a:latin typeface="Courier New" pitchFamily="34" charset="0"/>
                <a:ea typeface="Courier New" pitchFamily="34" charset="-122"/>
                <a:cs typeface="Courier New" pitchFamily="34" charset="-120"/>
              </a:rPr>
              <a:t>  "{"  &lt;statements&gt;  "}"</a:t>
            </a:r>
            <a:endParaRPr lang="en-US" sz="1300" dirty="0"/>
          </a:p>
        </p:txBody>
      </p:sp>
      <p:sp>
        <p:nvSpPr>
          <p:cNvPr id="12" name="Text 10"/>
          <p:cNvSpPr txBox="1"/>
          <p:nvPr/>
        </p:nvSpPr>
        <p:spPr>
          <a:xfrm>
            <a:off x="594360" y="3291840"/>
            <a:ext cx="5166360" cy="502920"/>
          </a:xfrm>
          <a:prstGeom prst="rect">
            <a:avLst/>
          </a:prstGeom>
          <a:noFill/>
          <a:ln/>
        </p:spPr>
        <p:txBody>
          <a:bodyPr wrap="square" lIns="0" tIns="0" rIns="0" bIns="0" rtlCol="0" anchor="ctr"/>
          <a:lstStyle/>
          <a:p>
            <a:pPr marL="0" indent="0">
              <a:lnSpc>
                <a:spcPct val="132000"/>
              </a:lnSpc>
              <a:buNone/>
            </a:pPr>
            <a:r>
              <a:rPr lang="en-US" sz="1200" dirty="0">
                <a:solidFill>
                  <a:srgbClr val="1E2A3A"/>
                </a:solidFill>
                <a:latin typeface="Calibri" pitchFamily="34" charset="0"/>
                <a:ea typeface="Calibri" pitchFamily="34" charset="-122"/>
                <a:cs typeface="Calibri" pitchFamily="34" charset="-120"/>
              </a:rPr>
              <a:t>The grammar requires ( ) and { } as literal tokens. They are not optional — the rule demands them.</a:t>
            </a:r>
            <a:endParaRPr lang="en-US" sz="1200" dirty="0"/>
          </a:p>
        </p:txBody>
      </p:sp>
      <p:sp>
        <p:nvSpPr>
          <p:cNvPr id="13" name="Shape 11"/>
          <p:cNvSpPr/>
          <p:nvPr/>
        </p:nvSpPr>
        <p:spPr>
          <a:xfrm>
            <a:off x="6263640" y="1417320"/>
            <a:ext cx="5486400" cy="2468880"/>
          </a:xfrm>
          <a:prstGeom prst="rect">
            <a:avLst/>
          </a:prstGeom>
          <a:solidFill>
            <a:srgbClr val="FFFFFF"/>
          </a:solidFill>
          <a:ln w="12700">
            <a:solidFill>
              <a:srgbClr val="D0DAF0"/>
            </a:solidFill>
            <a:prstDash val="solid"/>
          </a:ln>
        </p:spPr>
        <p:txBody>
          <a:bodyPr/>
          <a:lstStyle/>
          <a:p>
            <a:endParaRPr lang="en-US"/>
          </a:p>
        </p:txBody>
      </p:sp>
      <p:sp>
        <p:nvSpPr>
          <p:cNvPr id="14" name="Shape 12"/>
          <p:cNvSpPr/>
          <p:nvPr/>
        </p:nvSpPr>
        <p:spPr>
          <a:xfrm>
            <a:off x="6263640" y="1417320"/>
            <a:ext cx="5486400" cy="329184"/>
          </a:xfrm>
          <a:prstGeom prst="rect">
            <a:avLst/>
          </a:prstGeom>
          <a:solidFill>
            <a:srgbClr val="FEF3E8"/>
          </a:solidFill>
          <a:ln w="12700">
            <a:solidFill>
              <a:srgbClr val="FEF3E8"/>
            </a:solidFill>
            <a:prstDash val="solid"/>
          </a:ln>
        </p:spPr>
        <p:txBody>
          <a:bodyPr/>
          <a:lstStyle/>
          <a:p>
            <a:endParaRPr lang="en-US"/>
          </a:p>
        </p:txBody>
      </p:sp>
      <p:sp>
        <p:nvSpPr>
          <p:cNvPr id="15" name="Text 13"/>
          <p:cNvSpPr txBox="1"/>
          <p:nvPr/>
        </p:nvSpPr>
        <p:spPr>
          <a:xfrm>
            <a:off x="6446520" y="1481328"/>
            <a:ext cx="5212080" cy="219456"/>
          </a:xfrm>
          <a:prstGeom prst="rect">
            <a:avLst/>
          </a:prstGeom>
          <a:noFill/>
          <a:ln/>
        </p:spPr>
        <p:txBody>
          <a:bodyPr wrap="square" lIns="0" tIns="0" rIns="0" bIns="0" rtlCol="0" anchor="ctr"/>
          <a:lstStyle/>
          <a:p>
            <a:pPr marL="0" indent="0">
              <a:buNone/>
            </a:pPr>
            <a:r>
              <a:rPr lang="en-US" sz="1200" b="1" dirty="0">
                <a:solidFill>
                  <a:srgbClr val="C05E00"/>
                </a:solidFill>
                <a:latin typeface="Calibri" pitchFamily="34" charset="0"/>
                <a:ea typeface="Calibri" pitchFamily="34" charset="-122"/>
                <a:cs typeface="Calibri" pitchFamily="34" charset="-120"/>
              </a:rPr>
              <a:t>Python — if-statement grammar</a:t>
            </a:r>
            <a:endParaRPr lang="en-US" sz="1200" dirty="0"/>
          </a:p>
        </p:txBody>
      </p:sp>
      <p:sp>
        <p:nvSpPr>
          <p:cNvPr id="16" name="Shape 14"/>
          <p:cNvSpPr/>
          <p:nvPr/>
        </p:nvSpPr>
        <p:spPr>
          <a:xfrm>
            <a:off x="6446520" y="1810512"/>
            <a:ext cx="5120640" cy="1417320"/>
          </a:xfrm>
          <a:prstGeom prst="rect">
            <a:avLst/>
          </a:prstGeom>
          <a:solidFill>
            <a:srgbClr val="EEF1FA"/>
          </a:solidFill>
          <a:ln w="12700">
            <a:solidFill>
              <a:srgbClr val="D0DAF0"/>
            </a:solidFill>
            <a:prstDash val="solid"/>
          </a:ln>
        </p:spPr>
        <p:txBody>
          <a:bodyPr/>
          <a:lstStyle/>
          <a:p>
            <a:endParaRPr lang="en-US"/>
          </a:p>
        </p:txBody>
      </p:sp>
      <p:sp>
        <p:nvSpPr>
          <p:cNvPr id="17" name="Shape 15"/>
          <p:cNvSpPr/>
          <p:nvPr/>
        </p:nvSpPr>
        <p:spPr>
          <a:xfrm>
            <a:off x="6446520" y="1810512"/>
            <a:ext cx="45720" cy="1417320"/>
          </a:xfrm>
          <a:prstGeom prst="rect">
            <a:avLst/>
          </a:prstGeom>
          <a:solidFill>
            <a:srgbClr val="2E5BFF"/>
          </a:solidFill>
          <a:ln/>
        </p:spPr>
        <p:txBody>
          <a:bodyPr/>
          <a:lstStyle/>
          <a:p>
            <a:endParaRPr lang="en-US"/>
          </a:p>
        </p:txBody>
      </p:sp>
      <p:sp>
        <p:nvSpPr>
          <p:cNvPr id="18" name="Text 16"/>
          <p:cNvSpPr txBox="1"/>
          <p:nvPr/>
        </p:nvSpPr>
        <p:spPr>
          <a:xfrm>
            <a:off x="6656832" y="1901952"/>
            <a:ext cx="4754880" cy="1234440"/>
          </a:xfrm>
          <a:prstGeom prst="rect">
            <a:avLst/>
          </a:prstGeom>
          <a:noFill/>
          <a:ln/>
        </p:spPr>
        <p:txBody>
          <a:bodyPr wrap="square" lIns="0" tIns="0" rIns="0" bIns="0" rtlCol="0" anchor="ctr"/>
          <a:lstStyle/>
          <a:p>
            <a:pPr marL="0" indent="0">
              <a:lnSpc>
                <a:spcPct val="160000"/>
              </a:lnSpc>
              <a:buNone/>
            </a:pPr>
            <a:r>
              <a:rPr lang="en-US" sz="1300" dirty="0">
                <a:solidFill>
                  <a:srgbClr val="1A2B5E"/>
                </a:solidFill>
                <a:latin typeface="Courier New" pitchFamily="34" charset="0"/>
                <a:ea typeface="Courier New" pitchFamily="34" charset="-122"/>
                <a:cs typeface="Courier New" pitchFamily="34" charset="-120"/>
              </a:rPr>
              <a:t>&lt;if-stmt&gt;  ::=</a:t>
            </a:r>
            <a:endParaRPr lang="en-US" sz="1300" dirty="0"/>
          </a:p>
          <a:p>
            <a:pPr marL="0" indent="0">
              <a:lnSpc>
                <a:spcPct val="160000"/>
              </a:lnSpc>
              <a:buNone/>
            </a:pPr>
            <a:r>
              <a:rPr lang="en-US" sz="1300" dirty="0">
                <a:solidFill>
                  <a:srgbClr val="1A2B5E"/>
                </a:solidFill>
                <a:latin typeface="Courier New" pitchFamily="34" charset="0"/>
                <a:ea typeface="Courier New" pitchFamily="34" charset="-122"/>
                <a:cs typeface="Courier New" pitchFamily="34" charset="-120"/>
              </a:rPr>
              <a:t>  "if"  &lt;condition&gt;  ":"</a:t>
            </a:r>
            <a:endParaRPr lang="en-US" sz="1300" dirty="0"/>
          </a:p>
          <a:p>
            <a:pPr marL="0" indent="0">
              <a:lnSpc>
                <a:spcPct val="160000"/>
              </a:lnSpc>
              <a:buNone/>
            </a:pPr>
            <a:r>
              <a:rPr lang="en-US" sz="1300" dirty="0">
                <a:solidFill>
                  <a:srgbClr val="1A2B5E"/>
                </a:solidFill>
                <a:latin typeface="Courier New" pitchFamily="34" charset="0"/>
                <a:ea typeface="Courier New" pitchFamily="34" charset="-122"/>
                <a:cs typeface="Courier New" pitchFamily="34" charset="-120"/>
              </a:rPr>
              <a:t>  INDENT  &lt;statements&gt;  DEDENT</a:t>
            </a:r>
            <a:endParaRPr lang="en-US" sz="1300" dirty="0"/>
          </a:p>
        </p:txBody>
      </p:sp>
      <p:sp>
        <p:nvSpPr>
          <p:cNvPr id="19" name="Text 17"/>
          <p:cNvSpPr txBox="1"/>
          <p:nvPr/>
        </p:nvSpPr>
        <p:spPr>
          <a:xfrm>
            <a:off x="6446520" y="3291840"/>
            <a:ext cx="5120640" cy="502920"/>
          </a:xfrm>
          <a:prstGeom prst="rect">
            <a:avLst/>
          </a:prstGeom>
          <a:noFill/>
          <a:ln/>
        </p:spPr>
        <p:txBody>
          <a:bodyPr wrap="square" lIns="0" tIns="0" rIns="0" bIns="0" rtlCol="0" anchor="ctr"/>
          <a:lstStyle/>
          <a:p>
            <a:pPr marL="0" indent="0">
              <a:lnSpc>
                <a:spcPct val="132000"/>
              </a:lnSpc>
              <a:buNone/>
            </a:pPr>
            <a:r>
              <a:rPr lang="en-US" sz="1200" dirty="0">
                <a:solidFill>
                  <a:srgbClr val="1E2A3A"/>
                </a:solidFill>
                <a:latin typeface="Calibri" pitchFamily="34" charset="0"/>
                <a:ea typeface="Calibri" pitchFamily="34" charset="-122"/>
                <a:cs typeface="Calibri" pitchFamily="34" charset="-120"/>
              </a:rPr>
              <a:t>No ( ) — no { }. A colon instead. INDENT/DEDENT are special tokens generated from physical indentation in the file.</a:t>
            </a:r>
            <a:endParaRPr lang="en-US" sz="1200" dirty="0"/>
          </a:p>
        </p:txBody>
      </p:sp>
      <p:sp>
        <p:nvSpPr>
          <p:cNvPr id="20" name="Shape 18"/>
          <p:cNvSpPr/>
          <p:nvPr/>
        </p:nvSpPr>
        <p:spPr>
          <a:xfrm>
            <a:off x="411480" y="4041648"/>
            <a:ext cx="54864" cy="749808"/>
          </a:xfrm>
          <a:prstGeom prst="rect">
            <a:avLst/>
          </a:prstGeom>
          <a:solidFill>
            <a:srgbClr val="2E5BFF"/>
          </a:solidFill>
          <a:ln/>
        </p:spPr>
        <p:txBody>
          <a:bodyPr/>
          <a:lstStyle/>
          <a:p>
            <a:endParaRPr lang="en-US"/>
          </a:p>
        </p:txBody>
      </p:sp>
      <p:sp>
        <p:nvSpPr>
          <p:cNvPr id="21" name="Shape 19"/>
          <p:cNvSpPr/>
          <p:nvPr/>
        </p:nvSpPr>
        <p:spPr>
          <a:xfrm>
            <a:off x="466344" y="4041648"/>
            <a:ext cx="11283696" cy="749808"/>
          </a:xfrm>
          <a:prstGeom prst="rect">
            <a:avLst/>
          </a:prstGeom>
          <a:solidFill>
            <a:srgbClr val="EFF6FF"/>
          </a:solidFill>
          <a:ln w="12700">
            <a:solidFill>
              <a:srgbClr val="BFDBFE"/>
            </a:solidFill>
            <a:prstDash val="solid"/>
          </a:ln>
        </p:spPr>
        <p:txBody>
          <a:bodyPr/>
          <a:lstStyle/>
          <a:p>
            <a:endParaRPr lang="en-US"/>
          </a:p>
        </p:txBody>
      </p:sp>
      <p:sp>
        <p:nvSpPr>
          <p:cNvPr id="22" name="Text 20"/>
          <p:cNvSpPr txBox="1"/>
          <p:nvPr/>
        </p:nvSpPr>
        <p:spPr>
          <a:xfrm>
            <a:off x="612648" y="4133088"/>
            <a:ext cx="11045952" cy="566928"/>
          </a:xfrm>
          <a:prstGeom prst="rect">
            <a:avLst/>
          </a:prstGeom>
          <a:noFill/>
          <a:ln/>
        </p:spPr>
        <p:txBody>
          <a:bodyPr wrap="square" lIns="0" tIns="0" rIns="0" bIns="0" rtlCol="0" anchor="ctr"/>
          <a:lstStyle/>
          <a:p>
            <a:pPr marL="0" indent="0">
              <a:lnSpc>
                <a:spcPct val="135000"/>
              </a:lnSpc>
              <a:buNone/>
            </a:pPr>
            <a:r>
              <a:rPr lang="en-US" sz="1200" dirty="0">
                <a:solidFill>
                  <a:srgbClr val="1E3A8A"/>
                </a:solidFill>
                <a:latin typeface="Calibri" pitchFamily="34" charset="0"/>
                <a:ea typeface="Calibri" pitchFamily="34" charset="-122"/>
                <a:cs typeface="Calibri" pitchFamily="34" charset="-120"/>
              </a:rPr>
              <a:t>The grammar is where design choices become permanent. Once a rule requires parentheses, every programmer must include them — always. Grammar decisions shape the experience of writing in a language for decades.</a:t>
            </a:r>
            <a:endParaRPr lang="en-US" sz="1200" dirty="0"/>
          </a:p>
        </p:txBody>
      </p:sp>
      <p:sp>
        <p:nvSpPr>
          <p:cNvPr id="23" name="Shape 21"/>
          <p:cNvSpPr/>
          <p:nvPr/>
        </p:nvSpPr>
        <p:spPr>
          <a:xfrm>
            <a:off x="411480" y="4937760"/>
            <a:ext cx="54864" cy="749808"/>
          </a:xfrm>
          <a:prstGeom prst="rect">
            <a:avLst/>
          </a:prstGeom>
          <a:solidFill>
            <a:srgbClr val="6D28D9"/>
          </a:solidFill>
          <a:ln/>
        </p:spPr>
        <p:txBody>
          <a:bodyPr/>
          <a:lstStyle/>
          <a:p>
            <a:endParaRPr lang="en-US"/>
          </a:p>
        </p:txBody>
      </p:sp>
      <p:sp>
        <p:nvSpPr>
          <p:cNvPr id="24" name="Shape 22"/>
          <p:cNvSpPr/>
          <p:nvPr/>
        </p:nvSpPr>
        <p:spPr>
          <a:xfrm>
            <a:off x="466344" y="4937760"/>
            <a:ext cx="11283696" cy="749808"/>
          </a:xfrm>
          <a:prstGeom prst="rect">
            <a:avLst/>
          </a:prstGeom>
          <a:solidFill>
            <a:srgbClr val="F5F3FF"/>
          </a:solidFill>
          <a:ln w="12700">
            <a:solidFill>
              <a:srgbClr val="C4B5FD"/>
            </a:solidFill>
            <a:prstDash val="solid"/>
          </a:ln>
        </p:spPr>
        <p:txBody>
          <a:bodyPr/>
          <a:lstStyle/>
          <a:p>
            <a:endParaRPr lang="en-US"/>
          </a:p>
        </p:txBody>
      </p:sp>
      <p:sp>
        <p:nvSpPr>
          <p:cNvPr id="25" name="Text 23"/>
          <p:cNvSpPr txBox="1"/>
          <p:nvPr/>
        </p:nvSpPr>
        <p:spPr>
          <a:xfrm>
            <a:off x="612648" y="5029200"/>
            <a:ext cx="11045952" cy="219456"/>
          </a:xfrm>
          <a:prstGeom prst="rect">
            <a:avLst/>
          </a:prstGeom>
          <a:noFill/>
          <a:ln/>
        </p:spPr>
        <p:txBody>
          <a:bodyPr wrap="square" lIns="0" tIns="0" rIns="0" bIns="0" rtlCol="0" anchor="ctr"/>
          <a:lstStyle/>
          <a:p>
            <a:pPr marL="0" indent="0">
              <a:buNone/>
            </a:pPr>
            <a:r>
              <a:rPr lang="en-US" sz="1000" b="1" dirty="0">
                <a:solidFill>
                  <a:srgbClr val="6D28D9"/>
                </a:solidFill>
                <a:latin typeface="Calibri" pitchFamily="34" charset="0"/>
                <a:ea typeface="Calibri" pitchFamily="34" charset="-122"/>
                <a:cs typeface="Calibri" pitchFamily="34" charset="-120"/>
              </a:rPr>
              <a:t>🤔  THINK</a:t>
            </a:r>
            <a:endParaRPr lang="en-US" sz="1000" dirty="0"/>
          </a:p>
        </p:txBody>
      </p:sp>
      <p:sp>
        <p:nvSpPr>
          <p:cNvPr id="26" name="Text 24"/>
          <p:cNvSpPr txBox="1"/>
          <p:nvPr/>
        </p:nvSpPr>
        <p:spPr>
          <a:xfrm>
            <a:off x="612648" y="5266944"/>
            <a:ext cx="11045952" cy="329184"/>
          </a:xfrm>
          <a:prstGeom prst="rect">
            <a:avLst/>
          </a:prstGeom>
          <a:noFill/>
          <a:ln/>
        </p:spPr>
        <p:txBody>
          <a:bodyPr wrap="square" lIns="0" tIns="0" rIns="0" bIns="0" rtlCol="0" anchor="ctr"/>
          <a:lstStyle/>
          <a:p>
            <a:pPr marL="0" indent="0">
              <a:lnSpc>
                <a:spcPct val="135000"/>
              </a:lnSpc>
              <a:buNone/>
            </a:pPr>
            <a:r>
              <a:rPr lang="en-US" sz="1200" dirty="0">
                <a:solidFill>
                  <a:srgbClr val="4C1D95"/>
                </a:solidFill>
                <a:latin typeface="Calibri" pitchFamily="34" charset="0"/>
                <a:ea typeface="Calibri" pitchFamily="34" charset="-122"/>
                <a:cs typeface="Calibri" pitchFamily="34" charset="-120"/>
              </a:rPr>
              <a:t>Given the C grammar above, which is valid? A: if (x &gt; 0) { doA(); }  B: if x &gt; 0 { doA(); }  C: if (x &gt; 0) doA();</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A2B5E"/>
          </a:solidFill>
          <a:ln/>
        </p:spPr>
        <p:txBody>
          <a:bodyPr/>
          <a:lstStyle/>
          <a:p>
            <a:endParaRPr lang="en-US"/>
          </a:p>
        </p:txBody>
      </p:sp>
      <p:sp>
        <p:nvSpPr>
          <p:cNvPr id="3" name="Shape 1"/>
          <p:cNvSpPr/>
          <p:nvPr/>
        </p:nvSpPr>
        <p:spPr>
          <a:xfrm>
            <a:off x="3840480" y="0"/>
            <a:ext cx="8321040" cy="6858000"/>
          </a:xfrm>
          <a:prstGeom prst="rect">
            <a:avLst/>
          </a:prstGeom>
          <a:solidFill>
            <a:srgbClr val="F4F6FC"/>
          </a:solidFill>
          <a:ln/>
        </p:spPr>
        <p:txBody>
          <a:bodyPr/>
          <a:lstStyle/>
          <a:p>
            <a:endParaRPr lang="en-US"/>
          </a:p>
        </p:txBody>
      </p:sp>
      <p:sp>
        <p:nvSpPr>
          <p:cNvPr id="4" name="Text 2"/>
          <p:cNvSpPr txBox="1"/>
          <p:nvPr/>
        </p:nvSpPr>
        <p:spPr>
          <a:xfrm>
            <a:off x="274320" y="2560320"/>
            <a:ext cx="3291840" cy="274320"/>
          </a:xfrm>
          <a:prstGeom prst="rect">
            <a:avLst/>
          </a:prstGeom>
          <a:noFill/>
          <a:ln/>
        </p:spPr>
        <p:txBody>
          <a:bodyPr wrap="square" lIns="0" tIns="0" rIns="0" bIns="0" rtlCol="0" anchor="ctr"/>
          <a:lstStyle/>
          <a:p>
            <a:pPr marL="0" indent="0">
              <a:buNone/>
            </a:pPr>
            <a:r>
              <a:rPr lang="en-US" sz="1100" dirty="0">
                <a:solidFill>
                  <a:srgbClr val="7A90B8"/>
                </a:solidFill>
                <a:latin typeface="Calibri" pitchFamily="34" charset="0"/>
                <a:ea typeface="Calibri" pitchFamily="34" charset="-122"/>
                <a:cs typeface="Calibri" pitchFamily="34" charset="-120"/>
              </a:rPr>
              <a:t>Section 4</a:t>
            </a:r>
            <a:endParaRPr lang="en-US" sz="1100" dirty="0"/>
          </a:p>
        </p:txBody>
      </p:sp>
      <p:sp>
        <p:nvSpPr>
          <p:cNvPr id="5" name="Text 3"/>
          <p:cNvSpPr txBox="1"/>
          <p:nvPr/>
        </p:nvSpPr>
        <p:spPr>
          <a:xfrm>
            <a:off x="274320" y="2880360"/>
            <a:ext cx="3291840" cy="1645920"/>
          </a:xfrm>
          <a:prstGeom prst="rect">
            <a:avLst/>
          </a:prstGeom>
          <a:noFill/>
          <a:ln/>
        </p:spPr>
        <p:txBody>
          <a:bodyPr wrap="square" lIns="0" tIns="0" rIns="0" bIns="0" rtlCol="0" anchor="ctr"/>
          <a:lstStyle/>
          <a:p>
            <a:pPr marL="0" indent="0">
              <a:lnSpc>
                <a:spcPct val="110000"/>
              </a:lnSpc>
              <a:buNone/>
            </a:pPr>
            <a:r>
              <a:rPr lang="en-US" sz="2000" b="1" dirty="0">
                <a:solidFill>
                  <a:srgbClr val="FFFFFF"/>
                </a:solidFill>
                <a:latin typeface="Calibri" pitchFamily="34" charset="0"/>
                <a:ea typeface="Calibri" pitchFamily="34" charset="-122"/>
                <a:cs typeface="Calibri" pitchFamily="34" charset="-120"/>
              </a:rPr>
              <a:t>Syntax vs</a:t>
            </a:r>
            <a:endParaRPr lang="en-US" sz="2000" dirty="0"/>
          </a:p>
          <a:p>
            <a:pPr marL="0" indent="0">
              <a:lnSpc>
                <a:spcPct val="110000"/>
              </a:lnSpc>
              <a:buNone/>
            </a:pPr>
            <a:r>
              <a:rPr lang="en-US" sz="2000" b="1" dirty="0">
                <a:solidFill>
                  <a:srgbClr val="FFFFFF"/>
                </a:solidFill>
                <a:latin typeface="Calibri" pitchFamily="34" charset="0"/>
                <a:ea typeface="Calibri" pitchFamily="34" charset="-122"/>
                <a:cs typeface="Calibri" pitchFamily="34" charset="-120"/>
              </a:rPr>
              <a:t>Meaning</a:t>
            </a:r>
            <a:endParaRPr lang="en-US" sz="2000" dirty="0"/>
          </a:p>
        </p:txBody>
      </p:sp>
      <p:sp>
        <p:nvSpPr>
          <p:cNvPr id="6" name="Text 4"/>
          <p:cNvSpPr txBox="1"/>
          <p:nvPr/>
        </p:nvSpPr>
        <p:spPr>
          <a:xfrm>
            <a:off x="4206240" y="2651760"/>
            <a:ext cx="7680960" cy="1371600"/>
          </a:xfrm>
          <a:prstGeom prst="rect">
            <a:avLst/>
          </a:prstGeom>
          <a:noFill/>
          <a:ln/>
        </p:spPr>
        <p:txBody>
          <a:bodyPr wrap="square" lIns="0" tIns="0" rIns="0" bIns="0" rtlCol="0" anchor="ctr"/>
          <a:lstStyle/>
          <a:p>
            <a:pPr marL="0" indent="0">
              <a:lnSpc>
                <a:spcPct val="130000"/>
              </a:lnSpc>
              <a:buNone/>
            </a:pPr>
            <a:r>
              <a:rPr lang="en-US" sz="1600" dirty="0">
                <a:solidFill>
                  <a:srgbClr val="1E2A3A"/>
                </a:solidFill>
                <a:latin typeface="Calibri" pitchFamily="34" charset="0"/>
                <a:ea typeface="Calibri" pitchFamily="34" charset="-122"/>
                <a:cs typeface="Calibri" pitchFamily="34" charset="-120"/>
              </a:rPr>
              <a:t>Two completely separate questions a language asks about your code.</a:t>
            </a:r>
            <a:endParaRPr lang="en-US" sz="1600" dirty="0"/>
          </a:p>
        </p:txBody>
      </p:sp>
      <p:sp>
        <p:nvSpPr>
          <p:cNvPr id="7" name="Shape 5"/>
          <p:cNvSpPr/>
          <p:nvPr/>
        </p:nvSpPr>
        <p:spPr>
          <a:xfrm>
            <a:off x="4206240" y="1371600"/>
            <a:ext cx="3611880" cy="2926080"/>
          </a:xfrm>
          <a:prstGeom prst="rect">
            <a:avLst/>
          </a:prstGeom>
          <a:solidFill>
            <a:srgbClr val="EFF6FF"/>
          </a:solidFill>
          <a:ln w="12700">
            <a:solidFill>
              <a:srgbClr val="BFDBFE"/>
            </a:solidFill>
            <a:prstDash val="solid"/>
          </a:ln>
        </p:spPr>
        <p:txBody>
          <a:bodyPr/>
          <a:lstStyle/>
          <a:p>
            <a:endParaRPr lang="en-US"/>
          </a:p>
        </p:txBody>
      </p:sp>
      <p:sp>
        <p:nvSpPr>
          <p:cNvPr id="8" name="Text 6"/>
          <p:cNvSpPr txBox="1"/>
          <p:nvPr/>
        </p:nvSpPr>
        <p:spPr>
          <a:xfrm>
            <a:off x="4407408" y="1463040"/>
            <a:ext cx="3218688" cy="274320"/>
          </a:xfrm>
          <a:prstGeom prst="rect">
            <a:avLst/>
          </a:prstGeom>
          <a:noFill/>
          <a:ln/>
        </p:spPr>
        <p:txBody>
          <a:bodyPr wrap="square" lIns="0" tIns="0" rIns="0" bIns="0" rtlCol="0" anchor="ctr"/>
          <a:lstStyle/>
          <a:p>
            <a:pPr marL="0" indent="0">
              <a:buNone/>
            </a:pPr>
            <a:r>
              <a:rPr lang="en-US" sz="1400" b="1" dirty="0">
                <a:solidFill>
                  <a:srgbClr val="1E40AF"/>
                </a:solidFill>
                <a:latin typeface="Calibri" pitchFamily="34" charset="0"/>
                <a:ea typeface="Calibri" pitchFamily="34" charset="-122"/>
                <a:cs typeface="Calibri" pitchFamily="34" charset="-120"/>
              </a:rPr>
              <a:t>Syntax</a:t>
            </a:r>
            <a:endParaRPr lang="en-US" sz="1400" dirty="0"/>
          </a:p>
        </p:txBody>
      </p:sp>
      <p:sp>
        <p:nvSpPr>
          <p:cNvPr id="9" name="Text 7"/>
          <p:cNvSpPr txBox="1"/>
          <p:nvPr/>
        </p:nvSpPr>
        <p:spPr>
          <a:xfrm>
            <a:off x="4407408" y="1773936"/>
            <a:ext cx="3218688" cy="274320"/>
          </a:xfrm>
          <a:prstGeom prst="rect">
            <a:avLst/>
          </a:prstGeom>
          <a:noFill/>
          <a:ln/>
        </p:spPr>
        <p:txBody>
          <a:bodyPr wrap="square" lIns="0" tIns="0" rIns="0" bIns="0" rtlCol="0" anchor="ctr"/>
          <a:lstStyle/>
          <a:p>
            <a:pPr marL="0" indent="0">
              <a:buNone/>
            </a:pPr>
            <a:r>
              <a:rPr lang="en-US" sz="1200" dirty="0">
                <a:solidFill>
                  <a:srgbClr val="1E40AF"/>
                </a:solidFill>
                <a:latin typeface="Calibri" pitchFamily="34" charset="0"/>
                <a:ea typeface="Calibri" pitchFamily="34" charset="-122"/>
                <a:cs typeface="Calibri" pitchFamily="34" charset="-120"/>
              </a:rPr>
              <a:t>Is the code written correctly?</a:t>
            </a:r>
            <a:endParaRPr lang="en-US" sz="1200" dirty="0"/>
          </a:p>
        </p:txBody>
      </p:sp>
      <p:sp>
        <p:nvSpPr>
          <p:cNvPr id="10" name="Text 8"/>
          <p:cNvSpPr txBox="1"/>
          <p:nvPr/>
        </p:nvSpPr>
        <p:spPr>
          <a:xfrm>
            <a:off x="4407408" y="2084832"/>
            <a:ext cx="3218688" cy="1188720"/>
          </a:xfrm>
          <a:prstGeom prst="rect">
            <a:avLst/>
          </a:prstGeom>
          <a:noFill/>
          <a:ln/>
        </p:spPr>
        <p:txBody>
          <a:bodyPr wrap="square" lIns="0" tIns="0" rIns="0" bIns="0" rtlCol="0" anchor="ctr"/>
          <a:lstStyle/>
          <a:p>
            <a:pPr marL="0" indent="0">
              <a:lnSpc>
                <a:spcPct val="142000"/>
              </a:lnSpc>
              <a:buNone/>
            </a:pPr>
            <a:r>
              <a:rPr lang="en-US" sz="1200" dirty="0">
                <a:solidFill>
                  <a:srgbClr val="1E3A8A"/>
                </a:solidFill>
                <a:latin typeface="Calibri" pitchFamily="34" charset="0"/>
                <a:ea typeface="Calibri" pitchFamily="34" charset="-122"/>
                <a:cs typeface="Calibri" pitchFamily="34" charset="-120"/>
              </a:rPr>
              <a:t>Does this token arrangement follow the grammar rules?</a:t>
            </a:r>
            <a:endParaRPr lang="en-US" sz="1200" dirty="0"/>
          </a:p>
          <a:p>
            <a:pPr marL="0" indent="0">
              <a:lnSpc>
                <a:spcPct val="142000"/>
              </a:lnSpc>
              <a:buNone/>
            </a:pPr>
            <a:endParaRPr lang="en-US" sz="1200" dirty="0"/>
          </a:p>
          <a:p>
            <a:pPr marL="0" indent="0">
              <a:lnSpc>
                <a:spcPct val="142000"/>
              </a:lnSpc>
              <a:buNone/>
            </a:pPr>
            <a:r>
              <a:rPr lang="en-US" sz="1200" dirty="0">
                <a:solidFill>
                  <a:srgbClr val="1E3A8A"/>
                </a:solidFill>
                <a:latin typeface="Calibri" pitchFamily="34" charset="0"/>
                <a:ea typeface="Calibri" pitchFamily="34" charset="-122"/>
                <a:cs typeface="Calibri" pitchFamily="34" charset="-120"/>
              </a:rPr>
              <a:t>Checked BEFORE the program runs.</a:t>
            </a:r>
            <a:endParaRPr lang="en-US" sz="1200" dirty="0"/>
          </a:p>
        </p:txBody>
      </p:sp>
      <p:sp>
        <p:nvSpPr>
          <p:cNvPr id="11" name="Text 9"/>
          <p:cNvSpPr txBox="1"/>
          <p:nvPr/>
        </p:nvSpPr>
        <p:spPr>
          <a:xfrm>
            <a:off x="4407408" y="3657600"/>
            <a:ext cx="3218688" cy="502920"/>
          </a:xfrm>
          <a:prstGeom prst="rect">
            <a:avLst/>
          </a:prstGeom>
          <a:noFill/>
          <a:ln/>
        </p:spPr>
        <p:txBody>
          <a:bodyPr wrap="square" lIns="0" tIns="0" rIns="0" bIns="0" rtlCol="0" anchor="ctr"/>
          <a:lstStyle/>
          <a:p>
            <a:pPr marL="0" indent="0">
              <a:buNone/>
            </a:pPr>
            <a:r>
              <a:rPr lang="en-US" sz="1200" dirty="0">
                <a:solidFill>
                  <a:srgbClr val="1E40AF"/>
                </a:solidFill>
                <a:latin typeface="Courier New" pitchFamily="34" charset="0"/>
                <a:ea typeface="Courier New" pitchFamily="34" charset="-122"/>
                <a:cs typeface="Courier New" pitchFamily="34" charset="-120"/>
              </a:rPr>
              <a:t>Example: missing { }</a:t>
            </a:r>
            <a:endParaRPr lang="en-US" sz="1200" dirty="0"/>
          </a:p>
        </p:txBody>
      </p:sp>
      <p:sp>
        <p:nvSpPr>
          <p:cNvPr id="12" name="Shape 10"/>
          <p:cNvSpPr/>
          <p:nvPr/>
        </p:nvSpPr>
        <p:spPr>
          <a:xfrm>
            <a:off x="7955280" y="1371600"/>
            <a:ext cx="3611880" cy="2926080"/>
          </a:xfrm>
          <a:prstGeom prst="rect">
            <a:avLst/>
          </a:prstGeom>
          <a:solidFill>
            <a:srgbClr val="F0FDF4"/>
          </a:solidFill>
          <a:ln w="12700">
            <a:solidFill>
              <a:srgbClr val="BBF7D0"/>
            </a:solidFill>
            <a:prstDash val="solid"/>
          </a:ln>
        </p:spPr>
        <p:txBody>
          <a:bodyPr/>
          <a:lstStyle/>
          <a:p>
            <a:endParaRPr lang="en-US"/>
          </a:p>
        </p:txBody>
      </p:sp>
      <p:sp>
        <p:nvSpPr>
          <p:cNvPr id="13" name="Text 11"/>
          <p:cNvSpPr txBox="1"/>
          <p:nvPr/>
        </p:nvSpPr>
        <p:spPr>
          <a:xfrm>
            <a:off x="8156448" y="1463040"/>
            <a:ext cx="3218688" cy="274320"/>
          </a:xfrm>
          <a:prstGeom prst="rect">
            <a:avLst/>
          </a:prstGeom>
          <a:noFill/>
          <a:ln/>
        </p:spPr>
        <p:txBody>
          <a:bodyPr wrap="square" lIns="0" tIns="0" rIns="0" bIns="0" rtlCol="0" anchor="ctr"/>
          <a:lstStyle/>
          <a:p>
            <a:pPr marL="0" indent="0">
              <a:buNone/>
            </a:pPr>
            <a:r>
              <a:rPr lang="en-US" sz="1400" b="1" dirty="0">
                <a:solidFill>
                  <a:srgbClr val="1A7A3C"/>
                </a:solidFill>
                <a:latin typeface="Calibri" pitchFamily="34" charset="0"/>
                <a:ea typeface="Calibri" pitchFamily="34" charset="-122"/>
                <a:cs typeface="Calibri" pitchFamily="34" charset="-120"/>
              </a:rPr>
              <a:t>Semantics</a:t>
            </a:r>
            <a:endParaRPr lang="en-US" sz="1400" dirty="0"/>
          </a:p>
        </p:txBody>
      </p:sp>
      <p:sp>
        <p:nvSpPr>
          <p:cNvPr id="14" name="Text 12"/>
          <p:cNvSpPr txBox="1"/>
          <p:nvPr/>
        </p:nvSpPr>
        <p:spPr>
          <a:xfrm>
            <a:off x="8156448" y="1773936"/>
            <a:ext cx="3218688" cy="274320"/>
          </a:xfrm>
          <a:prstGeom prst="rect">
            <a:avLst/>
          </a:prstGeom>
          <a:noFill/>
          <a:ln/>
        </p:spPr>
        <p:txBody>
          <a:bodyPr wrap="square" lIns="0" tIns="0" rIns="0" bIns="0" rtlCol="0" anchor="ctr"/>
          <a:lstStyle/>
          <a:p>
            <a:pPr marL="0" indent="0">
              <a:buNone/>
            </a:pPr>
            <a:r>
              <a:rPr lang="en-US" sz="1200" dirty="0">
                <a:solidFill>
                  <a:srgbClr val="1A7A3C"/>
                </a:solidFill>
                <a:latin typeface="Calibri" pitchFamily="34" charset="0"/>
                <a:ea typeface="Calibri" pitchFamily="34" charset="-122"/>
                <a:cs typeface="Calibri" pitchFamily="34" charset="-120"/>
              </a:rPr>
              <a:t>Does the code mean something sensible?</a:t>
            </a:r>
            <a:endParaRPr lang="en-US" sz="1200" dirty="0"/>
          </a:p>
        </p:txBody>
      </p:sp>
      <p:sp>
        <p:nvSpPr>
          <p:cNvPr id="15" name="Text 13"/>
          <p:cNvSpPr txBox="1"/>
          <p:nvPr/>
        </p:nvSpPr>
        <p:spPr>
          <a:xfrm>
            <a:off x="8156448" y="2084832"/>
            <a:ext cx="3218688" cy="1188720"/>
          </a:xfrm>
          <a:prstGeom prst="rect">
            <a:avLst/>
          </a:prstGeom>
          <a:noFill/>
          <a:ln/>
        </p:spPr>
        <p:txBody>
          <a:bodyPr wrap="square" lIns="0" tIns="0" rIns="0" bIns="0" rtlCol="0" anchor="ctr"/>
          <a:lstStyle/>
          <a:p>
            <a:pPr marL="0" indent="0">
              <a:lnSpc>
                <a:spcPct val="142000"/>
              </a:lnSpc>
              <a:buNone/>
            </a:pPr>
            <a:r>
              <a:rPr lang="en-US" sz="1200" dirty="0">
                <a:solidFill>
                  <a:srgbClr val="1A7A3C"/>
                </a:solidFill>
                <a:latin typeface="Calibri" pitchFamily="34" charset="0"/>
                <a:ea typeface="Calibri" pitchFamily="34" charset="-122"/>
                <a:cs typeface="Calibri" pitchFamily="34" charset="-120"/>
              </a:rPr>
              <a:t>Are the types compatible?</a:t>
            </a:r>
            <a:endParaRPr lang="en-US" sz="1200" dirty="0"/>
          </a:p>
          <a:p>
            <a:pPr marL="0" indent="0">
              <a:lnSpc>
                <a:spcPct val="142000"/>
              </a:lnSpc>
              <a:buNone/>
            </a:pPr>
            <a:r>
              <a:rPr lang="en-US" sz="1200" dirty="0">
                <a:solidFill>
                  <a:srgbClr val="1A7A3C"/>
                </a:solidFill>
                <a:latin typeface="Calibri" pitchFamily="34" charset="0"/>
                <a:ea typeface="Calibri" pitchFamily="34" charset="-122"/>
                <a:cs typeface="Calibri" pitchFamily="34" charset="-120"/>
              </a:rPr>
              <a:t>Does the variable exist?</a:t>
            </a:r>
            <a:endParaRPr lang="en-US" sz="1200" dirty="0"/>
          </a:p>
          <a:p>
            <a:pPr marL="0" indent="0">
              <a:lnSpc>
                <a:spcPct val="142000"/>
              </a:lnSpc>
              <a:buNone/>
            </a:pPr>
            <a:endParaRPr lang="en-US" sz="1200" dirty="0"/>
          </a:p>
          <a:p>
            <a:pPr marL="0" indent="0">
              <a:lnSpc>
                <a:spcPct val="142000"/>
              </a:lnSpc>
              <a:buNone/>
            </a:pPr>
            <a:r>
              <a:rPr lang="en-US" sz="1200" dirty="0">
                <a:solidFill>
                  <a:srgbClr val="1A7A3C"/>
                </a:solidFill>
                <a:latin typeface="Calibri" pitchFamily="34" charset="0"/>
                <a:ea typeface="Calibri" pitchFamily="34" charset="-122"/>
                <a:cs typeface="Calibri" pitchFamily="34" charset="-120"/>
              </a:rPr>
              <a:t>Checked LATER — or at runtime.</a:t>
            </a:r>
            <a:endParaRPr lang="en-US" sz="1200" dirty="0"/>
          </a:p>
        </p:txBody>
      </p:sp>
      <p:sp>
        <p:nvSpPr>
          <p:cNvPr id="16" name="Text 14"/>
          <p:cNvSpPr txBox="1"/>
          <p:nvPr/>
        </p:nvSpPr>
        <p:spPr>
          <a:xfrm>
            <a:off x="8156448" y="3657600"/>
            <a:ext cx="3218688" cy="502920"/>
          </a:xfrm>
          <a:prstGeom prst="rect">
            <a:avLst/>
          </a:prstGeom>
          <a:noFill/>
          <a:ln/>
        </p:spPr>
        <p:txBody>
          <a:bodyPr wrap="square" lIns="0" tIns="0" rIns="0" bIns="0" rtlCol="0" anchor="ctr"/>
          <a:lstStyle/>
          <a:p>
            <a:pPr marL="0" indent="0">
              <a:buNone/>
            </a:pPr>
            <a:r>
              <a:rPr lang="en-US" sz="1200" dirty="0">
                <a:solidFill>
                  <a:srgbClr val="1A7A3C"/>
                </a:solidFill>
                <a:latin typeface="Courier New" pitchFamily="34" charset="0"/>
                <a:ea typeface="Courier New" pitchFamily="34" charset="-122"/>
                <a:cs typeface="Courier New" pitchFamily="34" charset="-120"/>
              </a:rPr>
              <a:t>Example: "hello" + 5</a:t>
            </a:r>
            <a:endParaRPr lang="en-US" sz="1200" dirty="0"/>
          </a:p>
        </p:txBody>
      </p:sp>
      <p:sp>
        <p:nvSpPr>
          <p:cNvPr id="17" name="Text 15"/>
          <p:cNvSpPr txBox="1"/>
          <p:nvPr/>
        </p:nvSpPr>
        <p:spPr>
          <a:xfrm>
            <a:off x="4206240" y="4462272"/>
            <a:ext cx="1828800" cy="274320"/>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Four examples:</a:t>
            </a:r>
            <a:endParaRPr lang="en-US" sz="1200" dirty="0"/>
          </a:p>
        </p:txBody>
      </p:sp>
      <p:sp>
        <p:nvSpPr>
          <p:cNvPr id="18" name="Text 16"/>
          <p:cNvSpPr txBox="1"/>
          <p:nvPr/>
        </p:nvSpPr>
        <p:spPr>
          <a:xfrm>
            <a:off x="4206240" y="4773168"/>
            <a:ext cx="2926080" cy="329184"/>
          </a:xfrm>
          <a:prstGeom prst="rect">
            <a:avLst/>
          </a:prstGeom>
          <a:noFill/>
          <a:ln/>
        </p:spPr>
        <p:txBody>
          <a:bodyPr wrap="square" lIns="0" tIns="0" rIns="0" bIns="0" rtlCol="0" anchor="ctr"/>
          <a:lstStyle/>
          <a:p>
            <a:pPr marL="0" indent="0">
              <a:buNone/>
            </a:pPr>
            <a:r>
              <a:rPr lang="en-US" sz="1100" dirty="0">
                <a:solidFill>
                  <a:srgbClr val="1A2B5E"/>
                </a:solidFill>
                <a:latin typeface="Courier New" pitchFamily="34" charset="0"/>
                <a:ea typeface="Courier New" pitchFamily="34" charset="-122"/>
                <a:cs typeface="Courier New" pitchFamily="34" charset="-120"/>
              </a:rPr>
              <a:t>int x = 5 + 3;</a:t>
            </a:r>
            <a:endParaRPr lang="en-US" sz="1100" dirty="0"/>
          </a:p>
        </p:txBody>
      </p:sp>
      <p:sp>
        <p:nvSpPr>
          <p:cNvPr id="19" name="Text 17"/>
          <p:cNvSpPr txBox="1"/>
          <p:nvPr/>
        </p:nvSpPr>
        <p:spPr>
          <a:xfrm>
            <a:off x="7269480" y="4773168"/>
            <a:ext cx="457200" cy="329184"/>
          </a:xfrm>
          <a:prstGeom prst="rect">
            <a:avLst/>
          </a:prstGeom>
          <a:noFill/>
          <a:ln/>
        </p:spPr>
        <p:txBody>
          <a:bodyPr wrap="square" lIns="0" tIns="0" rIns="0" bIns="0" rtlCol="0" anchor="ctr"/>
          <a:lstStyle/>
          <a:p>
            <a:pPr marL="0" indent="0" algn="ctr">
              <a:buNone/>
            </a:pPr>
            <a:r>
              <a:rPr lang="en-US" sz="1200" b="1" dirty="0">
                <a:solidFill>
                  <a:srgbClr val="1A7A3C"/>
                </a:solidFill>
                <a:latin typeface="Calibri" pitchFamily="34" charset="0"/>
                <a:ea typeface="Calibri" pitchFamily="34" charset="-122"/>
                <a:cs typeface="Calibri" pitchFamily="34" charset="-120"/>
              </a:rPr>
              <a:t>✓</a:t>
            </a:r>
            <a:endParaRPr lang="en-US" sz="1200" dirty="0"/>
          </a:p>
        </p:txBody>
      </p:sp>
      <p:sp>
        <p:nvSpPr>
          <p:cNvPr id="20" name="Text 18"/>
          <p:cNvSpPr txBox="1"/>
          <p:nvPr/>
        </p:nvSpPr>
        <p:spPr>
          <a:xfrm>
            <a:off x="7818120" y="4773168"/>
            <a:ext cx="457200" cy="329184"/>
          </a:xfrm>
          <a:prstGeom prst="rect">
            <a:avLst/>
          </a:prstGeom>
          <a:noFill/>
          <a:ln/>
        </p:spPr>
        <p:txBody>
          <a:bodyPr wrap="square" lIns="0" tIns="0" rIns="0" bIns="0" rtlCol="0" anchor="ctr"/>
          <a:lstStyle/>
          <a:p>
            <a:pPr marL="0" indent="0" algn="ctr">
              <a:buNone/>
            </a:pPr>
            <a:r>
              <a:rPr lang="en-US" sz="1200" b="1" dirty="0">
                <a:solidFill>
                  <a:srgbClr val="1A7A3C"/>
                </a:solidFill>
                <a:latin typeface="Calibri" pitchFamily="34" charset="0"/>
                <a:ea typeface="Calibri" pitchFamily="34" charset="-122"/>
                <a:cs typeface="Calibri" pitchFamily="34" charset="-120"/>
              </a:rPr>
              <a:t>✓</a:t>
            </a:r>
            <a:endParaRPr lang="en-US" sz="1200" dirty="0"/>
          </a:p>
        </p:txBody>
      </p:sp>
      <p:sp>
        <p:nvSpPr>
          <p:cNvPr id="21" name="Text 19"/>
          <p:cNvSpPr txBox="1"/>
          <p:nvPr/>
        </p:nvSpPr>
        <p:spPr>
          <a:xfrm>
            <a:off x="8394192" y="4773168"/>
            <a:ext cx="3520440" cy="329184"/>
          </a:xfrm>
          <a:prstGeom prst="rect">
            <a:avLst/>
          </a:prstGeom>
          <a:noFill/>
          <a:ln/>
        </p:spPr>
        <p:txBody>
          <a:bodyPr wrap="square" lIns="0" tIns="0" rIns="0" bIns="0" rtlCol="0" anchor="ctr"/>
          <a:lstStyle/>
          <a:p>
            <a:pPr marL="0" indent="0">
              <a:buNone/>
            </a:pPr>
            <a:r>
              <a:rPr lang="en-US" sz="1100" dirty="0">
                <a:solidFill>
                  <a:srgbClr val="5A6A82"/>
                </a:solidFill>
                <a:latin typeface="Calibri" pitchFamily="34" charset="0"/>
                <a:ea typeface="Calibri" pitchFamily="34" charset="-122"/>
                <a:cs typeface="Calibri" pitchFamily="34" charset="-120"/>
              </a:rPr>
              <a:t>Correct on both counts</a:t>
            </a:r>
            <a:endParaRPr lang="en-US" sz="1100" dirty="0"/>
          </a:p>
        </p:txBody>
      </p:sp>
      <p:sp>
        <p:nvSpPr>
          <p:cNvPr id="22" name="Text 20"/>
          <p:cNvSpPr txBox="1"/>
          <p:nvPr/>
        </p:nvSpPr>
        <p:spPr>
          <a:xfrm>
            <a:off x="4206240" y="5212080"/>
            <a:ext cx="2926080" cy="329184"/>
          </a:xfrm>
          <a:prstGeom prst="rect">
            <a:avLst/>
          </a:prstGeom>
          <a:noFill/>
          <a:ln/>
        </p:spPr>
        <p:txBody>
          <a:bodyPr wrap="square" lIns="0" tIns="0" rIns="0" bIns="0" rtlCol="0" anchor="ctr"/>
          <a:lstStyle/>
          <a:p>
            <a:pPr marL="0" indent="0">
              <a:buNone/>
            </a:pPr>
            <a:r>
              <a:rPr lang="en-US" sz="1100" dirty="0">
                <a:solidFill>
                  <a:srgbClr val="1A2B5E"/>
                </a:solidFill>
                <a:latin typeface="Courier New" pitchFamily="34" charset="0"/>
                <a:ea typeface="Courier New" pitchFamily="34" charset="-122"/>
                <a:cs typeface="Courier New" pitchFamily="34" charset="-120"/>
              </a:rPr>
              <a:t>int x = 5 + ;</a:t>
            </a:r>
            <a:endParaRPr lang="en-US" sz="1100" dirty="0"/>
          </a:p>
        </p:txBody>
      </p:sp>
      <p:sp>
        <p:nvSpPr>
          <p:cNvPr id="23" name="Text 21"/>
          <p:cNvSpPr txBox="1"/>
          <p:nvPr/>
        </p:nvSpPr>
        <p:spPr>
          <a:xfrm>
            <a:off x="7269480" y="5212080"/>
            <a:ext cx="457200" cy="329184"/>
          </a:xfrm>
          <a:prstGeom prst="rect">
            <a:avLst/>
          </a:prstGeom>
          <a:noFill/>
          <a:ln/>
        </p:spPr>
        <p:txBody>
          <a:bodyPr wrap="square" lIns="0" tIns="0" rIns="0" bIns="0" rtlCol="0" anchor="ctr"/>
          <a:lstStyle/>
          <a:p>
            <a:pPr marL="0" indent="0" algn="ctr">
              <a:buNone/>
            </a:pPr>
            <a:r>
              <a:rPr lang="en-US" sz="1200" b="1" dirty="0">
                <a:solidFill>
                  <a:srgbClr val="9B1C1C"/>
                </a:solidFill>
                <a:latin typeface="Calibri" pitchFamily="34" charset="0"/>
                <a:ea typeface="Calibri" pitchFamily="34" charset="-122"/>
                <a:cs typeface="Calibri" pitchFamily="34" charset="-120"/>
              </a:rPr>
              <a:t>✗</a:t>
            </a:r>
            <a:endParaRPr lang="en-US" sz="1200" dirty="0"/>
          </a:p>
        </p:txBody>
      </p:sp>
      <p:sp>
        <p:nvSpPr>
          <p:cNvPr id="24" name="Text 22"/>
          <p:cNvSpPr txBox="1"/>
          <p:nvPr/>
        </p:nvSpPr>
        <p:spPr>
          <a:xfrm>
            <a:off x="7818120" y="5212080"/>
            <a:ext cx="457200" cy="329184"/>
          </a:xfrm>
          <a:prstGeom prst="rect">
            <a:avLst/>
          </a:prstGeom>
          <a:noFill/>
          <a:ln/>
        </p:spPr>
        <p:txBody>
          <a:bodyPr wrap="square" lIns="0" tIns="0" rIns="0" bIns="0" rtlCol="0" anchor="ctr"/>
          <a:lstStyle/>
          <a:p>
            <a:pPr marL="0" indent="0" algn="ctr">
              <a:buNone/>
            </a:pPr>
            <a:r>
              <a:rPr lang="en-US" sz="1200" b="1" dirty="0">
                <a:solidFill>
                  <a:srgbClr val="5A6A82"/>
                </a:solidFill>
                <a:latin typeface="Calibri" pitchFamily="34" charset="0"/>
                <a:ea typeface="Calibri" pitchFamily="34" charset="-122"/>
                <a:cs typeface="Calibri" pitchFamily="34" charset="-120"/>
              </a:rPr>
              <a:t>—</a:t>
            </a:r>
            <a:endParaRPr lang="en-US" sz="1200" dirty="0"/>
          </a:p>
        </p:txBody>
      </p:sp>
      <p:sp>
        <p:nvSpPr>
          <p:cNvPr id="25" name="Text 23"/>
          <p:cNvSpPr txBox="1"/>
          <p:nvPr/>
        </p:nvSpPr>
        <p:spPr>
          <a:xfrm>
            <a:off x="8394192" y="5212080"/>
            <a:ext cx="3520440" cy="329184"/>
          </a:xfrm>
          <a:prstGeom prst="rect">
            <a:avLst/>
          </a:prstGeom>
          <a:noFill/>
          <a:ln/>
        </p:spPr>
        <p:txBody>
          <a:bodyPr wrap="square" lIns="0" tIns="0" rIns="0" bIns="0" rtlCol="0" anchor="ctr"/>
          <a:lstStyle/>
          <a:p>
            <a:pPr marL="0" indent="0">
              <a:buNone/>
            </a:pPr>
            <a:r>
              <a:rPr lang="en-US" sz="1100" dirty="0">
                <a:solidFill>
                  <a:srgbClr val="5A6A82"/>
                </a:solidFill>
                <a:latin typeface="Calibri" pitchFamily="34" charset="0"/>
                <a:ea typeface="Calibri" pitchFamily="34" charset="-122"/>
                <a:cs typeface="Calibri" pitchFamily="34" charset="-120"/>
              </a:rPr>
              <a:t>Syntax fails — grammar needs a value after +</a:t>
            </a:r>
            <a:endParaRPr lang="en-US" sz="1100" dirty="0"/>
          </a:p>
        </p:txBody>
      </p:sp>
      <p:sp>
        <p:nvSpPr>
          <p:cNvPr id="26" name="Text 24"/>
          <p:cNvSpPr txBox="1"/>
          <p:nvPr/>
        </p:nvSpPr>
        <p:spPr>
          <a:xfrm>
            <a:off x="4206240" y="5650992"/>
            <a:ext cx="2926080" cy="329184"/>
          </a:xfrm>
          <a:prstGeom prst="rect">
            <a:avLst/>
          </a:prstGeom>
          <a:noFill/>
          <a:ln/>
        </p:spPr>
        <p:txBody>
          <a:bodyPr wrap="square" lIns="0" tIns="0" rIns="0" bIns="0" rtlCol="0" anchor="ctr"/>
          <a:lstStyle/>
          <a:p>
            <a:pPr marL="0" indent="0">
              <a:buNone/>
            </a:pPr>
            <a:r>
              <a:rPr lang="en-US" sz="1100" dirty="0">
                <a:solidFill>
                  <a:srgbClr val="1A2B5E"/>
                </a:solidFill>
                <a:latin typeface="Courier New" pitchFamily="34" charset="0"/>
                <a:ea typeface="Courier New" pitchFamily="34" charset="-122"/>
                <a:cs typeface="Courier New" pitchFamily="34" charset="-120"/>
              </a:rPr>
              <a:t>"hello" + 3</a:t>
            </a:r>
            <a:endParaRPr lang="en-US" sz="1100" dirty="0"/>
          </a:p>
        </p:txBody>
      </p:sp>
      <p:sp>
        <p:nvSpPr>
          <p:cNvPr id="27" name="Text 25"/>
          <p:cNvSpPr txBox="1"/>
          <p:nvPr/>
        </p:nvSpPr>
        <p:spPr>
          <a:xfrm>
            <a:off x="7269480" y="5650992"/>
            <a:ext cx="457200" cy="329184"/>
          </a:xfrm>
          <a:prstGeom prst="rect">
            <a:avLst/>
          </a:prstGeom>
          <a:noFill/>
          <a:ln/>
        </p:spPr>
        <p:txBody>
          <a:bodyPr wrap="square" lIns="0" tIns="0" rIns="0" bIns="0" rtlCol="0" anchor="ctr"/>
          <a:lstStyle/>
          <a:p>
            <a:pPr marL="0" indent="0" algn="ctr">
              <a:buNone/>
            </a:pPr>
            <a:r>
              <a:rPr lang="en-US" sz="1200" b="1" dirty="0">
                <a:solidFill>
                  <a:srgbClr val="1A7A3C"/>
                </a:solidFill>
                <a:latin typeface="Calibri" pitchFamily="34" charset="0"/>
                <a:ea typeface="Calibri" pitchFamily="34" charset="-122"/>
                <a:cs typeface="Calibri" pitchFamily="34" charset="-120"/>
              </a:rPr>
              <a:t>✓</a:t>
            </a:r>
            <a:endParaRPr lang="en-US" sz="1200" dirty="0"/>
          </a:p>
        </p:txBody>
      </p:sp>
      <p:sp>
        <p:nvSpPr>
          <p:cNvPr id="28" name="Text 26"/>
          <p:cNvSpPr txBox="1"/>
          <p:nvPr/>
        </p:nvSpPr>
        <p:spPr>
          <a:xfrm>
            <a:off x="7818120" y="5650992"/>
            <a:ext cx="457200" cy="329184"/>
          </a:xfrm>
          <a:prstGeom prst="rect">
            <a:avLst/>
          </a:prstGeom>
          <a:noFill/>
          <a:ln/>
        </p:spPr>
        <p:txBody>
          <a:bodyPr wrap="square" lIns="0" tIns="0" rIns="0" bIns="0" rtlCol="0" anchor="ctr"/>
          <a:lstStyle/>
          <a:p>
            <a:pPr marL="0" indent="0" algn="ctr">
              <a:buNone/>
            </a:pPr>
            <a:r>
              <a:rPr lang="en-US" sz="1200" b="1" dirty="0">
                <a:solidFill>
                  <a:srgbClr val="9B1C1C"/>
                </a:solidFill>
                <a:latin typeface="Calibri" pitchFamily="34" charset="0"/>
                <a:ea typeface="Calibri" pitchFamily="34" charset="-122"/>
                <a:cs typeface="Calibri" pitchFamily="34" charset="-120"/>
              </a:rPr>
              <a:t>✗</a:t>
            </a:r>
            <a:endParaRPr lang="en-US" sz="1200" dirty="0"/>
          </a:p>
        </p:txBody>
      </p:sp>
      <p:sp>
        <p:nvSpPr>
          <p:cNvPr id="29" name="Text 27"/>
          <p:cNvSpPr txBox="1"/>
          <p:nvPr/>
        </p:nvSpPr>
        <p:spPr>
          <a:xfrm>
            <a:off x="8394192" y="5650992"/>
            <a:ext cx="3520440" cy="329184"/>
          </a:xfrm>
          <a:prstGeom prst="rect">
            <a:avLst/>
          </a:prstGeom>
          <a:noFill/>
          <a:ln/>
        </p:spPr>
        <p:txBody>
          <a:bodyPr wrap="square" lIns="0" tIns="0" rIns="0" bIns="0" rtlCol="0" anchor="ctr"/>
          <a:lstStyle/>
          <a:p>
            <a:pPr marL="0" indent="0">
              <a:buNone/>
            </a:pPr>
            <a:r>
              <a:rPr lang="en-US" sz="1100" dirty="0">
                <a:solidFill>
                  <a:srgbClr val="5A6A82"/>
                </a:solidFill>
                <a:latin typeface="Calibri" pitchFamily="34" charset="0"/>
                <a:ea typeface="Calibri" pitchFamily="34" charset="-122"/>
                <a:cs typeface="Calibri" pitchFamily="34" charset="-120"/>
              </a:rPr>
              <a:t>Valid structure, incompatible types</a:t>
            </a:r>
            <a:endParaRPr lang="en-US" sz="1100" dirty="0"/>
          </a:p>
        </p:txBody>
      </p:sp>
      <p:sp>
        <p:nvSpPr>
          <p:cNvPr id="30" name="Text 28"/>
          <p:cNvSpPr txBox="1"/>
          <p:nvPr/>
        </p:nvSpPr>
        <p:spPr>
          <a:xfrm>
            <a:off x="4206240" y="6089904"/>
            <a:ext cx="2926080" cy="329184"/>
          </a:xfrm>
          <a:prstGeom prst="rect">
            <a:avLst/>
          </a:prstGeom>
          <a:noFill/>
          <a:ln/>
        </p:spPr>
        <p:txBody>
          <a:bodyPr wrap="square" lIns="0" tIns="0" rIns="0" bIns="0" rtlCol="0" anchor="ctr"/>
          <a:lstStyle/>
          <a:p>
            <a:pPr marL="0" indent="0">
              <a:buNone/>
            </a:pPr>
            <a:r>
              <a:rPr lang="en-US" sz="1100" dirty="0">
                <a:solidFill>
                  <a:srgbClr val="1A2B5E"/>
                </a:solidFill>
                <a:latin typeface="Courier New" pitchFamily="34" charset="0"/>
                <a:ea typeface="Courier New" pitchFamily="34" charset="-122"/>
                <a:cs typeface="Courier New" pitchFamily="34" charset="-120"/>
              </a:rPr>
              <a:t>int x = y + 3; (y unknown)</a:t>
            </a:r>
            <a:endParaRPr lang="en-US" sz="1100" dirty="0"/>
          </a:p>
        </p:txBody>
      </p:sp>
      <p:sp>
        <p:nvSpPr>
          <p:cNvPr id="31" name="Text 29"/>
          <p:cNvSpPr txBox="1"/>
          <p:nvPr/>
        </p:nvSpPr>
        <p:spPr>
          <a:xfrm>
            <a:off x="7269480" y="6089904"/>
            <a:ext cx="457200" cy="329184"/>
          </a:xfrm>
          <a:prstGeom prst="rect">
            <a:avLst/>
          </a:prstGeom>
          <a:noFill/>
          <a:ln/>
        </p:spPr>
        <p:txBody>
          <a:bodyPr wrap="square" lIns="0" tIns="0" rIns="0" bIns="0" rtlCol="0" anchor="ctr"/>
          <a:lstStyle/>
          <a:p>
            <a:pPr marL="0" indent="0" algn="ctr">
              <a:buNone/>
            </a:pPr>
            <a:r>
              <a:rPr lang="en-US" sz="1200" b="1" dirty="0">
                <a:solidFill>
                  <a:srgbClr val="1A7A3C"/>
                </a:solidFill>
                <a:latin typeface="Calibri" pitchFamily="34" charset="0"/>
                <a:ea typeface="Calibri" pitchFamily="34" charset="-122"/>
                <a:cs typeface="Calibri" pitchFamily="34" charset="-120"/>
              </a:rPr>
              <a:t>✓</a:t>
            </a:r>
            <a:endParaRPr lang="en-US" sz="1200" dirty="0"/>
          </a:p>
        </p:txBody>
      </p:sp>
      <p:sp>
        <p:nvSpPr>
          <p:cNvPr id="32" name="Text 30"/>
          <p:cNvSpPr txBox="1"/>
          <p:nvPr/>
        </p:nvSpPr>
        <p:spPr>
          <a:xfrm>
            <a:off x="7818120" y="6089904"/>
            <a:ext cx="457200" cy="329184"/>
          </a:xfrm>
          <a:prstGeom prst="rect">
            <a:avLst/>
          </a:prstGeom>
          <a:noFill/>
          <a:ln/>
        </p:spPr>
        <p:txBody>
          <a:bodyPr wrap="square" lIns="0" tIns="0" rIns="0" bIns="0" rtlCol="0" anchor="ctr"/>
          <a:lstStyle/>
          <a:p>
            <a:pPr marL="0" indent="0" algn="ctr">
              <a:buNone/>
            </a:pPr>
            <a:r>
              <a:rPr lang="en-US" sz="1200" b="1" dirty="0">
                <a:solidFill>
                  <a:srgbClr val="9B1C1C"/>
                </a:solidFill>
                <a:latin typeface="Calibri" pitchFamily="34" charset="0"/>
                <a:ea typeface="Calibri" pitchFamily="34" charset="-122"/>
                <a:cs typeface="Calibri" pitchFamily="34" charset="-120"/>
              </a:rPr>
              <a:t>✗</a:t>
            </a:r>
            <a:endParaRPr lang="en-US" sz="1200" dirty="0"/>
          </a:p>
        </p:txBody>
      </p:sp>
      <p:sp>
        <p:nvSpPr>
          <p:cNvPr id="33" name="Text 31"/>
          <p:cNvSpPr txBox="1"/>
          <p:nvPr/>
        </p:nvSpPr>
        <p:spPr>
          <a:xfrm>
            <a:off x="8394192" y="6089904"/>
            <a:ext cx="3520440" cy="329184"/>
          </a:xfrm>
          <a:prstGeom prst="rect">
            <a:avLst/>
          </a:prstGeom>
          <a:noFill/>
          <a:ln/>
        </p:spPr>
        <p:txBody>
          <a:bodyPr wrap="square" lIns="0" tIns="0" rIns="0" bIns="0" rtlCol="0" anchor="ctr"/>
          <a:lstStyle/>
          <a:p>
            <a:pPr marL="0" indent="0">
              <a:buNone/>
            </a:pPr>
            <a:r>
              <a:rPr lang="en-US" sz="1100" dirty="0">
                <a:solidFill>
                  <a:srgbClr val="5A6A82"/>
                </a:solidFill>
                <a:latin typeface="Calibri" pitchFamily="34" charset="0"/>
                <a:ea typeface="Calibri" pitchFamily="34" charset="-122"/>
                <a:cs typeface="Calibri" pitchFamily="34" charset="-120"/>
              </a:rPr>
              <a:t>Valid structure, y does not exist</a:t>
            </a:r>
            <a:endParaRPr lang="en-US" sz="1100" dirty="0"/>
          </a:p>
        </p:txBody>
      </p:sp>
      <p:sp>
        <p:nvSpPr>
          <p:cNvPr id="34" name="Text 32"/>
          <p:cNvSpPr txBox="1"/>
          <p:nvPr/>
        </p:nvSpPr>
        <p:spPr>
          <a:xfrm>
            <a:off x="7269480" y="4608576"/>
            <a:ext cx="457200" cy="219456"/>
          </a:xfrm>
          <a:prstGeom prst="rect">
            <a:avLst/>
          </a:prstGeom>
          <a:noFill/>
          <a:ln/>
        </p:spPr>
        <p:txBody>
          <a:bodyPr wrap="square" lIns="0" tIns="0" rIns="0" bIns="0" rtlCol="0" anchor="ctr"/>
          <a:lstStyle/>
          <a:p>
            <a:pPr marL="0" indent="0" algn="ctr">
              <a:buNone/>
            </a:pPr>
            <a:r>
              <a:rPr lang="en-US" sz="1000" b="1" dirty="0">
                <a:solidFill>
                  <a:srgbClr val="5A6A82"/>
                </a:solidFill>
                <a:latin typeface="Calibri" pitchFamily="34" charset="0"/>
                <a:ea typeface="Calibri" pitchFamily="34" charset="-122"/>
                <a:cs typeface="Calibri" pitchFamily="34" charset="-120"/>
              </a:rPr>
              <a:t>Syntax</a:t>
            </a:r>
            <a:endParaRPr lang="en-US" sz="1000" dirty="0"/>
          </a:p>
        </p:txBody>
      </p:sp>
      <p:sp>
        <p:nvSpPr>
          <p:cNvPr id="35" name="Text 33"/>
          <p:cNvSpPr txBox="1"/>
          <p:nvPr/>
        </p:nvSpPr>
        <p:spPr>
          <a:xfrm>
            <a:off x="7818120" y="4608576"/>
            <a:ext cx="457200" cy="219456"/>
          </a:xfrm>
          <a:prstGeom prst="rect">
            <a:avLst/>
          </a:prstGeom>
          <a:noFill/>
          <a:ln/>
        </p:spPr>
        <p:txBody>
          <a:bodyPr wrap="square" lIns="0" tIns="0" rIns="0" bIns="0" rtlCol="0" anchor="ctr"/>
          <a:lstStyle/>
          <a:p>
            <a:pPr marL="0" indent="0" algn="ctr">
              <a:buNone/>
            </a:pPr>
            <a:r>
              <a:rPr lang="en-US" sz="1000" b="1" dirty="0">
                <a:solidFill>
                  <a:srgbClr val="5A6A82"/>
                </a:solidFill>
                <a:latin typeface="Calibri" pitchFamily="34" charset="0"/>
                <a:ea typeface="Calibri" pitchFamily="34" charset="-122"/>
                <a:cs typeface="Calibri" pitchFamily="34" charset="-120"/>
              </a:rPr>
              <a:t>Sem.</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A2B5E"/>
          </a:solidFill>
          <a:ln/>
        </p:spPr>
        <p:txBody>
          <a:bodyPr/>
          <a:lstStyle/>
          <a:p>
            <a:endParaRPr lang="en-US"/>
          </a:p>
        </p:txBody>
      </p:sp>
      <p:sp>
        <p:nvSpPr>
          <p:cNvPr id="3" name="Shape 1"/>
          <p:cNvSpPr/>
          <p:nvPr/>
        </p:nvSpPr>
        <p:spPr>
          <a:xfrm>
            <a:off x="3840480" y="0"/>
            <a:ext cx="8321040" cy="6858000"/>
          </a:xfrm>
          <a:prstGeom prst="rect">
            <a:avLst/>
          </a:prstGeom>
          <a:solidFill>
            <a:srgbClr val="F4F6FC"/>
          </a:solidFill>
          <a:ln/>
        </p:spPr>
        <p:txBody>
          <a:bodyPr/>
          <a:lstStyle/>
          <a:p>
            <a:endParaRPr lang="en-US"/>
          </a:p>
        </p:txBody>
      </p:sp>
      <p:sp>
        <p:nvSpPr>
          <p:cNvPr id="4" name="Text 2"/>
          <p:cNvSpPr txBox="1"/>
          <p:nvPr/>
        </p:nvSpPr>
        <p:spPr>
          <a:xfrm>
            <a:off x="274320" y="2560320"/>
            <a:ext cx="3291840" cy="274320"/>
          </a:xfrm>
          <a:prstGeom prst="rect">
            <a:avLst/>
          </a:prstGeom>
          <a:noFill/>
          <a:ln/>
        </p:spPr>
        <p:txBody>
          <a:bodyPr wrap="square" lIns="0" tIns="0" rIns="0" bIns="0" rtlCol="0" anchor="ctr"/>
          <a:lstStyle/>
          <a:p>
            <a:pPr marL="0" indent="0">
              <a:buNone/>
            </a:pPr>
            <a:r>
              <a:rPr lang="en-US" sz="1100" dirty="0">
                <a:solidFill>
                  <a:srgbClr val="7A90B8"/>
                </a:solidFill>
                <a:latin typeface="Calibri" pitchFamily="34" charset="0"/>
                <a:ea typeface="Calibri" pitchFamily="34" charset="-122"/>
                <a:cs typeface="Calibri" pitchFamily="34" charset="-120"/>
              </a:rPr>
              <a:t>Section 5</a:t>
            </a:r>
            <a:endParaRPr lang="en-US" sz="1100" dirty="0"/>
          </a:p>
        </p:txBody>
      </p:sp>
      <p:sp>
        <p:nvSpPr>
          <p:cNvPr id="5" name="Text 3"/>
          <p:cNvSpPr txBox="1"/>
          <p:nvPr/>
        </p:nvSpPr>
        <p:spPr>
          <a:xfrm>
            <a:off x="274320" y="2880360"/>
            <a:ext cx="3291840" cy="1645920"/>
          </a:xfrm>
          <a:prstGeom prst="rect">
            <a:avLst/>
          </a:prstGeom>
          <a:noFill/>
          <a:ln/>
        </p:spPr>
        <p:txBody>
          <a:bodyPr wrap="square" lIns="0" tIns="0" rIns="0" bIns="0" rtlCol="0" anchor="ctr"/>
          <a:lstStyle/>
          <a:p>
            <a:pPr marL="0" indent="0">
              <a:lnSpc>
                <a:spcPct val="110000"/>
              </a:lnSpc>
              <a:buNone/>
            </a:pPr>
            <a:r>
              <a:rPr lang="en-US" sz="2000" b="1" dirty="0">
                <a:solidFill>
                  <a:srgbClr val="FFFFFF"/>
                </a:solidFill>
                <a:latin typeface="Calibri" pitchFamily="34" charset="0"/>
                <a:ea typeface="Calibri" pitchFamily="34" charset="-122"/>
                <a:cs typeface="Calibri" pitchFamily="34" charset="-120"/>
              </a:rPr>
              <a:t>The Why</a:t>
            </a:r>
            <a:endParaRPr lang="en-US" sz="2000" dirty="0"/>
          </a:p>
        </p:txBody>
      </p:sp>
      <p:sp>
        <p:nvSpPr>
          <p:cNvPr id="6" name="Text 4"/>
          <p:cNvSpPr txBox="1"/>
          <p:nvPr/>
        </p:nvSpPr>
        <p:spPr>
          <a:xfrm>
            <a:off x="4206240" y="2651760"/>
            <a:ext cx="7680960" cy="1371600"/>
          </a:xfrm>
          <a:prstGeom prst="rect">
            <a:avLst/>
          </a:prstGeom>
          <a:noFill/>
          <a:ln/>
        </p:spPr>
        <p:txBody>
          <a:bodyPr wrap="square" lIns="0" tIns="0" rIns="0" bIns="0" rtlCol="0" anchor="ctr"/>
          <a:lstStyle/>
          <a:p>
            <a:pPr marL="0" indent="0">
              <a:lnSpc>
                <a:spcPct val="130000"/>
              </a:lnSpc>
              <a:buNone/>
            </a:pPr>
            <a:r>
              <a:rPr lang="en-US" sz="1600" dirty="0">
                <a:solidFill>
                  <a:srgbClr val="1E2A3A"/>
                </a:solidFill>
                <a:latin typeface="Calibri" pitchFamily="34" charset="0"/>
                <a:ea typeface="Calibri" pitchFamily="34" charset="-122"/>
                <a:cs typeface="Calibri" pitchFamily="34" charset="-120"/>
              </a:rPr>
              <a:t>Why did each language designer make these choices?</a:t>
            </a:r>
            <a:endParaRPr lang="en-US" sz="1600" dirty="0"/>
          </a:p>
        </p:txBody>
      </p:sp>
      <p:sp>
        <p:nvSpPr>
          <p:cNvPr id="7" name="Text 5"/>
          <p:cNvSpPr txBox="1"/>
          <p:nvPr/>
        </p:nvSpPr>
        <p:spPr>
          <a:xfrm>
            <a:off x="4206240" y="1371600"/>
            <a:ext cx="7680960" cy="274320"/>
          </a:xfrm>
          <a:prstGeom prst="rect">
            <a:avLst/>
          </a:prstGeom>
          <a:noFill/>
          <a:ln/>
        </p:spPr>
        <p:txBody>
          <a:bodyPr wrap="square" lIns="0" tIns="0" rIns="0" bIns="0" rtlCol="0" anchor="ctr"/>
          <a:lstStyle/>
          <a:p>
            <a:pPr marL="0" indent="0">
              <a:buNone/>
            </a:pPr>
            <a:r>
              <a:rPr lang="en-US" sz="1500" b="1" dirty="0">
                <a:solidFill>
                  <a:srgbClr val="1A2B5E"/>
                </a:solidFill>
                <a:latin typeface="Calibri" pitchFamily="34" charset="0"/>
                <a:ea typeface="Calibri" pitchFamily="34" charset="-122"/>
                <a:cs typeface="Calibri" pitchFamily="34" charset="-120"/>
              </a:rPr>
              <a:t>This is the most important section.</a:t>
            </a:r>
            <a:endParaRPr lang="en-US" sz="1500" dirty="0"/>
          </a:p>
        </p:txBody>
      </p:sp>
      <p:sp>
        <p:nvSpPr>
          <p:cNvPr id="8" name="Text 6"/>
          <p:cNvSpPr txBox="1"/>
          <p:nvPr/>
        </p:nvSpPr>
        <p:spPr>
          <a:xfrm>
            <a:off x="4206240" y="1700784"/>
            <a:ext cx="7680960" cy="804672"/>
          </a:xfrm>
          <a:prstGeom prst="rect">
            <a:avLst/>
          </a:prstGeom>
          <a:noFill/>
          <a:ln/>
        </p:spPr>
        <p:txBody>
          <a:bodyPr wrap="square" lIns="0" tIns="0" rIns="0" bIns="0" rtlCol="0" anchor="ctr"/>
          <a:lstStyle/>
          <a:p>
            <a:pPr marL="0" indent="0">
              <a:lnSpc>
                <a:spcPct val="142000"/>
              </a:lnSpc>
              <a:buNone/>
            </a:pPr>
            <a:r>
              <a:rPr lang="en-US" sz="1400" dirty="0">
                <a:solidFill>
                  <a:srgbClr val="1E2A3A"/>
                </a:solidFill>
                <a:latin typeface="Calibri" pitchFamily="34" charset="0"/>
                <a:ea typeface="Calibri" pitchFamily="34" charset="-122"/>
                <a:cs typeface="Calibri" pitchFamily="34" charset="-120"/>
              </a:rPr>
              <a:t>Listing the differences between C, Python, and C# is straightforward. Understanding why those differences exist — and what each choice costs — is the skill this course is building.</a:t>
            </a:r>
            <a:endParaRPr lang="en-US" sz="1400" dirty="0"/>
          </a:p>
        </p:txBody>
      </p:sp>
      <p:sp>
        <p:nvSpPr>
          <p:cNvPr id="9" name="Text 7"/>
          <p:cNvSpPr txBox="1"/>
          <p:nvPr/>
        </p:nvSpPr>
        <p:spPr>
          <a:xfrm>
            <a:off x="4206240" y="2651760"/>
            <a:ext cx="7680960" cy="292608"/>
          </a:xfrm>
          <a:prstGeom prst="rect">
            <a:avLst/>
          </a:prstGeom>
          <a:noFill/>
          <a:ln/>
        </p:spPr>
        <p:txBody>
          <a:bodyPr wrap="square" lIns="0" tIns="0" rIns="0" bIns="0" rtlCol="0" anchor="ctr"/>
          <a:lstStyle/>
          <a:p>
            <a:pPr marL="0" indent="0">
              <a:buNone/>
            </a:pPr>
            <a:r>
              <a:rPr lang="en-US" sz="1400" b="1" dirty="0">
                <a:solidFill>
                  <a:srgbClr val="1A2B5E"/>
                </a:solidFill>
                <a:latin typeface="Calibri" pitchFamily="34" charset="0"/>
                <a:ea typeface="Calibri" pitchFamily="34" charset="-122"/>
                <a:cs typeface="Calibri" pitchFamily="34" charset="-120"/>
              </a:rPr>
              <a:t>Every syntax decision involves a trade-off:</a:t>
            </a:r>
            <a:endParaRPr lang="en-US" sz="1400" dirty="0"/>
          </a:p>
        </p:txBody>
      </p:sp>
      <p:sp>
        <p:nvSpPr>
          <p:cNvPr id="10" name="Shape 8"/>
          <p:cNvSpPr/>
          <p:nvPr/>
        </p:nvSpPr>
        <p:spPr>
          <a:xfrm>
            <a:off x="4206240" y="3035808"/>
            <a:ext cx="3566160" cy="512064"/>
          </a:xfrm>
          <a:prstGeom prst="roundRect">
            <a:avLst>
              <a:gd name="adj" fmla="val 14286"/>
            </a:avLst>
          </a:prstGeom>
          <a:solidFill>
            <a:srgbClr val="F4F6FC"/>
          </a:solidFill>
          <a:ln w="12700">
            <a:solidFill>
              <a:srgbClr val="D0DAF0"/>
            </a:solidFill>
            <a:prstDash val="solid"/>
          </a:ln>
        </p:spPr>
        <p:txBody>
          <a:bodyPr/>
          <a:lstStyle/>
          <a:p>
            <a:endParaRPr lang="en-US"/>
          </a:p>
        </p:txBody>
      </p:sp>
      <p:sp>
        <p:nvSpPr>
          <p:cNvPr id="11" name="Text 9"/>
          <p:cNvSpPr txBox="1"/>
          <p:nvPr/>
        </p:nvSpPr>
        <p:spPr>
          <a:xfrm>
            <a:off x="4352544" y="3163824"/>
            <a:ext cx="3291840" cy="256032"/>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  Readability</a:t>
            </a:r>
            <a:endParaRPr lang="en-US" sz="1300" dirty="0"/>
          </a:p>
        </p:txBody>
      </p:sp>
      <p:sp>
        <p:nvSpPr>
          <p:cNvPr id="12" name="Shape 10"/>
          <p:cNvSpPr/>
          <p:nvPr/>
        </p:nvSpPr>
        <p:spPr>
          <a:xfrm>
            <a:off x="8092440" y="3035808"/>
            <a:ext cx="3566160" cy="512064"/>
          </a:xfrm>
          <a:prstGeom prst="roundRect">
            <a:avLst>
              <a:gd name="adj" fmla="val 14286"/>
            </a:avLst>
          </a:prstGeom>
          <a:solidFill>
            <a:srgbClr val="F4F6FC"/>
          </a:solidFill>
          <a:ln w="12700">
            <a:solidFill>
              <a:srgbClr val="D0DAF0"/>
            </a:solidFill>
            <a:prstDash val="solid"/>
          </a:ln>
        </p:spPr>
        <p:txBody>
          <a:bodyPr/>
          <a:lstStyle/>
          <a:p>
            <a:endParaRPr lang="en-US"/>
          </a:p>
        </p:txBody>
      </p:sp>
      <p:sp>
        <p:nvSpPr>
          <p:cNvPr id="13" name="Text 11"/>
          <p:cNvSpPr txBox="1"/>
          <p:nvPr/>
        </p:nvSpPr>
        <p:spPr>
          <a:xfrm>
            <a:off x="8238744" y="3163824"/>
            <a:ext cx="3291840" cy="256032"/>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  Explicitness</a:t>
            </a:r>
            <a:endParaRPr lang="en-US" sz="1300" dirty="0"/>
          </a:p>
        </p:txBody>
      </p:sp>
      <p:sp>
        <p:nvSpPr>
          <p:cNvPr id="14" name="Shape 12"/>
          <p:cNvSpPr/>
          <p:nvPr/>
        </p:nvSpPr>
        <p:spPr>
          <a:xfrm>
            <a:off x="4206240" y="3694176"/>
            <a:ext cx="3566160" cy="512064"/>
          </a:xfrm>
          <a:prstGeom prst="roundRect">
            <a:avLst>
              <a:gd name="adj" fmla="val 14286"/>
            </a:avLst>
          </a:prstGeom>
          <a:solidFill>
            <a:srgbClr val="F4F6FC"/>
          </a:solidFill>
          <a:ln w="12700">
            <a:solidFill>
              <a:srgbClr val="D0DAF0"/>
            </a:solidFill>
            <a:prstDash val="solid"/>
          </a:ln>
        </p:spPr>
        <p:txBody>
          <a:bodyPr/>
          <a:lstStyle/>
          <a:p>
            <a:endParaRPr lang="en-US"/>
          </a:p>
        </p:txBody>
      </p:sp>
      <p:sp>
        <p:nvSpPr>
          <p:cNvPr id="15" name="Text 13"/>
          <p:cNvSpPr txBox="1"/>
          <p:nvPr/>
        </p:nvSpPr>
        <p:spPr>
          <a:xfrm>
            <a:off x="4352544" y="3822192"/>
            <a:ext cx="3291840" cy="256032"/>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  Conciseness</a:t>
            </a:r>
            <a:endParaRPr lang="en-US" sz="1300" dirty="0"/>
          </a:p>
        </p:txBody>
      </p:sp>
      <p:sp>
        <p:nvSpPr>
          <p:cNvPr id="16" name="Shape 14"/>
          <p:cNvSpPr/>
          <p:nvPr/>
        </p:nvSpPr>
        <p:spPr>
          <a:xfrm>
            <a:off x="8092440" y="3694176"/>
            <a:ext cx="3566160" cy="512064"/>
          </a:xfrm>
          <a:prstGeom prst="roundRect">
            <a:avLst>
              <a:gd name="adj" fmla="val 14286"/>
            </a:avLst>
          </a:prstGeom>
          <a:solidFill>
            <a:srgbClr val="F4F6FC"/>
          </a:solidFill>
          <a:ln w="12700">
            <a:solidFill>
              <a:srgbClr val="D0DAF0"/>
            </a:solidFill>
            <a:prstDash val="solid"/>
          </a:ln>
        </p:spPr>
        <p:txBody>
          <a:bodyPr/>
          <a:lstStyle/>
          <a:p>
            <a:endParaRPr lang="en-US"/>
          </a:p>
        </p:txBody>
      </p:sp>
      <p:sp>
        <p:nvSpPr>
          <p:cNvPr id="17" name="Text 15"/>
          <p:cNvSpPr txBox="1"/>
          <p:nvPr/>
        </p:nvSpPr>
        <p:spPr>
          <a:xfrm>
            <a:off x="8238744" y="3822192"/>
            <a:ext cx="3291840" cy="256032"/>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  Consistency</a:t>
            </a:r>
            <a:endParaRPr lang="en-US" sz="1300" dirty="0"/>
          </a:p>
        </p:txBody>
      </p:sp>
      <p:sp>
        <p:nvSpPr>
          <p:cNvPr id="18" name="Shape 16"/>
          <p:cNvSpPr/>
          <p:nvPr/>
        </p:nvSpPr>
        <p:spPr>
          <a:xfrm>
            <a:off x="4206240" y="4352544"/>
            <a:ext cx="3566160" cy="512064"/>
          </a:xfrm>
          <a:prstGeom prst="roundRect">
            <a:avLst>
              <a:gd name="adj" fmla="val 14286"/>
            </a:avLst>
          </a:prstGeom>
          <a:solidFill>
            <a:srgbClr val="F4F6FC"/>
          </a:solidFill>
          <a:ln w="12700">
            <a:solidFill>
              <a:srgbClr val="D0DAF0"/>
            </a:solidFill>
            <a:prstDash val="solid"/>
          </a:ln>
        </p:spPr>
        <p:txBody>
          <a:bodyPr/>
          <a:lstStyle/>
          <a:p>
            <a:endParaRPr lang="en-US"/>
          </a:p>
        </p:txBody>
      </p:sp>
      <p:sp>
        <p:nvSpPr>
          <p:cNvPr id="19" name="Text 17"/>
          <p:cNvSpPr txBox="1"/>
          <p:nvPr/>
        </p:nvSpPr>
        <p:spPr>
          <a:xfrm>
            <a:off x="4352544" y="4480560"/>
            <a:ext cx="3291840" cy="256032"/>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  Ease of writing</a:t>
            </a:r>
            <a:endParaRPr lang="en-US" sz="1300" dirty="0"/>
          </a:p>
        </p:txBody>
      </p:sp>
      <p:sp>
        <p:nvSpPr>
          <p:cNvPr id="20" name="Shape 18"/>
          <p:cNvSpPr/>
          <p:nvPr/>
        </p:nvSpPr>
        <p:spPr>
          <a:xfrm>
            <a:off x="8092440" y="4352544"/>
            <a:ext cx="3566160" cy="512064"/>
          </a:xfrm>
          <a:prstGeom prst="roundRect">
            <a:avLst>
              <a:gd name="adj" fmla="val 14286"/>
            </a:avLst>
          </a:prstGeom>
          <a:solidFill>
            <a:srgbClr val="F4F6FC"/>
          </a:solidFill>
          <a:ln w="12700">
            <a:solidFill>
              <a:srgbClr val="D0DAF0"/>
            </a:solidFill>
            <a:prstDash val="solid"/>
          </a:ln>
        </p:spPr>
        <p:txBody>
          <a:bodyPr/>
          <a:lstStyle/>
          <a:p>
            <a:endParaRPr lang="en-US"/>
          </a:p>
        </p:txBody>
      </p:sp>
      <p:sp>
        <p:nvSpPr>
          <p:cNvPr id="21" name="Text 19"/>
          <p:cNvSpPr txBox="1"/>
          <p:nvPr/>
        </p:nvSpPr>
        <p:spPr>
          <a:xfrm>
            <a:off x="8238744" y="4480560"/>
            <a:ext cx="3291840" cy="256032"/>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  Reducing ambiguity</a:t>
            </a:r>
            <a:endParaRPr lang="en-US" sz="1300" dirty="0"/>
          </a:p>
        </p:txBody>
      </p:sp>
      <p:sp>
        <p:nvSpPr>
          <p:cNvPr id="22" name="Shape 20"/>
          <p:cNvSpPr/>
          <p:nvPr/>
        </p:nvSpPr>
        <p:spPr>
          <a:xfrm>
            <a:off x="4206240" y="4828032"/>
            <a:ext cx="54864" cy="749808"/>
          </a:xfrm>
          <a:prstGeom prst="rect">
            <a:avLst/>
          </a:prstGeom>
          <a:solidFill>
            <a:srgbClr val="2E5BFF"/>
          </a:solidFill>
          <a:ln/>
        </p:spPr>
        <p:txBody>
          <a:bodyPr/>
          <a:lstStyle/>
          <a:p>
            <a:endParaRPr lang="en-US"/>
          </a:p>
        </p:txBody>
      </p:sp>
      <p:sp>
        <p:nvSpPr>
          <p:cNvPr id="23" name="Shape 21"/>
          <p:cNvSpPr/>
          <p:nvPr/>
        </p:nvSpPr>
        <p:spPr>
          <a:xfrm>
            <a:off x="4261104" y="4828032"/>
            <a:ext cx="7626096" cy="749808"/>
          </a:xfrm>
          <a:prstGeom prst="rect">
            <a:avLst/>
          </a:prstGeom>
          <a:solidFill>
            <a:srgbClr val="EFF6FF"/>
          </a:solidFill>
          <a:ln w="12700">
            <a:solidFill>
              <a:srgbClr val="BFDBFE"/>
            </a:solidFill>
            <a:prstDash val="solid"/>
          </a:ln>
        </p:spPr>
        <p:txBody>
          <a:bodyPr/>
          <a:lstStyle/>
          <a:p>
            <a:endParaRPr lang="en-US"/>
          </a:p>
        </p:txBody>
      </p:sp>
      <p:sp>
        <p:nvSpPr>
          <p:cNvPr id="24" name="Text 22"/>
          <p:cNvSpPr txBox="1"/>
          <p:nvPr/>
        </p:nvSpPr>
        <p:spPr>
          <a:xfrm>
            <a:off x="4407408" y="4919472"/>
            <a:ext cx="7388352" cy="566928"/>
          </a:xfrm>
          <a:prstGeom prst="rect">
            <a:avLst/>
          </a:prstGeom>
          <a:noFill/>
          <a:ln/>
        </p:spPr>
        <p:txBody>
          <a:bodyPr wrap="square" lIns="0" tIns="0" rIns="0" bIns="0" rtlCol="0" anchor="ctr"/>
          <a:lstStyle/>
          <a:p>
            <a:pPr marL="0" indent="0">
              <a:lnSpc>
                <a:spcPct val="135000"/>
              </a:lnSpc>
              <a:buNone/>
            </a:pPr>
            <a:r>
              <a:rPr lang="en-US" sz="1200" dirty="0">
                <a:solidFill>
                  <a:srgbClr val="1E3A8A"/>
                </a:solidFill>
                <a:latin typeface="Calibri" pitchFamily="34" charset="0"/>
                <a:ea typeface="Calibri" pitchFamily="34" charset="-122"/>
                <a:cs typeface="Calibri" pitchFamily="34" charset="-120"/>
              </a:rPr>
              <a:t>There is no universally best syntax. Each language made deliberate choices about which of these goals to prioritise — and those choices had costs. That is what we examine now.</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51560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Trade-off 1 — Block Delimiters: Braces vs Indentation</a:t>
            </a:r>
            <a:endParaRPr lang="en-US" sz="2200" dirty="0"/>
          </a:p>
        </p:txBody>
      </p:sp>
      <p:sp>
        <p:nvSpPr>
          <p:cNvPr id="4" name="Text 2"/>
          <p:cNvSpPr txBox="1"/>
          <p:nvPr/>
        </p:nvSpPr>
        <p:spPr>
          <a:xfrm>
            <a:off x="10515600" y="256032"/>
            <a:ext cx="150876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5 · The Why</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The choice: How does the language mark which statements belong inside a block?</a:t>
            </a:r>
            <a:endParaRPr lang="en-US" sz="1300" dirty="0"/>
          </a:p>
        </p:txBody>
      </p:sp>
      <p:sp>
        <p:nvSpPr>
          <p:cNvPr id="6" name="Shape 4"/>
          <p:cNvSpPr/>
          <p:nvPr/>
        </p:nvSpPr>
        <p:spPr>
          <a:xfrm>
            <a:off x="411480" y="1353312"/>
            <a:ext cx="5532120" cy="3520440"/>
          </a:xfrm>
          <a:prstGeom prst="rect">
            <a:avLst/>
          </a:prstGeom>
          <a:solidFill>
            <a:srgbClr val="FFFFFF"/>
          </a:solidFill>
          <a:ln w="12700">
            <a:solidFill>
              <a:srgbClr val="D0DAF0"/>
            </a:solidFill>
            <a:prstDash val="solid"/>
          </a:ln>
        </p:spPr>
        <p:txBody>
          <a:bodyPr/>
          <a:lstStyle/>
          <a:p>
            <a:endParaRPr lang="en-US"/>
          </a:p>
        </p:txBody>
      </p:sp>
      <p:sp>
        <p:nvSpPr>
          <p:cNvPr id="7" name="Shape 5"/>
          <p:cNvSpPr/>
          <p:nvPr/>
        </p:nvSpPr>
        <p:spPr>
          <a:xfrm>
            <a:off x="411480" y="1353312"/>
            <a:ext cx="5532120" cy="347472"/>
          </a:xfrm>
          <a:prstGeom prst="rect">
            <a:avLst/>
          </a:prstGeom>
          <a:solidFill>
            <a:srgbClr val="E8F0FE"/>
          </a:solidFill>
          <a:ln w="12700">
            <a:solidFill>
              <a:srgbClr val="E8F0FE"/>
            </a:solidFill>
            <a:prstDash val="solid"/>
          </a:ln>
        </p:spPr>
        <p:txBody>
          <a:bodyPr/>
          <a:lstStyle/>
          <a:p>
            <a:endParaRPr lang="en-US"/>
          </a:p>
        </p:txBody>
      </p:sp>
      <p:sp>
        <p:nvSpPr>
          <p:cNvPr id="8" name="Shape 6"/>
          <p:cNvSpPr/>
          <p:nvPr/>
        </p:nvSpPr>
        <p:spPr>
          <a:xfrm>
            <a:off x="594360" y="1435608"/>
            <a:ext cx="685800" cy="256032"/>
          </a:xfrm>
          <a:prstGeom prst="roundRect">
            <a:avLst>
              <a:gd name="adj" fmla="val 28571"/>
            </a:avLst>
          </a:prstGeom>
          <a:solidFill>
            <a:srgbClr val="E8F0FE"/>
          </a:solidFill>
          <a:ln w="12700">
            <a:solidFill>
              <a:srgbClr val="E8F0FE"/>
            </a:solidFill>
            <a:prstDash val="solid"/>
          </a:ln>
        </p:spPr>
        <p:txBody>
          <a:bodyPr/>
          <a:lstStyle/>
          <a:p>
            <a:endParaRPr lang="en-US"/>
          </a:p>
        </p:txBody>
      </p:sp>
      <p:sp>
        <p:nvSpPr>
          <p:cNvPr id="9" name="Text 7"/>
          <p:cNvSpPr txBox="1"/>
          <p:nvPr/>
        </p:nvSpPr>
        <p:spPr>
          <a:xfrm>
            <a:off x="630936" y="1463040"/>
            <a:ext cx="612648" cy="201168"/>
          </a:xfrm>
          <a:prstGeom prst="rect">
            <a:avLst/>
          </a:prstGeom>
          <a:noFill/>
          <a:ln/>
        </p:spPr>
        <p:txBody>
          <a:bodyPr wrap="square" lIns="0" tIns="0" rIns="0" bIns="0" rtlCol="0" anchor="ctr"/>
          <a:lstStyle/>
          <a:p>
            <a:pPr marL="0" indent="0" algn="ctr">
              <a:buNone/>
            </a:pPr>
            <a:r>
              <a:rPr lang="en-US" sz="1000" b="1" dirty="0">
                <a:solidFill>
                  <a:srgbClr val="2E5BFF"/>
                </a:solidFill>
                <a:latin typeface="Courier New" pitchFamily="34" charset="0"/>
                <a:ea typeface="Courier New" pitchFamily="34" charset="-122"/>
                <a:cs typeface="Courier New" pitchFamily="34" charset="-120"/>
              </a:rPr>
              <a:t>C / C#</a:t>
            </a:r>
            <a:endParaRPr lang="en-US" sz="1000" dirty="0"/>
          </a:p>
        </p:txBody>
      </p:sp>
      <p:sp>
        <p:nvSpPr>
          <p:cNvPr id="10" name="Text 8"/>
          <p:cNvSpPr txBox="1"/>
          <p:nvPr/>
        </p:nvSpPr>
        <p:spPr>
          <a:xfrm>
            <a:off x="1417320" y="1435608"/>
            <a:ext cx="4389120" cy="237744"/>
          </a:xfrm>
          <a:prstGeom prst="rect">
            <a:avLst/>
          </a:prstGeom>
          <a:noFill/>
          <a:ln/>
        </p:spPr>
        <p:txBody>
          <a:bodyPr wrap="square" lIns="0" tIns="0" rIns="0" bIns="0" rtlCol="0" anchor="ctr"/>
          <a:lstStyle/>
          <a:p>
            <a:pPr marL="0" indent="0">
              <a:buNone/>
            </a:pPr>
            <a:r>
              <a:rPr lang="en-US" sz="1300" b="1" dirty="0">
                <a:solidFill>
                  <a:srgbClr val="2E5BFF"/>
                </a:solidFill>
                <a:latin typeface="Calibri" pitchFamily="34" charset="0"/>
                <a:ea typeface="Calibri" pitchFamily="34" charset="-122"/>
                <a:cs typeface="Calibri" pitchFamily="34" charset="-120"/>
              </a:rPr>
              <a:t>— Curly Braces</a:t>
            </a:r>
            <a:endParaRPr lang="en-US" sz="1300" dirty="0"/>
          </a:p>
        </p:txBody>
      </p:sp>
      <p:sp>
        <p:nvSpPr>
          <p:cNvPr id="11" name="Shape 9"/>
          <p:cNvSpPr/>
          <p:nvPr/>
        </p:nvSpPr>
        <p:spPr>
          <a:xfrm>
            <a:off x="594360" y="1773936"/>
            <a:ext cx="5120640" cy="1234440"/>
          </a:xfrm>
          <a:prstGeom prst="rect">
            <a:avLst/>
          </a:prstGeom>
          <a:solidFill>
            <a:srgbClr val="EEF1FA"/>
          </a:solidFill>
          <a:ln w="12700">
            <a:solidFill>
              <a:srgbClr val="D0DAF0"/>
            </a:solidFill>
            <a:prstDash val="solid"/>
          </a:ln>
        </p:spPr>
        <p:txBody>
          <a:bodyPr/>
          <a:lstStyle/>
          <a:p>
            <a:endParaRPr lang="en-US"/>
          </a:p>
        </p:txBody>
      </p:sp>
      <p:sp>
        <p:nvSpPr>
          <p:cNvPr id="12" name="Text 10"/>
          <p:cNvSpPr txBox="1"/>
          <p:nvPr/>
        </p:nvSpPr>
        <p:spPr>
          <a:xfrm>
            <a:off x="722376" y="1865376"/>
            <a:ext cx="4919472" cy="106984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if (x &gt; 0)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doA();</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doB();</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doC();</a:t>
            </a:r>
            <a:endParaRPr lang="en-US" sz="1100" dirty="0"/>
          </a:p>
        </p:txBody>
      </p:sp>
      <p:sp>
        <p:nvSpPr>
          <p:cNvPr id="13" name="Shape 11"/>
          <p:cNvSpPr/>
          <p:nvPr/>
        </p:nvSpPr>
        <p:spPr>
          <a:xfrm>
            <a:off x="594360" y="3090672"/>
            <a:ext cx="5120640" cy="384048"/>
          </a:xfrm>
          <a:prstGeom prst="rect">
            <a:avLst/>
          </a:prstGeom>
          <a:solidFill>
            <a:srgbClr val="EAF7EE"/>
          </a:solidFill>
          <a:ln w="12700">
            <a:solidFill>
              <a:srgbClr val="6EE7B7"/>
            </a:solidFill>
            <a:prstDash val="solid"/>
          </a:ln>
        </p:spPr>
        <p:txBody>
          <a:bodyPr/>
          <a:lstStyle/>
          <a:p>
            <a:endParaRPr lang="en-US"/>
          </a:p>
        </p:txBody>
      </p:sp>
      <p:sp>
        <p:nvSpPr>
          <p:cNvPr id="14" name="Text 12"/>
          <p:cNvSpPr txBox="1"/>
          <p:nvPr/>
        </p:nvSpPr>
        <p:spPr>
          <a:xfrm>
            <a:off x="685800" y="3136392"/>
            <a:ext cx="4983480" cy="292608"/>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  Structure is always explicit — no guessing where blocks end</a:t>
            </a:r>
            <a:endParaRPr lang="en-US" sz="1100" dirty="0"/>
          </a:p>
        </p:txBody>
      </p:sp>
      <p:sp>
        <p:nvSpPr>
          <p:cNvPr id="15" name="Shape 13"/>
          <p:cNvSpPr/>
          <p:nvPr/>
        </p:nvSpPr>
        <p:spPr>
          <a:xfrm>
            <a:off x="594360" y="3511296"/>
            <a:ext cx="5120640" cy="384048"/>
          </a:xfrm>
          <a:prstGeom prst="rect">
            <a:avLst/>
          </a:prstGeom>
          <a:solidFill>
            <a:srgbClr val="EAF7EE"/>
          </a:solidFill>
          <a:ln w="12700">
            <a:solidFill>
              <a:srgbClr val="6EE7B7"/>
            </a:solidFill>
            <a:prstDash val="solid"/>
          </a:ln>
        </p:spPr>
        <p:txBody>
          <a:bodyPr/>
          <a:lstStyle/>
          <a:p>
            <a:endParaRPr lang="en-US"/>
          </a:p>
        </p:txBody>
      </p:sp>
      <p:sp>
        <p:nvSpPr>
          <p:cNvPr id="16" name="Text 14"/>
          <p:cNvSpPr txBox="1"/>
          <p:nvPr/>
        </p:nvSpPr>
        <p:spPr>
          <a:xfrm>
            <a:off x="685800" y="3557016"/>
            <a:ext cx="4983480" cy="292608"/>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  Code can be formatted any way the programmer likes</a:t>
            </a:r>
            <a:endParaRPr lang="en-US" sz="1100" dirty="0"/>
          </a:p>
        </p:txBody>
      </p:sp>
      <p:sp>
        <p:nvSpPr>
          <p:cNvPr id="17" name="Shape 15"/>
          <p:cNvSpPr/>
          <p:nvPr/>
        </p:nvSpPr>
        <p:spPr>
          <a:xfrm>
            <a:off x="594360" y="3931920"/>
            <a:ext cx="5120640" cy="384048"/>
          </a:xfrm>
          <a:prstGeom prst="rect">
            <a:avLst/>
          </a:prstGeom>
          <a:solidFill>
            <a:srgbClr val="FEF2F2"/>
          </a:solidFill>
          <a:ln w="12700">
            <a:solidFill>
              <a:srgbClr val="FCA5A5"/>
            </a:solidFill>
            <a:prstDash val="solid"/>
          </a:ln>
        </p:spPr>
        <p:txBody>
          <a:bodyPr/>
          <a:lstStyle/>
          <a:p>
            <a:endParaRPr lang="en-US"/>
          </a:p>
        </p:txBody>
      </p:sp>
      <p:sp>
        <p:nvSpPr>
          <p:cNvPr id="18" name="Text 16"/>
          <p:cNvSpPr txBox="1"/>
          <p:nvPr/>
        </p:nvSpPr>
        <p:spPr>
          <a:xfrm>
            <a:off x="685800" y="3977640"/>
            <a:ext cx="4983480" cy="292608"/>
          </a:xfrm>
          <a:prstGeom prst="rect">
            <a:avLst/>
          </a:prstGeom>
          <a:noFill/>
          <a:ln/>
        </p:spPr>
        <p:txBody>
          <a:bodyPr wrap="square" lIns="0" tIns="0" rIns="0" bIns="0" rtlCol="0" anchor="ctr"/>
          <a:lstStyle/>
          <a:p>
            <a:pPr marL="0" indent="0">
              <a:buNone/>
            </a:pPr>
            <a:r>
              <a:rPr lang="en-US" sz="1100" dirty="0">
                <a:solidFill>
                  <a:srgbClr val="9B1C1C"/>
                </a:solidFill>
                <a:latin typeface="Calibri" pitchFamily="34" charset="0"/>
                <a:ea typeface="Calibri" pitchFamily="34" charset="-122"/>
                <a:cs typeface="Calibri" pitchFamily="34" charset="-120"/>
              </a:rPr>
              <a:t>✗  Braces to type and forget — missing } causes confusing errors</a:t>
            </a:r>
            <a:endParaRPr lang="en-US" sz="1100" dirty="0"/>
          </a:p>
        </p:txBody>
      </p:sp>
      <p:sp>
        <p:nvSpPr>
          <p:cNvPr id="19" name="Shape 17"/>
          <p:cNvSpPr/>
          <p:nvPr/>
        </p:nvSpPr>
        <p:spPr>
          <a:xfrm>
            <a:off x="594360" y="4352544"/>
            <a:ext cx="5120640" cy="384048"/>
          </a:xfrm>
          <a:prstGeom prst="rect">
            <a:avLst/>
          </a:prstGeom>
          <a:solidFill>
            <a:srgbClr val="FEF2F2"/>
          </a:solidFill>
          <a:ln w="12700">
            <a:solidFill>
              <a:srgbClr val="FCA5A5"/>
            </a:solidFill>
            <a:prstDash val="solid"/>
          </a:ln>
        </p:spPr>
        <p:txBody>
          <a:bodyPr/>
          <a:lstStyle/>
          <a:p>
            <a:endParaRPr lang="en-US"/>
          </a:p>
        </p:txBody>
      </p:sp>
      <p:sp>
        <p:nvSpPr>
          <p:cNvPr id="20" name="Text 18"/>
          <p:cNvSpPr txBox="1"/>
          <p:nvPr/>
        </p:nvSpPr>
        <p:spPr>
          <a:xfrm>
            <a:off x="685800" y="4398264"/>
            <a:ext cx="4983480" cy="292608"/>
          </a:xfrm>
          <a:prstGeom prst="rect">
            <a:avLst/>
          </a:prstGeom>
          <a:noFill/>
          <a:ln/>
        </p:spPr>
        <p:txBody>
          <a:bodyPr wrap="square" lIns="0" tIns="0" rIns="0" bIns="0" rtlCol="0" anchor="ctr"/>
          <a:lstStyle/>
          <a:p>
            <a:pPr marL="0" indent="0">
              <a:buNone/>
            </a:pPr>
            <a:r>
              <a:rPr lang="en-US" sz="1100" dirty="0">
                <a:solidFill>
                  <a:srgbClr val="9B1C1C"/>
                </a:solidFill>
                <a:latin typeface="Calibri" pitchFamily="34" charset="0"/>
                <a:ea typeface="Calibri" pitchFamily="34" charset="-122"/>
                <a:cs typeface="Calibri" pitchFamily="34" charset="-120"/>
              </a:rPr>
              <a:t>✗  Omitting braces for single-line blocks is legal but risky</a:t>
            </a:r>
            <a:endParaRPr lang="en-US" sz="1100" dirty="0"/>
          </a:p>
        </p:txBody>
      </p:sp>
      <p:sp>
        <p:nvSpPr>
          <p:cNvPr id="21" name="Shape 19"/>
          <p:cNvSpPr/>
          <p:nvPr/>
        </p:nvSpPr>
        <p:spPr>
          <a:xfrm>
            <a:off x="6263640" y="1353312"/>
            <a:ext cx="5486400" cy="3520440"/>
          </a:xfrm>
          <a:prstGeom prst="rect">
            <a:avLst/>
          </a:prstGeom>
          <a:solidFill>
            <a:srgbClr val="FFFFFF"/>
          </a:solidFill>
          <a:ln w="12700">
            <a:solidFill>
              <a:srgbClr val="D0DAF0"/>
            </a:solidFill>
            <a:prstDash val="solid"/>
          </a:ln>
        </p:spPr>
        <p:txBody>
          <a:bodyPr/>
          <a:lstStyle/>
          <a:p>
            <a:endParaRPr lang="en-US"/>
          </a:p>
        </p:txBody>
      </p:sp>
      <p:sp>
        <p:nvSpPr>
          <p:cNvPr id="22" name="Shape 20"/>
          <p:cNvSpPr/>
          <p:nvPr/>
        </p:nvSpPr>
        <p:spPr>
          <a:xfrm>
            <a:off x="6263640" y="1353312"/>
            <a:ext cx="5486400" cy="347472"/>
          </a:xfrm>
          <a:prstGeom prst="rect">
            <a:avLst/>
          </a:prstGeom>
          <a:solidFill>
            <a:srgbClr val="FEF3E8"/>
          </a:solidFill>
          <a:ln w="12700">
            <a:solidFill>
              <a:srgbClr val="FEF3E8"/>
            </a:solidFill>
            <a:prstDash val="solid"/>
          </a:ln>
        </p:spPr>
        <p:txBody>
          <a:bodyPr/>
          <a:lstStyle/>
          <a:p>
            <a:endParaRPr lang="en-US"/>
          </a:p>
        </p:txBody>
      </p:sp>
      <p:sp>
        <p:nvSpPr>
          <p:cNvPr id="23" name="Shape 21"/>
          <p:cNvSpPr/>
          <p:nvPr/>
        </p:nvSpPr>
        <p:spPr>
          <a:xfrm>
            <a:off x="6446520" y="1435608"/>
            <a:ext cx="685800" cy="256032"/>
          </a:xfrm>
          <a:prstGeom prst="roundRect">
            <a:avLst>
              <a:gd name="adj" fmla="val 28571"/>
            </a:avLst>
          </a:prstGeom>
          <a:solidFill>
            <a:srgbClr val="FEF3E8"/>
          </a:solidFill>
          <a:ln w="12700">
            <a:solidFill>
              <a:srgbClr val="FEF3E8"/>
            </a:solidFill>
            <a:prstDash val="solid"/>
          </a:ln>
        </p:spPr>
        <p:txBody>
          <a:bodyPr/>
          <a:lstStyle/>
          <a:p>
            <a:endParaRPr lang="en-US"/>
          </a:p>
        </p:txBody>
      </p:sp>
      <p:sp>
        <p:nvSpPr>
          <p:cNvPr id="24" name="Text 22"/>
          <p:cNvSpPr txBox="1"/>
          <p:nvPr/>
        </p:nvSpPr>
        <p:spPr>
          <a:xfrm>
            <a:off x="6483096" y="1463040"/>
            <a:ext cx="612648" cy="201168"/>
          </a:xfrm>
          <a:prstGeom prst="rect">
            <a:avLst/>
          </a:prstGeom>
          <a:noFill/>
          <a:ln/>
        </p:spPr>
        <p:txBody>
          <a:bodyPr wrap="square" lIns="0" tIns="0" rIns="0" bIns="0" rtlCol="0" anchor="ctr"/>
          <a:lstStyle/>
          <a:p>
            <a:pPr marL="0" indent="0" algn="ctr">
              <a:buNone/>
            </a:pPr>
            <a:r>
              <a:rPr lang="en-US" sz="1000" b="1" dirty="0">
                <a:solidFill>
                  <a:srgbClr val="C05E00"/>
                </a:solidFill>
                <a:latin typeface="Courier New" pitchFamily="34" charset="0"/>
                <a:ea typeface="Courier New" pitchFamily="34" charset="-122"/>
                <a:cs typeface="Courier New" pitchFamily="34" charset="-120"/>
              </a:rPr>
              <a:t>Python</a:t>
            </a:r>
            <a:endParaRPr lang="en-US" sz="1000" dirty="0"/>
          </a:p>
        </p:txBody>
      </p:sp>
      <p:sp>
        <p:nvSpPr>
          <p:cNvPr id="25" name="Text 23"/>
          <p:cNvSpPr txBox="1"/>
          <p:nvPr/>
        </p:nvSpPr>
        <p:spPr>
          <a:xfrm>
            <a:off x="7269480" y="1435608"/>
            <a:ext cx="4297680" cy="237744"/>
          </a:xfrm>
          <a:prstGeom prst="rect">
            <a:avLst/>
          </a:prstGeom>
          <a:noFill/>
          <a:ln/>
        </p:spPr>
        <p:txBody>
          <a:bodyPr wrap="square" lIns="0" tIns="0" rIns="0" bIns="0" rtlCol="0" anchor="ctr"/>
          <a:lstStyle/>
          <a:p>
            <a:pPr marL="0" indent="0">
              <a:buNone/>
            </a:pPr>
            <a:r>
              <a:rPr lang="en-US" sz="1300" b="1" dirty="0">
                <a:solidFill>
                  <a:srgbClr val="C05E00"/>
                </a:solidFill>
                <a:latin typeface="Calibri" pitchFamily="34" charset="0"/>
                <a:ea typeface="Calibri" pitchFamily="34" charset="-122"/>
                <a:cs typeface="Calibri" pitchFamily="34" charset="-120"/>
              </a:rPr>
              <a:t>— Indentation</a:t>
            </a:r>
            <a:endParaRPr lang="en-US" sz="1300" dirty="0"/>
          </a:p>
        </p:txBody>
      </p:sp>
      <p:sp>
        <p:nvSpPr>
          <p:cNvPr id="26" name="Shape 24"/>
          <p:cNvSpPr/>
          <p:nvPr/>
        </p:nvSpPr>
        <p:spPr>
          <a:xfrm>
            <a:off x="6446520" y="1773936"/>
            <a:ext cx="5120640" cy="1234440"/>
          </a:xfrm>
          <a:prstGeom prst="rect">
            <a:avLst/>
          </a:prstGeom>
          <a:solidFill>
            <a:srgbClr val="EEF1FA"/>
          </a:solidFill>
          <a:ln w="12700">
            <a:solidFill>
              <a:srgbClr val="D0DAF0"/>
            </a:solidFill>
            <a:prstDash val="solid"/>
          </a:ln>
        </p:spPr>
        <p:txBody>
          <a:bodyPr/>
          <a:lstStyle/>
          <a:p>
            <a:endParaRPr lang="en-US"/>
          </a:p>
        </p:txBody>
      </p:sp>
      <p:sp>
        <p:nvSpPr>
          <p:cNvPr id="27" name="Text 25"/>
          <p:cNvSpPr txBox="1"/>
          <p:nvPr/>
        </p:nvSpPr>
        <p:spPr>
          <a:xfrm>
            <a:off x="6574536" y="1865376"/>
            <a:ext cx="4919472" cy="106984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if x &gt; 0:</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do_a()</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do_b()</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do_c()</a:t>
            </a:r>
            <a:endParaRPr lang="en-US" sz="1100" dirty="0"/>
          </a:p>
        </p:txBody>
      </p:sp>
      <p:sp>
        <p:nvSpPr>
          <p:cNvPr id="28" name="Shape 26"/>
          <p:cNvSpPr/>
          <p:nvPr/>
        </p:nvSpPr>
        <p:spPr>
          <a:xfrm>
            <a:off x="6446520" y="3090672"/>
            <a:ext cx="5120640" cy="384048"/>
          </a:xfrm>
          <a:prstGeom prst="rect">
            <a:avLst/>
          </a:prstGeom>
          <a:solidFill>
            <a:srgbClr val="EAF7EE"/>
          </a:solidFill>
          <a:ln w="12700">
            <a:solidFill>
              <a:srgbClr val="6EE7B7"/>
            </a:solidFill>
            <a:prstDash val="solid"/>
          </a:ln>
        </p:spPr>
        <p:txBody>
          <a:bodyPr/>
          <a:lstStyle/>
          <a:p>
            <a:endParaRPr lang="en-US"/>
          </a:p>
        </p:txBody>
      </p:sp>
      <p:sp>
        <p:nvSpPr>
          <p:cNvPr id="29" name="Text 27"/>
          <p:cNvSpPr txBox="1"/>
          <p:nvPr/>
        </p:nvSpPr>
        <p:spPr>
          <a:xfrm>
            <a:off x="6537960" y="3136392"/>
            <a:ext cx="4983480" cy="292608"/>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  Visual structure always matches logical structure — enforced</a:t>
            </a:r>
            <a:endParaRPr lang="en-US" sz="1100" dirty="0"/>
          </a:p>
        </p:txBody>
      </p:sp>
      <p:sp>
        <p:nvSpPr>
          <p:cNvPr id="30" name="Shape 28"/>
          <p:cNvSpPr/>
          <p:nvPr/>
        </p:nvSpPr>
        <p:spPr>
          <a:xfrm>
            <a:off x="6446520" y="3511296"/>
            <a:ext cx="5120640" cy="384048"/>
          </a:xfrm>
          <a:prstGeom prst="rect">
            <a:avLst/>
          </a:prstGeom>
          <a:solidFill>
            <a:srgbClr val="EAF7EE"/>
          </a:solidFill>
          <a:ln w="12700">
            <a:solidFill>
              <a:srgbClr val="6EE7B7"/>
            </a:solidFill>
            <a:prstDash val="solid"/>
          </a:ln>
        </p:spPr>
        <p:txBody>
          <a:bodyPr/>
          <a:lstStyle/>
          <a:p>
            <a:endParaRPr lang="en-US"/>
          </a:p>
        </p:txBody>
      </p:sp>
      <p:sp>
        <p:nvSpPr>
          <p:cNvPr id="31" name="Text 29"/>
          <p:cNvSpPr txBox="1"/>
          <p:nvPr/>
        </p:nvSpPr>
        <p:spPr>
          <a:xfrm>
            <a:off x="6537960" y="3557016"/>
            <a:ext cx="4983480" cy="292608"/>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  All Python code in the world is consistently indented</a:t>
            </a:r>
            <a:endParaRPr lang="en-US" sz="1100" dirty="0"/>
          </a:p>
        </p:txBody>
      </p:sp>
      <p:sp>
        <p:nvSpPr>
          <p:cNvPr id="32" name="Shape 30"/>
          <p:cNvSpPr/>
          <p:nvPr/>
        </p:nvSpPr>
        <p:spPr>
          <a:xfrm>
            <a:off x="6446520" y="3931920"/>
            <a:ext cx="5120640" cy="384048"/>
          </a:xfrm>
          <a:prstGeom prst="rect">
            <a:avLst/>
          </a:prstGeom>
          <a:solidFill>
            <a:srgbClr val="FEF2F2"/>
          </a:solidFill>
          <a:ln w="12700">
            <a:solidFill>
              <a:srgbClr val="FCA5A5"/>
            </a:solidFill>
            <a:prstDash val="solid"/>
          </a:ln>
        </p:spPr>
        <p:txBody>
          <a:bodyPr/>
          <a:lstStyle/>
          <a:p>
            <a:endParaRPr lang="en-US"/>
          </a:p>
        </p:txBody>
      </p:sp>
      <p:sp>
        <p:nvSpPr>
          <p:cNvPr id="33" name="Text 31"/>
          <p:cNvSpPr txBox="1"/>
          <p:nvPr/>
        </p:nvSpPr>
        <p:spPr>
          <a:xfrm>
            <a:off x="6537960" y="3977640"/>
            <a:ext cx="4983480" cy="292608"/>
          </a:xfrm>
          <a:prstGeom prst="rect">
            <a:avLst/>
          </a:prstGeom>
          <a:noFill/>
          <a:ln/>
        </p:spPr>
        <p:txBody>
          <a:bodyPr wrap="square" lIns="0" tIns="0" rIns="0" bIns="0" rtlCol="0" anchor="ctr"/>
          <a:lstStyle/>
          <a:p>
            <a:pPr marL="0" indent="0">
              <a:buNone/>
            </a:pPr>
            <a:r>
              <a:rPr lang="en-US" sz="1100" dirty="0">
                <a:solidFill>
                  <a:srgbClr val="9B1C1C"/>
                </a:solidFill>
                <a:latin typeface="Calibri" pitchFamily="34" charset="0"/>
                <a:ea typeface="Calibri" pitchFamily="34" charset="-122"/>
                <a:cs typeface="Calibri" pitchFamily="34" charset="-120"/>
              </a:rPr>
              <a:t>✗  Mixing tabs and spaces silently breaks programs</a:t>
            </a:r>
            <a:endParaRPr lang="en-US" sz="1100" dirty="0"/>
          </a:p>
        </p:txBody>
      </p:sp>
      <p:sp>
        <p:nvSpPr>
          <p:cNvPr id="34" name="Shape 32"/>
          <p:cNvSpPr/>
          <p:nvPr/>
        </p:nvSpPr>
        <p:spPr>
          <a:xfrm>
            <a:off x="6446520" y="4352544"/>
            <a:ext cx="5120640" cy="384048"/>
          </a:xfrm>
          <a:prstGeom prst="rect">
            <a:avLst/>
          </a:prstGeom>
          <a:solidFill>
            <a:srgbClr val="FEF2F2"/>
          </a:solidFill>
          <a:ln w="12700">
            <a:solidFill>
              <a:srgbClr val="FCA5A5"/>
            </a:solidFill>
            <a:prstDash val="solid"/>
          </a:ln>
        </p:spPr>
        <p:txBody>
          <a:bodyPr/>
          <a:lstStyle/>
          <a:p>
            <a:endParaRPr lang="en-US"/>
          </a:p>
        </p:txBody>
      </p:sp>
      <p:sp>
        <p:nvSpPr>
          <p:cNvPr id="35" name="Text 33"/>
          <p:cNvSpPr txBox="1"/>
          <p:nvPr/>
        </p:nvSpPr>
        <p:spPr>
          <a:xfrm>
            <a:off x="6537960" y="4398264"/>
            <a:ext cx="4983480" cy="292608"/>
          </a:xfrm>
          <a:prstGeom prst="rect">
            <a:avLst/>
          </a:prstGeom>
          <a:noFill/>
          <a:ln/>
        </p:spPr>
        <p:txBody>
          <a:bodyPr wrap="square" lIns="0" tIns="0" rIns="0" bIns="0" rtlCol="0" anchor="ctr"/>
          <a:lstStyle/>
          <a:p>
            <a:pPr marL="0" indent="0">
              <a:buNone/>
            </a:pPr>
            <a:r>
              <a:rPr lang="en-US" sz="1100" dirty="0">
                <a:solidFill>
                  <a:srgbClr val="9B1C1C"/>
                </a:solidFill>
                <a:latin typeface="Calibri" pitchFamily="34" charset="0"/>
                <a:ea typeface="Calibri" pitchFamily="34" charset="-122"/>
                <a:cs typeface="Calibri" pitchFamily="34" charset="-120"/>
              </a:rPr>
              <a:t>✗  Pasting code from other sources can corrupt indentation</a:t>
            </a:r>
            <a:endParaRPr lang="en-US" sz="1100" dirty="0"/>
          </a:p>
        </p:txBody>
      </p:sp>
      <p:sp>
        <p:nvSpPr>
          <p:cNvPr id="36" name="Shape 34"/>
          <p:cNvSpPr/>
          <p:nvPr/>
        </p:nvSpPr>
        <p:spPr>
          <a:xfrm>
            <a:off x="411480" y="5029200"/>
            <a:ext cx="54864" cy="658368"/>
          </a:xfrm>
          <a:prstGeom prst="rect">
            <a:avLst/>
          </a:prstGeom>
          <a:solidFill>
            <a:srgbClr val="2E5BFF"/>
          </a:solidFill>
          <a:ln/>
        </p:spPr>
        <p:txBody>
          <a:bodyPr/>
          <a:lstStyle/>
          <a:p>
            <a:endParaRPr lang="en-US"/>
          </a:p>
        </p:txBody>
      </p:sp>
      <p:sp>
        <p:nvSpPr>
          <p:cNvPr id="37" name="Shape 35"/>
          <p:cNvSpPr/>
          <p:nvPr/>
        </p:nvSpPr>
        <p:spPr>
          <a:xfrm>
            <a:off x="466344" y="5029200"/>
            <a:ext cx="11283696" cy="658368"/>
          </a:xfrm>
          <a:prstGeom prst="rect">
            <a:avLst/>
          </a:prstGeom>
          <a:solidFill>
            <a:srgbClr val="EFF6FF"/>
          </a:solidFill>
          <a:ln w="12700">
            <a:solidFill>
              <a:srgbClr val="BFDBFE"/>
            </a:solidFill>
            <a:prstDash val="solid"/>
          </a:ln>
        </p:spPr>
        <p:txBody>
          <a:bodyPr/>
          <a:lstStyle/>
          <a:p>
            <a:endParaRPr lang="en-US"/>
          </a:p>
        </p:txBody>
      </p:sp>
      <p:sp>
        <p:nvSpPr>
          <p:cNvPr id="38" name="Text 36"/>
          <p:cNvSpPr txBox="1"/>
          <p:nvPr/>
        </p:nvSpPr>
        <p:spPr>
          <a:xfrm>
            <a:off x="612648" y="5120640"/>
            <a:ext cx="11045952" cy="475488"/>
          </a:xfrm>
          <a:prstGeom prst="rect">
            <a:avLst/>
          </a:prstGeom>
          <a:noFill/>
          <a:ln/>
        </p:spPr>
        <p:txBody>
          <a:bodyPr wrap="square" lIns="0" tIns="0" rIns="0" bIns="0" rtlCol="0" anchor="ctr"/>
          <a:lstStyle/>
          <a:p>
            <a:pPr marL="0" indent="0">
              <a:lnSpc>
                <a:spcPct val="135000"/>
              </a:lnSpc>
              <a:buNone/>
            </a:pPr>
            <a:r>
              <a:rPr lang="en-US" sz="1200" dirty="0">
                <a:solidFill>
                  <a:srgbClr val="1E3A8A"/>
                </a:solidFill>
                <a:latin typeface="Calibri" pitchFamily="34" charset="0"/>
                <a:ea typeface="Calibri" pitchFamily="34" charset="-122"/>
                <a:cs typeface="Calibri" pitchFamily="34" charset="-120"/>
              </a:rPr>
              <a:t>Design lesson: Braces give the compiler authority over structure. Indentation gives the programmer's visual layout authority. Neither is universally better — they are different bets on what matters most.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51560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Trade-offs 2, 3, and 4 — Three More Design Decisions</a:t>
            </a:r>
            <a:endParaRPr lang="en-US" sz="2200" dirty="0"/>
          </a:p>
        </p:txBody>
      </p:sp>
      <p:sp>
        <p:nvSpPr>
          <p:cNvPr id="4" name="Text 2"/>
          <p:cNvSpPr txBox="1"/>
          <p:nvPr/>
        </p:nvSpPr>
        <p:spPr>
          <a:xfrm>
            <a:off x="10515600" y="256032"/>
            <a:ext cx="150876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5 · The Why</a:t>
            </a:r>
            <a:endParaRPr lang="en-US" sz="900" dirty="0"/>
          </a:p>
        </p:txBody>
      </p:sp>
      <p:sp>
        <p:nvSpPr>
          <p:cNvPr id="5" name="Shape 3"/>
          <p:cNvSpPr/>
          <p:nvPr/>
        </p:nvSpPr>
        <p:spPr>
          <a:xfrm>
            <a:off x="411480" y="960120"/>
            <a:ext cx="11338560" cy="1417320"/>
          </a:xfrm>
          <a:prstGeom prst="rect">
            <a:avLst/>
          </a:prstGeom>
          <a:solidFill>
            <a:srgbClr val="FFFFFF"/>
          </a:solidFill>
          <a:ln w="12700">
            <a:solidFill>
              <a:srgbClr val="D0DAF0"/>
            </a:solidFill>
            <a:prstDash val="solid"/>
          </a:ln>
        </p:spPr>
        <p:txBody>
          <a:bodyPr/>
          <a:lstStyle/>
          <a:p>
            <a:endParaRPr lang="en-US"/>
          </a:p>
        </p:txBody>
      </p:sp>
      <p:sp>
        <p:nvSpPr>
          <p:cNvPr id="6" name="Text 4"/>
          <p:cNvSpPr txBox="1"/>
          <p:nvPr/>
        </p:nvSpPr>
        <p:spPr>
          <a:xfrm>
            <a:off x="594360" y="1033272"/>
            <a:ext cx="7315200" cy="256032"/>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Trade-off 2 — Semicolons vs Newlines</a:t>
            </a:r>
            <a:endParaRPr lang="en-US" sz="1300" dirty="0"/>
          </a:p>
        </p:txBody>
      </p:sp>
      <p:sp>
        <p:nvSpPr>
          <p:cNvPr id="7" name="Shape 5"/>
          <p:cNvSpPr/>
          <p:nvPr/>
        </p:nvSpPr>
        <p:spPr>
          <a:xfrm>
            <a:off x="594360" y="1371600"/>
            <a:ext cx="685800" cy="256032"/>
          </a:xfrm>
          <a:prstGeom prst="roundRect">
            <a:avLst>
              <a:gd name="adj" fmla="val 28571"/>
            </a:avLst>
          </a:prstGeom>
          <a:solidFill>
            <a:srgbClr val="E8F0FE"/>
          </a:solidFill>
          <a:ln w="12700">
            <a:solidFill>
              <a:srgbClr val="E8F0FE"/>
            </a:solidFill>
            <a:prstDash val="solid"/>
          </a:ln>
        </p:spPr>
        <p:txBody>
          <a:bodyPr/>
          <a:lstStyle/>
          <a:p>
            <a:endParaRPr lang="en-US"/>
          </a:p>
        </p:txBody>
      </p:sp>
      <p:sp>
        <p:nvSpPr>
          <p:cNvPr id="8" name="Text 6"/>
          <p:cNvSpPr txBox="1"/>
          <p:nvPr/>
        </p:nvSpPr>
        <p:spPr>
          <a:xfrm>
            <a:off x="630936" y="1399032"/>
            <a:ext cx="612648" cy="201168"/>
          </a:xfrm>
          <a:prstGeom prst="rect">
            <a:avLst/>
          </a:prstGeom>
          <a:noFill/>
          <a:ln/>
        </p:spPr>
        <p:txBody>
          <a:bodyPr wrap="square" lIns="0" tIns="0" rIns="0" bIns="0" rtlCol="0" anchor="ctr"/>
          <a:lstStyle/>
          <a:p>
            <a:pPr marL="0" indent="0" algn="ctr">
              <a:buNone/>
            </a:pPr>
            <a:r>
              <a:rPr lang="en-US" sz="1000" b="1" dirty="0">
                <a:solidFill>
                  <a:srgbClr val="2E5BFF"/>
                </a:solidFill>
                <a:latin typeface="Courier New" pitchFamily="34" charset="0"/>
                <a:ea typeface="Courier New" pitchFamily="34" charset="-122"/>
                <a:cs typeface="Courier New" pitchFamily="34" charset="-120"/>
              </a:rPr>
              <a:t>C / C#</a:t>
            </a:r>
            <a:endParaRPr lang="en-US" sz="1000" dirty="0"/>
          </a:p>
        </p:txBody>
      </p:sp>
      <p:sp>
        <p:nvSpPr>
          <p:cNvPr id="9" name="Shape 7"/>
          <p:cNvSpPr/>
          <p:nvPr/>
        </p:nvSpPr>
        <p:spPr>
          <a:xfrm>
            <a:off x="1417320" y="1335024"/>
            <a:ext cx="2743200" cy="475488"/>
          </a:xfrm>
          <a:prstGeom prst="rect">
            <a:avLst/>
          </a:prstGeom>
          <a:solidFill>
            <a:srgbClr val="EEF1FA"/>
          </a:solidFill>
          <a:ln w="12700">
            <a:solidFill>
              <a:srgbClr val="D0DAF0"/>
            </a:solidFill>
            <a:prstDash val="solid"/>
          </a:ln>
        </p:spPr>
        <p:txBody>
          <a:bodyPr/>
          <a:lstStyle/>
          <a:p>
            <a:endParaRPr lang="en-US"/>
          </a:p>
        </p:txBody>
      </p:sp>
      <p:sp>
        <p:nvSpPr>
          <p:cNvPr id="10" name="Text 8"/>
          <p:cNvSpPr txBox="1"/>
          <p:nvPr/>
        </p:nvSpPr>
        <p:spPr>
          <a:xfrm>
            <a:off x="1545336" y="1426464"/>
            <a:ext cx="2542032" cy="310896"/>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x = 5;  y = 10;</a:t>
            </a:r>
            <a:endParaRPr lang="en-US" sz="1100" dirty="0"/>
          </a:p>
        </p:txBody>
      </p:sp>
      <p:sp>
        <p:nvSpPr>
          <p:cNvPr id="11" name="Text 9"/>
          <p:cNvSpPr txBox="1"/>
          <p:nvPr/>
        </p:nvSpPr>
        <p:spPr>
          <a:xfrm>
            <a:off x="4315968" y="1371600"/>
            <a:ext cx="4389120" cy="594360"/>
          </a:xfrm>
          <a:prstGeom prst="rect">
            <a:avLst/>
          </a:prstGeom>
          <a:noFill/>
          <a:ln/>
        </p:spPr>
        <p:txBody>
          <a:bodyPr wrap="square" lIns="0" tIns="0" rIns="0" bIns="0" rtlCol="0" anchor="ctr"/>
          <a:lstStyle/>
          <a:p>
            <a:pPr marL="0" indent="0">
              <a:lnSpc>
                <a:spcPct val="132000"/>
              </a:lnSpc>
              <a:buNone/>
            </a:pPr>
            <a:r>
              <a:rPr lang="en-US" sz="1200" dirty="0">
                <a:solidFill>
                  <a:srgbClr val="1E2A3A"/>
                </a:solidFill>
                <a:latin typeface="Calibri" pitchFamily="34" charset="0"/>
                <a:ea typeface="Calibri" pitchFamily="34" charset="-122"/>
                <a:cs typeface="Calibri" pitchFamily="34" charset="-120"/>
              </a:rPr>
              <a:t>Explicit, unambiguous. Can span lines freely.</a:t>
            </a:r>
            <a:endParaRPr lang="en-US" sz="1200" dirty="0"/>
          </a:p>
          <a:p>
            <a:pPr marL="0" indent="0">
              <a:lnSpc>
                <a:spcPct val="132000"/>
              </a:lnSpc>
              <a:buNone/>
            </a:pPr>
            <a:r>
              <a:rPr lang="en-US" sz="1200" dirty="0">
                <a:solidFill>
                  <a:srgbClr val="1E2A3A"/>
                </a:solidFill>
                <a:latin typeface="Calibri" pitchFamily="34" charset="0"/>
                <a:ea typeface="Calibri" pitchFamily="34" charset="-122"/>
                <a:cs typeface="Calibri" pitchFamily="34" charset="-120"/>
              </a:rPr>
              <a:t>But forgotten semicolons cause confusing compiler messages.</a:t>
            </a:r>
            <a:endParaRPr lang="en-US" sz="1200" dirty="0"/>
          </a:p>
        </p:txBody>
      </p:sp>
      <p:sp>
        <p:nvSpPr>
          <p:cNvPr id="12" name="Shape 10"/>
          <p:cNvSpPr/>
          <p:nvPr/>
        </p:nvSpPr>
        <p:spPr>
          <a:xfrm>
            <a:off x="8851392" y="1371600"/>
            <a:ext cx="685800" cy="256032"/>
          </a:xfrm>
          <a:prstGeom prst="roundRect">
            <a:avLst>
              <a:gd name="adj" fmla="val 28571"/>
            </a:avLst>
          </a:prstGeom>
          <a:solidFill>
            <a:srgbClr val="FEF3E8"/>
          </a:solidFill>
          <a:ln w="12700">
            <a:solidFill>
              <a:srgbClr val="FEF3E8"/>
            </a:solidFill>
            <a:prstDash val="solid"/>
          </a:ln>
        </p:spPr>
        <p:txBody>
          <a:bodyPr/>
          <a:lstStyle/>
          <a:p>
            <a:endParaRPr lang="en-US"/>
          </a:p>
        </p:txBody>
      </p:sp>
      <p:sp>
        <p:nvSpPr>
          <p:cNvPr id="13" name="Text 11"/>
          <p:cNvSpPr txBox="1"/>
          <p:nvPr/>
        </p:nvSpPr>
        <p:spPr>
          <a:xfrm>
            <a:off x="8887968" y="1399032"/>
            <a:ext cx="612648" cy="201168"/>
          </a:xfrm>
          <a:prstGeom prst="rect">
            <a:avLst/>
          </a:prstGeom>
          <a:noFill/>
          <a:ln/>
        </p:spPr>
        <p:txBody>
          <a:bodyPr wrap="square" lIns="0" tIns="0" rIns="0" bIns="0" rtlCol="0" anchor="ctr"/>
          <a:lstStyle/>
          <a:p>
            <a:pPr marL="0" indent="0" algn="ctr">
              <a:buNone/>
            </a:pPr>
            <a:r>
              <a:rPr lang="en-US" sz="1000" b="1" dirty="0">
                <a:solidFill>
                  <a:srgbClr val="C05E00"/>
                </a:solidFill>
                <a:latin typeface="Courier New" pitchFamily="34" charset="0"/>
                <a:ea typeface="Courier New" pitchFamily="34" charset="-122"/>
                <a:cs typeface="Courier New" pitchFamily="34" charset="-120"/>
              </a:rPr>
              <a:t>Python</a:t>
            </a:r>
            <a:endParaRPr lang="en-US" sz="1000" dirty="0"/>
          </a:p>
        </p:txBody>
      </p:sp>
      <p:sp>
        <p:nvSpPr>
          <p:cNvPr id="14" name="Shape 12"/>
          <p:cNvSpPr/>
          <p:nvPr/>
        </p:nvSpPr>
        <p:spPr>
          <a:xfrm>
            <a:off x="9646920" y="1335024"/>
            <a:ext cx="1874520" cy="475488"/>
          </a:xfrm>
          <a:prstGeom prst="rect">
            <a:avLst/>
          </a:prstGeom>
          <a:solidFill>
            <a:srgbClr val="EEF1FA"/>
          </a:solidFill>
          <a:ln w="12700">
            <a:solidFill>
              <a:srgbClr val="D0DAF0"/>
            </a:solidFill>
            <a:prstDash val="solid"/>
          </a:ln>
        </p:spPr>
        <p:txBody>
          <a:bodyPr/>
          <a:lstStyle/>
          <a:p>
            <a:endParaRPr lang="en-US"/>
          </a:p>
        </p:txBody>
      </p:sp>
      <p:sp>
        <p:nvSpPr>
          <p:cNvPr id="15" name="Text 13"/>
          <p:cNvSpPr txBox="1"/>
          <p:nvPr/>
        </p:nvSpPr>
        <p:spPr>
          <a:xfrm>
            <a:off x="9774936" y="1426464"/>
            <a:ext cx="1673352" cy="310896"/>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x = 5</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y = 10</a:t>
            </a:r>
            <a:endParaRPr lang="en-US" sz="1100" dirty="0"/>
          </a:p>
        </p:txBody>
      </p:sp>
      <p:sp>
        <p:nvSpPr>
          <p:cNvPr id="16" name="Shape 14"/>
          <p:cNvSpPr/>
          <p:nvPr/>
        </p:nvSpPr>
        <p:spPr>
          <a:xfrm>
            <a:off x="411480" y="2487168"/>
            <a:ext cx="11338560" cy="1810512"/>
          </a:xfrm>
          <a:prstGeom prst="rect">
            <a:avLst/>
          </a:prstGeom>
          <a:solidFill>
            <a:srgbClr val="FFFFFF"/>
          </a:solidFill>
          <a:ln w="12700">
            <a:solidFill>
              <a:srgbClr val="D0DAF0"/>
            </a:solidFill>
            <a:prstDash val="solid"/>
          </a:ln>
        </p:spPr>
        <p:txBody>
          <a:bodyPr/>
          <a:lstStyle/>
          <a:p>
            <a:endParaRPr lang="en-US"/>
          </a:p>
        </p:txBody>
      </p:sp>
      <p:sp>
        <p:nvSpPr>
          <p:cNvPr id="17" name="Text 15"/>
          <p:cNvSpPr txBox="1"/>
          <p:nvPr/>
        </p:nvSpPr>
        <p:spPr>
          <a:xfrm>
            <a:off x="594360" y="2560320"/>
            <a:ext cx="7315200" cy="256032"/>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Trade-off 3 — Type Declarations</a:t>
            </a:r>
            <a:endParaRPr lang="en-US" sz="1300" dirty="0"/>
          </a:p>
        </p:txBody>
      </p:sp>
      <p:sp>
        <p:nvSpPr>
          <p:cNvPr id="18" name="Shape 16"/>
          <p:cNvSpPr/>
          <p:nvPr/>
        </p:nvSpPr>
        <p:spPr>
          <a:xfrm>
            <a:off x="594360" y="2871216"/>
            <a:ext cx="685800" cy="256032"/>
          </a:xfrm>
          <a:prstGeom prst="roundRect">
            <a:avLst>
              <a:gd name="adj" fmla="val 28571"/>
            </a:avLst>
          </a:prstGeom>
          <a:solidFill>
            <a:srgbClr val="E8F0FE"/>
          </a:solidFill>
          <a:ln w="12700">
            <a:solidFill>
              <a:srgbClr val="E8F0FE"/>
            </a:solidFill>
            <a:prstDash val="solid"/>
          </a:ln>
        </p:spPr>
        <p:txBody>
          <a:bodyPr/>
          <a:lstStyle/>
          <a:p>
            <a:endParaRPr lang="en-US"/>
          </a:p>
        </p:txBody>
      </p:sp>
      <p:sp>
        <p:nvSpPr>
          <p:cNvPr id="19" name="Text 17"/>
          <p:cNvSpPr txBox="1"/>
          <p:nvPr/>
        </p:nvSpPr>
        <p:spPr>
          <a:xfrm>
            <a:off x="630936" y="2898648"/>
            <a:ext cx="612648" cy="201168"/>
          </a:xfrm>
          <a:prstGeom prst="rect">
            <a:avLst/>
          </a:prstGeom>
          <a:noFill/>
          <a:ln/>
        </p:spPr>
        <p:txBody>
          <a:bodyPr wrap="square" lIns="0" tIns="0" rIns="0" bIns="0" rtlCol="0" anchor="ctr"/>
          <a:lstStyle/>
          <a:p>
            <a:pPr marL="0" indent="0" algn="ctr">
              <a:buNone/>
            </a:pPr>
            <a:r>
              <a:rPr lang="en-US" sz="1000" b="1" dirty="0">
                <a:solidFill>
                  <a:srgbClr val="2E5BFF"/>
                </a:solidFill>
                <a:latin typeface="Courier New" pitchFamily="34" charset="0"/>
                <a:ea typeface="Courier New" pitchFamily="34" charset="-122"/>
                <a:cs typeface="Courier New" pitchFamily="34" charset="-120"/>
              </a:rPr>
              <a:t>C</a:t>
            </a:r>
            <a:endParaRPr lang="en-US" sz="1000" dirty="0"/>
          </a:p>
        </p:txBody>
      </p:sp>
      <p:sp>
        <p:nvSpPr>
          <p:cNvPr id="20" name="Shape 18"/>
          <p:cNvSpPr/>
          <p:nvPr/>
        </p:nvSpPr>
        <p:spPr>
          <a:xfrm>
            <a:off x="1417320" y="2834640"/>
            <a:ext cx="2743200" cy="438912"/>
          </a:xfrm>
          <a:prstGeom prst="rect">
            <a:avLst/>
          </a:prstGeom>
          <a:solidFill>
            <a:srgbClr val="EEF1FA"/>
          </a:solidFill>
          <a:ln w="12700">
            <a:solidFill>
              <a:srgbClr val="D0DAF0"/>
            </a:solidFill>
            <a:prstDash val="solid"/>
          </a:ln>
        </p:spPr>
        <p:txBody>
          <a:bodyPr/>
          <a:lstStyle/>
          <a:p>
            <a:endParaRPr lang="en-US"/>
          </a:p>
        </p:txBody>
      </p:sp>
      <p:sp>
        <p:nvSpPr>
          <p:cNvPr id="21" name="Text 19"/>
          <p:cNvSpPr txBox="1"/>
          <p:nvPr/>
        </p:nvSpPr>
        <p:spPr>
          <a:xfrm>
            <a:off x="1545336" y="2926080"/>
            <a:ext cx="2542032" cy="274320"/>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int score = 95;</a:t>
            </a:r>
            <a:endParaRPr lang="en-US" sz="1100" dirty="0"/>
          </a:p>
        </p:txBody>
      </p:sp>
      <p:sp>
        <p:nvSpPr>
          <p:cNvPr id="22" name="Text 20"/>
          <p:cNvSpPr txBox="1"/>
          <p:nvPr/>
        </p:nvSpPr>
        <p:spPr>
          <a:xfrm>
            <a:off x="594360" y="3346704"/>
            <a:ext cx="3474720" cy="237744"/>
          </a:xfrm>
          <a:prstGeom prst="rect">
            <a:avLst/>
          </a:prstGeom>
          <a:noFill/>
          <a:ln/>
        </p:spPr>
        <p:txBody>
          <a:bodyPr wrap="square" lIns="0" tIns="0" rIns="0" bIns="0" rtlCol="0" anchor="ctr"/>
          <a:lstStyle/>
          <a:p>
            <a:pPr marL="0" indent="0">
              <a:buNone/>
            </a:pPr>
            <a:r>
              <a:rPr lang="en-US" sz="1100" b="1" dirty="0">
                <a:solidFill>
                  <a:srgbClr val="1A2B5E"/>
                </a:solidFill>
                <a:latin typeface="Calibri" pitchFamily="34" charset="0"/>
                <a:ea typeface="Calibri" pitchFamily="34" charset="-122"/>
                <a:cs typeface="Calibri" pitchFamily="34" charset="-120"/>
              </a:rPr>
              <a:t>Always explicit</a:t>
            </a:r>
            <a:endParaRPr lang="en-US" sz="1100" dirty="0"/>
          </a:p>
        </p:txBody>
      </p:sp>
      <p:sp>
        <p:nvSpPr>
          <p:cNvPr id="23" name="Text 21"/>
          <p:cNvSpPr txBox="1"/>
          <p:nvPr/>
        </p:nvSpPr>
        <p:spPr>
          <a:xfrm>
            <a:off x="594360" y="3602736"/>
            <a:ext cx="3474720" cy="256032"/>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 Early error detection</a:t>
            </a:r>
            <a:endParaRPr lang="en-US" sz="1100" dirty="0"/>
          </a:p>
        </p:txBody>
      </p:sp>
      <p:sp>
        <p:nvSpPr>
          <p:cNvPr id="24" name="Text 22"/>
          <p:cNvSpPr txBox="1"/>
          <p:nvPr/>
        </p:nvSpPr>
        <p:spPr>
          <a:xfrm>
            <a:off x="594360" y="3877056"/>
            <a:ext cx="3474720" cy="256032"/>
          </a:xfrm>
          <a:prstGeom prst="rect">
            <a:avLst/>
          </a:prstGeom>
          <a:noFill/>
          <a:ln/>
        </p:spPr>
        <p:txBody>
          <a:bodyPr wrap="square" lIns="0" tIns="0" rIns="0" bIns="0" rtlCol="0" anchor="ctr"/>
          <a:lstStyle/>
          <a:p>
            <a:pPr marL="0" indent="0">
              <a:buNone/>
            </a:pPr>
            <a:r>
              <a:rPr lang="en-US" sz="1100" dirty="0">
                <a:solidFill>
                  <a:srgbClr val="9B1C1C"/>
                </a:solidFill>
                <a:latin typeface="Calibri" pitchFamily="34" charset="0"/>
                <a:ea typeface="Calibri" pitchFamily="34" charset="-122"/>
                <a:cs typeface="Calibri" pitchFamily="34" charset="-120"/>
              </a:rPr>
              <a:t>✗ More typing, less flexibility</a:t>
            </a:r>
            <a:endParaRPr lang="en-US" sz="1100" dirty="0"/>
          </a:p>
        </p:txBody>
      </p:sp>
      <p:sp>
        <p:nvSpPr>
          <p:cNvPr id="25" name="Shape 23"/>
          <p:cNvSpPr/>
          <p:nvPr/>
        </p:nvSpPr>
        <p:spPr>
          <a:xfrm>
            <a:off x="4361688" y="2871216"/>
            <a:ext cx="685800" cy="256032"/>
          </a:xfrm>
          <a:prstGeom prst="roundRect">
            <a:avLst>
              <a:gd name="adj" fmla="val 28571"/>
            </a:avLst>
          </a:prstGeom>
          <a:solidFill>
            <a:srgbClr val="F3E8FE"/>
          </a:solidFill>
          <a:ln w="12700">
            <a:solidFill>
              <a:srgbClr val="F3E8FE"/>
            </a:solidFill>
            <a:prstDash val="solid"/>
          </a:ln>
        </p:spPr>
        <p:txBody>
          <a:bodyPr/>
          <a:lstStyle/>
          <a:p>
            <a:endParaRPr lang="en-US"/>
          </a:p>
        </p:txBody>
      </p:sp>
      <p:sp>
        <p:nvSpPr>
          <p:cNvPr id="26" name="Text 24"/>
          <p:cNvSpPr txBox="1"/>
          <p:nvPr/>
        </p:nvSpPr>
        <p:spPr>
          <a:xfrm>
            <a:off x="4398264" y="2898648"/>
            <a:ext cx="612648" cy="201168"/>
          </a:xfrm>
          <a:prstGeom prst="rect">
            <a:avLst/>
          </a:prstGeom>
          <a:noFill/>
          <a:ln/>
        </p:spPr>
        <p:txBody>
          <a:bodyPr wrap="square" lIns="0" tIns="0" rIns="0" bIns="0" rtlCol="0" anchor="ctr"/>
          <a:lstStyle/>
          <a:p>
            <a:pPr marL="0" indent="0" algn="ctr">
              <a:buNone/>
            </a:pPr>
            <a:r>
              <a:rPr lang="en-US" sz="1000" b="1" dirty="0">
                <a:solidFill>
                  <a:srgbClr val="7B2FBE"/>
                </a:solidFill>
                <a:latin typeface="Courier New" pitchFamily="34" charset="0"/>
                <a:ea typeface="Courier New" pitchFamily="34" charset="-122"/>
                <a:cs typeface="Courier New" pitchFamily="34" charset="-120"/>
              </a:rPr>
              <a:t>C#</a:t>
            </a:r>
            <a:endParaRPr lang="en-US" sz="1000" dirty="0"/>
          </a:p>
        </p:txBody>
      </p:sp>
      <p:sp>
        <p:nvSpPr>
          <p:cNvPr id="27" name="Shape 25"/>
          <p:cNvSpPr/>
          <p:nvPr/>
        </p:nvSpPr>
        <p:spPr>
          <a:xfrm>
            <a:off x="5184648" y="2834640"/>
            <a:ext cx="2743200" cy="438912"/>
          </a:xfrm>
          <a:prstGeom prst="rect">
            <a:avLst/>
          </a:prstGeom>
          <a:solidFill>
            <a:srgbClr val="EEF1FA"/>
          </a:solidFill>
          <a:ln w="12700">
            <a:solidFill>
              <a:srgbClr val="D0DAF0"/>
            </a:solidFill>
            <a:prstDash val="solid"/>
          </a:ln>
        </p:spPr>
        <p:txBody>
          <a:bodyPr/>
          <a:lstStyle/>
          <a:p>
            <a:endParaRPr lang="en-US"/>
          </a:p>
        </p:txBody>
      </p:sp>
      <p:sp>
        <p:nvSpPr>
          <p:cNvPr id="28" name="Text 26"/>
          <p:cNvSpPr txBox="1"/>
          <p:nvPr/>
        </p:nvSpPr>
        <p:spPr>
          <a:xfrm>
            <a:off x="5312664" y="2926080"/>
            <a:ext cx="2542032" cy="274320"/>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var score = 95;</a:t>
            </a:r>
            <a:endParaRPr lang="en-US" sz="1100" dirty="0"/>
          </a:p>
        </p:txBody>
      </p:sp>
      <p:sp>
        <p:nvSpPr>
          <p:cNvPr id="29" name="Text 27"/>
          <p:cNvSpPr txBox="1"/>
          <p:nvPr/>
        </p:nvSpPr>
        <p:spPr>
          <a:xfrm>
            <a:off x="4361688" y="3346704"/>
            <a:ext cx="3474720" cy="237744"/>
          </a:xfrm>
          <a:prstGeom prst="rect">
            <a:avLst/>
          </a:prstGeom>
          <a:noFill/>
          <a:ln/>
        </p:spPr>
        <p:txBody>
          <a:bodyPr wrap="square" lIns="0" tIns="0" rIns="0" bIns="0" rtlCol="0" anchor="ctr"/>
          <a:lstStyle/>
          <a:p>
            <a:pPr marL="0" indent="0">
              <a:buNone/>
            </a:pPr>
            <a:r>
              <a:rPr lang="en-US" sz="1100" b="1" dirty="0">
                <a:solidFill>
                  <a:srgbClr val="1A2B5E"/>
                </a:solidFill>
                <a:latin typeface="Calibri" pitchFamily="34" charset="0"/>
                <a:ea typeface="Calibri" pitchFamily="34" charset="-122"/>
                <a:cs typeface="Calibri" pitchFamily="34" charset="-120"/>
              </a:rPr>
              <a:t>Declare or infer</a:t>
            </a:r>
            <a:endParaRPr lang="en-US" sz="1100" dirty="0"/>
          </a:p>
        </p:txBody>
      </p:sp>
      <p:sp>
        <p:nvSpPr>
          <p:cNvPr id="30" name="Text 28"/>
          <p:cNvSpPr txBox="1"/>
          <p:nvPr/>
        </p:nvSpPr>
        <p:spPr>
          <a:xfrm>
            <a:off x="4361688" y="3602736"/>
            <a:ext cx="3474720" cy="256032"/>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 Safety without verbosity</a:t>
            </a:r>
            <a:endParaRPr lang="en-US" sz="1100" dirty="0"/>
          </a:p>
        </p:txBody>
      </p:sp>
      <p:sp>
        <p:nvSpPr>
          <p:cNvPr id="31" name="Text 29"/>
          <p:cNvSpPr txBox="1"/>
          <p:nvPr/>
        </p:nvSpPr>
        <p:spPr>
          <a:xfrm>
            <a:off x="4361688" y="3877056"/>
            <a:ext cx="3474720" cy="256032"/>
          </a:xfrm>
          <a:prstGeom prst="rect">
            <a:avLst/>
          </a:prstGeom>
          <a:noFill/>
          <a:ln/>
        </p:spPr>
        <p:txBody>
          <a:bodyPr wrap="square" lIns="0" tIns="0" rIns="0" bIns="0" rtlCol="0" anchor="ctr"/>
          <a:lstStyle/>
          <a:p>
            <a:pPr marL="0" indent="0">
              <a:buNone/>
            </a:pPr>
            <a:r>
              <a:rPr lang="en-US" sz="1100" dirty="0">
                <a:solidFill>
                  <a:srgbClr val="9B1C1C"/>
                </a:solidFill>
                <a:latin typeface="Calibri" pitchFamily="34" charset="0"/>
                <a:ea typeface="Calibri" pitchFamily="34" charset="-122"/>
                <a:cs typeface="Calibri" pitchFamily="34" charset="-120"/>
              </a:rPr>
              <a:t>✗ Slightly more complex</a:t>
            </a:r>
            <a:endParaRPr lang="en-US" sz="1100" dirty="0"/>
          </a:p>
        </p:txBody>
      </p:sp>
      <p:sp>
        <p:nvSpPr>
          <p:cNvPr id="32" name="Shape 30"/>
          <p:cNvSpPr/>
          <p:nvPr/>
        </p:nvSpPr>
        <p:spPr>
          <a:xfrm>
            <a:off x="8129016" y="2871216"/>
            <a:ext cx="685800" cy="256032"/>
          </a:xfrm>
          <a:prstGeom prst="roundRect">
            <a:avLst>
              <a:gd name="adj" fmla="val 28571"/>
            </a:avLst>
          </a:prstGeom>
          <a:solidFill>
            <a:srgbClr val="FEF3E8"/>
          </a:solidFill>
          <a:ln w="12700">
            <a:solidFill>
              <a:srgbClr val="FEF3E8"/>
            </a:solidFill>
            <a:prstDash val="solid"/>
          </a:ln>
        </p:spPr>
        <p:txBody>
          <a:bodyPr/>
          <a:lstStyle/>
          <a:p>
            <a:endParaRPr lang="en-US"/>
          </a:p>
        </p:txBody>
      </p:sp>
      <p:sp>
        <p:nvSpPr>
          <p:cNvPr id="33" name="Text 31"/>
          <p:cNvSpPr txBox="1"/>
          <p:nvPr/>
        </p:nvSpPr>
        <p:spPr>
          <a:xfrm>
            <a:off x="8165592" y="2898648"/>
            <a:ext cx="612648" cy="201168"/>
          </a:xfrm>
          <a:prstGeom prst="rect">
            <a:avLst/>
          </a:prstGeom>
          <a:noFill/>
          <a:ln/>
        </p:spPr>
        <p:txBody>
          <a:bodyPr wrap="square" lIns="0" tIns="0" rIns="0" bIns="0" rtlCol="0" anchor="ctr"/>
          <a:lstStyle/>
          <a:p>
            <a:pPr marL="0" indent="0" algn="ctr">
              <a:buNone/>
            </a:pPr>
            <a:r>
              <a:rPr lang="en-US" sz="1000" b="1" dirty="0">
                <a:solidFill>
                  <a:srgbClr val="C05E00"/>
                </a:solidFill>
                <a:latin typeface="Courier New" pitchFamily="34" charset="0"/>
                <a:ea typeface="Courier New" pitchFamily="34" charset="-122"/>
                <a:cs typeface="Courier New" pitchFamily="34" charset="-120"/>
              </a:rPr>
              <a:t>Py</a:t>
            </a:r>
            <a:endParaRPr lang="en-US" sz="1000" dirty="0"/>
          </a:p>
        </p:txBody>
      </p:sp>
      <p:sp>
        <p:nvSpPr>
          <p:cNvPr id="34" name="Shape 32"/>
          <p:cNvSpPr/>
          <p:nvPr/>
        </p:nvSpPr>
        <p:spPr>
          <a:xfrm>
            <a:off x="8951976" y="2834640"/>
            <a:ext cx="2743200" cy="438912"/>
          </a:xfrm>
          <a:prstGeom prst="rect">
            <a:avLst/>
          </a:prstGeom>
          <a:solidFill>
            <a:srgbClr val="EEF1FA"/>
          </a:solidFill>
          <a:ln w="12700">
            <a:solidFill>
              <a:srgbClr val="D0DAF0"/>
            </a:solidFill>
            <a:prstDash val="solid"/>
          </a:ln>
        </p:spPr>
        <p:txBody>
          <a:bodyPr/>
          <a:lstStyle/>
          <a:p>
            <a:endParaRPr lang="en-US"/>
          </a:p>
        </p:txBody>
      </p:sp>
      <p:sp>
        <p:nvSpPr>
          <p:cNvPr id="35" name="Text 33"/>
          <p:cNvSpPr txBox="1"/>
          <p:nvPr/>
        </p:nvSpPr>
        <p:spPr>
          <a:xfrm>
            <a:off x="9079992" y="2926080"/>
            <a:ext cx="2542032" cy="274320"/>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score = 95</a:t>
            </a:r>
            <a:endParaRPr lang="en-US" sz="1100" dirty="0"/>
          </a:p>
        </p:txBody>
      </p:sp>
      <p:sp>
        <p:nvSpPr>
          <p:cNvPr id="36" name="Text 34"/>
          <p:cNvSpPr txBox="1"/>
          <p:nvPr/>
        </p:nvSpPr>
        <p:spPr>
          <a:xfrm>
            <a:off x="8129016" y="3346704"/>
            <a:ext cx="3474720" cy="237744"/>
          </a:xfrm>
          <a:prstGeom prst="rect">
            <a:avLst/>
          </a:prstGeom>
          <a:noFill/>
          <a:ln/>
        </p:spPr>
        <p:txBody>
          <a:bodyPr wrap="square" lIns="0" tIns="0" rIns="0" bIns="0" rtlCol="0" anchor="ctr"/>
          <a:lstStyle/>
          <a:p>
            <a:pPr marL="0" indent="0">
              <a:buNone/>
            </a:pPr>
            <a:r>
              <a:rPr lang="en-US" sz="1100" b="1" dirty="0">
                <a:solidFill>
                  <a:srgbClr val="1A2B5E"/>
                </a:solidFill>
                <a:latin typeface="Calibri" pitchFamily="34" charset="0"/>
                <a:ea typeface="Calibri" pitchFamily="34" charset="-122"/>
                <a:cs typeface="Calibri" pitchFamily="34" charset="-120"/>
              </a:rPr>
              <a:t>Never declared</a:t>
            </a:r>
            <a:endParaRPr lang="en-US" sz="1100" dirty="0"/>
          </a:p>
        </p:txBody>
      </p:sp>
      <p:sp>
        <p:nvSpPr>
          <p:cNvPr id="37" name="Text 35"/>
          <p:cNvSpPr txBox="1"/>
          <p:nvPr/>
        </p:nvSpPr>
        <p:spPr>
          <a:xfrm>
            <a:off x="8129016" y="3602736"/>
            <a:ext cx="3474720" cy="256032"/>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 Maximum conciseness</a:t>
            </a:r>
            <a:endParaRPr lang="en-US" sz="1100" dirty="0"/>
          </a:p>
        </p:txBody>
      </p:sp>
      <p:sp>
        <p:nvSpPr>
          <p:cNvPr id="38" name="Text 36"/>
          <p:cNvSpPr txBox="1"/>
          <p:nvPr/>
        </p:nvSpPr>
        <p:spPr>
          <a:xfrm>
            <a:off x="8129016" y="3877056"/>
            <a:ext cx="3474720" cy="256032"/>
          </a:xfrm>
          <a:prstGeom prst="rect">
            <a:avLst/>
          </a:prstGeom>
          <a:noFill/>
          <a:ln/>
        </p:spPr>
        <p:txBody>
          <a:bodyPr wrap="square" lIns="0" tIns="0" rIns="0" bIns="0" rtlCol="0" anchor="ctr"/>
          <a:lstStyle/>
          <a:p>
            <a:pPr marL="0" indent="0">
              <a:buNone/>
            </a:pPr>
            <a:r>
              <a:rPr lang="en-US" sz="1100" dirty="0">
                <a:solidFill>
                  <a:srgbClr val="9B1C1C"/>
                </a:solidFill>
                <a:latin typeface="Calibri" pitchFamily="34" charset="0"/>
                <a:ea typeface="Calibri" pitchFamily="34" charset="-122"/>
                <a:cs typeface="Calibri" pitchFamily="34" charset="-120"/>
              </a:rPr>
              <a:t>✗ Runtime errors only</a:t>
            </a:r>
            <a:endParaRPr lang="en-US" sz="1100" dirty="0"/>
          </a:p>
        </p:txBody>
      </p:sp>
      <p:sp>
        <p:nvSpPr>
          <p:cNvPr id="39" name="Shape 37"/>
          <p:cNvSpPr/>
          <p:nvPr/>
        </p:nvSpPr>
        <p:spPr>
          <a:xfrm>
            <a:off x="411480" y="4407408"/>
            <a:ext cx="11338560" cy="1325880"/>
          </a:xfrm>
          <a:prstGeom prst="rect">
            <a:avLst/>
          </a:prstGeom>
          <a:solidFill>
            <a:srgbClr val="FFFFFF"/>
          </a:solidFill>
          <a:ln w="12700">
            <a:solidFill>
              <a:srgbClr val="D0DAF0"/>
            </a:solidFill>
            <a:prstDash val="solid"/>
          </a:ln>
        </p:spPr>
        <p:txBody>
          <a:bodyPr/>
          <a:lstStyle/>
          <a:p>
            <a:endParaRPr lang="en-US"/>
          </a:p>
        </p:txBody>
      </p:sp>
      <p:sp>
        <p:nvSpPr>
          <p:cNvPr id="40" name="Text 38"/>
          <p:cNvSpPr txBox="1"/>
          <p:nvPr/>
        </p:nvSpPr>
        <p:spPr>
          <a:xfrm>
            <a:off x="594360" y="4480560"/>
            <a:ext cx="7315200" cy="256032"/>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Trade-off 4 — Parentheses in if-conditions</a:t>
            </a:r>
            <a:endParaRPr lang="en-US" sz="1300" dirty="0"/>
          </a:p>
        </p:txBody>
      </p:sp>
      <p:sp>
        <p:nvSpPr>
          <p:cNvPr id="41" name="Shape 39"/>
          <p:cNvSpPr/>
          <p:nvPr/>
        </p:nvSpPr>
        <p:spPr>
          <a:xfrm>
            <a:off x="594360" y="4828032"/>
            <a:ext cx="685800" cy="256032"/>
          </a:xfrm>
          <a:prstGeom prst="roundRect">
            <a:avLst>
              <a:gd name="adj" fmla="val 28571"/>
            </a:avLst>
          </a:prstGeom>
          <a:solidFill>
            <a:srgbClr val="E8F0FE"/>
          </a:solidFill>
          <a:ln w="12700">
            <a:solidFill>
              <a:srgbClr val="E8F0FE"/>
            </a:solidFill>
            <a:prstDash val="solid"/>
          </a:ln>
        </p:spPr>
        <p:txBody>
          <a:bodyPr/>
          <a:lstStyle/>
          <a:p>
            <a:endParaRPr lang="en-US"/>
          </a:p>
        </p:txBody>
      </p:sp>
      <p:sp>
        <p:nvSpPr>
          <p:cNvPr id="42" name="Text 40"/>
          <p:cNvSpPr txBox="1"/>
          <p:nvPr/>
        </p:nvSpPr>
        <p:spPr>
          <a:xfrm>
            <a:off x="630936" y="4855464"/>
            <a:ext cx="612648" cy="201168"/>
          </a:xfrm>
          <a:prstGeom prst="rect">
            <a:avLst/>
          </a:prstGeom>
          <a:noFill/>
          <a:ln/>
        </p:spPr>
        <p:txBody>
          <a:bodyPr wrap="square" lIns="0" tIns="0" rIns="0" bIns="0" rtlCol="0" anchor="ctr"/>
          <a:lstStyle/>
          <a:p>
            <a:pPr marL="0" indent="0" algn="ctr">
              <a:buNone/>
            </a:pPr>
            <a:r>
              <a:rPr lang="en-US" sz="1000" b="1" dirty="0">
                <a:solidFill>
                  <a:srgbClr val="2E5BFF"/>
                </a:solidFill>
                <a:latin typeface="Courier New" pitchFamily="34" charset="0"/>
                <a:ea typeface="Courier New" pitchFamily="34" charset="-122"/>
                <a:cs typeface="Courier New" pitchFamily="34" charset="-120"/>
              </a:rPr>
              <a:t>C / C#</a:t>
            </a:r>
            <a:endParaRPr lang="en-US" sz="1000" dirty="0"/>
          </a:p>
        </p:txBody>
      </p:sp>
      <p:sp>
        <p:nvSpPr>
          <p:cNvPr id="43" name="Shape 41"/>
          <p:cNvSpPr/>
          <p:nvPr/>
        </p:nvSpPr>
        <p:spPr>
          <a:xfrm>
            <a:off x="1417320" y="4791456"/>
            <a:ext cx="4206240" cy="475488"/>
          </a:xfrm>
          <a:prstGeom prst="rect">
            <a:avLst/>
          </a:prstGeom>
          <a:solidFill>
            <a:srgbClr val="EEF1FA"/>
          </a:solidFill>
          <a:ln w="12700">
            <a:solidFill>
              <a:srgbClr val="D0DAF0"/>
            </a:solidFill>
            <a:prstDash val="solid"/>
          </a:ln>
        </p:spPr>
        <p:txBody>
          <a:bodyPr/>
          <a:lstStyle/>
          <a:p>
            <a:endParaRPr lang="en-US"/>
          </a:p>
        </p:txBody>
      </p:sp>
      <p:sp>
        <p:nvSpPr>
          <p:cNvPr id="44" name="Text 42"/>
          <p:cNvSpPr txBox="1"/>
          <p:nvPr/>
        </p:nvSpPr>
        <p:spPr>
          <a:xfrm>
            <a:off x="1545336" y="4882896"/>
            <a:ext cx="4005072" cy="310896"/>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if (score &gt; 50) { ... }</a:t>
            </a:r>
            <a:endParaRPr lang="en-US" sz="1100" dirty="0"/>
          </a:p>
        </p:txBody>
      </p:sp>
      <p:sp>
        <p:nvSpPr>
          <p:cNvPr id="45" name="Text 43"/>
          <p:cNvSpPr txBox="1"/>
          <p:nvPr/>
        </p:nvSpPr>
        <p:spPr>
          <a:xfrm>
            <a:off x="5760720" y="4828032"/>
            <a:ext cx="3931920" cy="502920"/>
          </a:xfrm>
          <a:prstGeom prst="rect">
            <a:avLst/>
          </a:prstGeom>
          <a:noFill/>
          <a:ln/>
        </p:spPr>
        <p:txBody>
          <a:bodyPr wrap="square" lIns="0" tIns="0" rIns="0" bIns="0" rtlCol="0" anchor="ctr"/>
          <a:lstStyle/>
          <a:p>
            <a:pPr marL="0" indent="0">
              <a:lnSpc>
                <a:spcPct val="128000"/>
              </a:lnSpc>
              <a:buNone/>
            </a:pPr>
            <a:r>
              <a:rPr lang="en-US" sz="1200" dirty="0">
                <a:solidFill>
                  <a:srgbClr val="1E2A3A"/>
                </a:solidFill>
                <a:latin typeface="Calibri" pitchFamily="34" charset="0"/>
                <a:ea typeface="Calibri" pitchFamily="34" charset="-122"/>
                <a:cs typeface="Calibri" pitchFamily="34" charset="-120"/>
              </a:rPr>
              <a:t>Required. Made parsing unambiguous in the 1970s. C# kept them for familiarity.</a:t>
            </a:r>
            <a:endParaRPr lang="en-US" sz="1200" dirty="0"/>
          </a:p>
        </p:txBody>
      </p:sp>
      <p:sp>
        <p:nvSpPr>
          <p:cNvPr id="46" name="Shape 44"/>
          <p:cNvSpPr/>
          <p:nvPr/>
        </p:nvSpPr>
        <p:spPr>
          <a:xfrm>
            <a:off x="9829800" y="4828032"/>
            <a:ext cx="685800" cy="256032"/>
          </a:xfrm>
          <a:prstGeom prst="roundRect">
            <a:avLst>
              <a:gd name="adj" fmla="val 28571"/>
            </a:avLst>
          </a:prstGeom>
          <a:solidFill>
            <a:srgbClr val="FEF3E8"/>
          </a:solidFill>
          <a:ln w="12700">
            <a:solidFill>
              <a:srgbClr val="FEF3E8"/>
            </a:solidFill>
            <a:prstDash val="solid"/>
          </a:ln>
        </p:spPr>
        <p:txBody>
          <a:bodyPr/>
          <a:lstStyle/>
          <a:p>
            <a:endParaRPr lang="en-US"/>
          </a:p>
        </p:txBody>
      </p:sp>
      <p:sp>
        <p:nvSpPr>
          <p:cNvPr id="47" name="Text 45"/>
          <p:cNvSpPr txBox="1"/>
          <p:nvPr/>
        </p:nvSpPr>
        <p:spPr>
          <a:xfrm>
            <a:off x="9866376" y="4855464"/>
            <a:ext cx="612648" cy="201168"/>
          </a:xfrm>
          <a:prstGeom prst="rect">
            <a:avLst/>
          </a:prstGeom>
          <a:noFill/>
          <a:ln/>
        </p:spPr>
        <p:txBody>
          <a:bodyPr wrap="square" lIns="0" tIns="0" rIns="0" bIns="0" rtlCol="0" anchor="ctr"/>
          <a:lstStyle/>
          <a:p>
            <a:pPr marL="0" indent="0" algn="ctr">
              <a:buNone/>
            </a:pPr>
            <a:r>
              <a:rPr lang="en-US" sz="1000" b="1" dirty="0">
                <a:solidFill>
                  <a:srgbClr val="C05E00"/>
                </a:solidFill>
                <a:latin typeface="Courier New" pitchFamily="34" charset="0"/>
                <a:ea typeface="Courier New" pitchFamily="34" charset="-122"/>
                <a:cs typeface="Courier New" pitchFamily="34" charset="-120"/>
              </a:rPr>
              <a:t>Python</a:t>
            </a:r>
            <a:endParaRPr lang="en-US" sz="1000" dirty="0"/>
          </a:p>
        </p:txBody>
      </p:sp>
      <p:sp>
        <p:nvSpPr>
          <p:cNvPr id="48" name="Shape 46"/>
          <p:cNvSpPr/>
          <p:nvPr/>
        </p:nvSpPr>
        <p:spPr>
          <a:xfrm>
            <a:off x="10652760" y="4791456"/>
            <a:ext cx="0" cy="475488"/>
          </a:xfrm>
          <a:prstGeom prst="rect">
            <a:avLst/>
          </a:prstGeom>
          <a:solidFill>
            <a:srgbClr val="EEF1FA"/>
          </a:solidFill>
          <a:ln w="12700">
            <a:solidFill>
              <a:srgbClr val="D0DAF0"/>
            </a:solidFill>
            <a:prstDash val="solid"/>
          </a:ln>
        </p:spPr>
        <p:txBody>
          <a:bodyPr/>
          <a:lstStyle/>
          <a:p>
            <a:endParaRPr lang="en-US"/>
          </a:p>
        </p:txBody>
      </p:sp>
      <p:sp>
        <p:nvSpPr>
          <p:cNvPr id="49" name="Text 47"/>
          <p:cNvSpPr txBox="1"/>
          <p:nvPr/>
        </p:nvSpPr>
        <p:spPr>
          <a:xfrm>
            <a:off x="10780776" y="4882896"/>
            <a:ext cx="0" cy="310896"/>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if score &gt; 50:</a:t>
            </a:r>
            <a:endParaRPr lang="en-US" sz="1100" dirty="0"/>
          </a:p>
        </p:txBody>
      </p:sp>
      <p:sp>
        <p:nvSpPr>
          <p:cNvPr id="50" name="Text 48"/>
          <p:cNvSpPr txBox="1"/>
          <p:nvPr/>
        </p:nvSpPr>
        <p:spPr>
          <a:xfrm>
            <a:off x="5760720" y="5376672"/>
            <a:ext cx="5943600" cy="256032"/>
          </a:xfrm>
          <a:prstGeom prst="rect">
            <a:avLst/>
          </a:prstGeom>
          <a:noFill/>
          <a:ln/>
        </p:spPr>
        <p:txBody>
          <a:bodyPr wrap="square" lIns="0" tIns="0" rIns="0" bIns="0" rtlCol="0" anchor="ctr"/>
          <a:lstStyle/>
          <a:p>
            <a:pPr marL="0" indent="0">
              <a:buNone/>
            </a:pPr>
            <a:r>
              <a:rPr lang="en-US" sz="1200" dirty="0">
                <a:solidFill>
                  <a:srgbClr val="5A6A82"/>
                </a:solidFill>
                <a:latin typeface="Calibri" pitchFamily="34" charset="0"/>
                <a:ea typeface="Calibri" pitchFamily="34" charset="-122"/>
                <a:cs typeface="Calibri" pitchFamily="34" charset="-120"/>
              </a:rPr>
              <a:t>Not required — the colon is the boundary marker instead.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A2B5E"/>
          </a:solidFill>
          <a:ln/>
        </p:spPr>
        <p:txBody>
          <a:bodyPr/>
          <a:lstStyle/>
          <a:p>
            <a:endParaRPr lang="en-US"/>
          </a:p>
        </p:txBody>
      </p:sp>
      <p:sp>
        <p:nvSpPr>
          <p:cNvPr id="3" name="Shape 1"/>
          <p:cNvSpPr/>
          <p:nvPr/>
        </p:nvSpPr>
        <p:spPr>
          <a:xfrm>
            <a:off x="3840480" y="0"/>
            <a:ext cx="8321040" cy="6858000"/>
          </a:xfrm>
          <a:prstGeom prst="rect">
            <a:avLst/>
          </a:prstGeom>
          <a:solidFill>
            <a:srgbClr val="F4F6FC"/>
          </a:solidFill>
          <a:ln/>
        </p:spPr>
        <p:txBody>
          <a:bodyPr/>
          <a:lstStyle/>
          <a:p>
            <a:endParaRPr lang="en-US"/>
          </a:p>
        </p:txBody>
      </p:sp>
      <p:sp>
        <p:nvSpPr>
          <p:cNvPr id="4" name="Text 2"/>
          <p:cNvSpPr txBox="1"/>
          <p:nvPr/>
        </p:nvSpPr>
        <p:spPr>
          <a:xfrm>
            <a:off x="274320" y="2560320"/>
            <a:ext cx="3291840" cy="274320"/>
          </a:xfrm>
          <a:prstGeom prst="rect">
            <a:avLst/>
          </a:prstGeom>
          <a:noFill/>
          <a:ln/>
        </p:spPr>
        <p:txBody>
          <a:bodyPr wrap="square" lIns="0" tIns="0" rIns="0" bIns="0" rtlCol="0" anchor="ctr"/>
          <a:lstStyle/>
          <a:p>
            <a:pPr marL="0" indent="0">
              <a:buNone/>
            </a:pPr>
            <a:r>
              <a:rPr lang="en-US" sz="1100" dirty="0">
                <a:solidFill>
                  <a:srgbClr val="7A90B8"/>
                </a:solidFill>
                <a:latin typeface="Calibri" pitchFamily="34" charset="0"/>
                <a:ea typeface="Calibri" pitchFamily="34" charset="-122"/>
                <a:cs typeface="Calibri" pitchFamily="34" charset="-120"/>
              </a:rPr>
              <a:t>Section 6</a:t>
            </a:r>
            <a:endParaRPr lang="en-US" sz="1100" dirty="0"/>
          </a:p>
        </p:txBody>
      </p:sp>
      <p:sp>
        <p:nvSpPr>
          <p:cNvPr id="5" name="Text 3"/>
          <p:cNvSpPr txBox="1"/>
          <p:nvPr/>
        </p:nvSpPr>
        <p:spPr>
          <a:xfrm>
            <a:off x="274320" y="2880360"/>
            <a:ext cx="3291840" cy="1645920"/>
          </a:xfrm>
          <a:prstGeom prst="rect">
            <a:avLst/>
          </a:prstGeom>
          <a:noFill/>
          <a:ln/>
        </p:spPr>
        <p:txBody>
          <a:bodyPr wrap="square" lIns="0" tIns="0" rIns="0" bIns="0" rtlCol="0" anchor="ctr"/>
          <a:lstStyle/>
          <a:p>
            <a:pPr marL="0" indent="0">
              <a:lnSpc>
                <a:spcPct val="110000"/>
              </a:lnSpc>
              <a:buNone/>
            </a:pPr>
            <a:r>
              <a:rPr lang="en-US" sz="2000" b="1" dirty="0">
                <a:solidFill>
                  <a:srgbClr val="FFFFFF"/>
                </a:solidFill>
                <a:latin typeface="Calibri" pitchFamily="34" charset="0"/>
                <a:ea typeface="Calibri" pitchFamily="34" charset="-122"/>
                <a:cs typeface="Calibri" pitchFamily="34" charset="-120"/>
              </a:rPr>
              <a:t>Language</a:t>
            </a:r>
            <a:endParaRPr lang="en-US" sz="2000" dirty="0"/>
          </a:p>
          <a:p>
            <a:pPr marL="0" indent="0">
              <a:lnSpc>
                <a:spcPct val="110000"/>
              </a:lnSpc>
              <a:buNone/>
            </a:pPr>
            <a:r>
              <a:rPr lang="en-US" sz="2000" b="1" dirty="0">
                <a:solidFill>
                  <a:srgbClr val="FFFFFF"/>
                </a:solidFill>
                <a:latin typeface="Calibri" pitchFamily="34" charset="0"/>
                <a:ea typeface="Calibri" pitchFamily="34" charset="-122"/>
                <a:cs typeface="Calibri" pitchFamily="34" charset="-120"/>
              </a:rPr>
              <a:t>Analysis</a:t>
            </a:r>
            <a:endParaRPr lang="en-US" sz="2000" dirty="0"/>
          </a:p>
        </p:txBody>
      </p:sp>
      <p:sp>
        <p:nvSpPr>
          <p:cNvPr id="6" name="Text 4"/>
          <p:cNvSpPr txBox="1"/>
          <p:nvPr/>
        </p:nvSpPr>
        <p:spPr>
          <a:xfrm>
            <a:off x="4334256" y="393192"/>
            <a:ext cx="7552944" cy="1042416"/>
          </a:xfrm>
          <a:prstGeom prst="rect">
            <a:avLst/>
          </a:prstGeom>
          <a:noFill/>
          <a:ln/>
        </p:spPr>
        <p:txBody>
          <a:bodyPr wrap="square" lIns="0" tIns="0" rIns="0" bIns="0" rtlCol="0" anchor="ctr"/>
          <a:lstStyle/>
          <a:p>
            <a:pPr marL="0" indent="0">
              <a:lnSpc>
                <a:spcPct val="130000"/>
              </a:lnSpc>
              <a:buNone/>
            </a:pPr>
            <a:r>
              <a:rPr lang="en-US" sz="1600" dirty="0">
                <a:solidFill>
                  <a:srgbClr val="1E2A3A"/>
                </a:solidFill>
                <a:latin typeface="Calibri" pitchFamily="34" charset="0"/>
                <a:ea typeface="Calibri" pitchFamily="34" charset="-122"/>
                <a:cs typeface="Calibri" pitchFamily="34" charset="-120"/>
              </a:rPr>
              <a:t>Same program — three languages — analyse the design choices.</a:t>
            </a:r>
            <a:endParaRPr lang="en-US" sz="1600" dirty="0"/>
          </a:p>
        </p:txBody>
      </p:sp>
      <p:sp>
        <p:nvSpPr>
          <p:cNvPr id="7" name="Text 5"/>
          <p:cNvSpPr txBox="1"/>
          <p:nvPr/>
        </p:nvSpPr>
        <p:spPr>
          <a:xfrm>
            <a:off x="4160520" y="393192"/>
            <a:ext cx="7680960" cy="329184"/>
          </a:xfrm>
          <a:prstGeom prst="rect">
            <a:avLst/>
          </a:prstGeom>
          <a:noFill/>
          <a:ln/>
        </p:spPr>
        <p:txBody>
          <a:bodyPr wrap="square" lIns="0" tIns="0" rIns="0" bIns="0" rtlCol="0" anchor="ctr"/>
          <a:lstStyle/>
          <a:p>
            <a:pPr marL="0" indent="0">
              <a:buNone/>
            </a:pPr>
            <a:r>
              <a:rPr lang="en-US" sz="1300" b="1" dirty="0">
                <a:solidFill>
                  <a:srgbClr val="1E2A3A"/>
                </a:solidFill>
                <a:latin typeface="Calibri" pitchFamily="34" charset="0"/>
                <a:ea typeface="Calibri" pitchFamily="34" charset="-122"/>
                <a:cs typeface="Calibri" pitchFamily="34" charset="-120"/>
              </a:rPr>
              <a:t>Look at this complete program in all three languages. Don't just compare — analyse.</a:t>
            </a:r>
            <a:endParaRPr lang="en-US" sz="1300" dirty="0"/>
          </a:p>
        </p:txBody>
      </p:sp>
      <p:sp>
        <p:nvSpPr>
          <p:cNvPr id="8" name="Shape 6"/>
          <p:cNvSpPr/>
          <p:nvPr/>
        </p:nvSpPr>
        <p:spPr>
          <a:xfrm>
            <a:off x="4206240" y="1828800"/>
            <a:ext cx="2487168" cy="292608"/>
          </a:xfrm>
          <a:prstGeom prst="roundRect">
            <a:avLst>
              <a:gd name="adj" fmla="val 21875"/>
            </a:avLst>
          </a:prstGeom>
          <a:solidFill>
            <a:srgbClr val="E8F0FE"/>
          </a:solidFill>
          <a:ln w="12700">
            <a:solidFill>
              <a:srgbClr val="E8F0FE"/>
            </a:solidFill>
            <a:prstDash val="solid"/>
          </a:ln>
        </p:spPr>
        <p:txBody>
          <a:bodyPr/>
          <a:lstStyle/>
          <a:p>
            <a:endParaRPr lang="en-US"/>
          </a:p>
        </p:txBody>
      </p:sp>
      <p:sp>
        <p:nvSpPr>
          <p:cNvPr id="9" name="Text 7"/>
          <p:cNvSpPr txBox="1"/>
          <p:nvPr/>
        </p:nvSpPr>
        <p:spPr>
          <a:xfrm>
            <a:off x="4233672" y="1380744"/>
            <a:ext cx="2340864" cy="201168"/>
          </a:xfrm>
          <a:prstGeom prst="rect">
            <a:avLst/>
          </a:prstGeom>
          <a:noFill/>
          <a:ln/>
        </p:spPr>
        <p:txBody>
          <a:bodyPr wrap="square" lIns="0" tIns="0" rIns="0" bIns="0" rtlCol="0" anchor="ctr"/>
          <a:lstStyle/>
          <a:p>
            <a:pPr marL="0" indent="0">
              <a:buNone/>
            </a:pPr>
            <a:r>
              <a:rPr lang="en-US" sz="1100" b="1" dirty="0">
                <a:solidFill>
                  <a:srgbClr val="2E5BFF"/>
                </a:solidFill>
                <a:latin typeface="Courier New" pitchFamily="34" charset="0"/>
                <a:ea typeface="Courier New" pitchFamily="34" charset="-122"/>
                <a:cs typeface="Courier New" pitchFamily="34" charset="-120"/>
              </a:rPr>
              <a:t>C</a:t>
            </a:r>
            <a:endParaRPr lang="en-US" sz="1100" dirty="0"/>
          </a:p>
        </p:txBody>
      </p:sp>
      <p:sp>
        <p:nvSpPr>
          <p:cNvPr id="10" name="Shape 8"/>
          <p:cNvSpPr/>
          <p:nvPr/>
        </p:nvSpPr>
        <p:spPr>
          <a:xfrm>
            <a:off x="4160520" y="1664208"/>
            <a:ext cx="2487168" cy="2743200"/>
          </a:xfrm>
          <a:prstGeom prst="rect">
            <a:avLst/>
          </a:prstGeom>
          <a:solidFill>
            <a:srgbClr val="EEF1FA"/>
          </a:solidFill>
          <a:ln w="12700">
            <a:solidFill>
              <a:srgbClr val="D0DAF0"/>
            </a:solidFill>
            <a:prstDash val="solid"/>
          </a:ln>
        </p:spPr>
        <p:txBody>
          <a:bodyPr/>
          <a:lstStyle/>
          <a:p>
            <a:endParaRPr lang="en-US"/>
          </a:p>
        </p:txBody>
      </p:sp>
      <p:sp>
        <p:nvSpPr>
          <p:cNvPr id="11" name="Text 9"/>
          <p:cNvSpPr txBox="1"/>
          <p:nvPr/>
        </p:nvSpPr>
        <p:spPr>
          <a:xfrm>
            <a:off x="4288536" y="1755648"/>
            <a:ext cx="2286000" cy="257860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#include &lt;stdio.h&gt;</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int main()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int score;</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scanf("%d", &amp;score);</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if (score &gt; 50)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printf("Pass\n");</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 else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printf("Fail\n");</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return 0;</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t>
            </a:r>
            <a:endParaRPr lang="en-US" sz="1100" dirty="0"/>
          </a:p>
        </p:txBody>
      </p:sp>
      <p:sp>
        <p:nvSpPr>
          <p:cNvPr id="12" name="Shape 10"/>
          <p:cNvSpPr/>
          <p:nvPr/>
        </p:nvSpPr>
        <p:spPr>
          <a:xfrm>
            <a:off x="6839712" y="1828800"/>
            <a:ext cx="2487168" cy="292608"/>
          </a:xfrm>
          <a:prstGeom prst="roundRect">
            <a:avLst>
              <a:gd name="adj" fmla="val 21875"/>
            </a:avLst>
          </a:prstGeom>
          <a:solidFill>
            <a:srgbClr val="F3E8FE"/>
          </a:solidFill>
          <a:ln w="12700">
            <a:solidFill>
              <a:srgbClr val="F3E8FE"/>
            </a:solidFill>
            <a:prstDash val="solid"/>
          </a:ln>
        </p:spPr>
        <p:txBody>
          <a:bodyPr/>
          <a:lstStyle/>
          <a:p>
            <a:endParaRPr lang="en-US"/>
          </a:p>
        </p:txBody>
      </p:sp>
      <p:sp>
        <p:nvSpPr>
          <p:cNvPr id="13" name="Text 11"/>
          <p:cNvSpPr txBox="1"/>
          <p:nvPr/>
        </p:nvSpPr>
        <p:spPr>
          <a:xfrm>
            <a:off x="6867144" y="1380744"/>
            <a:ext cx="2340864" cy="201168"/>
          </a:xfrm>
          <a:prstGeom prst="rect">
            <a:avLst/>
          </a:prstGeom>
          <a:noFill/>
          <a:ln/>
        </p:spPr>
        <p:txBody>
          <a:bodyPr wrap="square" lIns="0" tIns="0" rIns="0" bIns="0" rtlCol="0" anchor="ctr"/>
          <a:lstStyle/>
          <a:p>
            <a:pPr marL="0" indent="0">
              <a:buNone/>
            </a:pPr>
            <a:r>
              <a:rPr lang="en-US" sz="1100" b="1" dirty="0">
                <a:solidFill>
                  <a:srgbClr val="7B2FBE"/>
                </a:solidFill>
                <a:latin typeface="Courier New" pitchFamily="34" charset="0"/>
                <a:ea typeface="Courier New" pitchFamily="34" charset="-122"/>
                <a:cs typeface="Courier New" pitchFamily="34" charset="-120"/>
              </a:rPr>
              <a:t>C#</a:t>
            </a:r>
            <a:endParaRPr lang="en-US" sz="1100" dirty="0"/>
          </a:p>
        </p:txBody>
      </p:sp>
      <p:sp>
        <p:nvSpPr>
          <p:cNvPr id="14" name="Shape 12"/>
          <p:cNvSpPr/>
          <p:nvPr/>
        </p:nvSpPr>
        <p:spPr>
          <a:xfrm>
            <a:off x="6793992" y="1664208"/>
            <a:ext cx="2487168" cy="2743200"/>
          </a:xfrm>
          <a:prstGeom prst="rect">
            <a:avLst/>
          </a:prstGeom>
          <a:solidFill>
            <a:srgbClr val="EEF1FA"/>
          </a:solidFill>
          <a:ln w="12700">
            <a:solidFill>
              <a:srgbClr val="D0DAF0"/>
            </a:solidFill>
            <a:prstDash val="solid"/>
          </a:ln>
        </p:spPr>
        <p:txBody>
          <a:bodyPr/>
          <a:lstStyle/>
          <a:p>
            <a:endParaRPr lang="en-US"/>
          </a:p>
        </p:txBody>
      </p:sp>
      <p:sp>
        <p:nvSpPr>
          <p:cNvPr id="15" name="Text 13"/>
          <p:cNvSpPr txBox="1"/>
          <p:nvPr/>
        </p:nvSpPr>
        <p:spPr>
          <a:xfrm>
            <a:off x="6922008" y="1755648"/>
            <a:ext cx="2286000" cy="257860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int score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int.Parse(</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Console.ReadLine()</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if (score &gt; 50)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Console.WriteLine("Pass");</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else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Console.WriteLine("Fail");</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t>
            </a:r>
            <a:endParaRPr lang="en-US" sz="1100" dirty="0"/>
          </a:p>
        </p:txBody>
      </p:sp>
      <p:sp>
        <p:nvSpPr>
          <p:cNvPr id="16" name="Shape 14"/>
          <p:cNvSpPr/>
          <p:nvPr/>
        </p:nvSpPr>
        <p:spPr>
          <a:xfrm>
            <a:off x="9473184" y="1828800"/>
            <a:ext cx="2487168" cy="292608"/>
          </a:xfrm>
          <a:prstGeom prst="roundRect">
            <a:avLst>
              <a:gd name="adj" fmla="val 21875"/>
            </a:avLst>
          </a:prstGeom>
          <a:solidFill>
            <a:srgbClr val="FEF3E8"/>
          </a:solidFill>
          <a:ln w="12700">
            <a:solidFill>
              <a:srgbClr val="FEF3E8"/>
            </a:solidFill>
            <a:prstDash val="solid"/>
          </a:ln>
        </p:spPr>
        <p:txBody>
          <a:bodyPr/>
          <a:lstStyle/>
          <a:p>
            <a:endParaRPr lang="en-US"/>
          </a:p>
        </p:txBody>
      </p:sp>
      <p:sp>
        <p:nvSpPr>
          <p:cNvPr id="17" name="Text 15"/>
          <p:cNvSpPr txBox="1"/>
          <p:nvPr/>
        </p:nvSpPr>
        <p:spPr>
          <a:xfrm>
            <a:off x="9500616" y="1380744"/>
            <a:ext cx="2340864" cy="201168"/>
          </a:xfrm>
          <a:prstGeom prst="rect">
            <a:avLst/>
          </a:prstGeom>
          <a:noFill/>
          <a:ln/>
        </p:spPr>
        <p:txBody>
          <a:bodyPr wrap="square" lIns="0" tIns="0" rIns="0" bIns="0" rtlCol="0" anchor="ctr"/>
          <a:lstStyle/>
          <a:p>
            <a:pPr marL="0" indent="0">
              <a:buNone/>
            </a:pPr>
            <a:r>
              <a:rPr lang="en-US" sz="1100" b="1" dirty="0">
                <a:solidFill>
                  <a:srgbClr val="C05E00"/>
                </a:solidFill>
                <a:latin typeface="Courier New" pitchFamily="34" charset="0"/>
                <a:ea typeface="Courier New" pitchFamily="34" charset="-122"/>
                <a:cs typeface="Courier New" pitchFamily="34" charset="-120"/>
              </a:rPr>
              <a:t>Python</a:t>
            </a:r>
            <a:endParaRPr lang="en-US" sz="1100" dirty="0"/>
          </a:p>
        </p:txBody>
      </p:sp>
      <p:sp>
        <p:nvSpPr>
          <p:cNvPr id="18" name="Shape 16"/>
          <p:cNvSpPr/>
          <p:nvPr/>
        </p:nvSpPr>
        <p:spPr>
          <a:xfrm>
            <a:off x="9427464" y="1664208"/>
            <a:ext cx="2487168" cy="2743200"/>
          </a:xfrm>
          <a:prstGeom prst="rect">
            <a:avLst/>
          </a:prstGeom>
          <a:solidFill>
            <a:srgbClr val="EEF1FA"/>
          </a:solidFill>
          <a:ln w="12700">
            <a:solidFill>
              <a:srgbClr val="D0DAF0"/>
            </a:solidFill>
            <a:prstDash val="solid"/>
          </a:ln>
        </p:spPr>
        <p:txBody>
          <a:bodyPr/>
          <a:lstStyle/>
          <a:p>
            <a:endParaRPr lang="en-US"/>
          </a:p>
        </p:txBody>
      </p:sp>
      <p:sp>
        <p:nvSpPr>
          <p:cNvPr id="19" name="Text 17"/>
          <p:cNvSpPr txBox="1"/>
          <p:nvPr/>
        </p:nvSpPr>
        <p:spPr>
          <a:xfrm>
            <a:off x="9555480" y="1755648"/>
            <a:ext cx="2286000" cy="257860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score = int(input())</a:t>
            </a:r>
            <a:endParaRPr lang="en-US" sz="1100" dirty="0"/>
          </a:p>
          <a:p>
            <a:pPr marL="0" indent="0">
              <a:lnSpc>
                <a:spcPct val="155000"/>
              </a:lnSpc>
              <a:buNone/>
            </a:pP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if score &gt; 50:</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print("Pass")</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else:</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print("Fail")</a:t>
            </a:r>
            <a:endParaRPr lang="en-US" sz="1100" dirty="0"/>
          </a:p>
        </p:txBody>
      </p:sp>
      <p:sp>
        <p:nvSpPr>
          <p:cNvPr id="20" name="Text 18"/>
          <p:cNvSpPr txBox="1"/>
          <p:nvPr/>
        </p:nvSpPr>
        <p:spPr>
          <a:xfrm>
            <a:off x="4160520" y="4535424"/>
            <a:ext cx="7680960" cy="274320"/>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Four analysis questions for discussion (answers on next slide):</a:t>
            </a:r>
            <a:endParaRPr lang="en-US" sz="1200" dirty="0"/>
          </a:p>
        </p:txBody>
      </p:sp>
      <p:sp>
        <p:nvSpPr>
          <p:cNvPr id="21" name="Text 19"/>
          <p:cNvSpPr txBox="1"/>
          <p:nvPr/>
        </p:nvSpPr>
        <p:spPr>
          <a:xfrm>
            <a:off x="4160520" y="4864608"/>
            <a:ext cx="7680960" cy="292608"/>
          </a:xfrm>
          <a:prstGeom prst="rect">
            <a:avLst/>
          </a:prstGeom>
          <a:noFill/>
          <a:ln/>
        </p:spPr>
        <p:txBody>
          <a:bodyPr wrap="square" lIns="0" tIns="0" rIns="0" bIns="0" rtlCol="0" anchor="ctr"/>
          <a:lstStyle/>
          <a:p>
            <a:pPr marL="0" indent="0">
              <a:lnSpc>
                <a:spcPct val="120000"/>
              </a:lnSpc>
              <a:buNone/>
            </a:pPr>
            <a:r>
              <a:rPr lang="en-US" sz="1200" dirty="0">
                <a:solidFill>
                  <a:srgbClr val="1E2A3A"/>
                </a:solidFill>
                <a:latin typeface="Calibri" pitchFamily="34" charset="0"/>
                <a:ea typeface="Calibri" pitchFamily="34" charset="-122"/>
                <a:cs typeface="Calibri" pitchFamily="34" charset="-120"/>
              </a:rPr>
              <a:t>1. What does each language require that the others leave implicit?</a:t>
            </a:r>
            <a:endParaRPr lang="en-US" sz="1200" dirty="0"/>
          </a:p>
        </p:txBody>
      </p:sp>
      <p:sp>
        <p:nvSpPr>
          <p:cNvPr id="22" name="Text 20"/>
          <p:cNvSpPr txBox="1"/>
          <p:nvPr/>
        </p:nvSpPr>
        <p:spPr>
          <a:xfrm>
            <a:off x="4160520" y="5212080"/>
            <a:ext cx="7680960" cy="292608"/>
          </a:xfrm>
          <a:prstGeom prst="rect">
            <a:avLst/>
          </a:prstGeom>
          <a:noFill/>
          <a:ln/>
        </p:spPr>
        <p:txBody>
          <a:bodyPr wrap="square" lIns="0" tIns="0" rIns="0" bIns="0" rtlCol="0" anchor="ctr"/>
          <a:lstStyle/>
          <a:p>
            <a:pPr marL="0" indent="0">
              <a:lnSpc>
                <a:spcPct val="120000"/>
              </a:lnSpc>
              <a:buNone/>
            </a:pPr>
            <a:r>
              <a:rPr lang="en-US" sz="1200" dirty="0">
                <a:solidFill>
                  <a:srgbClr val="1E2A3A"/>
                </a:solidFill>
                <a:latin typeface="Calibri" pitchFamily="34" charset="0"/>
                <a:ea typeface="Calibri" pitchFamily="34" charset="-122"/>
                <a:cs typeface="Calibri" pitchFamily="34" charset="-120"/>
              </a:rPr>
              <a:t>2. What syntax choices look intentional — and what goal do they serve?</a:t>
            </a:r>
            <a:endParaRPr lang="en-US" sz="1200" dirty="0"/>
          </a:p>
        </p:txBody>
      </p:sp>
      <p:sp>
        <p:nvSpPr>
          <p:cNvPr id="23" name="Text 21"/>
          <p:cNvSpPr txBox="1"/>
          <p:nvPr/>
        </p:nvSpPr>
        <p:spPr>
          <a:xfrm>
            <a:off x="4160520" y="5559552"/>
            <a:ext cx="7680960" cy="292608"/>
          </a:xfrm>
          <a:prstGeom prst="rect">
            <a:avLst/>
          </a:prstGeom>
          <a:noFill/>
          <a:ln/>
        </p:spPr>
        <p:txBody>
          <a:bodyPr wrap="square" lIns="0" tIns="0" rIns="0" bIns="0" rtlCol="0" anchor="ctr"/>
          <a:lstStyle/>
          <a:p>
            <a:pPr marL="0" indent="0">
              <a:lnSpc>
                <a:spcPct val="120000"/>
              </a:lnSpc>
              <a:buNone/>
            </a:pPr>
            <a:r>
              <a:rPr lang="en-US" sz="1200" dirty="0">
                <a:solidFill>
                  <a:srgbClr val="1E2A3A"/>
                </a:solidFill>
                <a:latin typeface="Calibri" pitchFamily="34" charset="0"/>
                <a:ea typeface="Calibri" pitchFamily="34" charset="-122"/>
                <a:cs typeface="Calibri" pitchFamily="34" charset="-120"/>
              </a:rPr>
              <a:t>3. Which version do you find easiest to read — and why might someone disagree?</a:t>
            </a:r>
            <a:endParaRPr lang="en-US" sz="1200" dirty="0"/>
          </a:p>
        </p:txBody>
      </p:sp>
      <p:sp>
        <p:nvSpPr>
          <p:cNvPr id="24" name="Text 22"/>
          <p:cNvSpPr txBox="1"/>
          <p:nvPr/>
        </p:nvSpPr>
        <p:spPr>
          <a:xfrm>
            <a:off x="4160520" y="5907024"/>
            <a:ext cx="7680960" cy="292608"/>
          </a:xfrm>
          <a:prstGeom prst="rect">
            <a:avLst/>
          </a:prstGeom>
          <a:noFill/>
          <a:ln/>
        </p:spPr>
        <p:txBody>
          <a:bodyPr wrap="square" lIns="0" tIns="0" rIns="0" bIns="0" rtlCol="0" anchor="ctr"/>
          <a:lstStyle/>
          <a:p>
            <a:pPr marL="0" indent="0">
              <a:lnSpc>
                <a:spcPct val="120000"/>
              </a:lnSpc>
              <a:buNone/>
            </a:pPr>
            <a:r>
              <a:rPr lang="en-US" sz="1200" dirty="0">
                <a:solidFill>
                  <a:srgbClr val="1E2A3A"/>
                </a:solidFill>
                <a:latin typeface="Calibri" pitchFamily="34" charset="0"/>
                <a:ea typeface="Calibri" pitchFamily="34" charset="-122"/>
                <a:cs typeface="Calibri" pitchFamily="34" charset="-120"/>
              </a:rPr>
              <a:t>4. What trade-off does each language's approach create?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51560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Three Common Misconceptions — Set the Record Straight</a:t>
            </a:r>
            <a:endParaRPr lang="en-US" sz="2200" dirty="0"/>
          </a:p>
        </p:txBody>
      </p:sp>
      <p:sp>
        <p:nvSpPr>
          <p:cNvPr id="4" name="Text 2"/>
          <p:cNvSpPr txBox="1"/>
          <p:nvPr/>
        </p:nvSpPr>
        <p:spPr>
          <a:xfrm>
            <a:off x="10515600" y="256032"/>
            <a:ext cx="150876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6</a:t>
            </a:r>
            <a:endParaRPr lang="en-US" sz="900" dirty="0"/>
          </a:p>
        </p:txBody>
      </p:sp>
      <p:sp>
        <p:nvSpPr>
          <p:cNvPr id="5" name="Shape 3"/>
          <p:cNvSpPr/>
          <p:nvPr/>
        </p:nvSpPr>
        <p:spPr>
          <a:xfrm>
            <a:off x="411480" y="987552"/>
            <a:ext cx="5349240" cy="1719072"/>
          </a:xfrm>
          <a:prstGeom prst="rect">
            <a:avLst/>
          </a:prstGeom>
          <a:solidFill>
            <a:srgbClr val="FEF2F2"/>
          </a:solidFill>
          <a:ln w="12700">
            <a:solidFill>
              <a:srgbClr val="FCA5A5"/>
            </a:solidFill>
            <a:prstDash val="solid"/>
          </a:ln>
        </p:spPr>
        <p:txBody>
          <a:bodyPr/>
          <a:lstStyle/>
          <a:p>
            <a:endParaRPr lang="en-US"/>
          </a:p>
        </p:txBody>
      </p:sp>
      <p:sp>
        <p:nvSpPr>
          <p:cNvPr id="6" name="Shape 4"/>
          <p:cNvSpPr/>
          <p:nvPr/>
        </p:nvSpPr>
        <p:spPr>
          <a:xfrm>
            <a:off x="5989320" y="987552"/>
            <a:ext cx="5760720" cy="1719072"/>
          </a:xfrm>
          <a:prstGeom prst="rect">
            <a:avLst/>
          </a:prstGeom>
          <a:solidFill>
            <a:srgbClr val="EAF7EE"/>
          </a:solidFill>
          <a:ln w="12700">
            <a:solidFill>
              <a:srgbClr val="6EE7B7"/>
            </a:solidFill>
            <a:prstDash val="solid"/>
          </a:ln>
        </p:spPr>
        <p:txBody>
          <a:bodyPr/>
          <a:lstStyle/>
          <a:p>
            <a:endParaRPr lang="en-US"/>
          </a:p>
        </p:txBody>
      </p:sp>
      <p:sp>
        <p:nvSpPr>
          <p:cNvPr id="7" name="Text 5"/>
          <p:cNvSpPr txBox="1"/>
          <p:nvPr/>
        </p:nvSpPr>
        <p:spPr>
          <a:xfrm>
            <a:off x="594360" y="1097280"/>
            <a:ext cx="5029200" cy="1444752"/>
          </a:xfrm>
          <a:prstGeom prst="rect">
            <a:avLst/>
          </a:prstGeom>
          <a:noFill/>
          <a:ln/>
        </p:spPr>
        <p:txBody>
          <a:bodyPr wrap="square" lIns="0" tIns="0" rIns="0" bIns="0" rtlCol="0" anchor="ctr"/>
          <a:lstStyle/>
          <a:p>
            <a:pPr marL="0" indent="0">
              <a:lnSpc>
                <a:spcPct val="135000"/>
              </a:lnSpc>
              <a:buNone/>
            </a:pPr>
            <a:r>
              <a:rPr lang="en-US" sz="1300" b="1" dirty="0">
                <a:solidFill>
                  <a:srgbClr val="9B1C1C"/>
                </a:solidFill>
                <a:latin typeface="Calibri" pitchFamily="34" charset="0"/>
                <a:ea typeface="Calibri" pitchFamily="34" charset="-122"/>
                <a:cs typeface="Calibri" pitchFamily="34" charset="-120"/>
              </a:rPr>
              <a:t>❌  "Python's indentation is just a style preference."</a:t>
            </a:r>
            <a:endParaRPr lang="en-US" sz="1300" dirty="0"/>
          </a:p>
        </p:txBody>
      </p:sp>
      <p:sp>
        <p:nvSpPr>
          <p:cNvPr id="8" name="Text 6"/>
          <p:cNvSpPr txBox="1"/>
          <p:nvPr/>
        </p:nvSpPr>
        <p:spPr>
          <a:xfrm>
            <a:off x="6172200" y="1097280"/>
            <a:ext cx="5394960" cy="1508760"/>
          </a:xfrm>
          <a:prstGeom prst="rect">
            <a:avLst/>
          </a:prstGeom>
          <a:noFill/>
          <a:ln/>
        </p:spPr>
        <p:txBody>
          <a:bodyPr wrap="square" lIns="0" tIns="0" rIns="0" bIns="0" rtlCol="0" anchor="ctr"/>
          <a:lstStyle/>
          <a:p>
            <a:pPr marL="0" indent="0">
              <a:lnSpc>
                <a:spcPct val="140000"/>
              </a:lnSpc>
              <a:buNone/>
            </a:pPr>
            <a:r>
              <a:rPr lang="en-US" sz="1200" dirty="0">
                <a:solidFill>
                  <a:srgbClr val="1A7A3C"/>
                </a:solidFill>
                <a:latin typeface="Calibri" pitchFamily="34" charset="0"/>
                <a:ea typeface="Calibri" pitchFamily="34" charset="-122"/>
                <a:cs typeface="Calibri" pitchFamily="34" charset="-120"/>
              </a:rPr>
              <a:t>✓  Indentation in Python is a syntax requirement, not style. The language generates INDENT and DEDENT tokens from indentation changes, and the parser uses those tokens to define block boundaries. Wrong indentation is a syntax error — not a formatting complaint.</a:t>
            </a:r>
            <a:endParaRPr lang="en-US" sz="1200" dirty="0"/>
          </a:p>
        </p:txBody>
      </p:sp>
      <p:sp>
        <p:nvSpPr>
          <p:cNvPr id="9" name="Shape 7"/>
          <p:cNvSpPr/>
          <p:nvPr/>
        </p:nvSpPr>
        <p:spPr>
          <a:xfrm>
            <a:off x="411480" y="2889504"/>
            <a:ext cx="5349240" cy="1719072"/>
          </a:xfrm>
          <a:prstGeom prst="rect">
            <a:avLst/>
          </a:prstGeom>
          <a:solidFill>
            <a:srgbClr val="FEF2F2"/>
          </a:solidFill>
          <a:ln w="12700">
            <a:solidFill>
              <a:srgbClr val="FCA5A5"/>
            </a:solidFill>
            <a:prstDash val="solid"/>
          </a:ln>
        </p:spPr>
        <p:txBody>
          <a:bodyPr/>
          <a:lstStyle/>
          <a:p>
            <a:endParaRPr lang="en-US"/>
          </a:p>
        </p:txBody>
      </p:sp>
      <p:sp>
        <p:nvSpPr>
          <p:cNvPr id="10" name="Shape 8"/>
          <p:cNvSpPr/>
          <p:nvPr/>
        </p:nvSpPr>
        <p:spPr>
          <a:xfrm>
            <a:off x="5989320" y="2889504"/>
            <a:ext cx="5760720" cy="1719072"/>
          </a:xfrm>
          <a:prstGeom prst="rect">
            <a:avLst/>
          </a:prstGeom>
          <a:solidFill>
            <a:srgbClr val="EAF7EE"/>
          </a:solidFill>
          <a:ln w="12700">
            <a:solidFill>
              <a:srgbClr val="6EE7B7"/>
            </a:solidFill>
            <a:prstDash val="solid"/>
          </a:ln>
        </p:spPr>
        <p:txBody>
          <a:bodyPr/>
          <a:lstStyle/>
          <a:p>
            <a:endParaRPr lang="en-US"/>
          </a:p>
        </p:txBody>
      </p:sp>
      <p:sp>
        <p:nvSpPr>
          <p:cNvPr id="11" name="Text 9"/>
          <p:cNvSpPr txBox="1"/>
          <p:nvPr/>
        </p:nvSpPr>
        <p:spPr>
          <a:xfrm>
            <a:off x="594360" y="2999232"/>
            <a:ext cx="5029200" cy="1444752"/>
          </a:xfrm>
          <a:prstGeom prst="rect">
            <a:avLst/>
          </a:prstGeom>
          <a:noFill/>
          <a:ln/>
        </p:spPr>
        <p:txBody>
          <a:bodyPr wrap="square" lIns="0" tIns="0" rIns="0" bIns="0" rtlCol="0" anchor="ctr"/>
          <a:lstStyle/>
          <a:p>
            <a:pPr marL="0" indent="0">
              <a:lnSpc>
                <a:spcPct val="135000"/>
              </a:lnSpc>
              <a:buNone/>
            </a:pPr>
            <a:r>
              <a:rPr lang="en-US" sz="1300" b="1" dirty="0">
                <a:solidFill>
                  <a:srgbClr val="9B1C1C"/>
                </a:solidFill>
                <a:latin typeface="Calibri" pitchFamily="34" charset="0"/>
                <a:ea typeface="Calibri" pitchFamily="34" charset="-122"/>
                <a:cs typeface="Calibri" pitchFamily="34" charset="-120"/>
              </a:rPr>
              <a:t>❌  "A program that compiles without errors is correct."</a:t>
            </a:r>
            <a:endParaRPr lang="en-US" sz="1300" dirty="0"/>
          </a:p>
        </p:txBody>
      </p:sp>
      <p:sp>
        <p:nvSpPr>
          <p:cNvPr id="12" name="Text 10"/>
          <p:cNvSpPr txBox="1"/>
          <p:nvPr/>
        </p:nvSpPr>
        <p:spPr>
          <a:xfrm>
            <a:off x="6172200" y="2999232"/>
            <a:ext cx="5394960" cy="1508760"/>
          </a:xfrm>
          <a:prstGeom prst="rect">
            <a:avLst/>
          </a:prstGeom>
          <a:noFill/>
          <a:ln/>
        </p:spPr>
        <p:txBody>
          <a:bodyPr wrap="square" lIns="0" tIns="0" rIns="0" bIns="0" rtlCol="0" anchor="ctr"/>
          <a:lstStyle/>
          <a:p>
            <a:pPr marL="0" indent="0">
              <a:lnSpc>
                <a:spcPct val="140000"/>
              </a:lnSpc>
              <a:buNone/>
            </a:pPr>
            <a:r>
              <a:rPr lang="en-US" sz="1200" dirty="0">
                <a:solidFill>
                  <a:srgbClr val="1A7A3C"/>
                </a:solidFill>
                <a:latin typeface="Calibri" pitchFamily="34" charset="0"/>
                <a:ea typeface="Calibri" pitchFamily="34" charset="-122"/>
                <a:cs typeface="Calibri" pitchFamily="34" charset="-120"/>
              </a:rPr>
              <a:t>✓  Compiling successfully means the syntax is valid and (in C/C#) types check out. It says nothing about whether the program produces the right answer. A program can compile perfectly and produce completely wrong output, loop forever, or crash with a runtime error.</a:t>
            </a:r>
            <a:endParaRPr lang="en-US" sz="1200" dirty="0"/>
          </a:p>
        </p:txBody>
      </p:sp>
      <p:sp>
        <p:nvSpPr>
          <p:cNvPr id="13" name="Shape 11"/>
          <p:cNvSpPr/>
          <p:nvPr/>
        </p:nvSpPr>
        <p:spPr>
          <a:xfrm>
            <a:off x="411480" y="4791456"/>
            <a:ext cx="5349240" cy="1719072"/>
          </a:xfrm>
          <a:prstGeom prst="rect">
            <a:avLst/>
          </a:prstGeom>
          <a:solidFill>
            <a:srgbClr val="FEF2F2"/>
          </a:solidFill>
          <a:ln w="12700">
            <a:solidFill>
              <a:srgbClr val="FCA5A5"/>
            </a:solidFill>
            <a:prstDash val="solid"/>
          </a:ln>
        </p:spPr>
        <p:txBody>
          <a:bodyPr/>
          <a:lstStyle/>
          <a:p>
            <a:endParaRPr lang="en-US"/>
          </a:p>
        </p:txBody>
      </p:sp>
      <p:sp>
        <p:nvSpPr>
          <p:cNvPr id="14" name="Shape 12"/>
          <p:cNvSpPr/>
          <p:nvPr/>
        </p:nvSpPr>
        <p:spPr>
          <a:xfrm>
            <a:off x="5989320" y="4791456"/>
            <a:ext cx="5760720" cy="1719072"/>
          </a:xfrm>
          <a:prstGeom prst="rect">
            <a:avLst/>
          </a:prstGeom>
          <a:solidFill>
            <a:srgbClr val="EAF7EE"/>
          </a:solidFill>
          <a:ln w="12700">
            <a:solidFill>
              <a:srgbClr val="6EE7B7"/>
            </a:solidFill>
            <a:prstDash val="solid"/>
          </a:ln>
        </p:spPr>
        <p:txBody>
          <a:bodyPr/>
          <a:lstStyle/>
          <a:p>
            <a:endParaRPr lang="en-US"/>
          </a:p>
        </p:txBody>
      </p:sp>
      <p:sp>
        <p:nvSpPr>
          <p:cNvPr id="15" name="Text 13"/>
          <p:cNvSpPr txBox="1"/>
          <p:nvPr/>
        </p:nvSpPr>
        <p:spPr>
          <a:xfrm>
            <a:off x="594360" y="4901184"/>
            <a:ext cx="5029200" cy="1444752"/>
          </a:xfrm>
          <a:prstGeom prst="rect">
            <a:avLst/>
          </a:prstGeom>
          <a:noFill/>
          <a:ln/>
        </p:spPr>
        <p:txBody>
          <a:bodyPr wrap="square" lIns="0" tIns="0" rIns="0" bIns="0" rtlCol="0" anchor="ctr"/>
          <a:lstStyle/>
          <a:p>
            <a:pPr marL="0" indent="0">
              <a:lnSpc>
                <a:spcPct val="135000"/>
              </a:lnSpc>
              <a:buNone/>
            </a:pPr>
            <a:r>
              <a:rPr lang="en-US" sz="1300" b="1" dirty="0">
                <a:solidFill>
                  <a:srgbClr val="9B1C1C"/>
                </a:solidFill>
                <a:latin typeface="Calibri" pitchFamily="34" charset="0"/>
                <a:ea typeface="Calibri" pitchFamily="34" charset="-122"/>
                <a:cs typeface="Calibri" pitchFamily="34" charset="-120"/>
              </a:rPr>
              <a:t>❌  "There is a best syntax — one language gets it right and the others are wrong."</a:t>
            </a:r>
            <a:endParaRPr lang="en-US" sz="1300" dirty="0"/>
          </a:p>
        </p:txBody>
      </p:sp>
      <p:sp>
        <p:nvSpPr>
          <p:cNvPr id="16" name="Text 14"/>
          <p:cNvSpPr txBox="1"/>
          <p:nvPr/>
        </p:nvSpPr>
        <p:spPr>
          <a:xfrm>
            <a:off x="6172200" y="4901184"/>
            <a:ext cx="5394960" cy="1508760"/>
          </a:xfrm>
          <a:prstGeom prst="rect">
            <a:avLst/>
          </a:prstGeom>
          <a:noFill/>
          <a:ln/>
        </p:spPr>
        <p:txBody>
          <a:bodyPr wrap="square" lIns="0" tIns="0" rIns="0" bIns="0" rtlCol="0" anchor="ctr"/>
          <a:lstStyle/>
          <a:p>
            <a:pPr marL="0" indent="0">
              <a:lnSpc>
                <a:spcPct val="140000"/>
              </a:lnSpc>
              <a:buNone/>
            </a:pPr>
            <a:r>
              <a:rPr lang="en-US" sz="1200" dirty="0">
                <a:solidFill>
                  <a:srgbClr val="1A7A3C"/>
                </a:solidFill>
                <a:latin typeface="Calibri" pitchFamily="34" charset="0"/>
                <a:ea typeface="Calibri" pitchFamily="34" charset="-122"/>
                <a:cs typeface="Calibri" pitchFamily="34" charset="-120"/>
              </a:rPr>
              <a:t>✓  Every syntax choice reflects a prioritisation among competing goals. C prioritises control. Python prioritises readability. C# prioritises safety with familiarity. The "best" syntax depends entirely on what you are building and for whom — which is exactly why multiple languages exist.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51560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Check Your Understanding — 8 Questions</a:t>
            </a:r>
            <a:endParaRPr lang="en-US" sz="2200" dirty="0"/>
          </a:p>
        </p:txBody>
      </p:sp>
      <p:sp>
        <p:nvSpPr>
          <p:cNvPr id="4" name="Text 2"/>
          <p:cNvSpPr txBox="1"/>
          <p:nvPr/>
        </p:nvSpPr>
        <p:spPr>
          <a:xfrm>
            <a:off x="10515600" y="256032"/>
            <a:ext cx="150876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7 · Practice</a:t>
            </a:r>
            <a:endParaRPr lang="en-US" sz="900" dirty="0"/>
          </a:p>
        </p:txBody>
      </p:sp>
      <p:sp>
        <p:nvSpPr>
          <p:cNvPr id="5" name="Text 3"/>
          <p:cNvSpPr txBox="1"/>
          <p:nvPr/>
        </p:nvSpPr>
        <p:spPr>
          <a:xfrm>
            <a:off x="411480" y="987552"/>
            <a:ext cx="11338560" cy="32004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The tutorial includes 8 graded questions with instant feedback. Here are four to discuss as a class first:</a:t>
            </a:r>
            <a:endParaRPr lang="en-US" sz="1300" dirty="0"/>
          </a:p>
        </p:txBody>
      </p:sp>
      <p:sp>
        <p:nvSpPr>
          <p:cNvPr id="6" name="Shape 4"/>
          <p:cNvSpPr/>
          <p:nvPr/>
        </p:nvSpPr>
        <p:spPr>
          <a:xfrm>
            <a:off x="411480" y="1389888"/>
            <a:ext cx="11338560" cy="1225296"/>
          </a:xfrm>
          <a:prstGeom prst="rect">
            <a:avLst/>
          </a:prstGeom>
          <a:solidFill>
            <a:srgbClr val="FFFFFF"/>
          </a:solidFill>
          <a:ln w="12700">
            <a:solidFill>
              <a:srgbClr val="D0DAF0"/>
            </a:solidFill>
            <a:prstDash val="solid"/>
          </a:ln>
        </p:spPr>
        <p:txBody>
          <a:bodyPr/>
          <a:lstStyle/>
          <a:p>
            <a:endParaRPr lang="en-US"/>
          </a:p>
        </p:txBody>
      </p:sp>
      <p:sp>
        <p:nvSpPr>
          <p:cNvPr id="7" name="Shape 5"/>
          <p:cNvSpPr/>
          <p:nvPr/>
        </p:nvSpPr>
        <p:spPr>
          <a:xfrm>
            <a:off x="411480" y="1389888"/>
            <a:ext cx="685800" cy="1225296"/>
          </a:xfrm>
          <a:prstGeom prst="rect">
            <a:avLst/>
          </a:prstGeom>
          <a:solidFill>
            <a:srgbClr val="1A2B5E"/>
          </a:solidFill>
          <a:ln/>
        </p:spPr>
        <p:txBody>
          <a:bodyPr/>
          <a:lstStyle/>
          <a:p>
            <a:endParaRPr lang="en-US"/>
          </a:p>
        </p:txBody>
      </p:sp>
      <p:sp>
        <p:nvSpPr>
          <p:cNvPr id="8" name="Text 6"/>
          <p:cNvSpPr txBox="1"/>
          <p:nvPr/>
        </p:nvSpPr>
        <p:spPr>
          <a:xfrm>
            <a:off x="411480" y="1591056"/>
            <a:ext cx="6858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Q1</a:t>
            </a:r>
            <a:endParaRPr lang="en-US" sz="1300" dirty="0"/>
          </a:p>
        </p:txBody>
      </p:sp>
      <p:sp>
        <p:nvSpPr>
          <p:cNvPr id="9" name="Text 7"/>
          <p:cNvSpPr txBox="1"/>
          <p:nvPr/>
        </p:nvSpPr>
        <p:spPr>
          <a:xfrm>
            <a:off x="1170432" y="1463040"/>
            <a:ext cx="2560320" cy="219456"/>
          </a:xfrm>
          <a:prstGeom prst="rect">
            <a:avLst/>
          </a:prstGeom>
          <a:noFill/>
          <a:ln/>
        </p:spPr>
        <p:txBody>
          <a:bodyPr wrap="square" lIns="0" tIns="0" rIns="0" bIns="0" rtlCol="0" anchor="ctr"/>
          <a:lstStyle/>
          <a:p>
            <a:pPr marL="0" indent="0">
              <a:buNone/>
            </a:pPr>
            <a:r>
              <a:rPr lang="en-US" sz="1100" dirty="0">
                <a:solidFill>
                  <a:srgbClr val="5A6A82"/>
                </a:solidFill>
                <a:latin typeface="Calibri" pitchFamily="34" charset="0"/>
                <a:ea typeface="Calibri" pitchFamily="34" charset="-122"/>
                <a:cs typeface="Calibri" pitchFamily="34" charset="-120"/>
              </a:rPr>
              <a:t>Tokens</a:t>
            </a:r>
            <a:endParaRPr lang="en-US" sz="1100" dirty="0"/>
          </a:p>
        </p:txBody>
      </p:sp>
      <p:sp>
        <p:nvSpPr>
          <p:cNvPr id="10" name="Text 8"/>
          <p:cNvSpPr txBox="1"/>
          <p:nvPr/>
        </p:nvSpPr>
        <p:spPr>
          <a:xfrm>
            <a:off x="1170432" y="1682496"/>
            <a:ext cx="5029200" cy="640080"/>
          </a:xfrm>
          <a:prstGeom prst="rect">
            <a:avLst/>
          </a:prstGeom>
          <a:noFill/>
          <a:ln/>
        </p:spPr>
        <p:txBody>
          <a:bodyPr wrap="square" lIns="0" tIns="0" rIns="0" bIns="0" rtlCol="0" anchor="ctr"/>
          <a:lstStyle/>
          <a:p>
            <a:pPr marL="0" indent="0">
              <a:lnSpc>
                <a:spcPct val="130000"/>
              </a:lnSpc>
              <a:buNone/>
            </a:pPr>
            <a:r>
              <a:rPr lang="en-US" sz="1300" b="1" dirty="0">
                <a:solidFill>
                  <a:srgbClr val="1E2A3A"/>
                </a:solidFill>
                <a:latin typeface="Calibri" pitchFamily="34" charset="0"/>
                <a:ea typeface="Calibri" pitchFamily="34" charset="-122"/>
                <a:cs typeface="Calibri" pitchFamily="34" charset="-120"/>
              </a:rPr>
              <a:t>In int age = 25; — what type of token is age?</a:t>
            </a:r>
            <a:endParaRPr lang="en-US" sz="1300" dirty="0"/>
          </a:p>
        </p:txBody>
      </p:sp>
      <p:sp>
        <p:nvSpPr>
          <p:cNvPr id="11" name="Shape 9"/>
          <p:cNvSpPr/>
          <p:nvPr/>
        </p:nvSpPr>
        <p:spPr>
          <a:xfrm>
            <a:off x="6400800" y="1463040"/>
            <a:ext cx="5212080" cy="1078992"/>
          </a:xfrm>
          <a:prstGeom prst="rect">
            <a:avLst/>
          </a:prstGeom>
          <a:solidFill>
            <a:srgbClr val="EAF7EE"/>
          </a:solidFill>
          <a:ln w="12700">
            <a:solidFill>
              <a:srgbClr val="6EE7B7"/>
            </a:solidFill>
            <a:prstDash val="solid"/>
          </a:ln>
        </p:spPr>
        <p:txBody>
          <a:bodyPr/>
          <a:lstStyle/>
          <a:p>
            <a:endParaRPr lang="en-US"/>
          </a:p>
        </p:txBody>
      </p:sp>
      <p:sp>
        <p:nvSpPr>
          <p:cNvPr id="12" name="Text 10"/>
          <p:cNvSpPr txBox="1"/>
          <p:nvPr/>
        </p:nvSpPr>
        <p:spPr>
          <a:xfrm>
            <a:off x="6583680" y="1554480"/>
            <a:ext cx="4846320" cy="868680"/>
          </a:xfrm>
          <a:prstGeom prst="rect">
            <a:avLst/>
          </a:prstGeom>
          <a:noFill/>
          <a:ln/>
        </p:spPr>
        <p:txBody>
          <a:bodyPr wrap="square" lIns="0" tIns="0" rIns="0" bIns="0" rtlCol="0" anchor="ctr"/>
          <a:lstStyle/>
          <a:p>
            <a:pPr marL="0" indent="0">
              <a:lnSpc>
                <a:spcPct val="135000"/>
              </a:lnSpc>
              <a:buNone/>
            </a:pPr>
            <a:r>
              <a:rPr lang="en-US" sz="1200" dirty="0">
                <a:solidFill>
                  <a:srgbClr val="1A7A3C"/>
                </a:solidFill>
                <a:latin typeface="Calibri" pitchFamily="34" charset="0"/>
                <a:ea typeface="Calibri" pitchFamily="34" charset="-122"/>
                <a:cs typeface="Calibri" pitchFamily="34" charset="-120"/>
              </a:rPr>
              <a:t>✓  An identifier — a name the programmer created. (Not a keyword — that's int. Not a literal — that's 25.)</a:t>
            </a:r>
            <a:endParaRPr lang="en-US" sz="1200" dirty="0"/>
          </a:p>
        </p:txBody>
      </p:sp>
      <p:sp>
        <p:nvSpPr>
          <p:cNvPr id="13" name="Shape 11"/>
          <p:cNvSpPr/>
          <p:nvPr/>
        </p:nvSpPr>
        <p:spPr>
          <a:xfrm>
            <a:off x="411480" y="2743200"/>
            <a:ext cx="11338560" cy="1225296"/>
          </a:xfrm>
          <a:prstGeom prst="rect">
            <a:avLst/>
          </a:prstGeom>
          <a:solidFill>
            <a:srgbClr val="FFFFFF"/>
          </a:solidFill>
          <a:ln w="12700">
            <a:solidFill>
              <a:srgbClr val="D0DAF0"/>
            </a:solidFill>
            <a:prstDash val="solid"/>
          </a:ln>
        </p:spPr>
        <p:txBody>
          <a:bodyPr/>
          <a:lstStyle/>
          <a:p>
            <a:endParaRPr lang="en-US"/>
          </a:p>
        </p:txBody>
      </p:sp>
      <p:sp>
        <p:nvSpPr>
          <p:cNvPr id="14" name="Shape 12"/>
          <p:cNvSpPr/>
          <p:nvPr/>
        </p:nvSpPr>
        <p:spPr>
          <a:xfrm>
            <a:off x="411480" y="2743200"/>
            <a:ext cx="685800" cy="1225296"/>
          </a:xfrm>
          <a:prstGeom prst="rect">
            <a:avLst/>
          </a:prstGeom>
          <a:solidFill>
            <a:srgbClr val="1A2B5E"/>
          </a:solidFill>
          <a:ln/>
        </p:spPr>
        <p:txBody>
          <a:bodyPr/>
          <a:lstStyle/>
          <a:p>
            <a:endParaRPr lang="en-US"/>
          </a:p>
        </p:txBody>
      </p:sp>
      <p:sp>
        <p:nvSpPr>
          <p:cNvPr id="15" name="Text 13"/>
          <p:cNvSpPr txBox="1"/>
          <p:nvPr/>
        </p:nvSpPr>
        <p:spPr>
          <a:xfrm>
            <a:off x="411480" y="2944368"/>
            <a:ext cx="6858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Q3</a:t>
            </a:r>
            <a:endParaRPr lang="en-US" sz="1300" dirty="0"/>
          </a:p>
        </p:txBody>
      </p:sp>
      <p:sp>
        <p:nvSpPr>
          <p:cNvPr id="16" name="Text 14"/>
          <p:cNvSpPr txBox="1"/>
          <p:nvPr/>
        </p:nvSpPr>
        <p:spPr>
          <a:xfrm>
            <a:off x="1170432" y="2816352"/>
            <a:ext cx="2560320" cy="219456"/>
          </a:xfrm>
          <a:prstGeom prst="rect">
            <a:avLst/>
          </a:prstGeom>
          <a:noFill/>
          <a:ln/>
        </p:spPr>
        <p:txBody>
          <a:bodyPr wrap="square" lIns="0" tIns="0" rIns="0" bIns="0" rtlCol="0" anchor="ctr"/>
          <a:lstStyle/>
          <a:p>
            <a:pPr marL="0" indent="0">
              <a:buNone/>
            </a:pPr>
            <a:r>
              <a:rPr lang="en-US" sz="1100" dirty="0">
                <a:solidFill>
                  <a:srgbClr val="5A6A82"/>
                </a:solidFill>
                <a:latin typeface="Calibri" pitchFamily="34" charset="0"/>
                <a:ea typeface="Calibri" pitchFamily="34" charset="-122"/>
                <a:cs typeface="Calibri" pitchFamily="34" charset="-120"/>
              </a:rPr>
              <a:t>Syntax</a:t>
            </a:r>
            <a:endParaRPr lang="en-US" sz="1100" dirty="0"/>
          </a:p>
        </p:txBody>
      </p:sp>
      <p:sp>
        <p:nvSpPr>
          <p:cNvPr id="17" name="Text 15"/>
          <p:cNvSpPr txBox="1"/>
          <p:nvPr/>
        </p:nvSpPr>
        <p:spPr>
          <a:xfrm>
            <a:off x="1170432" y="3035808"/>
            <a:ext cx="5029200" cy="640080"/>
          </a:xfrm>
          <a:prstGeom prst="rect">
            <a:avLst/>
          </a:prstGeom>
          <a:noFill/>
          <a:ln/>
        </p:spPr>
        <p:txBody>
          <a:bodyPr wrap="square" lIns="0" tIns="0" rIns="0" bIns="0" rtlCol="0" anchor="ctr"/>
          <a:lstStyle/>
          <a:p>
            <a:pPr marL="0" indent="0">
              <a:lnSpc>
                <a:spcPct val="130000"/>
              </a:lnSpc>
              <a:buNone/>
            </a:pPr>
            <a:r>
              <a:rPr lang="en-US" sz="1300" b="1" dirty="0">
                <a:solidFill>
                  <a:srgbClr val="1E2A3A"/>
                </a:solidFill>
                <a:latin typeface="Calibri" pitchFamily="34" charset="0"/>
                <a:ea typeface="Calibri" pitchFamily="34" charset="-122"/>
                <a:cs typeface="Calibri" pitchFamily="34" charset="-120"/>
              </a:rPr>
              <a:t>Which best describes what syntax does in a programming language?</a:t>
            </a:r>
            <a:endParaRPr lang="en-US" sz="1300" dirty="0"/>
          </a:p>
        </p:txBody>
      </p:sp>
      <p:sp>
        <p:nvSpPr>
          <p:cNvPr id="18" name="Shape 16"/>
          <p:cNvSpPr/>
          <p:nvPr/>
        </p:nvSpPr>
        <p:spPr>
          <a:xfrm>
            <a:off x="6400800" y="2816352"/>
            <a:ext cx="5212080" cy="1078992"/>
          </a:xfrm>
          <a:prstGeom prst="rect">
            <a:avLst/>
          </a:prstGeom>
          <a:solidFill>
            <a:srgbClr val="EAF7EE"/>
          </a:solidFill>
          <a:ln w="12700">
            <a:solidFill>
              <a:srgbClr val="6EE7B7"/>
            </a:solidFill>
            <a:prstDash val="solid"/>
          </a:ln>
        </p:spPr>
        <p:txBody>
          <a:bodyPr/>
          <a:lstStyle/>
          <a:p>
            <a:endParaRPr lang="en-US"/>
          </a:p>
        </p:txBody>
      </p:sp>
      <p:sp>
        <p:nvSpPr>
          <p:cNvPr id="19" name="Text 17"/>
          <p:cNvSpPr txBox="1"/>
          <p:nvPr/>
        </p:nvSpPr>
        <p:spPr>
          <a:xfrm>
            <a:off x="6583680" y="2907792"/>
            <a:ext cx="4846320" cy="868680"/>
          </a:xfrm>
          <a:prstGeom prst="rect">
            <a:avLst/>
          </a:prstGeom>
          <a:noFill/>
          <a:ln/>
        </p:spPr>
        <p:txBody>
          <a:bodyPr wrap="square" lIns="0" tIns="0" rIns="0" bIns="0" rtlCol="0" anchor="ctr"/>
          <a:lstStyle/>
          <a:p>
            <a:pPr marL="0" indent="0">
              <a:lnSpc>
                <a:spcPct val="135000"/>
              </a:lnSpc>
              <a:buNone/>
            </a:pPr>
            <a:r>
              <a:rPr lang="en-US" sz="1200" dirty="0">
                <a:solidFill>
                  <a:srgbClr val="1A7A3C"/>
                </a:solidFill>
                <a:latin typeface="Calibri" pitchFamily="34" charset="0"/>
                <a:ea typeface="Calibri" pitchFamily="34" charset="-122"/>
                <a:cs typeface="Calibri" pitchFamily="34" charset="-120"/>
              </a:rPr>
              <a:t>✓  It defines which arrangements of tokens form valid code. Not what the code does — that's semantics.</a:t>
            </a:r>
            <a:endParaRPr lang="en-US" sz="1200" dirty="0"/>
          </a:p>
        </p:txBody>
      </p:sp>
      <p:sp>
        <p:nvSpPr>
          <p:cNvPr id="20" name="Shape 18"/>
          <p:cNvSpPr/>
          <p:nvPr/>
        </p:nvSpPr>
        <p:spPr>
          <a:xfrm>
            <a:off x="411480" y="4096512"/>
            <a:ext cx="11338560" cy="1225296"/>
          </a:xfrm>
          <a:prstGeom prst="rect">
            <a:avLst/>
          </a:prstGeom>
          <a:solidFill>
            <a:srgbClr val="FFFFFF"/>
          </a:solidFill>
          <a:ln w="12700">
            <a:solidFill>
              <a:srgbClr val="D0DAF0"/>
            </a:solidFill>
            <a:prstDash val="solid"/>
          </a:ln>
        </p:spPr>
        <p:txBody>
          <a:bodyPr/>
          <a:lstStyle/>
          <a:p>
            <a:endParaRPr lang="en-US"/>
          </a:p>
        </p:txBody>
      </p:sp>
      <p:sp>
        <p:nvSpPr>
          <p:cNvPr id="21" name="Shape 19"/>
          <p:cNvSpPr/>
          <p:nvPr/>
        </p:nvSpPr>
        <p:spPr>
          <a:xfrm>
            <a:off x="411480" y="4096512"/>
            <a:ext cx="685800" cy="1225296"/>
          </a:xfrm>
          <a:prstGeom prst="rect">
            <a:avLst/>
          </a:prstGeom>
          <a:solidFill>
            <a:srgbClr val="1A2B5E"/>
          </a:solidFill>
          <a:ln/>
        </p:spPr>
        <p:txBody>
          <a:bodyPr/>
          <a:lstStyle/>
          <a:p>
            <a:endParaRPr lang="en-US"/>
          </a:p>
        </p:txBody>
      </p:sp>
      <p:sp>
        <p:nvSpPr>
          <p:cNvPr id="22" name="Text 20"/>
          <p:cNvSpPr txBox="1"/>
          <p:nvPr/>
        </p:nvSpPr>
        <p:spPr>
          <a:xfrm>
            <a:off x="411480" y="4297680"/>
            <a:ext cx="6858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Q5</a:t>
            </a:r>
            <a:endParaRPr lang="en-US" sz="1300" dirty="0"/>
          </a:p>
        </p:txBody>
      </p:sp>
      <p:sp>
        <p:nvSpPr>
          <p:cNvPr id="23" name="Text 21"/>
          <p:cNvSpPr txBox="1"/>
          <p:nvPr/>
        </p:nvSpPr>
        <p:spPr>
          <a:xfrm>
            <a:off x="1170432" y="4169664"/>
            <a:ext cx="2560320" cy="219456"/>
          </a:xfrm>
          <a:prstGeom prst="rect">
            <a:avLst/>
          </a:prstGeom>
          <a:noFill/>
          <a:ln/>
        </p:spPr>
        <p:txBody>
          <a:bodyPr wrap="square" lIns="0" tIns="0" rIns="0" bIns="0" rtlCol="0" anchor="ctr"/>
          <a:lstStyle/>
          <a:p>
            <a:pPr marL="0" indent="0">
              <a:buNone/>
            </a:pPr>
            <a:r>
              <a:rPr lang="en-US" sz="1100" dirty="0">
                <a:solidFill>
                  <a:srgbClr val="5A6A82"/>
                </a:solidFill>
                <a:latin typeface="Calibri" pitchFamily="34" charset="0"/>
                <a:ea typeface="Calibri" pitchFamily="34" charset="-122"/>
                <a:cs typeface="Calibri" pitchFamily="34" charset="-120"/>
              </a:rPr>
              <a:t>Syntax vs Meaning</a:t>
            </a:r>
            <a:endParaRPr lang="en-US" sz="1100" dirty="0"/>
          </a:p>
        </p:txBody>
      </p:sp>
      <p:sp>
        <p:nvSpPr>
          <p:cNvPr id="24" name="Text 22"/>
          <p:cNvSpPr txBox="1"/>
          <p:nvPr/>
        </p:nvSpPr>
        <p:spPr>
          <a:xfrm>
            <a:off x="1170432" y="4389120"/>
            <a:ext cx="5029200" cy="640080"/>
          </a:xfrm>
          <a:prstGeom prst="rect">
            <a:avLst/>
          </a:prstGeom>
          <a:noFill/>
          <a:ln/>
        </p:spPr>
        <p:txBody>
          <a:bodyPr wrap="square" lIns="0" tIns="0" rIns="0" bIns="0" rtlCol="0" anchor="ctr"/>
          <a:lstStyle/>
          <a:p>
            <a:pPr marL="0" indent="0">
              <a:lnSpc>
                <a:spcPct val="130000"/>
              </a:lnSpc>
              <a:buNone/>
            </a:pPr>
            <a:r>
              <a:rPr lang="en-US" sz="1300" b="1" dirty="0">
                <a:solidFill>
                  <a:srgbClr val="1E2A3A"/>
                </a:solidFill>
                <a:latin typeface="Calibri" pitchFamily="34" charset="0"/>
                <a:ea typeface="Calibri" pitchFamily="34" charset="-122"/>
                <a:cs typeface="Calibri" pitchFamily="34" charset="-120"/>
              </a:rPr>
              <a:t>Python's result = "hello" + 5 is syntactically valid but fails at runtime. What kind of error is this?</a:t>
            </a:r>
            <a:endParaRPr lang="en-US" sz="1300" dirty="0"/>
          </a:p>
        </p:txBody>
      </p:sp>
      <p:sp>
        <p:nvSpPr>
          <p:cNvPr id="25" name="Shape 23"/>
          <p:cNvSpPr/>
          <p:nvPr/>
        </p:nvSpPr>
        <p:spPr>
          <a:xfrm>
            <a:off x="6400800" y="4169664"/>
            <a:ext cx="5212080" cy="1078992"/>
          </a:xfrm>
          <a:prstGeom prst="rect">
            <a:avLst/>
          </a:prstGeom>
          <a:solidFill>
            <a:srgbClr val="EAF7EE"/>
          </a:solidFill>
          <a:ln w="12700">
            <a:solidFill>
              <a:srgbClr val="6EE7B7"/>
            </a:solidFill>
            <a:prstDash val="solid"/>
          </a:ln>
        </p:spPr>
        <p:txBody>
          <a:bodyPr/>
          <a:lstStyle/>
          <a:p>
            <a:endParaRPr lang="en-US"/>
          </a:p>
        </p:txBody>
      </p:sp>
      <p:sp>
        <p:nvSpPr>
          <p:cNvPr id="26" name="Text 24"/>
          <p:cNvSpPr txBox="1"/>
          <p:nvPr/>
        </p:nvSpPr>
        <p:spPr>
          <a:xfrm>
            <a:off x="6583680" y="4261104"/>
            <a:ext cx="4846320" cy="868680"/>
          </a:xfrm>
          <a:prstGeom prst="rect">
            <a:avLst/>
          </a:prstGeom>
          <a:noFill/>
          <a:ln/>
        </p:spPr>
        <p:txBody>
          <a:bodyPr wrap="square" lIns="0" tIns="0" rIns="0" bIns="0" rtlCol="0" anchor="ctr"/>
          <a:lstStyle/>
          <a:p>
            <a:pPr marL="0" indent="0">
              <a:lnSpc>
                <a:spcPct val="135000"/>
              </a:lnSpc>
              <a:buNone/>
            </a:pPr>
            <a:r>
              <a:rPr lang="en-US" sz="1200" dirty="0">
                <a:solidFill>
                  <a:srgbClr val="1A7A3C"/>
                </a:solidFill>
                <a:latin typeface="Calibri" pitchFamily="34" charset="0"/>
                <a:ea typeface="Calibri" pitchFamily="34" charset="-122"/>
                <a:cs typeface="Calibri" pitchFamily="34" charset="-120"/>
              </a:rPr>
              <a:t>✓  Semantic error — the syntax is fine (valid token arrangement) but the types are incompatible at runtime.</a:t>
            </a:r>
            <a:endParaRPr lang="en-US" sz="1200" dirty="0"/>
          </a:p>
        </p:txBody>
      </p:sp>
      <p:sp>
        <p:nvSpPr>
          <p:cNvPr id="27" name="Shape 25"/>
          <p:cNvSpPr/>
          <p:nvPr/>
        </p:nvSpPr>
        <p:spPr>
          <a:xfrm>
            <a:off x="411480" y="5449824"/>
            <a:ext cx="11338560" cy="1225296"/>
          </a:xfrm>
          <a:prstGeom prst="rect">
            <a:avLst/>
          </a:prstGeom>
          <a:solidFill>
            <a:srgbClr val="FFFFFF"/>
          </a:solidFill>
          <a:ln w="12700">
            <a:solidFill>
              <a:srgbClr val="D0DAF0"/>
            </a:solidFill>
            <a:prstDash val="solid"/>
          </a:ln>
        </p:spPr>
        <p:txBody>
          <a:bodyPr/>
          <a:lstStyle/>
          <a:p>
            <a:endParaRPr lang="en-US"/>
          </a:p>
        </p:txBody>
      </p:sp>
      <p:sp>
        <p:nvSpPr>
          <p:cNvPr id="28" name="Shape 26"/>
          <p:cNvSpPr/>
          <p:nvPr/>
        </p:nvSpPr>
        <p:spPr>
          <a:xfrm>
            <a:off x="411480" y="5449824"/>
            <a:ext cx="685800" cy="1225296"/>
          </a:xfrm>
          <a:prstGeom prst="rect">
            <a:avLst/>
          </a:prstGeom>
          <a:solidFill>
            <a:srgbClr val="1A2B5E"/>
          </a:solidFill>
          <a:ln/>
        </p:spPr>
        <p:txBody>
          <a:bodyPr/>
          <a:lstStyle/>
          <a:p>
            <a:endParaRPr lang="en-US"/>
          </a:p>
        </p:txBody>
      </p:sp>
      <p:sp>
        <p:nvSpPr>
          <p:cNvPr id="29" name="Text 27"/>
          <p:cNvSpPr txBox="1"/>
          <p:nvPr/>
        </p:nvSpPr>
        <p:spPr>
          <a:xfrm>
            <a:off x="411480" y="5650992"/>
            <a:ext cx="6858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Q8</a:t>
            </a:r>
            <a:endParaRPr lang="en-US" sz="1300" dirty="0"/>
          </a:p>
        </p:txBody>
      </p:sp>
      <p:sp>
        <p:nvSpPr>
          <p:cNvPr id="30" name="Text 28"/>
          <p:cNvSpPr txBox="1"/>
          <p:nvPr/>
        </p:nvSpPr>
        <p:spPr>
          <a:xfrm>
            <a:off x="1170432" y="5522976"/>
            <a:ext cx="2560320" cy="219456"/>
          </a:xfrm>
          <a:prstGeom prst="rect">
            <a:avLst/>
          </a:prstGeom>
          <a:noFill/>
          <a:ln/>
        </p:spPr>
        <p:txBody>
          <a:bodyPr wrap="square" lIns="0" tIns="0" rIns="0" bIns="0" rtlCol="0" anchor="ctr"/>
          <a:lstStyle/>
          <a:p>
            <a:pPr marL="0" indent="0">
              <a:buNone/>
            </a:pPr>
            <a:r>
              <a:rPr lang="en-US" sz="1100" dirty="0">
                <a:solidFill>
                  <a:srgbClr val="5A6A82"/>
                </a:solidFill>
                <a:latin typeface="Calibri" pitchFamily="34" charset="0"/>
                <a:ea typeface="Calibri" pitchFamily="34" charset="-122"/>
                <a:cs typeface="Calibri" pitchFamily="34" charset="-120"/>
              </a:rPr>
              <a:t>Big Picture</a:t>
            </a:r>
            <a:endParaRPr lang="en-US" sz="1100" dirty="0"/>
          </a:p>
        </p:txBody>
      </p:sp>
      <p:sp>
        <p:nvSpPr>
          <p:cNvPr id="31" name="Text 29"/>
          <p:cNvSpPr txBox="1"/>
          <p:nvPr/>
        </p:nvSpPr>
        <p:spPr>
          <a:xfrm>
            <a:off x="1170432" y="5742432"/>
            <a:ext cx="5029200" cy="640080"/>
          </a:xfrm>
          <a:prstGeom prst="rect">
            <a:avLst/>
          </a:prstGeom>
          <a:noFill/>
          <a:ln/>
        </p:spPr>
        <p:txBody>
          <a:bodyPr wrap="square" lIns="0" tIns="0" rIns="0" bIns="0" rtlCol="0" anchor="ctr"/>
          <a:lstStyle/>
          <a:p>
            <a:pPr marL="0" indent="0">
              <a:lnSpc>
                <a:spcPct val="130000"/>
              </a:lnSpc>
              <a:buNone/>
            </a:pPr>
            <a:r>
              <a:rPr lang="en-US" sz="1300" b="1" dirty="0">
                <a:solidFill>
                  <a:srgbClr val="1E2A3A"/>
                </a:solidFill>
                <a:latin typeface="Calibri" pitchFamily="34" charset="0"/>
                <a:ea typeface="Calibri" pitchFamily="34" charset="-122"/>
                <a:cs typeface="Calibri" pitchFamily="34" charset="-120"/>
              </a:rPr>
              <a:t>Why do C, Python, and C# have different syntax rather than all using the same rules?</a:t>
            </a:r>
            <a:endParaRPr lang="en-US" sz="1300" dirty="0"/>
          </a:p>
        </p:txBody>
      </p:sp>
      <p:sp>
        <p:nvSpPr>
          <p:cNvPr id="32" name="Shape 30"/>
          <p:cNvSpPr/>
          <p:nvPr/>
        </p:nvSpPr>
        <p:spPr>
          <a:xfrm>
            <a:off x="6400800" y="5522976"/>
            <a:ext cx="5212080" cy="1078992"/>
          </a:xfrm>
          <a:prstGeom prst="rect">
            <a:avLst/>
          </a:prstGeom>
          <a:solidFill>
            <a:srgbClr val="EAF7EE"/>
          </a:solidFill>
          <a:ln w="12700">
            <a:solidFill>
              <a:srgbClr val="6EE7B7"/>
            </a:solidFill>
            <a:prstDash val="solid"/>
          </a:ln>
        </p:spPr>
        <p:txBody>
          <a:bodyPr/>
          <a:lstStyle/>
          <a:p>
            <a:endParaRPr lang="en-US"/>
          </a:p>
        </p:txBody>
      </p:sp>
      <p:sp>
        <p:nvSpPr>
          <p:cNvPr id="33" name="Text 31"/>
          <p:cNvSpPr txBox="1"/>
          <p:nvPr/>
        </p:nvSpPr>
        <p:spPr>
          <a:xfrm>
            <a:off x="6583680" y="5614416"/>
            <a:ext cx="4846320" cy="868680"/>
          </a:xfrm>
          <a:prstGeom prst="rect">
            <a:avLst/>
          </a:prstGeom>
          <a:noFill/>
          <a:ln/>
        </p:spPr>
        <p:txBody>
          <a:bodyPr wrap="square" lIns="0" tIns="0" rIns="0" bIns="0" rtlCol="0" anchor="ctr"/>
          <a:lstStyle/>
          <a:p>
            <a:pPr marL="0" indent="0">
              <a:lnSpc>
                <a:spcPct val="135000"/>
              </a:lnSpc>
              <a:buNone/>
            </a:pPr>
            <a:r>
              <a:rPr lang="en-US" sz="1200" dirty="0">
                <a:solidFill>
                  <a:srgbClr val="1A7A3C"/>
                </a:solidFill>
                <a:latin typeface="Calibri" pitchFamily="34" charset="0"/>
                <a:ea typeface="Calibri" pitchFamily="34" charset="-122"/>
                <a:cs typeface="Calibri" pitchFamily="34" charset="-120"/>
              </a:rPr>
              <a:t>✓  Each language was optimising for different goals — control, readability, safety — and different goals lead to different design choices.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51560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What This Chapter Connects To</a:t>
            </a:r>
            <a:endParaRPr lang="en-US" sz="2200" dirty="0"/>
          </a:p>
        </p:txBody>
      </p:sp>
      <p:sp>
        <p:nvSpPr>
          <p:cNvPr id="4" name="Text 2"/>
          <p:cNvSpPr txBox="1"/>
          <p:nvPr/>
        </p:nvSpPr>
        <p:spPr>
          <a:xfrm>
            <a:off x="10515600" y="256032"/>
            <a:ext cx="150876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Synthesis</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Every concept in this chapter feeds directly into the next three:</a:t>
            </a:r>
            <a:endParaRPr lang="en-US" sz="1300" dirty="0"/>
          </a:p>
        </p:txBody>
      </p:sp>
      <p:sp>
        <p:nvSpPr>
          <p:cNvPr id="6" name="Shape 4"/>
          <p:cNvSpPr/>
          <p:nvPr/>
        </p:nvSpPr>
        <p:spPr>
          <a:xfrm>
            <a:off x="411480" y="1389888"/>
            <a:ext cx="11338560" cy="1508760"/>
          </a:xfrm>
          <a:prstGeom prst="rect">
            <a:avLst/>
          </a:prstGeom>
          <a:solidFill>
            <a:srgbClr val="FFFFFF"/>
          </a:solidFill>
          <a:ln w="12700">
            <a:solidFill>
              <a:srgbClr val="D0DAF0"/>
            </a:solidFill>
            <a:prstDash val="solid"/>
          </a:ln>
        </p:spPr>
        <p:txBody>
          <a:bodyPr/>
          <a:lstStyle/>
          <a:p>
            <a:endParaRPr lang="en-US"/>
          </a:p>
        </p:txBody>
      </p:sp>
      <p:sp>
        <p:nvSpPr>
          <p:cNvPr id="7" name="Shape 5"/>
          <p:cNvSpPr/>
          <p:nvPr/>
        </p:nvSpPr>
        <p:spPr>
          <a:xfrm>
            <a:off x="411480" y="1389888"/>
            <a:ext cx="1234440" cy="1508760"/>
          </a:xfrm>
          <a:prstGeom prst="rect">
            <a:avLst/>
          </a:prstGeom>
          <a:solidFill>
            <a:srgbClr val="E8F0FE"/>
          </a:solidFill>
          <a:ln w="12700">
            <a:solidFill>
              <a:srgbClr val="E8F0FE"/>
            </a:solidFill>
            <a:prstDash val="solid"/>
          </a:ln>
        </p:spPr>
        <p:txBody>
          <a:bodyPr/>
          <a:lstStyle/>
          <a:p>
            <a:endParaRPr lang="en-US"/>
          </a:p>
        </p:txBody>
      </p:sp>
      <p:sp>
        <p:nvSpPr>
          <p:cNvPr id="8" name="Text 6"/>
          <p:cNvSpPr txBox="1"/>
          <p:nvPr/>
        </p:nvSpPr>
        <p:spPr>
          <a:xfrm>
            <a:off x="411480" y="1709928"/>
            <a:ext cx="1234440" cy="640080"/>
          </a:xfrm>
          <a:prstGeom prst="rect">
            <a:avLst/>
          </a:prstGeom>
          <a:noFill/>
          <a:ln/>
        </p:spPr>
        <p:txBody>
          <a:bodyPr wrap="square" lIns="0" tIns="0" rIns="0" bIns="0"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9" name="Text 7"/>
          <p:cNvSpPr txBox="1"/>
          <p:nvPr/>
        </p:nvSpPr>
        <p:spPr>
          <a:xfrm>
            <a:off x="1783080" y="1499616"/>
            <a:ext cx="2560320" cy="530352"/>
          </a:xfrm>
          <a:prstGeom prst="rect">
            <a:avLst/>
          </a:prstGeom>
          <a:noFill/>
          <a:ln/>
        </p:spPr>
        <p:txBody>
          <a:bodyPr wrap="square" lIns="0" tIns="0" rIns="0" bIns="0" rtlCol="0" anchor="ctr"/>
          <a:lstStyle/>
          <a:p>
            <a:pPr marL="0" indent="0">
              <a:lnSpc>
                <a:spcPct val="120000"/>
              </a:lnSpc>
              <a:buNone/>
            </a:pPr>
            <a:r>
              <a:rPr lang="en-US" sz="1400" b="1" dirty="0">
                <a:solidFill>
                  <a:srgbClr val="1A2B5E"/>
                </a:solidFill>
                <a:latin typeface="Calibri" pitchFamily="34" charset="0"/>
                <a:ea typeface="Calibri" pitchFamily="34" charset="-122"/>
                <a:cs typeface="Calibri" pitchFamily="34" charset="-120"/>
              </a:rPr>
              <a:t>Chapter 3</a:t>
            </a:r>
            <a:endParaRPr lang="en-US" sz="1400" dirty="0"/>
          </a:p>
          <a:p>
            <a:pPr marL="0" indent="0">
              <a:lnSpc>
                <a:spcPct val="120000"/>
              </a:lnSpc>
              <a:buNone/>
            </a:pPr>
            <a:r>
              <a:rPr lang="en-US" sz="1400" b="1" dirty="0">
                <a:solidFill>
                  <a:srgbClr val="1A2B5E"/>
                </a:solidFill>
                <a:latin typeface="Calibri" pitchFamily="34" charset="0"/>
                <a:ea typeface="Calibri" pitchFamily="34" charset="-122"/>
                <a:cs typeface="Calibri" pitchFamily="34" charset="-120"/>
              </a:rPr>
              <a:t>Variable Binding</a:t>
            </a:r>
            <a:endParaRPr lang="en-US" sz="1400" dirty="0"/>
          </a:p>
        </p:txBody>
      </p:sp>
      <p:sp>
        <p:nvSpPr>
          <p:cNvPr id="10" name="Text 8"/>
          <p:cNvSpPr txBox="1"/>
          <p:nvPr/>
        </p:nvSpPr>
        <p:spPr>
          <a:xfrm>
            <a:off x="1783080" y="2048256"/>
            <a:ext cx="9326880" cy="777240"/>
          </a:xfrm>
          <a:prstGeom prst="rect">
            <a:avLst/>
          </a:prstGeom>
          <a:noFill/>
          <a:ln/>
        </p:spPr>
        <p:txBody>
          <a:bodyPr wrap="square" lIns="0" tIns="0" rIns="0" bIns="0" rtlCol="0" anchor="ctr"/>
          <a:lstStyle/>
          <a:p>
            <a:pPr marL="0" indent="0">
              <a:lnSpc>
                <a:spcPct val="138000"/>
              </a:lnSpc>
              <a:buNone/>
            </a:pPr>
            <a:r>
              <a:rPr lang="en-US" sz="1300" dirty="0">
                <a:solidFill>
                  <a:srgbClr val="1E2A3A"/>
                </a:solidFill>
                <a:latin typeface="Calibri" pitchFamily="34" charset="0"/>
                <a:ea typeface="Calibri" pitchFamily="34" charset="-122"/>
                <a:cs typeface="Calibri" pitchFamily="34" charset="-120"/>
              </a:rPr>
              <a:t>The syntax of variable declarations (int x vs var x vs just x) directly reflects when binding happens — compile time or runtime. The token you write (or don't write) tells you which language makes that decision for you.</a:t>
            </a:r>
            <a:endParaRPr lang="en-US" sz="1300" dirty="0"/>
          </a:p>
        </p:txBody>
      </p:sp>
      <p:sp>
        <p:nvSpPr>
          <p:cNvPr id="11" name="Shape 9"/>
          <p:cNvSpPr/>
          <p:nvPr/>
        </p:nvSpPr>
        <p:spPr>
          <a:xfrm>
            <a:off x="411480" y="3054096"/>
            <a:ext cx="11338560" cy="1508760"/>
          </a:xfrm>
          <a:prstGeom prst="rect">
            <a:avLst/>
          </a:prstGeom>
          <a:solidFill>
            <a:srgbClr val="FFFFFF"/>
          </a:solidFill>
          <a:ln w="12700">
            <a:solidFill>
              <a:srgbClr val="D0DAF0"/>
            </a:solidFill>
            <a:prstDash val="solid"/>
          </a:ln>
        </p:spPr>
        <p:txBody>
          <a:bodyPr/>
          <a:lstStyle/>
          <a:p>
            <a:endParaRPr lang="en-US"/>
          </a:p>
        </p:txBody>
      </p:sp>
      <p:sp>
        <p:nvSpPr>
          <p:cNvPr id="12" name="Shape 10"/>
          <p:cNvSpPr/>
          <p:nvPr/>
        </p:nvSpPr>
        <p:spPr>
          <a:xfrm>
            <a:off x="411480" y="3054096"/>
            <a:ext cx="1234440" cy="1508760"/>
          </a:xfrm>
          <a:prstGeom prst="rect">
            <a:avLst/>
          </a:prstGeom>
          <a:solidFill>
            <a:srgbClr val="F3E8FE"/>
          </a:solidFill>
          <a:ln w="12700">
            <a:solidFill>
              <a:srgbClr val="F3E8FE"/>
            </a:solidFill>
            <a:prstDash val="solid"/>
          </a:ln>
        </p:spPr>
        <p:txBody>
          <a:bodyPr/>
          <a:lstStyle/>
          <a:p>
            <a:endParaRPr lang="en-US"/>
          </a:p>
        </p:txBody>
      </p:sp>
      <p:sp>
        <p:nvSpPr>
          <p:cNvPr id="13" name="Text 11"/>
          <p:cNvSpPr txBox="1"/>
          <p:nvPr/>
        </p:nvSpPr>
        <p:spPr>
          <a:xfrm>
            <a:off x="411480" y="3374136"/>
            <a:ext cx="1234440" cy="640080"/>
          </a:xfrm>
          <a:prstGeom prst="rect">
            <a:avLst/>
          </a:prstGeom>
          <a:noFill/>
          <a:ln/>
        </p:spPr>
        <p:txBody>
          <a:bodyPr wrap="square" lIns="0" tIns="0" rIns="0" bIns="0"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4" name="Text 12"/>
          <p:cNvSpPr txBox="1"/>
          <p:nvPr/>
        </p:nvSpPr>
        <p:spPr>
          <a:xfrm>
            <a:off x="1783080" y="3163824"/>
            <a:ext cx="2560320" cy="530352"/>
          </a:xfrm>
          <a:prstGeom prst="rect">
            <a:avLst/>
          </a:prstGeom>
          <a:noFill/>
          <a:ln/>
        </p:spPr>
        <p:txBody>
          <a:bodyPr wrap="square" lIns="0" tIns="0" rIns="0" bIns="0" rtlCol="0" anchor="ctr"/>
          <a:lstStyle/>
          <a:p>
            <a:pPr marL="0" indent="0">
              <a:lnSpc>
                <a:spcPct val="120000"/>
              </a:lnSpc>
              <a:buNone/>
            </a:pPr>
            <a:r>
              <a:rPr lang="en-US" sz="1400" b="1" dirty="0">
                <a:solidFill>
                  <a:srgbClr val="1A2B5E"/>
                </a:solidFill>
                <a:latin typeface="Calibri" pitchFamily="34" charset="0"/>
                <a:ea typeface="Calibri" pitchFamily="34" charset="-122"/>
                <a:cs typeface="Calibri" pitchFamily="34" charset="-120"/>
              </a:rPr>
              <a:t>Chapter 4</a:t>
            </a:r>
            <a:endParaRPr lang="en-US" sz="1400" dirty="0"/>
          </a:p>
          <a:p>
            <a:pPr marL="0" indent="0">
              <a:lnSpc>
                <a:spcPct val="120000"/>
              </a:lnSpc>
              <a:buNone/>
            </a:pPr>
            <a:r>
              <a:rPr lang="en-US" sz="1400" b="1" dirty="0">
                <a:solidFill>
                  <a:srgbClr val="1A2B5E"/>
                </a:solidFill>
                <a:latin typeface="Calibri" pitchFamily="34" charset="0"/>
                <a:ea typeface="Calibri" pitchFamily="34" charset="-122"/>
                <a:cs typeface="Calibri" pitchFamily="34" charset="-120"/>
              </a:rPr>
              <a:t>Scope Rules</a:t>
            </a:r>
            <a:endParaRPr lang="en-US" sz="1400" dirty="0"/>
          </a:p>
        </p:txBody>
      </p:sp>
      <p:sp>
        <p:nvSpPr>
          <p:cNvPr id="15" name="Text 13"/>
          <p:cNvSpPr txBox="1"/>
          <p:nvPr/>
        </p:nvSpPr>
        <p:spPr>
          <a:xfrm>
            <a:off x="1783080" y="3712464"/>
            <a:ext cx="9326880" cy="777240"/>
          </a:xfrm>
          <a:prstGeom prst="rect">
            <a:avLst/>
          </a:prstGeom>
          <a:noFill/>
          <a:ln/>
        </p:spPr>
        <p:txBody>
          <a:bodyPr wrap="square" lIns="0" tIns="0" rIns="0" bIns="0" rtlCol="0" anchor="ctr"/>
          <a:lstStyle/>
          <a:p>
            <a:pPr marL="0" indent="0">
              <a:lnSpc>
                <a:spcPct val="138000"/>
              </a:lnSpc>
              <a:buNone/>
            </a:pPr>
            <a:r>
              <a:rPr lang="en-US" sz="1300" dirty="0">
                <a:solidFill>
                  <a:srgbClr val="1E2A3A"/>
                </a:solidFill>
                <a:latin typeface="Calibri" pitchFamily="34" charset="0"/>
                <a:ea typeface="Calibri" pitchFamily="34" charset="-122"/>
                <a:cs typeface="Calibri" pitchFamily="34" charset="-120"/>
              </a:rPr>
              <a:t>Block delimiters — braces or indentation — define the boundaries of scope. The syntax of a block IS the scope boundary. Syntax and scope are inseparable.</a:t>
            </a:r>
            <a:endParaRPr lang="en-US" sz="1300" dirty="0"/>
          </a:p>
        </p:txBody>
      </p:sp>
      <p:sp>
        <p:nvSpPr>
          <p:cNvPr id="16" name="Shape 14"/>
          <p:cNvSpPr/>
          <p:nvPr/>
        </p:nvSpPr>
        <p:spPr>
          <a:xfrm>
            <a:off x="411480" y="4718304"/>
            <a:ext cx="11338560" cy="1508760"/>
          </a:xfrm>
          <a:prstGeom prst="rect">
            <a:avLst/>
          </a:prstGeom>
          <a:solidFill>
            <a:srgbClr val="FFFFFF"/>
          </a:solidFill>
          <a:ln w="12700">
            <a:solidFill>
              <a:srgbClr val="D0DAF0"/>
            </a:solidFill>
            <a:prstDash val="solid"/>
          </a:ln>
        </p:spPr>
        <p:txBody>
          <a:bodyPr/>
          <a:lstStyle/>
          <a:p>
            <a:endParaRPr lang="en-US"/>
          </a:p>
        </p:txBody>
      </p:sp>
      <p:sp>
        <p:nvSpPr>
          <p:cNvPr id="17" name="Shape 15"/>
          <p:cNvSpPr/>
          <p:nvPr/>
        </p:nvSpPr>
        <p:spPr>
          <a:xfrm>
            <a:off x="411480" y="4718304"/>
            <a:ext cx="1234440" cy="1508760"/>
          </a:xfrm>
          <a:prstGeom prst="rect">
            <a:avLst/>
          </a:prstGeom>
          <a:solidFill>
            <a:srgbClr val="FEF3E8"/>
          </a:solidFill>
          <a:ln w="12700">
            <a:solidFill>
              <a:srgbClr val="FEF3E8"/>
            </a:solidFill>
            <a:prstDash val="solid"/>
          </a:ln>
        </p:spPr>
        <p:txBody>
          <a:bodyPr/>
          <a:lstStyle/>
          <a:p>
            <a:endParaRPr lang="en-US"/>
          </a:p>
        </p:txBody>
      </p:sp>
      <p:sp>
        <p:nvSpPr>
          <p:cNvPr id="18" name="Text 16"/>
          <p:cNvSpPr txBox="1"/>
          <p:nvPr/>
        </p:nvSpPr>
        <p:spPr>
          <a:xfrm>
            <a:off x="411480" y="5038344"/>
            <a:ext cx="1234440" cy="640080"/>
          </a:xfrm>
          <a:prstGeom prst="rect">
            <a:avLst/>
          </a:prstGeom>
          <a:noFill/>
          <a:ln/>
        </p:spPr>
        <p:txBody>
          <a:bodyPr wrap="square" lIns="0" tIns="0" rIns="0" bIns="0"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9" name="Text 17"/>
          <p:cNvSpPr txBox="1"/>
          <p:nvPr/>
        </p:nvSpPr>
        <p:spPr>
          <a:xfrm>
            <a:off x="1783080" y="4828032"/>
            <a:ext cx="2560320" cy="530352"/>
          </a:xfrm>
          <a:prstGeom prst="rect">
            <a:avLst/>
          </a:prstGeom>
          <a:noFill/>
          <a:ln/>
        </p:spPr>
        <p:txBody>
          <a:bodyPr wrap="square" lIns="0" tIns="0" rIns="0" bIns="0" rtlCol="0" anchor="ctr"/>
          <a:lstStyle/>
          <a:p>
            <a:pPr marL="0" indent="0">
              <a:lnSpc>
                <a:spcPct val="120000"/>
              </a:lnSpc>
              <a:buNone/>
            </a:pPr>
            <a:r>
              <a:rPr lang="en-US" sz="1400" b="1" dirty="0">
                <a:solidFill>
                  <a:srgbClr val="1A2B5E"/>
                </a:solidFill>
                <a:latin typeface="Calibri" pitchFamily="34" charset="0"/>
                <a:ea typeface="Calibri" pitchFamily="34" charset="-122"/>
                <a:cs typeface="Calibri" pitchFamily="34" charset="-120"/>
              </a:rPr>
              <a:t>Chapter 5</a:t>
            </a:r>
            <a:endParaRPr lang="en-US" sz="1400" dirty="0"/>
          </a:p>
          <a:p>
            <a:pPr marL="0" indent="0">
              <a:lnSpc>
                <a:spcPct val="120000"/>
              </a:lnSpc>
              <a:buNone/>
            </a:pPr>
            <a:r>
              <a:rPr lang="en-US" sz="1400" b="1" dirty="0">
                <a:solidFill>
                  <a:srgbClr val="1A2B5E"/>
                </a:solidFill>
                <a:latin typeface="Calibri" pitchFamily="34" charset="0"/>
                <a:ea typeface="Calibri" pitchFamily="34" charset="-122"/>
                <a:cs typeface="Calibri" pitchFamily="34" charset="-120"/>
              </a:rPr>
              <a:t>Type Systems</a:t>
            </a:r>
            <a:endParaRPr lang="en-US" sz="1400" dirty="0"/>
          </a:p>
        </p:txBody>
      </p:sp>
      <p:sp>
        <p:nvSpPr>
          <p:cNvPr id="20" name="Text 18"/>
          <p:cNvSpPr txBox="1"/>
          <p:nvPr/>
        </p:nvSpPr>
        <p:spPr>
          <a:xfrm>
            <a:off x="1783080" y="5376672"/>
            <a:ext cx="9326880" cy="777240"/>
          </a:xfrm>
          <a:prstGeom prst="rect">
            <a:avLst/>
          </a:prstGeom>
          <a:noFill/>
          <a:ln/>
        </p:spPr>
        <p:txBody>
          <a:bodyPr wrap="square" lIns="0" tIns="0" rIns="0" bIns="0" rtlCol="0" anchor="ctr"/>
          <a:lstStyle/>
          <a:p>
            <a:pPr marL="0" indent="0">
              <a:lnSpc>
                <a:spcPct val="138000"/>
              </a:lnSpc>
              <a:buNone/>
            </a:pPr>
            <a:r>
              <a:rPr lang="en-US" sz="1300" dirty="0">
                <a:solidFill>
                  <a:srgbClr val="1E2A3A"/>
                </a:solidFill>
                <a:latin typeface="Calibri" pitchFamily="34" charset="0"/>
                <a:ea typeface="Calibri" pitchFamily="34" charset="-122"/>
                <a:cs typeface="Calibri" pitchFamily="34" charset="-120"/>
              </a:rPr>
              <a:t>Whether a type keyword appears in a declaration is the syntactic face of the static vs dynamic typing decision. The token you see (or don't see) reveals the whole typing philosophy.</a:t>
            </a:r>
            <a:endParaRPr lang="en-US" sz="1300" dirty="0"/>
          </a:p>
        </p:txBody>
      </p:sp>
      <p:sp>
        <p:nvSpPr>
          <p:cNvPr id="21" name="Shape 19"/>
          <p:cNvSpPr/>
          <p:nvPr/>
        </p:nvSpPr>
        <p:spPr>
          <a:xfrm>
            <a:off x="411480" y="6419088"/>
            <a:ext cx="54864" cy="0"/>
          </a:xfrm>
          <a:prstGeom prst="rect">
            <a:avLst/>
          </a:prstGeom>
          <a:solidFill>
            <a:srgbClr val="2E5BFF"/>
          </a:solidFill>
          <a:ln/>
        </p:spPr>
        <p:txBody>
          <a:bodyPr/>
          <a:lstStyle/>
          <a:p>
            <a:endParaRPr lang="en-US"/>
          </a:p>
        </p:txBody>
      </p:sp>
      <p:sp>
        <p:nvSpPr>
          <p:cNvPr id="22" name="Shape 20"/>
          <p:cNvSpPr/>
          <p:nvPr/>
        </p:nvSpPr>
        <p:spPr>
          <a:xfrm>
            <a:off x="454152" y="6770271"/>
            <a:ext cx="11283696" cy="0"/>
          </a:xfrm>
          <a:prstGeom prst="rect">
            <a:avLst/>
          </a:prstGeom>
          <a:solidFill>
            <a:srgbClr val="EFF6FF"/>
          </a:solidFill>
          <a:ln w="12700">
            <a:solidFill>
              <a:srgbClr val="BFDBFE"/>
            </a:solidFill>
            <a:prstDash val="solid"/>
          </a:ln>
        </p:spPr>
        <p:txBody>
          <a:bodyPr/>
          <a:lstStyle/>
          <a:p>
            <a:endParaRPr lang="en-US"/>
          </a:p>
        </p:txBody>
      </p:sp>
      <p:sp>
        <p:nvSpPr>
          <p:cNvPr id="23" name="Text 21"/>
          <p:cNvSpPr txBox="1"/>
          <p:nvPr/>
        </p:nvSpPr>
        <p:spPr>
          <a:xfrm>
            <a:off x="612648" y="6510528"/>
            <a:ext cx="11045952" cy="0"/>
          </a:xfrm>
          <a:prstGeom prst="rect">
            <a:avLst/>
          </a:prstGeom>
          <a:noFill/>
          <a:ln/>
        </p:spPr>
        <p:txBody>
          <a:bodyPr wrap="square" lIns="0" tIns="0" rIns="0" bIns="0" rtlCol="0" anchor="ctr"/>
          <a:lstStyle/>
          <a:p>
            <a:pPr marL="0" indent="0">
              <a:lnSpc>
                <a:spcPct val="135000"/>
              </a:lnSpc>
              <a:buNone/>
            </a:pPr>
            <a:r>
              <a:rPr lang="en-US" sz="1200" dirty="0">
                <a:solidFill>
                  <a:srgbClr val="1E3A8A"/>
                </a:solidFill>
                <a:latin typeface="Calibri" pitchFamily="34" charset="0"/>
                <a:ea typeface="Calibri" pitchFamily="34" charset="-122"/>
                <a:cs typeface="Calibri" pitchFamily="34" charset="-120"/>
              </a:rPr>
              <a:t>The chapter in one sentence: Tokens are the building blocks of code, syntax defines the rules for arranging them, a grammar describes those rules precisely — and different languages make different choices because language design is a series of deliberate trade-offs.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A2B5E"/>
          </a:solidFill>
          <a:ln/>
        </p:spPr>
        <p:txBody>
          <a:bodyPr/>
          <a:lstStyle/>
          <a:p>
            <a:endParaRPr lang="en-US"/>
          </a:p>
        </p:txBody>
      </p:sp>
      <p:sp>
        <p:nvSpPr>
          <p:cNvPr id="3" name="Shape 1"/>
          <p:cNvSpPr/>
          <p:nvPr/>
        </p:nvSpPr>
        <p:spPr>
          <a:xfrm>
            <a:off x="8686800" y="3840480"/>
            <a:ext cx="4572000" cy="4572000"/>
          </a:xfrm>
          <a:prstGeom prst="ellipse">
            <a:avLst/>
          </a:prstGeom>
          <a:solidFill>
            <a:srgbClr val="FFFFFF">
              <a:alpha val="7000"/>
            </a:srgbClr>
          </a:solidFill>
          <a:ln w="12700">
            <a:solidFill>
              <a:srgbClr val="FFFFFF">
                <a:alpha val="7000"/>
              </a:srgbClr>
            </a:solidFill>
            <a:prstDash val="solid"/>
          </a:ln>
        </p:spPr>
        <p:txBody>
          <a:bodyPr/>
          <a:lstStyle/>
          <a:p>
            <a:endParaRPr lang="en-US"/>
          </a:p>
        </p:txBody>
      </p:sp>
      <p:sp>
        <p:nvSpPr>
          <p:cNvPr id="4" name="Shape 2"/>
          <p:cNvSpPr/>
          <p:nvPr/>
        </p:nvSpPr>
        <p:spPr>
          <a:xfrm>
            <a:off x="10241280" y="5303520"/>
            <a:ext cx="2743200" cy="2743200"/>
          </a:xfrm>
          <a:prstGeom prst="ellipse">
            <a:avLst/>
          </a:prstGeom>
          <a:solidFill>
            <a:srgbClr val="FFFFFF">
              <a:alpha val="11000"/>
            </a:srgbClr>
          </a:solidFill>
          <a:ln w="12700">
            <a:solidFill>
              <a:srgbClr val="FFFFFF">
                <a:alpha val="11000"/>
              </a:srgbClr>
            </a:solidFill>
            <a:prstDash val="solid"/>
          </a:ln>
        </p:spPr>
        <p:txBody>
          <a:bodyPr/>
          <a:lstStyle/>
          <a:p>
            <a:endParaRPr lang="en-US"/>
          </a:p>
        </p:txBody>
      </p:sp>
      <p:sp>
        <p:nvSpPr>
          <p:cNvPr id="5" name="Text 3"/>
          <p:cNvSpPr txBox="1"/>
          <p:nvPr/>
        </p:nvSpPr>
        <p:spPr>
          <a:xfrm>
            <a:off x="640080" y="1828800"/>
            <a:ext cx="9144000" cy="2194560"/>
          </a:xfrm>
          <a:prstGeom prst="rect">
            <a:avLst/>
          </a:prstGeom>
          <a:noFill/>
          <a:ln/>
        </p:spPr>
        <p:txBody>
          <a:bodyPr wrap="square" lIns="0" tIns="0" rIns="0" bIns="0" rtlCol="0" anchor="ctr"/>
          <a:lstStyle/>
          <a:p>
            <a:pPr marL="0" indent="0">
              <a:lnSpc>
                <a:spcPct val="110000"/>
              </a:lnSpc>
              <a:buNone/>
            </a:pPr>
            <a:r>
              <a:rPr lang="en-US" sz="3600" b="1" dirty="0">
                <a:solidFill>
                  <a:srgbClr val="FFFFFF"/>
                </a:solidFill>
                <a:latin typeface="Calibri" pitchFamily="34" charset="0"/>
                <a:ea typeface="Calibri" pitchFamily="34" charset="-122"/>
                <a:cs typeface="Calibri" pitchFamily="34" charset="-120"/>
              </a:rPr>
              <a:t>CSBS 315</a:t>
            </a:r>
            <a:endParaRPr lang="en-US" sz="3600" dirty="0"/>
          </a:p>
          <a:p>
            <a:pPr marL="0" indent="0">
              <a:lnSpc>
                <a:spcPct val="110000"/>
              </a:lnSpc>
              <a:buNone/>
            </a:pPr>
            <a:r>
              <a:rPr lang="en-US" sz="3600" b="1" dirty="0">
                <a:solidFill>
                  <a:srgbClr val="FFFFFF"/>
                </a:solidFill>
                <a:latin typeface="Calibri" pitchFamily="34" charset="0"/>
                <a:ea typeface="Calibri" pitchFamily="34" charset="-122"/>
                <a:cs typeface="Calibri" pitchFamily="34" charset="-120"/>
              </a:rPr>
              <a:t>Syntax, Tokens, and Grammars</a:t>
            </a:r>
            <a:endParaRPr lang="en-US" sz="3600" dirty="0"/>
          </a:p>
        </p:txBody>
      </p:sp>
      <p:sp>
        <p:nvSpPr>
          <p:cNvPr id="6" name="Text 4"/>
          <p:cNvSpPr txBox="1"/>
          <p:nvPr/>
        </p:nvSpPr>
        <p:spPr>
          <a:xfrm>
            <a:off x="640080" y="4114800"/>
            <a:ext cx="8229600" cy="548640"/>
          </a:xfrm>
          <a:prstGeom prst="rect">
            <a:avLst/>
          </a:prstGeom>
          <a:noFill/>
          <a:ln/>
        </p:spPr>
        <p:txBody>
          <a:bodyPr wrap="square" lIns="0" tIns="0" rIns="0" bIns="0" rtlCol="0" anchor="ctr"/>
          <a:lstStyle/>
          <a:p>
            <a:pPr marL="0" indent="0">
              <a:buNone/>
            </a:pPr>
            <a:r>
              <a:rPr lang="en-US" sz="1700" dirty="0">
                <a:solidFill>
                  <a:srgbClr val="B8C8F8"/>
                </a:solidFill>
                <a:latin typeface="Calibri" pitchFamily="34" charset="0"/>
                <a:ea typeface="Calibri" pitchFamily="34" charset="-122"/>
                <a:cs typeface="Calibri" pitchFamily="34" charset="-120"/>
              </a:rPr>
              <a:t>Chapter 2 Complete · Complete the tutorial quiz before the next session</a:t>
            </a:r>
            <a:endParaRPr lang="en-US" sz="1700" dirty="0"/>
          </a:p>
        </p:txBody>
      </p:sp>
      <p:sp>
        <p:nvSpPr>
          <p:cNvPr id="7" name="Text 5"/>
          <p:cNvSpPr txBox="1"/>
          <p:nvPr/>
        </p:nvSpPr>
        <p:spPr>
          <a:xfrm>
            <a:off x="640080" y="6309360"/>
            <a:ext cx="5486400" cy="320040"/>
          </a:xfrm>
          <a:prstGeom prst="rect">
            <a:avLst/>
          </a:prstGeom>
          <a:noFill/>
          <a:ln/>
        </p:spPr>
        <p:txBody>
          <a:bodyPr wrap="square" lIns="0" tIns="0" rIns="0" bIns="0" rtlCol="0" anchor="ctr"/>
          <a:lstStyle/>
          <a:p>
            <a:pPr marL="0" indent="0">
              <a:buNone/>
            </a:pPr>
            <a:r>
              <a:rPr lang="en-US" sz="1100" dirty="0">
                <a:solidFill>
                  <a:srgbClr val="7A90B8"/>
                </a:solidFill>
                <a:latin typeface="Calibri" pitchFamily="34" charset="0"/>
                <a:ea typeface="Calibri" pitchFamily="34" charset="-122"/>
                <a:cs typeface="Calibri" pitchFamily="34" charset="-120"/>
              </a:rPr>
              <a:t>CSBS 315 · Chapter 2 of 12</a:t>
            </a:r>
            <a:endParaRPr lang="en-US" sz="1100" dirty="0"/>
          </a:p>
        </p:txBody>
      </p:sp>
      <p:sp>
        <p:nvSpPr>
          <p:cNvPr id="8" name="Text 6"/>
          <p:cNvSpPr txBox="1"/>
          <p:nvPr/>
        </p:nvSpPr>
        <p:spPr>
          <a:xfrm>
            <a:off x="640080" y="5074920"/>
            <a:ext cx="7315200" cy="320040"/>
          </a:xfrm>
          <a:prstGeom prst="rect">
            <a:avLst/>
          </a:prstGeom>
          <a:noFill/>
          <a:ln/>
        </p:spPr>
        <p:txBody>
          <a:bodyPr wrap="square" lIns="0" tIns="0" rIns="0" bIns="0" rtlCol="0" anchor="ctr"/>
          <a:lstStyle/>
          <a:p>
            <a:pPr marL="0" indent="0">
              <a:buNone/>
            </a:pPr>
            <a:r>
              <a:rPr lang="en-US" sz="1300" dirty="0">
                <a:solidFill>
                  <a:srgbClr val="7A90B8"/>
                </a:solidFill>
                <a:latin typeface="Calibri" pitchFamily="34" charset="0"/>
                <a:ea typeface="Calibri" pitchFamily="34" charset="-122"/>
                <a:cs typeface="Calibri" pitchFamily="34" charset="-120"/>
              </a:rPr>
              <a:t>dgill@clark.edu  ·  STEM Building Room 113</a:t>
            </a:r>
            <a:endParaRPr lang="en-US" sz="1300" dirty="0"/>
          </a:p>
        </p:txBody>
      </p:sp>
      <p:sp>
        <p:nvSpPr>
          <p:cNvPr id="9" name="Text 7"/>
          <p:cNvSpPr txBox="1"/>
          <p:nvPr/>
        </p:nvSpPr>
        <p:spPr>
          <a:xfrm>
            <a:off x="640080" y="5440680"/>
            <a:ext cx="8229600" cy="320040"/>
          </a:xfrm>
          <a:prstGeom prst="rect">
            <a:avLst/>
          </a:prstGeom>
          <a:noFill/>
          <a:ln/>
        </p:spPr>
        <p:txBody>
          <a:bodyPr wrap="square" lIns="0" tIns="0" rIns="0" bIns="0" rtlCol="0" anchor="ctr"/>
          <a:lstStyle/>
          <a:p>
            <a:pPr marL="0" indent="0">
              <a:buNone/>
            </a:pPr>
            <a:r>
              <a:rPr lang="en-US" sz="1300" dirty="0">
                <a:solidFill>
                  <a:srgbClr val="B8C8F8"/>
                </a:solidFill>
                <a:latin typeface="Calibri" pitchFamily="34" charset="0"/>
                <a:ea typeface="Calibri" pitchFamily="34" charset="-122"/>
                <a:cs typeface="Calibri" pitchFamily="34" charset="-120"/>
              </a:rPr>
              <a:t>Tutorial available in Canvas — includes interactive token explorer + 8 quiz questions.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8640</Words>
  <Application>Microsoft Office PowerPoint</Application>
  <PresentationFormat>Widescreen</PresentationFormat>
  <Paragraphs>446</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Gill, Dimpy</cp:lastModifiedBy>
  <cp:revision>2</cp:revision>
  <dcterms:created xsi:type="dcterms:W3CDTF">2026-09-15T02:50:47Z</dcterms:created>
  <dcterms:modified xsi:type="dcterms:W3CDTF">2026-09-15T03:51:50Z</dcterms:modified>
</cp:coreProperties>
</file>