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8" d="100"/>
          <a:sy n="88" d="100"/>
        </p:scale>
        <p:origin x="9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031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4. Before saying anything, write this on the board or show on screen:
x = 1 appears three times in the same program. At different places in the code, that name refers to three different variables.
Ask: "When you write 'print(x)' inside a nested function — which x does Python use?" Give students 20 seconds to think.
This is the puzzle the whole chapter solves. The answer involves scope rules, name resolution, and symbol tables — and C, C#, and Python each give different answers.
Estimated session time: 75 minutes. This is the most conceptually structured chapter so far — every technical concept connects back to a language design decision.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orientation. Don't explain each row — just point to the thread.
"Notice the chapter has a conceptual spine: every section builds toward understanding a design decision. We start with a puzzle, develop the concepts to solve it, and end with a design comparison."
The most important slides are: 3 (the conceptual flow), 7 (static vs dynamic), 10 (name resolution), 13 (symbol tables), and 19 (design decisions). Keep those full-length. Others can move faster.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hook. Use it well — 3 minutes here.
Show the code. Give students 20 seconds of silence to write their prediction.
Then reveal: answer is (C), value 10. Walk through the reasoning: Python looks locally in inner() first — finds x=10 immediately.
Now ask: "What if we deleted x=10 from inner()?" Python looks next in outer() — finds x=50. "And if we delete that?" Goes to the module level — finds x=100.
Then say: "That search order — innermost first, then outward — is called the LEGB rule. Python's designers specifically chose this order. Why? Why not search outermost first? Why not require explicit qualification? Those design questions are what this chapter answers."
Point to the design box: "Notice the phrasing. It's not 'how does Python work' — it's 'what did Python's designers decide and why.'"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orientation slide. Spend 90 seconds here.
"Every time you write a name in code, the language goes through this chain. Today we are going to understand each step — not just memorise it, but understand why each step exists and what design decision it represents."
Point to steps ④ and ⑤ (highlighted): "These are the core of the chapter. Name resolution — which declaration does this reference mean? And symbol tables — how does the compiler efficiently support that lookup?"
"The important word throughout today is 'why.' Every time we see a scope rule, we ask: why did the language designer make that choice? What does the programmer gain, and what do they give up?"
Come back to this slide at the end of the chapter to show students the complete picture.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Key messages:
Scope (WHERE): "You can figure out scope by reading the code. You don't need to run it. It is a textual, structural property." The brackets, indentation, class boundaries — these determine scope at read time.
Lifetime (HOW LONG): "This is a runtime concept. A variable's lifetime depends on when functions are called, when objects are created, and when they are no longer reachable. You have to run the program to know this."
The static example: "In C, a local variable declared with 'static' is visible only inside the function — function scope. But its value persists across calls — program-long lifetime. This is the clearest demonstration that scope and lifetime are separate concepts."
Then point to the design box: "The name resolution problem is why scope rules exist. Every time a name appears in code, the language must find which declaration it means. Scope rules are the algorithm for that search."
Pause and ask: "Which of our three languages — C, C#, Python — finds undeclared names earliest?" Answer: C and C# at compile time; Python at runtime. That difference shows up in the last row of many comparison tables this chapter.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conceptually important. Spend 3 minutes here.
Walk through the two definitions. Key contrast: "Static scoping asks WHERE is the name written? Dynamic scoping asks WHO called the function that uses the name?"
Use the concrete example: "With dynamic scoping, print_x() would print a different value depending on whether caller_a or caller_b called it. The same function, the same code — different behaviour depending on the call chain."
Ask: "Why is that a problem?" Let students answer. Expected: "You can't understand code by reading it. The function's behaviour depends on external context you can't see from the function itself."
Then: "This is exactly why most modern languages chose static scoping. Your code is predictable. If I show you print_x(), I can tell you what x it will use — it's the module-level x, always, regardless of who calls it."
Point to the design box: "Static scoping also makes symbol tables feasible — the compiler can build a symbol table by reading the source text. Under dynamic scoping, the runtime has to maintain a lookup structure that follows the call stack. More complex, less predictable."
End: "C, C#, and Python all chose static. But they disagree on the STRUCTURE of the scopes — blocks, classes, namespaces, LEGB. That's what the next three sections cover."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"C's scope is simple because C was designed for systems programming — you want to know exactly what every name means with minimal ceremony."
Walk through the three levels quickly. Block scope is by far the most common — everything in functions, if-blocks, for-loops.
The static keyword: "This is a genuine design flaw in C. One keyword does two completely different things. On a local variable, static means 'keep this value between calls' — it changes the lifetime, not the scope. On a file-scope name, static means 'don't let other files see this' — it restricts scope."
Ask: "Why did C use one keyword for two things?" Historically: static meant 'statically allocated' (as opposed to on the stack). This made sense to the C creators. But to modern readers it is confusing. Later languages separated these two concepts.
Point to the warning box: "C++ added 'const' and other qualifiers. C# has 'private' for restricting visibility. Python has module-level conventions. C was the origin — later languages fixed what C got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and both resolution traces carefully.
For (1): "The compiler encounters x. It looks in the innermost scope first — the inner block. Finds x=30. Done. The outer x=20 and the file-scope x=10 both exist, but they are shadowed — the compiler never reaches them."
For (2): "Now the inner block has ended. Its x is gone. The compiler looks in main()'s scope — finds x=20. Done. File-scope x=10 is still shadowed by main()'s x=20."
For the Think activity: Use 1 → C (3). Use 2 → B (2). Use 3 → A (1).
Ask: "Is this behaviour obvious when you read the code? Notice that x appears three times in a small program and refers to three different variables. This is legal C. Is it good programming? That is a different question — but understanding scope explains what the language does."
Design connection: "The compiler searches outward from the innermost scope, stops at the first match. This is the resolution algorithm — and the symbol table stack implements it. When the compiler enters a block, it pushes a new symbol table. When the block ends, it pops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layer. Key points per layer:
L (Local): "Everything assigned inside the current function. Parameters are local too. This is the first place Python looks — the innermost scope."
E (Enclosing): "This is what makes Python closures work. An inner function can read variables from its outer function without any special syntax — Python searches E automatically. C has no E layer at all."
G (Global): "Module level — the top of the .py file. Also where imported names land. When you 'import math', math goes into G."
B (Built-in): "The last resort. This is where print, len, range, type, True, False, None live. Always there, always searched last. If you name a local variable 'list', it shadows the built-in — the local is found in L before Python ever reaches B."
Key fact: "Python stops at the first match. L→E→G→B is the order. If it's found in L, Python never checks E."
Then set up the next slide: "Now — assignment inside a function always creates an L variable. So how do you modify a G or E variable from inside a function?"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one of the most surprising Python behaviours for beginners.
Walk through the first code block: "The UnboundLocalError happens because Python SCANS the whole function body before running it. It sees 'count += 1' — the left side is an assignment. Python concludes: count is a LOCAL variable in this function. Then when it tries to read count (the right side of +=) there is no local count yet. Error."
Walk through the global version: "Adding 'global count' tells Python: when I use the name count in this function, look it up in G scope, not L. Now the assignment modifies the module-level count."
Walk through nonlocal: "nonlocal does the same but for the E (Enclosing) layer. It says: look in the nearest enclosing function's scope."
Then point to the design box: "Why does Python require these keywords? Safety. Without them, a programmer who accidentally assigns to a name inside a function would silently create a new local — never modifying the outer variable they intended to change. The explicit keywords make intent visible. C has no such protection."
Ask: "Which approach do you prefer — C's direct access or Python's explicit keywords?" No correct answer — this is a genuine tradeoff.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key messages on this slide:
1. "Four levels because C# has four structural units: blocks, methods, classes, namespaces. Each structural unit needs a matching scope level. This is not arbitrary — the scope hierarchy mirrors the organisational hierarchy of the language."
2. "Class scope is the major addition over C. In C, there are no classes — so no class scope. Every method and field lives in file scope or block scope. In C#, fields declared in a class are visible to all methods of that class without any special syntax. This is class scope."
Point to the code: "When Report() reads 'name', it finds it in class scope — no qualification needed. When it reads 'prefix', it's method scope. When it reads 'msg', it's block scope — only inside the if block."
Ask: "Why can't you read 'msg' after the if-block?" Because msg was declared inside the block. When the block ends, the table for that scope is popped — msg is gone.
For Python comparison: "Python has classes too, but Python methods don't automatically see class attributes — you have to use 'self.name'. C# makes class fields directly visible. Different design choice."
Point to design box: "The lesson: scope rules tend to mirror the abstraction mechanisms the language provides. Understanding this principle helps you predict scope in any new language."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reframes shadowing as a design choice rather than a rule to memorise.
Walk through the comparison table quickly (30 seconds).
Then focus on the C# bug: "One of the most common C# bugs for beginners. You declare a constructor or method parameter with the same name as a class field. Inside the method, the parameter shadows the field. When you write 'count++', you increment the parameter — not the field. The field is unchanged. You need 'this.count' to reach the field."
"C# only blocks the case of shadowing a local with another local in the same method — not parameter-shadows-field. This was a deliberate choice: the common dangerous case gets blocked; the slightly less common case remains allowed."
Ask the design question from the think activity: "Is shadowing useful, confusing, or both?" Let students argue both sides:
For allowing: sometimes you genuinely want a local with the same name as a loop variable, or a parameter that mirrors an outer variable.
For restricting: silent shadowing is a source of bugs. Making it visible (or impossible) reduces errors.
Point to design box: "There is no right answer. Three languages, three choices, each reflecting a different priority."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explicit what the compiler/interpreter actually does.
Walk through all 7 steps. The critical design observation is at step 7.
"Notice the last step. C and C# report an error at COMPILE time — they refuse to compile a program with an undeclared name. Python reports the error at RUNTIME — only when the line actually executes."
Ask: "Which approach catches the error earlier?" C/C#. "Which is more flexible?" Python — you can write code that uses a name only in some execution paths, and Python won't complain unless that path runs.
"This is a direct consequence of what we learned in Chapter 3. C and C# are statically typed — the compiler knows the types and declarations of everything at compile time. Python uses dynamic binding — declarations are created at runtime, so undeclared names can only be discovered at runtime."
The algorithm is the same across all three languages — what differs is WHICH scopes exist and in WHAT ORDER they are searched (block/file for C, LEGB for Python, four levels for C#). The last step also differs.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on this slide: the trace examples and the comparison table.
For the trace examples: "Same print(x), same outer function, same global x. All that changes is which inner declarations exist. The algorithm is the same — what changes is which scope has a match."
Walk through: "All three: Local has x=10, found immediately. Remove inner's: Local misses, Enclosing has x=50, found there. Remove outer's too: Local misses, Enclosing misses, Global has x=100, found there."
For the table: "The algorithm is identical across all three languages. What differs is the names of the scopes, how many layers exist, and what happens when the name isn't found anywhere."
Point to the "Not found" row: "This row is the most revealing design difference. C and C# stop you from running a program with an undeclared name. Python lets you run and only complains when execution reaches the bad line. Both have value — C/C# catch it earlier, Python is more flexible for dynamic code patterns."
Ask students to cover the C# and Python columns and predict answers. Then reveal.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symbol table carefully — this data structure is what makes everything concrete.
"A symbol table is what the compiler is actually building as it reads your source code. For every name it encounters, it creates a record. When it encounters a name BEING USED (not declared), it looks up that name in the table."
Walk through the rows: "globalCount is a variable of type int at file scope, initialised to 0. 'average' is a function returning float at file scope, taking two int parameters. 'a' is one of those parameters — it lives in average()'s scope."
"Notice that the scope column directly reflects the LEGB layers (for Python), or the nested blocks (for C). The symbol table structure encodes the scope hierarchy."
For "what enables": "The primary purpose is name resolution — finding which declaration a reference means. But it's used for everything else too. Once the compiler knows 'this use of score refers to the parameter in bonus()', it can check if the operations you perform on it are type-correct."
Ask: "What happens when the compiler encounters the same name twice in the same scope?" It checks the symbol table for that scope, finds a collision, and reports an error — 'variable already declared.'
"That's duplicate detection, powered by the symbol table."
Connect back to design: "The complexity of the symbol table grows with the complexity of the scope rules. Python's LEGB needs four stacked tables. C#'s four levels need a four-layer stack. C's simpler model needs fewer layers. The implementation cost follows the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implementation slide — make it concrete.
"Every time the compiler enters a scope — a function, a block, a class — it creates a new symbol table and pushes it onto the stack. Every name declared in that scope is added to the top table."
Walk through the lifecycle: "Enter scope: push. Declare 'int x = 5': add x to the top table. Reference x: search from top downward, stop at first match. Exit scope: pop — and all the names in that table are gone."
Connect to name resolution: "This is how name resolution works mechanically. 'Search current scope first, then outward' = 'search top of stack first, then down.' The algorithm from slide 13 maps directly to this stack."
Connect to design: "C#'s four scope levels mean the stack has up to four layers at any point. Python's LEGB: Local is the top, then one Enclosing table per enclosing function, then Global, then Built-in at the bottom — always there as the floor."
Ask: "What happens to the symbol table when a function call returns?" The function's local table is popped. All local names are gone. (The objects those names referred to may persist if something else references them — Python's reference counting. But the names are gone.)
"This also explains why you can declare a variable in one function call and it isn't visible in the next call to the same function — each call gets its own fresh top 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class exercise. Give students 4 minutes to work through both exercises in pairs before revealing answers.
For the C exercise:
(1) score = the parameter — inside bonus(), score always refers to the parameter (which shadows the file-scope score). extra = the block-scope local declared in the if-block.
(2) score = the parameter — still inside bonus(), and the if-block has ended (extra is gone), but the parameter is still in scope for the whole function.
(3) score = the file-scope global — inside main(), there is no parameter or local named score. The file-scope score = 100 is found.
For the LEGB exercise:
(1) total → L: total is assigned inside apply(), it's local.
(2) multiplier → E: not in apply()'s local scope. Check enclosing (compute()) — found there.
(3) result → G: not local, not in any enclosing function. Found at module level.
(4) len → B: not defined anywhere in the program — Python searches down to Built-in.
After revealing: "Notice the pattern. In both languages, the algorithm is: innermost scope first, then outward. The direction is always the same. The levels have different names, but the logic is identical."
For a challenge question: "In the Python example, what would happen if I added 'result = 0' inside apply()? Would print(result) still find the module-level result?" No — it would find the local result, which is 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misconceptions per slide, two slides total.
Misconception 1 (scope ≠ lifetime): "This distinction comes up in every chapter from 3 onward. The clearest proof is C's static local variable — function scope (you can't use it outside the function) but program-long lifetime (it persists between calls). Two independent properties."
Misconception 2 (global keyword): "Students think 'global x' makes x visible to other modules or files. It doesn't. It only tells Python: inside this function, when I use x, resolve it in G scope rather than creating a new L. It's a lookup instruction for the name resolution algorithm."
Misconception 3 (dynamic scoping vs typing): "Both use the word 'dynamic' but they refer to completely different things. Dynamic TYPING is about when types are checked. Dynamic SCOPING is about how names are resolved. Python has one (dynamic typing) but not the other (it uses static scoping). Don't confuse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misconceptions.
Misconception 4 (reading vs modifying globals): "Reading a global is fine — Python's LEGB naturally searches G and finds it. But assignment is different. Without 'global', assignment creates a new local L variable. This is the UnboundLocalError trap: Python sees an assignment to x anywhere in the function body and decides x is local throughout — then reading x before the assignment fails."
Misconception 5 (namespace vs module): "Both organise code at a high level, but the file/namespace boundary is different. In Python, every .py file IS a module — the file structure defines the module boundary. In C#, namespaces are explicit declarations that are independent of files. You can put the same namespace in 10 different files, or have 10 namespaces in one file."
Misconception 6 (LEGB exhaustive search): "Python stops early. If x is in L, Python uses it immediately. Never checks E, G, B. This is why naming a local variable 'list' shadows the built-in — the local is found in L first, and Python never reaches B. LEGB is the search ORDER with EARLY EXIT on success."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 take 3 minutes here.
"Look at this table. Every single row is a question a language designer had to answer before writing the language specification. They couldn't skip any of them."
Go through the rows that generate the most discussion:
Row 2 (blocks create scopes?): "C and C# say yes — every { } is a scope boundary. Python says no — only functions create new scopes. This is why a Python for-loop variable is visible after the loop ends (unless it's in a comprehension, which Python 3 fixed). In C, the loop variable is gone when the loop block ends."
Row 3 (nested function scope): "C has no E layer — a function can't easily see the variables of its enclosing function. Python's E layer exists specifically to support closures. C# is in between — lambdas can capture outer variables, but nested functions as a general pattern are uncommon."
Row 5 (undeclared name error): "The last purely design row. C/C# catch it at compile time. Python discovers it at runtime. C/C# are safer; Python is more flexible for dynamic patterns."
Point to design box: "The purpose of this comparison is NOT to rank these languages. It is to see that every row represents a deliberate choice. Understanding those choices — why they were made, what they cost, what they gain — is what we mean by Programming Language Design."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four questions for rapid-fire class discussion before sending students to the full quiz.
For each question, show the question first and take 2-3 answers before revealing.
Q1: Most students should get this right by now. If anyone says A (lifetime) or C (symbol table), correct them — those are the two classic confusions.
Q7: This is the LEGB predict-output question. "inner() has no local x. Checks Enclosing — outer() has x='E'. Found. Stops." Output is E, not G.
Q10: This is the scope-vs-lifetime proof. "function scope (only visible inside the function) but program-long lifetime (value persists between calls)." The two dimensions are independent.
Q12: This is the design reasoning question — the chapter's central message. Students should be able to explain: static scoping makes the meaning of a name determinable by reading the source, enables compile-time error detection, and makes programs predictable.
After discussion: "Complete the full 12-question quiz in the tutorial on Canvas. The explanations for each answer are detailed — read them even if you get the question right."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60 seconds.
Read the Big Idea aloud or ask a student to read it.
Remind students:
1. Assignment 2 due next session — trace five variables across all three languages. See Canvas for the code snippets.
2. Tutorial quiz on Canvas — 12 questions, detailed explanations.
3. Before Chapter 5, think about: "once the compiler has found which variable a name refers to, how does it know whether the operations on that variable are correct?" That is the type system — Chapter 5.
Contact: dgill@clark.edu, STEM Building Room 113.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640080" y="18288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Scope Rules</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&amp; Symbol Tables</a:t>
            </a:r>
            <a:endParaRPr lang="en-US" sz="3600" dirty="0"/>
          </a:p>
        </p:txBody>
      </p:sp>
      <p:sp>
        <p:nvSpPr>
          <p:cNvPr id="6" name="Text 4"/>
          <p:cNvSpPr txBox="1"/>
          <p:nvPr/>
        </p:nvSpPr>
        <p:spPr>
          <a:xfrm>
            <a:off x="640080" y="4114800"/>
            <a:ext cx="8229600" cy="59436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When a name appears in code, how does the language decide which variable it means?</a:t>
            </a:r>
            <a:endParaRPr lang="en-US" sz="1700" dirty="0"/>
          </a:p>
        </p:txBody>
      </p:sp>
      <p:sp>
        <p:nvSpPr>
          <p:cNvPr id="7" name="Text 5"/>
          <p:cNvSpPr txBox="1"/>
          <p:nvPr/>
        </p:nvSpPr>
        <p:spPr>
          <a:xfrm>
            <a:off x="640080" y="6309360"/>
            <a:ext cx="64008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4 of 12 · Unit 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Chapter Roadmap — The Design Chain</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Overview</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section follows one thread: declaration → scope rules → name resolution → symbol tables → design choice.</a:t>
            </a:r>
            <a:endParaRPr lang="en-US" sz="1300" dirty="0"/>
          </a:p>
        </p:txBody>
      </p:sp>
      <p:sp>
        <p:nvSpPr>
          <p:cNvPr id="6" name="Shape 4"/>
          <p:cNvSpPr/>
          <p:nvPr/>
        </p:nvSpPr>
        <p:spPr>
          <a:xfrm>
            <a:off x="411480" y="1335024"/>
            <a:ext cx="438912" cy="438912"/>
          </a:xfrm>
          <a:prstGeom prst="rect">
            <a:avLst/>
          </a:prstGeom>
          <a:solidFill>
            <a:srgbClr val="1A2B5E"/>
          </a:solidFill>
          <a:ln/>
        </p:spPr>
        <p:txBody>
          <a:bodyPr/>
          <a:lstStyle/>
          <a:p>
            <a:endParaRPr lang="en-US"/>
          </a:p>
        </p:txBody>
      </p:sp>
      <p:sp>
        <p:nvSpPr>
          <p:cNvPr id="7" name="Text 5"/>
          <p:cNvSpPr txBox="1"/>
          <p:nvPr/>
        </p:nvSpPr>
        <p:spPr>
          <a:xfrm>
            <a:off x="411480" y="140817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8" name="Text 6"/>
          <p:cNvSpPr txBox="1"/>
          <p:nvPr/>
        </p:nvSpPr>
        <p:spPr>
          <a:xfrm>
            <a:off x="987552" y="137160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Opening Question</a:t>
            </a:r>
            <a:endParaRPr lang="en-US" sz="1200" dirty="0"/>
          </a:p>
        </p:txBody>
      </p:sp>
      <p:sp>
        <p:nvSpPr>
          <p:cNvPr id="9" name="Text 7"/>
          <p:cNvSpPr txBox="1"/>
          <p:nvPr/>
        </p:nvSpPr>
        <p:spPr>
          <a:xfrm>
            <a:off x="3547872" y="137160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Which x? — the puzzle that opens every concept in this chapter</a:t>
            </a:r>
            <a:endParaRPr lang="en-US" sz="1150" dirty="0"/>
          </a:p>
        </p:txBody>
      </p:sp>
      <p:sp>
        <p:nvSpPr>
          <p:cNvPr id="10" name="Shape 8"/>
          <p:cNvSpPr/>
          <p:nvPr/>
        </p:nvSpPr>
        <p:spPr>
          <a:xfrm>
            <a:off x="411480" y="1883664"/>
            <a:ext cx="438912" cy="438912"/>
          </a:xfrm>
          <a:prstGeom prst="rect">
            <a:avLst/>
          </a:prstGeom>
          <a:solidFill>
            <a:srgbClr val="1A2B5E"/>
          </a:solidFill>
          <a:ln/>
        </p:spPr>
        <p:txBody>
          <a:bodyPr/>
          <a:lstStyle/>
          <a:p>
            <a:endParaRPr lang="en-US"/>
          </a:p>
        </p:txBody>
      </p:sp>
      <p:sp>
        <p:nvSpPr>
          <p:cNvPr id="11" name="Text 9"/>
          <p:cNvSpPr txBox="1"/>
          <p:nvPr/>
        </p:nvSpPr>
        <p:spPr>
          <a:xfrm>
            <a:off x="411480" y="195681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txBox="1"/>
          <p:nvPr/>
        </p:nvSpPr>
        <p:spPr>
          <a:xfrm>
            <a:off x="987552" y="192024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What Is Scope?</a:t>
            </a:r>
            <a:endParaRPr lang="en-US" sz="1200" dirty="0"/>
          </a:p>
        </p:txBody>
      </p:sp>
      <p:sp>
        <p:nvSpPr>
          <p:cNvPr id="13" name="Text 11"/>
          <p:cNvSpPr txBox="1"/>
          <p:nvPr/>
        </p:nvSpPr>
        <p:spPr>
          <a:xfrm>
            <a:off x="3547872" y="192024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Definition, scope vs lifetime, and the name resolution problem</a:t>
            </a:r>
            <a:endParaRPr lang="en-US" sz="1150" dirty="0"/>
          </a:p>
        </p:txBody>
      </p:sp>
      <p:sp>
        <p:nvSpPr>
          <p:cNvPr id="14" name="Shape 12"/>
          <p:cNvSpPr/>
          <p:nvPr/>
        </p:nvSpPr>
        <p:spPr>
          <a:xfrm>
            <a:off x="411480" y="2432304"/>
            <a:ext cx="438912" cy="438912"/>
          </a:xfrm>
          <a:prstGeom prst="rect">
            <a:avLst/>
          </a:prstGeom>
          <a:solidFill>
            <a:srgbClr val="1A2B5E"/>
          </a:solidFill>
          <a:ln/>
        </p:spPr>
        <p:txBody>
          <a:bodyPr/>
          <a:lstStyle/>
          <a:p>
            <a:endParaRPr lang="en-US"/>
          </a:p>
        </p:txBody>
      </p:sp>
      <p:sp>
        <p:nvSpPr>
          <p:cNvPr id="15" name="Text 13"/>
          <p:cNvSpPr txBox="1"/>
          <p:nvPr/>
        </p:nvSpPr>
        <p:spPr>
          <a:xfrm>
            <a:off x="411480" y="250545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987552" y="246888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Static vs Dynamic Scoping</a:t>
            </a:r>
            <a:endParaRPr lang="en-US" sz="1200" dirty="0"/>
          </a:p>
        </p:txBody>
      </p:sp>
      <p:sp>
        <p:nvSpPr>
          <p:cNvPr id="17" name="Text 15"/>
          <p:cNvSpPr txBox="1"/>
          <p:nvPr/>
        </p:nvSpPr>
        <p:spPr>
          <a:xfrm>
            <a:off x="3547872" y="246888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The foundational design choice — and why all three languages chose static</a:t>
            </a:r>
            <a:endParaRPr lang="en-US" sz="1150" dirty="0"/>
          </a:p>
        </p:txBody>
      </p:sp>
      <p:sp>
        <p:nvSpPr>
          <p:cNvPr id="18" name="Shape 16"/>
          <p:cNvSpPr/>
          <p:nvPr/>
        </p:nvSpPr>
        <p:spPr>
          <a:xfrm>
            <a:off x="411480" y="2980944"/>
            <a:ext cx="438912" cy="438912"/>
          </a:xfrm>
          <a:prstGeom prst="rect">
            <a:avLst/>
          </a:prstGeom>
          <a:solidFill>
            <a:srgbClr val="1A2B5E"/>
          </a:solidFill>
          <a:ln/>
        </p:spPr>
        <p:txBody>
          <a:bodyPr/>
          <a:lstStyle/>
          <a:p>
            <a:endParaRPr lang="en-US"/>
          </a:p>
        </p:txBody>
      </p:sp>
      <p:sp>
        <p:nvSpPr>
          <p:cNvPr id="19" name="Text 17"/>
          <p:cNvSpPr txBox="1"/>
          <p:nvPr/>
        </p:nvSpPr>
        <p:spPr>
          <a:xfrm>
            <a:off x="411480" y="305409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987552" y="301752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 Scope Rules</a:t>
            </a:r>
            <a:endParaRPr lang="en-US" sz="1200" dirty="0"/>
          </a:p>
        </p:txBody>
      </p:sp>
      <p:sp>
        <p:nvSpPr>
          <p:cNvPr id="21" name="Text 19"/>
          <p:cNvSpPr txBox="1"/>
          <p:nvPr/>
        </p:nvSpPr>
        <p:spPr>
          <a:xfrm>
            <a:off x="3547872" y="301752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Block scope, file scope, static/extern keywords, name resolution in C</a:t>
            </a:r>
            <a:endParaRPr lang="en-US" sz="1150" dirty="0"/>
          </a:p>
        </p:txBody>
      </p:sp>
      <p:sp>
        <p:nvSpPr>
          <p:cNvPr id="22" name="Shape 20"/>
          <p:cNvSpPr/>
          <p:nvPr/>
        </p:nvSpPr>
        <p:spPr>
          <a:xfrm>
            <a:off x="411480" y="3529584"/>
            <a:ext cx="438912" cy="438912"/>
          </a:xfrm>
          <a:prstGeom prst="rect">
            <a:avLst/>
          </a:prstGeom>
          <a:solidFill>
            <a:srgbClr val="1A2B5E"/>
          </a:solidFill>
          <a:ln/>
        </p:spPr>
        <p:txBody>
          <a:bodyPr/>
          <a:lstStyle/>
          <a:p>
            <a:endParaRPr lang="en-US"/>
          </a:p>
        </p:txBody>
      </p:sp>
      <p:sp>
        <p:nvSpPr>
          <p:cNvPr id="23" name="Text 21"/>
          <p:cNvSpPr txBox="1"/>
          <p:nvPr/>
        </p:nvSpPr>
        <p:spPr>
          <a:xfrm>
            <a:off x="411480" y="360273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987552" y="356616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Python LEGB</a:t>
            </a:r>
            <a:endParaRPr lang="en-US" sz="1200" dirty="0"/>
          </a:p>
        </p:txBody>
      </p:sp>
      <p:sp>
        <p:nvSpPr>
          <p:cNvPr id="25" name="Text 23"/>
          <p:cNvSpPr txBox="1"/>
          <p:nvPr/>
        </p:nvSpPr>
        <p:spPr>
          <a:xfrm>
            <a:off x="3547872" y="356616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L→E→G→B, global/nonlocal, and why Python designed it this way</a:t>
            </a:r>
            <a:endParaRPr lang="en-US" sz="1150" dirty="0"/>
          </a:p>
        </p:txBody>
      </p:sp>
      <p:sp>
        <p:nvSpPr>
          <p:cNvPr id="26" name="Shape 24"/>
          <p:cNvSpPr/>
          <p:nvPr/>
        </p:nvSpPr>
        <p:spPr>
          <a:xfrm>
            <a:off x="411480" y="4078224"/>
            <a:ext cx="438912" cy="438912"/>
          </a:xfrm>
          <a:prstGeom prst="rect">
            <a:avLst/>
          </a:prstGeom>
          <a:solidFill>
            <a:srgbClr val="1A2B5E"/>
          </a:solidFill>
          <a:ln/>
        </p:spPr>
        <p:txBody>
          <a:bodyPr/>
          <a:lstStyle/>
          <a:p>
            <a:endParaRPr lang="en-US"/>
          </a:p>
        </p:txBody>
      </p:sp>
      <p:sp>
        <p:nvSpPr>
          <p:cNvPr id="27" name="Text 25"/>
          <p:cNvSpPr txBox="1"/>
          <p:nvPr/>
        </p:nvSpPr>
        <p:spPr>
          <a:xfrm>
            <a:off x="411480" y="415137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txBox="1"/>
          <p:nvPr/>
        </p:nvSpPr>
        <p:spPr>
          <a:xfrm>
            <a:off x="987552" y="411480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 Four Levels</a:t>
            </a:r>
            <a:endParaRPr lang="en-US" sz="1200" dirty="0"/>
          </a:p>
        </p:txBody>
      </p:sp>
      <p:sp>
        <p:nvSpPr>
          <p:cNvPr id="29" name="Text 27"/>
          <p:cNvSpPr txBox="1"/>
          <p:nvPr/>
        </p:nvSpPr>
        <p:spPr>
          <a:xfrm>
            <a:off x="3547872" y="411480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Block → method → class → namespace — scope mirrors structure</a:t>
            </a:r>
            <a:endParaRPr lang="en-US" sz="1150" dirty="0"/>
          </a:p>
        </p:txBody>
      </p:sp>
      <p:sp>
        <p:nvSpPr>
          <p:cNvPr id="30" name="Shape 28"/>
          <p:cNvSpPr/>
          <p:nvPr/>
        </p:nvSpPr>
        <p:spPr>
          <a:xfrm>
            <a:off x="411480" y="4626864"/>
            <a:ext cx="438912" cy="438912"/>
          </a:xfrm>
          <a:prstGeom prst="rect">
            <a:avLst/>
          </a:prstGeom>
          <a:solidFill>
            <a:srgbClr val="1A2B5E"/>
          </a:solidFill>
          <a:ln/>
        </p:spPr>
        <p:txBody>
          <a:bodyPr/>
          <a:lstStyle/>
          <a:p>
            <a:endParaRPr lang="en-US"/>
          </a:p>
        </p:txBody>
      </p:sp>
      <p:sp>
        <p:nvSpPr>
          <p:cNvPr id="31" name="Text 29"/>
          <p:cNvSpPr txBox="1"/>
          <p:nvPr/>
        </p:nvSpPr>
        <p:spPr>
          <a:xfrm>
            <a:off x="411480" y="470001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987552" y="466344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Shadowing</a:t>
            </a:r>
            <a:endParaRPr lang="en-US" sz="1200" dirty="0"/>
          </a:p>
        </p:txBody>
      </p:sp>
      <p:sp>
        <p:nvSpPr>
          <p:cNvPr id="33" name="Text 31"/>
          <p:cNvSpPr txBox="1"/>
          <p:nvPr/>
        </p:nvSpPr>
        <p:spPr>
          <a:xfrm>
            <a:off x="3547872" y="466344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When inner scope hides outer scope — a design decision, not just a technique</a:t>
            </a:r>
            <a:endParaRPr lang="en-US" sz="1150" dirty="0"/>
          </a:p>
        </p:txBody>
      </p:sp>
      <p:sp>
        <p:nvSpPr>
          <p:cNvPr id="34" name="Shape 32"/>
          <p:cNvSpPr/>
          <p:nvPr/>
        </p:nvSpPr>
        <p:spPr>
          <a:xfrm>
            <a:off x="411480" y="5175504"/>
            <a:ext cx="438912" cy="438912"/>
          </a:xfrm>
          <a:prstGeom prst="rect">
            <a:avLst/>
          </a:prstGeom>
          <a:solidFill>
            <a:srgbClr val="1A2B5E"/>
          </a:solidFill>
          <a:ln/>
        </p:spPr>
        <p:txBody>
          <a:bodyPr/>
          <a:lstStyle/>
          <a:p>
            <a:endParaRPr lang="en-US"/>
          </a:p>
        </p:txBody>
      </p:sp>
      <p:sp>
        <p:nvSpPr>
          <p:cNvPr id="35" name="Text 33"/>
          <p:cNvSpPr txBox="1"/>
          <p:nvPr/>
        </p:nvSpPr>
        <p:spPr>
          <a:xfrm>
            <a:off x="411480" y="524865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6b</a:t>
            </a:r>
            <a:endParaRPr lang="en-US" sz="1100" dirty="0"/>
          </a:p>
        </p:txBody>
      </p:sp>
      <p:sp>
        <p:nvSpPr>
          <p:cNvPr id="36" name="Text 34"/>
          <p:cNvSpPr txBox="1"/>
          <p:nvPr/>
        </p:nvSpPr>
        <p:spPr>
          <a:xfrm>
            <a:off x="987552" y="521208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Name Resolution</a:t>
            </a:r>
            <a:endParaRPr lang="en-US" sz="1200" dirty="0"/>
          </a:p>
        </p:txBody>
      </p:sp>
      <p:sp>
        <p:nvSpPr>
          <p:cNvPr id="37" name="Text 35"/>
          <p:cNvSpPr txBox="1"/>
          <p:nvPr/>
        </p:nvSpPr>
        <p:spPr>
          <a:xfrm>
            <a:off x="3547872" y="521208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The 7-step algorithm + comparison across all three languages</a:t>
            </a:r>
            <a:endParaRPr lang="en-US" sz="1150" dirty="0"/>
          </a:p>
        </p:txBody>
      </p:sp>
      <p:sp>
        <p:nvSpPr>
          <p:cNvPr id="38" name="Shape 36"/>
          <p:cNvSpPr/>
          <p:nvPr/>
        </p:nvSpPr>
        <p:spPr>
          <a:xfrm>
            <a:off x="411480" y="5724144"/>
            <a:ext cx="438912" cy="438912"/>
          </a:xfrm>
          <a:prstGeom prst="rect">
            <a:avLst/>
          </a:prstGeom>
          <a:solidFill>
            <a:srgbClr val="1A2B5E"/>
          </a:solidFill>
          <a:ln/>
        </p:spPr>
        <p:txBody>
          <a:bodyPr/>
          <a:lstStyle/>
          <a:p>
            <a:endParaRPr lang="en-US"/>
          </a:p>
        </p:txBody>
      </p:sp>
      <p:sp>
        <p:nvSpPr>
          <p:cNvPr id="39" name="Text 37"/>
          <p:cNvSpPr txBox="1"/>
          <p:nvPr/>
        </p:nvSpPr>
        <p:spPr>
          <a:xfrm>
            <a:off x="411480" y="579729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8"/>
          <p:cNvSpPr txBox="1"/>
          <p:nvPr/>
        </p:nvSpPr>
        <p:spPr>
          <a:xfrm>
            <a:off x="987552" y="576072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Symbol Tables</a:t>
            </a:r>
            <a:endParaRPr lang="en-US" sz="1200" dirty="0"/>
          </a:p>
        </p:txBody>
      </p:sp>
      <p:sp>
        <p:nvSpPr>
          <p:cNvPr id="41" name="Text 39"/>
          <p:cNvSpPr txBox="1"/>
          <p:nvPr/>
        </p:nvSpPr>
        <p:spPr>
          <a:xfrm>
            <a:off x="3547872" y="576072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The data structure that makes name resolution efficient</a:t>
            </a:r>
            <a:endParaRPr lang="en-US" sz="1150" dirty="0"/>
          </a:p>
        </p:txBody>
      </p:sp>
      <p:sp>
        <p:nvSpPr>
          <p:cNvPr id="42" name="Shape 40"/>
          <p:cNvSpPr/>
          <p:nvPr/>
        </p:nvSpPr>
        <p:spPr>
          <a:xfrm>
            <a:off x="411480" y="6272784"/>
            <a:ext cx="438912" cy="438912"/>
          </a:xfrm>
          <a:prstGeom prst="rect">
            <a:avLst/>
          </a:prstGeom>
          <a:solidFill>
            <a:srgbClr val="1A2B5E"/>
          </a:solidFill>
          <a:ln/>
        </p:spPr>
        <p:txBody>
          <a:bodyPr/>
          <a:lstStyle/>
          <a:p>
            <a:endParaRPr lang="en-US"/>
          </a:p>
        </p:txBody>
      </p:sp>
      <p:sp>
        <p:nvSpPr>
          <p:cNvPr id="43" name="Text 41"/>
          <p:cNvSpPr txBox="1"/>
          <p:nvPr/>
        </p:nvSpPr>
        <p:spPr>
          <a:xfrm>
            <a:off x="411480" y="634593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4" name="Text 42"/>
          <p:cNvSpPr txBox="1"/>
          <p:nvPr/>
        </p:nvSpPr>
        <p:spPr>
          <a:xfrm>
            <a:off x="987552" y="6309360"/>
            <a:ext cx="24688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Design Decisions</a:t>
            </a:r>
            <a:endParaRPr lang="en-US" sz="1200" dirty="0"/>
          </a:p>
        </p:txBody>
      </p:sp>
      <p:sp>
        <p:nvSpPr>
          <p:cNvPr id="45" name="Text 43"/>
          <p:cNvSpPr txBox="1"/>
          <p:nvPr/>
        </p:nvSpPr>
        <p:spPr>
          <a:xfrm>
            <a:off x="3547872" y="6309360"/>
            <a:ext cx="8412480" cy="438912"/>
          </a:xfrm>
          <a:prstGeom prst="rect">
            <a:avLst/>
          </a:prstGeom>
          <a:noFill/>
          <a:ln/>
        </p:spPr>
        <p:txBody>
          <a:bodyPr wrap="square" lIns="0" tIns="0" rIns="0" bIns="0" rtlCol="0" anchor="ctr"/>
          <a:lstStyle/>
          <a:p>
            <a:pPr marL="0" indent="0">
              <a:lnSpc>
                <a:spcPct val="115000"/>
              </a:lnSpc>
              <a:buNone/>
            </a:pPr>
            <a:r>
              <a:rPr lang="en-US" sz="1150" dirty="0">
                <a:solidFill>
                  <a:srgbClr val="5A6A82"/>
                </a:solidFill>
                <a:latin typeface="Calibri" pitchFamily="34" charset="0"/>
                <a:ea typeface="Calibri" pitchFamily="34" charset="-122"/>
                <a:cs typeface="Calibri" pitchFamily="34" charset="-120"/>
              </a:rPr>
              <a:t>Three languages, three choices — and the tradeoffs between them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A2B5E"/>
          </a:solidFill>
          <a:ln/>
        </p:spPr>
        <p:txBody>
          <a:bodyPr/>
          <a:lstStyle/>
          <a:p>
            <a:endParaRPr lang="en-US"/>
          </a:p>
        </p:txBody>
      </p:sp>
      <p:sp>
        <p:nvSpPr>
          <p:cNvPr id="3" name="Shape 1"/>
          <p:cNvSpPr/>
          <p:nvPr/>
        </p:nvSpPr>
        <p:spPr>
          <a:xfrm>
            <a:off x="3931920" y="-1627632"/>
            <a:ext cx="8321040" cy="6858000"/>
          </a:xfrm>
          <a:prstGeom prst="rect">
            <a:avLst/>
          </a:prstGeom>
          <a:solidFill>
            <a:srgbClr val="F4F6FC"/>
          </a:solidFill>
          <a:ln/>
        </p:spPr>
        <p:txBody>
          <a:bodyPr/>
          <a:lstStyle/>
          <a:p>
            <a:endParaRPr lang="en-US"/>
          </a:p>
        </p:txBody>
      </p:sp>
      <p:sp>
        <p:nvSpPr>
          <p:cNvPr id="4" name="Text 2"/>
          <p:cNvSpPr txBox="1"/>
          <p:nvPr/>
        </p:nvSpPr>
        <p:spPr>
          <a:xfrm>
            <a:off x="274320" y="2560320"/>
            <a:ext cx="3291840" cy="27432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0</a:t>
            </a:r>
            <a:endParaRPr lang="en-US" sz="1100" dirty="0"/>
          </a:p>
        </p:txBody>
      </p:sp>
      <p:sp>
        <p:nvSpPr>
          <p:cNvPr id="5" name="Text 3"/>
          <p:cNvSpPr txBox="1"/>
          <p:nvPr/>
        </p:nvSpPr>
        <p:spPr>
          <a:xfrm>
            <a:off x="274320" y="2880360"/>
            <a:ext cx="3291840" cy="16459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The Opening</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Question</a:t>
            </a:r>
            <a:endParaRPr lang="en-US" sz="2000" dirty="0"/>
          </a:p>
        </p:txBody>
      </p:sp>
      <p:sp>
        <p:nvSpPr>
          <p:cNvPr id="6" name="Text 4"/>
          <p:cNvSpPr txBox="1"/>
          <p:nvPr/>
        </p:nvSpPr>
        <p:spPr>
          <a:xfrm>
            <a:off x="4151376" y="2711258"/>
            <a:ext cx="7680960" cy="292608"/>
          </a:xfrm>
          <a:prstGeom prst="rect">
            <a:avLst/>
          </a:prstGeom>
          <a:noFill/>
          <a:ln/>
        </p:spPr>
        <p:txBody>
          <a:bodyPr wrap="square" lIns="0" tIns="0" rIns="0" bIns="0" rtlCol="0" anchor="ctr"/>
          <a:lstStyle/>
          <a:p>
            <a:pPr marL="0" indent="0">
              <a:lnSpc>
                <a:spcPct val="135000"/>
              </a:lnSpc>
              <a:buNone/>
            </a:pPr>
            <a:r>
              <a:rPr lang="en-US" sz="1500" dirty="0">
                <a:solidFill>
                  <a:srgbClr val="1E2A3A"/>
                </a:solidFill>
                <a:latin typeface="Calibri" pitchFamily="34" charset="0"/>
                <a:ea typeface="Calibri" pitchFamily="34" charset="-122"/>
                <a:cs typeface="Calibri" pitchFamily="34" charset="-120"/>
              </a:rPr>
              <a:t>Which x does Python use — and why?</a:t>
            </a:r>
            <a:endParaRPr lang="en-US" sz="1500" dirty="0"/>
          </a:p>
        </p:txBody>
      </p:sp>
      <p:sp>
        <p:nvSpPr>
          <p:cNvPr id="7" name="Text 5"/>
          <p:cNvSpPr txBox="1"/>
          <p:nvPr/>
        </p:nvSpPr>
        <p:spPr>
          <a:xfrm>
            <a:off x="4114800" y="-165845"/>
            <a:ext cx="7680960" cy="274320"/>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Three variables, one name, one print statement.</a:t>
            </a:r>
            <a:endParaRPr lang="en-US" sz="1300" dirty="0"/>
          </a:p>
        </p:txBody>
      </p:sp>
      <p:sp>
        <p:nvSpPr>
          <p:cNvPr id="8" name="Shape 6"/>
          <p:cNvSpPr/>
          <p:nvPr/>
        </p:nvSpPr>
        <p:spPr>
          <a:xfrm>
            <a:off x="4206240" y="1682496"/>
            <a:ext cx="676656" cy="237744"/>
          </a:xfrm>
          <a:prstGeom prst="roundRect">
            <a:avLst>
              <a:gd name="adj" fmla="val 23077"/>
            </a:avLst>
          </a:prstGeom>
          <a:solidFill>
            <a:srgbClr val="FEF3E8"/>
          </a:solidFill>
          <a:ln/>
        </p:spPr>
        <p:txBody>
          <a:bodyPr/>
          <a:lstStyle/>
          <a:p>
            <a:endParaRPr lang="en-US"/>
          </a:p>
        </p:txBody>
      </p:sp>
      <p:sp>
        <p:nvSpPr>
          <p:cNvPr id="9" name="Text 7"/>
          <p:cNvSpPr txBox="1"/>
          <p:nvPr/>
        </p:nvSpPr>
        <p:spPr>
          <a:xfrm>
            <a:off x="4151376" y="190771"/>
            <a:ext cx="603504" cy="182880"/>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0" name="Shape 8"/>
          <p:cNvSpPr/>
          <p:nvPr/>
        </p:nvSpPr>
        <p:spPr>
          <a:xfrm>
            <a:off x="4114800" y="437659"/>
            <a:ext cx="7680960" cy="2148840"/>
          </a:xfrm>
          <a:prstGeom prst="rect">
            <a:avLst/>
          </a:prstGeom>
          <a:solidFill>
            <a:srgbClr val="EEF1FA"/>
          </a:solidFill>
          <a:ln w="12700">
            <a:solidFill>
              <a:srgbClr val="D0DAF0"/>
            </a:solidFill>
            <a:prstDash val="solid"/>
          </a:ln>
        </p:spPr>
        <p:txBody>
          <a:bodyPr/>
          <a:lstStyle/>
          <a:p>
            <a:endParaRPr lang="en-US"/>
          </a:p>
        </p:txBody>
      </p:sp>
      <p:sp>
        <p:nvSpPr>
          <p:cNvPr id="11" name="Text 9"/>
          <p:cNvSpPr txBox="1"/>
          <p:nvPr/>
        </p:nvSpPr>
        <p:spPr>
          <a:xfrm>
            <a:off x="4242816" y="529099"/>
            <a:ext cx="7479792" cy="198424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100          # (A) — top level</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outer():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x = 50       # (B) — inside outer()</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def inner():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x = 10   # (C) — inside inner()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print(x) # ← which x?</a:t>
            </a:r>
            <a:endParaRPr lang="en-US" sz="1100" dirty="0"/>
          </a:p>
        </p:txBody>
      </p:sp>
      <p:sp>
        <p:nvSpPr>
          <p:cNvPr id="12" name="Text 10"/>
          <p:cNvSpPr txBox="1"/>
          <p:nvPr/>
        </p:nvSpPr>
        <p:spPr>
          <a:xfrm>
            <a:off x="4151376" y="3077958"/>
            <a:ext cx="768096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Answer: (C) — 10. Python searches innermost scope first.</a:t>
            </a:r>
            <a:endParaRPr lang="en-US" sz="1200" dirty="0"/>
          </a:p>
        </p:txBody>
      </p:sp>
      <p:sp>
        <p:nvSpPr>
          <p:cNvPr id="13" name="Text 11"/>
          <p:cNvSpPr txBox="1"/>
          <p:nvPr/>
        </p:nvSpPr>
        <p:spPr>
          <a:xfrm>
            <a:off x="4114800" y="3540294"/>
            <a:ext cx="7680960" cy="594360"/>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Remove (C) → Python finds (B). Remove that too → finds (A). This search order is the LEGB rule — the core of Python's scope design.</a:t>
            </a:r>
            <a:endParaRPr lang="en-US" sz="1200" dirty="0"/>
          </a:p>
        </p:txBody>
      </p:sp>
      <p:sp>
        <p:nvSpPr>
          <p:cNvPr id="14" name="Shape 12"/>
          <p:cNvSpPr/>
          <p:nvPr/>
        </p:nvSpPr>
        <p:spPr>
          <a:xfrm>
            <a:off x="4078224" y="4370832"/>
            <a:ext cx="54864" cy="804672"/>
          </a:xfrm>
          <a:prstGeom prst="rect">
            <a:avLst/>
          </a:prstGeom>
          <a:solidFill>
            <a:srgbClr val="2E5BFF"/>
          </a:solidFill>
          <a:ln/>
        </p:spPr>
        <p:txBody>
          <a:bodyPr/>
          <a:lstStyle/>
          <a:p>
            <a:endParaRPr lang="en-US"/>
          </a:p>
        </p:txBody>
      </p:sp>
      <p:sp>
        <p:nvSpPr>
          <p:cNvPr id="15" name="Shape 13"/>
          <p:cNvSpPr/>
          <p:nvPr/>
        </p:nvSpPr>
        <p:spPr>
          <a:xfrm>
            <a:off x="4133088" y="4370832"/>
            <a:ext cx="7626096" cy="804672"/>
          </a:xfrm>
          <a:prstGeom prst="rect">
            <a:avLst/>
          </a:prstGeom>
          <a:solidFill>
            <a:srgbClr val="EFF6FF"/>
          </a:solidFill>
          <a:ln w="12700">
            <a:solidFill>
              <a:srgbClr val="BFDBFE"/>
            </a:solidFill>
            <a:prstDash val="solid"/>
          </a:ln>
        </p:spPr>
        <p:txBody>
          <a:bodyPr/>
          <a:lstStyle/>
          <a:p>
            <a:endParaRPr lang="en-US"/>
          </a:p>
        </p:txBody>
      </p:sp>
      <p:sp>
        <p:nvSpPr>
          <p:cNvPr id="16" name="Text 14"/>
          <p:cNvSpPr txBox="1"/>
          <p:nvPr/>
        </p:nvSpPr>
        <p:spPr>
          <a:xfrm>
            <a:off x="4261104" y="4443984"/>
            <a:ext cx="74066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17" name="Text 15"/>
          <p:cNvSpPr txBox="1"/>
          <p:nvPr/>
        </p:nvSpPr>
        <p:spPr>
          <a:xfrm>
            <a:off x="4261104" y="4690872"/>
            <a:ext cx="7406640" cy="393192"/>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The real question isn't just "where is x?" — it's what rules did the language designer choose for deciding which declaration wins? C, C#, and Python each make different choices with different consequences.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Conceptual Flow: From Declaration to Execution</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Overview</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time your code uses a name, the language processes a chain of decisions. This chapter traces that chain.</a:t>
            </a:r>
            <a:endParaRPr lang="en-US" sz="1300" dirty="0"/>
          </a:p>
        </p:txBody>
      </p:sp>
      <p:sp>
        <p:nvSpPr>
          <p:cNvPr id="6" name="Shape 4"/>
          <p:cNvSpPr/>
          <p:nvPr/>
        </p:nvSpPr>
        <p:spPr>
          <a:xfrm>
            <a:off x="411480" y="1389888"/>
            <a:ext cx="475488" cy="475488"/>
          </a:xfrm>
          <a:prstGeom prst="rect">
            <a:avLst/>
          </a:prstGeom>
          <a:solidFill>
            <a:srgbClr val="1A2B5E"/>
          </a:solidFill>
          <a:ln/>
        </p:spPr>
        <p:txBody>
          <a:bodyPr/>
          <a:lstStyle/>
          <a:p>
            <a:endParaRPr lang="en-US"/>
          </a:p>
        </p:txBody>
      </p:sp>
      <p:sp>
        <p:nvSpPr>
          <p:cNvPr id="7" name="Text 5"/>
          <p:cNvSpPr txBox="1"/>
          <p:nvPr/>
        </p:nvSpPr>
        <p:spPr>
          <a:xfrm>
            <a:off x="411480" y="1481328"/>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①</a:t>
            </a:r>
            <a:endParaRPr lang="en-US" sz="1300" dirty="0"/>
          </a:p>
        </p:txBody>
      </p:sp>
      <p:sp>
        <p:nvSpPr>
          <p:cNvPr id="8" name="Text 6"/>
          <p:cNvSpPr txBox="1"/>
          <p:nvPr/>
        </p:nvSpPr>
        <p:spPr>
          <a:xfrm>
            <a:off x="1005840" y="1426464"/>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Programmer writes a declaration</a:t>
            </a:r>
            <a:endParaRPr lang="en-US" sz="1300" dirty="0"/>
          </a:p>
        </p:txBody>
      </p:sp>
      <p:sp>
        <p:nvSpPr>
          <p:cNvPr id="9" name="Text 7"/>
          <p:cNvSpPr txBox="1"/>
          <p:nvPr/>
        </p:nvSpPr>
        <p:spPr>
          <a:xfrm>
            <a:off x="4983480" y="1426464"/>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int x = 10;  or  x = 10  or  int x = 10;</a:t>
            </a:r>
            <a:endParaRPr lang="en-US" sz="1200" dirty="0"/>
          </a:p>
        </p:txBody>
      </p:sp>
      <p:sp>
        <p:nvSpPr>
          <p:cNvPr id="10" name="Text 8"/>
          <p:cNvSpPr txBox="1"/>
          <p:nvPr/>
        </p:nvSpPr>
        <p:spPr>
          <a:xfrm>
            <a:off x="521208" y="1901952"/>
            <a:ext cx="347472" cy="292608"/>
          </a:xfrm>
          <a:prstGeom prst="rect">
            <a:avLst/>
          </a:prstGeom>
          <a:noFill/>
          <a:ln/>
        </p:spPr>
        <p:txBody>
          <a:bodyPr wrap="square" lIns="0" tIns="0" rIns="0" bIns="0" rtlCol="0" anchor="ctr"/>
          <a:lstStyle/>
          <a:p>
            <a:pPr marL="0" indent="0" algn="ctr">
              <a:buNone/>
            </a:pPr>
            <a:r>
              <a:rPr lang="en-US" sz="1200" dirty="0">
                <a:solidFill>
                  <a:srgbClr val="5A6A82"/>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411480" y="2286000"/>
            <a:ext cx="475488" cy="475488"/>
          </a:xfrm>
          <a:prstGeom prst="rect">
            <a:avLst/>
          </a:prstGeom>
          <a:solidFill>
            <a:srgbClr val="1A2B5E"/>
          </a:solidFill>
          <a:ln/>
        </p:spPr>
        <p:txBody>
          <a:bodyPr/>
          <a:lstStyle/>
          <a:p>
            <a:endParaRPr lang="en-US"/>
          </a:p>
        </p:txBody>
      </p:sp>
      <p:sp>
        <p:nvSpPr>
          <p:cNvPr id="12" name="Text 10"/>
          <p:cNvSpPr txBox="1"/>
          <p:nvPr/>
        </p:nvSpPr>
        <p:spPr>
          <a:xfrm>
            <a:off x="411480" y="2377440"/>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②</a:t>
            </a:r>
            <a:endParaRPr lang="en-US" sz="1300" dirty="0"/>
          </a:p>
        </p:txBody>
      </p:sp>
      <p:sp>
        <p:nvSpPr>
          <p:cNvPr id="13" name="Text 11"/>
          <p:cNvSpPr txBox="1"/>
          <p:nvPr/>
        </p:nvSpPr>
        <p:spPr>
          <a:xfrm>
            <a:off x="1005840" y="2322576"/>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Language defines scope rules</a:t>
            </a:r>
            <a:endParaRPr lang="en-US" sz="1300" dirty="0"/>
          </a:p>
        </p:txBody>
      </p:sp>
      <p:sp>
        <p:nvSpPr>
          <p:cNvPr id="14" name="Text 12"/>
          <p:cNvSpPr txBox="1"/>
          <p:nvPr/>
        </p:nvSpPr>
        <p:spPr>
          <a:xfrm>
            <a:off x="4983480" y="2322576"/>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Where is that name visible in the source text?</a:t>
            </a:r>
            <a:endParaRPr lang="en-US" sz="1200" dirty="0"/>
          </a:p>
        </p:txBody>
      </p:sp>
      <p:sp>
        <p:nvSpPr>
          <p:cNvPr id="15" name="Text 13"/>
          <p:cNvSpPr txBox="1"/>
          <p:nvPr/>
        </p:nvSpPr>
        <p:spPr>
          <a:xfrm>
            <a:off x="521208" y="2798064"/>
            <a:ext cx="347472" cy="292608"/>
          </a:xfrm>
          <a:prstGeom prst="rect">
            <a:avLst/>
          </a:prstGeom>
          <a:noFill/>
          <a:ln/>
        </p:spPr>
        <p:txBody>
          <a:bodyPr wrap="square" lIns="0" tIns="0" rIns="0" bIns="0" rtlCol="0" anchor="ctr"/>
          <a:lstStyle/>
          <a:p>
            <a:pPr marL="0" indent="0" algn="ctr">
              <a:buNone/>
            </a:pPr>
            <a:r>
              <a:rPr lang="en-US" sz="1200" dirty="0">
                <a:solidFill>
                  <a:srgbClr val="5A6A82"/>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411480" y="3182112"/>
            <a:ext cx="475488" cy="475488"/>
          </a:xfrm>
          <a:prstGeom prst="rect">
            <a:avLst/>
          </a:prstGeom>
          <a:solidFill>
            <a:srgbClr val="1A2B5E"/>
          </a:solidFill>
          <a:ln/>
        </p:spPr>
        <p:txBody>
          <a:bodyPr/>
          <a:lstStyle/>
          <a:p>
            <a:endParaRPr lang="en-US"/>
          </a:p>
        </p:txBody>
      </p:sp>
      <p:sp>
        <p:nvSpPr>
          <p:cNvPr id="17" name="Text 15"/>
          <p:cNvSpPr txBox="1"/>
          <p:nvPr/>
        </p:nvSpPr>
        <p:spPr>
          <a:xfrm>
            <a:off x="411480" y="3273552"/>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③</a:t>
            </a:r>
            <a:endParaRPr lang="en-US" sz="1300" dirty="0"/>
          </a:p>
        </p:txBody>
      </p:sp>
      <p:sp>
        <p:nvSpPr>
          <p:cNvPr id="18" name="Text 16"/>
          <p:cNvSpPr txBox="1"/>
          <p:nvPr/>
        </p:nvSpPr>
        <p:spPr>
          <a:xfrm>
            <a:off x="1005840" y="3218688"/>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A name is referenced</a:t>
            </a:r>
            <a:endParaRPr lang="en-US" sz="1300" dirty="0"/>
          </a:p>
        </p:txBody>
      </p:sp>
      <p:sp>
        <p:nvSpPr>
          <p:cNvPr id="19" name="Text 17"/>
          <p:cNvSpPr txBox="1"/>
          <p:nvPr/>
        </p:nvSpPr>
        <p:spPr>
          <a:xfrm>
            <a:off x="4983480" y="3218688"/>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x appears somewhere in the code — which one does it mean?</a:t>
            </a:r>
            <a:endParaRPr lang="en-US" sz="1200" dirty="0"/>
          </a:p>
        </p:txBody>
      </p:sp>
      <p:sp>
        <p:nvSpPr>
          <p:cNvPr id="20" name="Text 18"/>
          <p:cNvSpPr txBox="1"/>
          <p:nvPr/>
        </p:nvSpPr>
        <p:spPr>
          <a:xfrm>
            <a:off x="521208" y="3694176"/>
            <a:ext cx="347472" cy="292608"/>
          </a:xfrm>
          <a:prstGeom prst="rect">
            <a:avLst/>
          </a:prstGeom>
          <a:noFill/>
          <a:ln/>
        </p:spPr>
        <p:txBody>
          <a:bodyPr wrap="square" lIns="0" tIns="0" rIns="0" bIns="0" rtlCol="0" anchor="ctr"/>
          <a:lstStyle/>
          <a:p>
            <a:pPr marL="0" indent="0" algn="ctr">
              <a:buNone/>
            </a:pPr>
            <a:r>
              <a:rPr lang="en-US" sz="1200" dirty="0">
                <a:solidFill>
                  <a:srgbClr val="5A6A82"/>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411480" y="4078224"/>
            <a:ext cx="475488" cy="475488"/>
          </a:xfrm>
          <a:prstGeom prst="rect">
            <a:avLst/>
          </a:prstGeom>
          <a:solidFill>
            <a:srgbClr val="2E5BFF"/>
          </a:solidFill>
          <a:ln/>
        </p:spPr>
        <p:txBody>
          <a:bodyPr/>
          <a:lstStyle/>
          <a:p>
            <a:endParaRPr lang="en-US"/>
          </a:p>
        </p:txBody>
      </p:sp>
      <p:sp>
        <p:nvSpPr>
          <p:cNvPr id="22" name="Text 20"/>
          <p:cNvSpPr txBox="1"/>
          <p:nvPr/>
        </p:nvSpPr>
        <p:spPr>
          <a:xfrm>
            <a:off x="411480" y="4169664"/>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④</a:t>
            </a:r>
            <a:endParaRPr lang="en-US" sz="1300" dirty="0"/>
          </a:p>
        </p:txBody>
      </p:sp>
      <p:sp>
        <p:nvSpPr>
          <p:cNvPr id="23" name="Text 21"/>
          <p:cNvSpPr txBox="1"/>
          <p:nvPr/>
        </p:nvSpPr>
        <p:spPr>
          <a:xfrm>
            <a:off x="1005840" y="4114800"/>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Name resolution determines the answer</a:t>
            </a:r>
            <a:endParaRPr lang="en-US" sz="1300" dirty="0"/>
          </a:p>
        </p:txBody>
      </p:sp>
      <p:sp>
        <p:nvSpPr>
          <p:cNvPr id="24" name="Text 22"/>
          <p:cNvSpPr txBox="1"/>
          <p:nvPr/>
        </p:nvSpPr>
        <p:spPr>
          <a:xfrm>
            <a:off x="4983480" y="4114800"/>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The algorithm: search current scope, then enclosing scopes outward</a:t>
            </a:r>
            <a:endParaRPr lang="en-US" sz="1200" dirty="0"/>
          </a:p>
        </p:txBody>
      </p:sp>
      <p:sp>
        <p:nvSpPr>
          <p:cNvPr id="25" name="Text 23"/>
          <p:cNvSpPr txBox="1"/>
          <p:nvPr/>
        </p:nvSpPr>
        <p:spPr>
          <a:xfrm>
            <a:off x="521208" y="4590288"/>
            <a:ext cx="347472" cy="292608"/>
          </a:xfrm>
          <a:prstGeom prst="rect">
            <a:avLst/>
          </a:prstGeom>
          <a:noFill/>
          <a:ln/>
        </p:spPr>
        <p:txBody>
          <a:bodyPr wrap="square" lIns="0" tIns="0" rIns="0" bIns="0" rtlCol="0" anchor="ctr"/>
          <a:lstStyle/>
          <a:p>
            <a:pPr marL="0" indent="0" algn="ctr">
              <a:buNone/>
            </a:pPr>
            <a:r>
              <a:rPr lang="en-US" sz="1200" dirty="0">
                <a:solidFill>
                  <a:srgbClr val="5A6A82"/>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11480" y="4974336"/>
            <a:ext cx="475488" cy="475488"/>
          </a:xfrm>
          <a:prstGeom prst="rect">
            <a:avLst/>
          </a:prstGeom>
          <a:solidFill>
            <a:srgbClr val="2E5BFF"/>
          </a:solidFill>
          <a:ln/>
        </p:spPr>
        <p:txBody>
          <a:bodyPr/>
          <a:lstStyle/>
          <a:p>
            <a:endParaRPr lang="en-US"/>
          </a:p>
        </p:txBody>
      </p:sp>
      <p:sp>
        <p:nvSpPr>
          <p:cNvPr id="27" name="Text 25"/>
          <p:cNvSpPr txBox="1"/>
          <p:nvPr/>
        </p:nvSpPr>
        <p:spPr>
          <a:xfrm>
            <a:off x="411480" y="5065776"/>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⑤</a:t>
            </a:r>
            <a:endParaRPr lang="en-US" sz="1300" dirty="0"/>
          </a:p>
        </p:txBody>
      </p:sp>
      <p:sp>
        <p:nvSpPr>
          <p:cNvPr id="28" name="Text 26"/>
          <p:cNvSpPr txBox="1"/>
          <p:nvPr/>
        </p:nvSpPr>
        <p:spPr>
          <a:xfrm>
            <a:off x="1005840" y="5010912"/>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Symbol table stores the information</a:t>
            </a:r>
            <a:endParaRPr lang="en-US" sz="1300" dirty="0"/>
          </a:p>
        </p:txBody>
      </p:sp>
      <p:sp>
        <p:nvSpPr>
          <p:cNvPr id="29" name="Text 27"/>
          <p:cNvSpPr txBox="1"/>
          <p:nvPr/>
        </p:nvSpPr>
        <p:spPr>
          <a:xfrm>
            <a:off x="4983480" y="5010912"/>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The data structure the compiler/interpreter uses to support the lookup</a:t>
            </a:r>
            <a:endParaRPr lang="en-US" sz="1200" dirty="0"/>
          </a:p>
        </p:txBody>
      </p:sp>
      <p:sp>
        <p:nvSpPr>
          <p:cNvPr id="30" name="Text 28"/>
          <p:cNvSpPr txBox="1"/>
          <p:nvPr/>
        </p:nvSpPr>
        <p:spPr>
          <a:xfrm>
            <a:off x="521208" y="5486400"/>
            <a:ext cx="347472" cy="292608"/>
          </a:xfrm>
          <a:prstGeom prst="rect">
            <a:avLst/>
          </a:prstGeom>
          <a:noFill/>
          <a:ln/>
        </p:spPr>
        <p:txBody>
          <a:bodyPr wrap="square" lIns="0" tIns="0" rIns="0" bIns="0" rtlCol="0" anchor="ctr"/>
          <a:lstStyle/>
          <a:p>
            <a:pPr marL="0" indent="0" algn="ctr">
              <a:buNone/>
            </a:pPr>
            <a:r>
              <a:rPr lang="en-US" sz="1200" dirty="0">
                <a:solidFill>
                  <a:srgbClr val="5A6A82"/>
                </a:solidFill>
                <a:latin typeface="Calibri" pitchFamily="34" charset="0"/>
                <a:ea typeface="Calibri" pitchFamily="34" charset="-122"/>
                <a:cs typeface="Calibri" pitchFamily="34" charset="-120"/>
              </a:rPr>
              <a:t>↓</a:t>
            </a:r>
            <a:endParaRPr lang="en-US" sz="1200" dirty="0"/>
          </a:p>
        </p:txBody>
      </p:sp>
      <p:sp>
        <p:nvSpPr>
          <p:cNvPr id="31" name="Shape 29"/>
          <p:cNvSpPr/>
          <p:nvPr/>
        </p:nvSpPr>
        <p:spPr>
          <a:xfrm>
            <a:off x="411480" y="5870448"/>
            <a:ext cx="475488" cy="475488"/>
          </a:xfrm>
          <a:prstGeom prst="rect">
            <a:avLst/>
          </a:prstGeom>
          <a:solidFill>
            <a:srgbClr val="1A2B5E"/>
          </a:solidFill>
          <a:ln/>
        </p:spPr>
        <p:txBody>
          <a:bodyPr/>
          <a:lstStyle/>
          <a:p>
            <a:endParaRPr lang="en-US"/>
          </a:p>
        </p:txBody>
      </p:sp>
      <p:sp>
        <p:nvSpPr>
          <p:cNvPr id="32" name="Text 30"/>
          <p:cNvSpPr txBox="1"/>
          <p:nvPr/>
        </p:nvSpPr>
        <p:spPr>
          <a:xfrm>
            <a:off x="411480" y="5961888"/>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⑥</a:t>
            </a:r>
            <a:endParaRPr lang="en-US" sz="1300" dirty="0"/>
          </a:p>
        </p:txBody>
      </p:sp>
      <p:sp>
        <p:nvSpPr>
          <p:cNvPr id="33" name="Text 31"/>
          <p:cNvSpPr txBox="1"/>
          <p:nvPr/>
        </p:nvSpPr>
        <p:spPr>
          <a:xfrm>
            <a:off x="1005840" y="5907024"/>
            <a:ext cx="384048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Compiler/interpreter uses that information</a:t>
            </a:r>
            <a:endParaRPr lang="en-US" sz="1300" dirty="0"/>
          </a:p>
        </p:txBody>
      </p:sp>
      <p:sp>
        <p:nvSpPr>
          <p:cNvPr id="34" name="Text 32"/>
          <p:cNvSpPr txBox="1"/>
          <p:nvPr/>
        </p:nvSpPr>
        <p:spPr>
          <a:xfrm>
            <a:off x="4983480" y="5907024"/>
            <a:ext cx="7040880" cy="777240"/>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Type checking, error detection, code generation</a:t>
            </a:r>
            <a:endParaRPr lang="en-US" sz="1200" dirty="0"/>
          </a:p>
        </p:txBody>
      </p:sp>
      <p:sp>
        <p:nvSpPr>
          <p:cNvPr id="35" name="Text 33"/>
          <p:cNvSpPr txBox="1"/>
          <p:nvPr/>
        </p:nvSpPr>
        <p:spPr>
          <a:xfrm>
            <a:off x="411480" y="6510528"/>
            <a:ext cx="11338560" cy="274320"/>
          </a:xfrm>
          <a:prstGeom prst="rect">
            <a:avLst/>
          </a:prstGeom>
          <a:noFill/>
          <a:ln/>
        </p:spPr>
        <p:txBody>
          <a:bodyPr wrap="square" lIns="0" tIns="0" rIns="0" bIns="0" rtlCol="0" anchor="ctr"/>
          <a:lstStyle/>
          <a:p>
            <a:pPr marL="0" indent="0">
              <a:buNone/>
            </a:pPr>
            <a:r>
              <a:rPr lang="en-US" sz="1200" b="1" dirty="0">
                <a:solidFill>
                  <a:srgbClr val="2E5BFF"/>
                </a:solidFill>
                <a:latin typeface="Calibri" pitchFamily="34" charset="0"/>
                <a:ea typeface="Calibri" pitchFamily="34" charset="-122"/>
                <a:cs typeface="Calibri" pitchFamily="34" charset="-120"/>
              </a:rPr>
              <a:t>Steps ④ and ⑤ — highlighted in blue — are the heart of this chapter.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Scope?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a:t>
            </a:r>
            <a:endParaRPr lang="en-US" sz="900" dirty="0"/>
          </a:p>
        </p:txBody>
      </p:sp>
      <p:sp>
        <p:nvSpPr>
          <p:cNvPr id="5" name="Shape 3"/>
          <p:cNvSpPr/>
          <p:nvPr/>
        </p:nvSpPr>
        <p:spPr>
          <a:xfrm>
            <a:off x="411480" y="960120"/>
            <a:ext cx="11338560" cy="658368"/>
          </a:xfrm>
          <a:prstGeom prst="rect">
            <a:avLst/>
          </a:prstGeom>
          <a:solidFill>
            <a:srgbClr val="1A2B5E"/>
          </a:solidFill>
          <a:ln/>
        </p:spPr>
        <p:txBody>
          <a:bodyPr/>
          <a:lstStyle/>
          <a:p>
            <a:endParaRPr lang="en-US"/>
          </a:p>
        </p:txBody>
      </p:sp>
      <p:sp>
        <p:nvSpPr>
          <p:cNvPr id="6" name="Text 4"/>
          <p:cNvSpPr txBox="1"/>
          <p:nvPr/>
        </p:nvSpPr>
        <p:spPr>
          <a:xfrm>
            <a:off x="594360" y="1060704"/>
            <a:ext cx="10972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Scope is the region of source code in which a name is visible and can be used.</a:t>
            </a:r>
            <a:endParaRPr lang="en-US" sz="1500" dirty="0"/>
          </a:p>
        </p:txBody>
      </p:sp>
      <p:sp>
        <p:nvSpPr>
          <p:cNvPr id="7" name="Text 5"/>
          <p:cNvSpPr txBox="1"/>
          <p:nvPr/>
        </p:nvSpPr>
        <p:spPr>
          <a:xfrm>
            <a:off x="411480" y="1719072"/>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Scope vs Lifetime — two related but distinct concepts:</a:t>
            </a:r>
            <a:endParaRPr lang="en-US" sz="1300" dirty="0"/>
          </a:p>
        </p:txBody>
      </p:sp>
      <p:sp>
        <p:nvSpPr>
          <p:cNvPr id="8" name="Shape 6"/>
          <p:cNvSpPr/>
          <p:nvPr/>
        </p:nvSpPr>
        <p:spPr>
          <a:xfrm>
            <a:off x="411480" y="2029968"/>
            <a:ext cx="11338560" cy="310896"/>
          </a:xfrm>
          <a:prstGeom prst="rect">
            <a:avLst/>
          </a:prstGeom>
          <a:solidFill>
            <a:srgbClr val="1A2B5E"/>
          </a:solidFill>
          <a:ln/>
        </p:spPr>
        <p:txBody>
          <a:bodyPr/>
          <a:lstStyle/>
          <a:p>
            <a:endParaRPr lang="en-US"/>
          </a:p>
        </p:txBody>
      </p:sp>
      <p:sp>
        <p:nvSpPr>
          <p:cNvPr id="9" name="Text 7"/>
          <p:cNvSpPr txBox="1"/>
          <p:nvPr/>
        </p:nvSpPr>
        <p:spPr>
          <a:xfrm>
            <a:off x="548640" y="2103120"/>
            <a:ext cx="162763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p>
        </p:txBody>
      </p:sp>
      <p:sp>
        <p:nvSpPr>
          <p:cNvPr id="10" name="Text 8"/>
          <p:cNvSpPr txBox="1"/>
          <p:nvPr/>
        </p:nvSpPr>
        <p:spPr>
          <a:xfrm>
            <a:off x="2240280" y="2103120"/>
            <a:ext cx="212140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Main question</a:t>
            </a:r>
            <a:endParaRPr lang="en-US" sz="1100" dirty="0"/>
          </a:p>
        </p:txBody>
      </p:sp>
      <p:sp>
        <p:nvSpPr>
          <p:cNvPr id="11" name="Text 9"/>
          <p:cNvSpPr txBox="1"/>
          <p:nvPr/>
        </p:nvSpPr>
        <p:spPr>
          <a:xfrm>
            <a:off x="4434840" y="2103120"/>
            <a:ext cx="404164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Determined by</a:t>
            </a:r>
            <a:endParaRPr lang="en-US" sz="1100" dirty="0"/>
          </a:p>
        </p:txBody>
      </p:sp>
      <p:sp>
        <p:nvSpPr>
          <p:cNvPr id="12" name="Text 10"/>
          <p:cNvSpPr txBox="1"/>
          <p:nvPr/>
        </p:nvSpPr>
        <p:spPr>
          <a:xfrm>
            <a:off x="8549640" y="2103120"/>
            <a:ext cx="354787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3" name="Shape 11"/>
          <p:cNvSpPr/>
          <p:nvPr/>
        </p:nvSpPr>
        <p:spPr>
          <a:xfrm>
            <a:off x="411480" y="2377440"/>
            <a:ext cx="11338560" cy="749808"/>
          </a:xfrm>
          <a:prstGeom prst="rect">
            <a:avLst/>
          </a:prstGeom>
          <a:solidFill>
            <a:srgbClr val="F4F6FC"/>
          </a:solidFill>
          <a:ln w="12700">
            <a:solidFill>
              <a:srgbClr val="D0DAF0"/>
            </a:solidFill>
            <a:prstDash val="solid"/>
          </a:ln>
        </p:spPr>
        <p:txBody>
          <a:bodyPr/>
          <a:lstStyle/>
          <a:p>
            <a:endParaRPr lang="en-US"/>
          </a:p>
        </p:txBody>
      </p:sp>
      <p:sp>
        <p:nvSpPr>
          <p:cNvPr id="14" name="Text 12"/>
          <p:cNvSpPr txBox="1"/>
          <p:nvPr/>
        </p:nvSpPr>
        <p:spPr>
          <a:xfrm>
            <a:off x="548640" y="2560320"/>
            <a:ext cx="1627632" cy="384048"/>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Scope</a:t>
            </a:r>
            <a:endParaRPr lang="en-US" sz="1300" dirty="0"/>
          </a:p>
        </p:txBody>
      </p:sp>
      <p:sp>
        <p:nvSpPr>
          <p:cNvPr id="15" name="Text 13"/>
          <p:cNvSpPr txBox="1"/>
          <p:nvPr/>
        </p:nvSpPr>
        <p:spPr>
          <a:xfrm>
            <a:off x="2240280" y="2487168"/>
            <a:ext cx="2121408" cy="530352"/>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Where can I use this name?</a:t>
            </a:r>
            <a:endParaRPr lang="en-US" sz="1200" dirty="0"/>
          </a:p>
        </p:txBody>
      </p:sp>
      <p:sp>
        <p:nvSpPr>
          <p:cNvPr id="16" name="Text 14"/>
          <p:cNvSpPr txBox="1"/>
          <p:nvPr/>
        </p:nvSpPr>
        <p:spPr>
          <a:xfrm>
            <a:off x="4434840" y="2487168"/>
            <a:ext cx="4041648" cy="530352"/>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Source code structure — readable without running the program</a:t>
            </a:r>
            <a:endParaRPr lang="en-US" sz="1200" dirty="0"/>
          </a:p>
        </p:txBody>
      </p:sp>
      <p:sp>
        <p:nvSpPr>
          <p:cNvPr id="17" name="Text 15"/>
          <p:cNvSpPr txBox="1"/>
          <p:nvPr/>
        </p:nvSpPr>
        <p:spPr>
          <a:xfrm>
            <a:off x="8549640" y="2487168"/>
            <a:ext cx="3547872" cy="530352"/>
          </a:xfrm>
          <a:prstGeom prst="rect">
            <a:avLst/>
          </a:prstGeom>
          <a:noFill/>
          <a:ln/>
        </p:spPr>
        <p:txBody>
          <a:bodyPr wrap="square" lIns="0" tIns="0" rIns="0" bIns="0" rtlCol="0" anchor="ctr"/>
          <a:lstStyle/>
          <a:p>
            <a:pPr marL="0" indent="0">
              <a:lnSpc>
                <a:spcPct val="130000"/>
              </a:lnSpc>
              <a:buNone/>
            </a:pPr>
            <a:r>
              <a:rPr lang="en-US" sz="1100" i="1" dirty="0">
                <a:solidFill>
                  <a:srgbClr val="5A6A82"/>
                </a:solidFill>
                <a:latin typeface="Calibri" pitchFamily="34" charset="0"/>
                <a:ea typeface="Calibri" pitchFamily="34" charset="-122"/>
                <a:cs typeface="Calibri" pitchFamily="34" charset="-120"/>
              </a:rPr>
              <a:t>"score is visible only inside greet()"</a:t>
            </a:r>
            <a:endParaRPr lang="en-US" sz="1100" dirty="0"/>
          </a:p>
        </p:txBody>
      </p:sp>
      <p:sp>
        <p:nvSpPr>
          <p:cNvPr id="18" name="Shape 16"/>
          <p:cNvSpPr/>
          <p:nvPr/>
        </p:nvSpPr>
        <p:spPr>
          <a:xfrm>
            <a:off x="411480" y="3182112"/>
            <a:ext cx="11338560" cy="749808"/>
          </a:xfrm>
          <a:prstGeom prst="rect">
            <a:avLst/>
          </a:prstGeom>
          <a:solidFill>
            <a:srgbClr val="FFFFFF"/>
          </a:solidFill>
          <a:ln w="12700">
            <a:solidFill>
              <a:srgbClr val="D0DAF0"/>
            </a:solidFill>
            <a:prstDash val="solid"/>
          </a:ln>
        </p:spPr>
        <p:txBody>
          <a:bodyPr/>
          <a:lstStyle/>
          <a:p>
            <a:endParaRPr lang="en-US"/>
          </a:p>
        </p:txBody>
      </p:sp>
      <p:sp>
        <p:nvSpPr>
          <p:cNvPr id="19" name="Text 17"/>
          <p:cNvSpPr txBox="1"/>
          <p:nvPr/>
        </p:nvSpPr>
        <p:spPr>
          <a:xfrm>
            <a:off x="548640" y="3364992"/>
            <a:ext cx="1627632" cy="384048"/>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Lifetime</a:t>
            </a:r>
            <a:endParaRPr lang="en-US" sz="1300" dirty="0"/>
          </a:p>
        </p:txBody>
      </p:sp>
      <p:sp>
        <p:nvSpPr>
          <p:cNvPr id="20" name="Text 18"/>
          <p:cNvSpPr txBox="1"/>
          <p:nvPr/>
        </p:nvSpPr>
        <p:spPr>
          <a:xfrm>
            <a:off x="2240280" y="3291840"/>
            <a:ext cx="2121408" cy="530352"/>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How long does the object/value exist?</a:t>
            </a:r>
            <a:endParaRPr lang="en-US" sz="1200" dirty="0"/>
          </a:p>
        </p:txBody>
      </p:sp>
      <p:sp>
        <p:nvSpPr>
          <p:cNvPr id="21" name="Text 19"/>
          <p:cNvSpPr txBox="1"/>
          <p:nvPr/>
        </p:nvSpPr>
        <p:spPr>
          <a:xfrm>
            <a:off x="4434840" y="3291840"/>
            <a:ext cx="4041648" cy="530352"/>
          </a:xfrm>
          <a:prstGeom prst="rect">
            <a:avLst/>
          </a:prstGeom>
          <a:noFill/>
          <a:ln/>
        </p:spPr>
        <p:txBody>
          <a:bodyPr wrap="square" lIns="0" tIns="0" rIns="0" bIns="0" rtlCol="0" anchor="ctr"/>
          <a:lstStyle/>
          <a:p>
            <a:pPr marL="0" indent="0">
              <a:lnSpc>
                <a:spcPct val="130000"/>
              </a:lnSpc>
              <a:buNone/>
            </a:pPr>
            <a:r>
              <a:rPr lang="en-US" sz="1200" dirty="0">
                <a:solidFill>
                  <a:srgbClr val="1E2A3A"/>
                </a:solidFill>
                <a:latin typeface="Calibri" pitchFamily="34" charset="0"/>
                <a:ea typeface="Calibri" pitchFamily="34" charset="-122"/>
                <a:cs typeface="Calibri" pitchFamily="34" charset="-120"/>
              </a:rPr>
              <a:t>Runtime — depends on when functions are called</a:t>
            </a:r>
            <a:endParaRPr lang="en-US" sz="1200" dirty="0"/>
          </a:p>
        </p:txBody>
      </p:sp>
      <p:sp>
        <p:nvSpPr>
          <p:cNvPr id="22" name="Text 20"/>
          <p:cNvSpPr txBox="1"/>
          <p:nvPr/>
        </p:nvSpPr>
        <p:spPr>
          <a:xfrm>
            <a:off x="8549640" y="3291840"/>
            <a:ext cx="3547872" cy="530352"/>
          </a:xfrm>
          <a:prstGeom prst="rect">
            <a:avLst/>
          </a:prstGeom>
          <a:noFill/>
          <a:ln/>
        </p:spPr>
        <p:txBody>
          <a:bodyPr wrap="square" lIns="0" tIns="0" rIns="0" bIns="0" rtlCol="0" anchor="ctr"/>
          <a:lstStyle/>
          <a:p>
            <a:pPr marL="0" indent="0">
              <a:lnSpc>
                <a:spcPct val="130000"/>
              </a:lnSpc>
              <a:buNone/>
            </a:pPr>
            <a:r>
              <a:rPr lang="en-US" sz="1100" i="1" dirty="0">
                <a:solidFill>
                  <a:srgbClr val="5A6A82"/>
                </a:solidFill>
                <a:latin typeface="Calibri" pitchFamily="34" charset="0"/>
                <a:ea typeface="Calibri" pitchFamily="34" charset="-122"/>
                <a:cs typeface="Calibri" pitchFamily="34" charset="-120"/>
              </a:rPr>
              <a:t>  "score is created when greet() is called"</a:t>
            </a:r>
            <a:endParaRPr lang="en-US" sz="1100" dirty="0"/>
          </a:p>
        </p:txBody>
      </p:sp>
      <p:sp>
        <p:nvSpPr>
          <p:cNvPr id="23" name="Shape 21"/>
          <p:cNvSpPr/>
          <p:nvPr/>
        </p:nvSpPr>
        <p:spPr>
          <a:xfrm>
            <a:off x="411480" y="4041648"/>
            <a:ext cx="54864" cy="658368"/>
          </a:xfrm>
          <a:prstGeom prst="rect">
            <a:avLst/>
          </a:prstGeom>
          <a:solidFill>
            <a:srgbClr val="2E5BFF"/>
          </a:solidFill>
          <a:ln/>
        </p:spPr>
        <p:txBody>
          <a:bodyPr/>
          <a:lstStyle/>
          <a:p>
            <a:endParaRPr lang="en-US"/>
          </a:p>
        </p:txBody>
      </p:sp>
      <p:sp>
        <p:nvSpPr>
          <p:cNvPr id="24" name="Shape 22"/>
          <p:cNvSpPr/>
          <p:nvPr/>
        </p:nvSpPr>
        <p:spPr>
          <a:xfrm>
            <a:off x="466344" y="4041648"/>
            <a:ext cx="11283696" cy="658368"/>
          </a:xfrm>
          <a:prstGeom prst="rect">
            <a:avLst/>
          </a:prstGeom>
          <a:solidFill>
            <a:srgbClr val="EFF6FF"/>
          </a:solidFill>
          <a:ln w="12700">
            <a:solidFill>
              <a:srgbClr val="BFDBFE"/>
            </a:solidFill>
            <a:prstDash val="solid"/>
          </a:ln>
        </p:spPr>
        <p:txBody>
          <a:bodyPr/>
          <a:lstStyle/>
          <a:p>
            <a:endParaRPr lang="en-US"/>
          </a:p>
        </p:txBody>
      </p:sp>
      <p:sp>
        <p:nvSpPr>
          <p:cNvPr id="25" name="Text 23"/>
          <p:cNvSpPr txBox="1"/>
          <p:nvPr/>
        </p:nvSpPr>
        <p:spPr>
          <a:xfrm>
            <a:off x="594360" y="4133088"/>
            <a:ext cx="11064240" cy="475488"/>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A classic example of scope ≠ lifetime: a C static local variable has function scope (only visible inside the function) but program-long lifetime (persists across calls). The name goes out of scope; the object lives on.</a:t>
            </a:r>
            <a:endParaRPr lang="en-US" sz="1200" dirty="0"/>
          </a:p>
        </p:txBody>
      </p:sp>
      <p:sp>
        <p:nvSpPr>
          <p:cNvPr id="26" name="Text 24"/>
          <p:cNvSpPr txBox="1"/>
          <p:nvPr/>
        </p:nvSpPr>
        <p:spPr>
          <a:xfrm>
            <a:off x="411480" y="4773168"/>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Key: scope is determined by READING the source text. Lifetime requires RUNNING the program.</a:t>
            </a:r>
            <a:endParaRPr lang="en-US" sz="1300" dirty="0"/>
          </a:p>
        </p:txBody>
      </p:sp>
      <p:sp>
        <p:nvSpPr>
          <p:cNvPr id="27" name="Shape 25"/>
          <p:cNvSpPr/>
          <p:nvPr/>
        </p:nvSpPr>
        <p:spPr>
          <a:xfrm>
            <a:off x="411480" y="5138928"/>
            <a:ext cx="54864" cy="749808"/>
          </a:xfrm>
          <a:prstGeom prst="rect">
            <a:avLst/>
          </a:prstGeom>
          <a:solidFill>
            <a:srgbClr val="2E5BFF"/>
          </a:solidFill>
          <a:ln/>
        </p:spPr>
        <p:txBody>
          <a:bodyPr/>
          <a:lstStyle/>
          <a:p>
            <a:endParaRPr lang="en-US"/>
          </a:p>
        </p:txBody>
      </p:sp>
      <p:sp>
        <p:nvSpPr>
          <p:cNvPr id="28" name="Shape 26"/>
          <p:cNvSpPr/>
          <p:nvPr/>
        </p:nvSpPr>
        <p:spPr>
          <a:xfrm>
            <a:off x="466344" y="5138928"/>
            <a:ext cx="11283696" cy="749808"/>
          </a:xfrm>
          <a:prstGeom prst="rect">
            <a:avLst/>
          </a:prstGeom>
          <a:solidFill>
            <a:srgbClr val="EFF6FF"/>
          </a:solidFill>
          <a:ln w="12700">
            <a:solidFill>
              <a:srgbClr val="BFDBFE"/>
            </a:solidFill>
            <a:prstDash val="solid"/>
          </a:ln>
        </p:spPr>
        <p:txBody>
          <a:bodyPr/>
          <a:lstStyle/>
          <a:p>
            <a:endParaRPr lang="en-US"/>
          </a:p>
        </p:txBody>
      </p:sp>
      <p:sp>
        <p:nvSpPr>
          <p:cNvPr id="29" name="Text 27"/>
          <p:cNvSpPr txBox="1"/>
          <p:nvPr/>
        </p:nvSpPr>
        <p:spPr>
          <a:xfrm>
            <a:off x="594360" y="5212080"/>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30" name="Text 28"/>
          <p:cNvSpPr txBox="1"/>
          <p:nvPr/>
        </p:nvSpPr>
        <p:spPr>
          <a:xfrm>
            <a:off x="594360" y="5458968"/>
            <a:ext cx="11064240" cy="338328"/>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The name resolution problem: every time code references a name, the language must resolve it — determine which declaration that name refers to. Scope rules are the rules for doing that resolution.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Static vs Dynamic Scoping — The Foundational Design Choice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2</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Before C, C#, or Python: every language must first answer this question.</a:t>
            </a:r>
            <a:endParaRPr lang="en-US" sz="1300" dirty="0"/>
          </a:p>
        </p:txBody>
      </p:sp>
      <p:sp>
        <p:nvSpPr>
          <p:cNvPr id="6" name="Shape 4"/>
          <p:cNvSpPr/>
          <p:nvPr/>
        </p:nvSpPr>
        <p:spPr>
          <a:xfrm>
            <a:off x="411480" y="1298448"/>
            <a:ext cx="5349240" cy="2423160"/>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6355080" y="1298448"/>
            <a:ext cx="5349240" cy="2423160"/>
          </a:xfrm>
          <a:prstGeom prst="rect">
            <a:avLst/>
          </a:prstGeom>
          <a:solidFill>
            <a:srgbClr val="FFFFFF"/>
          </a:solidFill>
          <a:ln w="12700">
            <a:solidFill>
              <a:srgbClr val="FCD34D"/>
            </a:solidFill>
            <a:prstDash val="solid"/>
          </a:ln>
        </p:spPr>
        <p:txBody>
          <a:bodyPr/>
          <a:lstStyle/>
          <a:p>
            <a:endParaRPr lang="en-US"/>
          </a:p>
        </p:txBody>
      </p:sp>
      <p:sp>
        <p:nvSpPr>
          <p:cNvPr id="8" name="Shape 6"/>
          <p:cNvSpPr/>
          <p:nvPr/>
        </p:nvSpPr>
        <p:spPr>
          <a:xfrm>
            <a:off x="411480" y="1298448"/>
            <a:ext cx="5349240" cy="329184"/>
          </a:xfrm>
          <a:prstGeom prst="rect">
            <a:avLst/>
          </a:prstGeom>
          <a:solidFill>
            <a:srgbClr val="E8F0FE"/>
          </a:solidFill>
          <a:ln w="12700">
            <a:solidFill>
              <a:srgbClr val="E8F0FE"/>
            </a:solidFill>
            <a:prstDash val="solid"/>
          </a:ln>
        </p:spPr>
        <p:txBody>
          <a:bodyPr/>
          <a:lstStyle/>
          <a:p>
            <a:endParaRPr lang="en-US"/>
          </a:p>
        </p:txBody>
      </p:sp>
      <p:sp>
        <p:nvSpPr>
          <p:cNvPr id="9" name="Text 7"/>
          <p:cNvSpPr txBox="1"/>
          <p:nvPr/>
        </p:nvSpPr>
        <p:spPr>
          <a:xfrm>
            <a:off x="594360" y="1371600"/>
            <a:ext cx="4937760" cy="219456"/>
          </a:xfrm>
          <a:prstGeom prst="rect">
            <a:avLst/>
          </a:prstGeom>
          <a:noFill/>
          <a:ln/>
        </p:spPr>
        <p:txBody>
          <a:bodyPr wrap="square" lIns="0" tIns="0" rIns="0" bIns="0" rtlCol="0" anchor="ctr"/>
          <a:lstStyle/>
          <a:p>
            <a:pPr marL="0" indent="0">
              <a:buNone/>
            </a:pPr>
            <a:r>
              <a:rPr lang="en-US" sz="1300" b="1" dirty="0">
                <a:solidFill>
                  <a:srgbClr val="2E5BFF"/>
                </a:solidFill>
                <a:latin typeface="Calibri" pitchFamily="34" charset="0"/>
                <a:ea typeface="Calibri" pitchFamily="34" charset="-122"/>
                <a:cs typeface="Calibri" pitchFamily="34" charset="-120"/>
              </a:rPr>
              <a:t>Static (Lexical) Scoping</a:t>
            </a:r>
            <a:endParaRPr lang="en-US" sz="1300" dirty="0"/>
          </a:p>
        </p:txBody>
      </p:sp>
      <p:sp>
        <p:nvSpPr>
          <p:cNvPr id="10" name="Text 8"/>
          <p:cNvSpPr txBox="1"/>
          <p:nvPr/>
        </p:nvSpPr>
        <p:spPr>
          <a:xfrm>
            <a:off x="594360" y="1691640"/>
            <a:ext cx="4937760" cy="822960"/>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A name's scope is determined by its position in the SOURCE TEXT — the program as written. You can trace which variable a name refers to by reading the code, without running it.</a:t>
            </a:r>
            <a:endParaRPr lang="en-US" sz="1200" dirty="0"/>
          </a:p>
        </p:txBody>
      </p:sp>
      <p:sp>
        <p:nvSpPr>
          <p:cNvPr id="11" name="Text 9"/>
          <p:cNvSpPr txBox="1"/>
          <p:nvPr/>
        </p:nvSpPr>
        <p:spPr>
          <a:xfrm>
            <a:off x="594360" y="2578608"/>
            <a:ext cx="4937760" cy="182880"/>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Used by: C, C#, Python, Java, JavaScript — most modern languages.</a:t>
            </a:r>
            <a:endParaRPr lang="en-US" sz="1100" dirty="0"/>
          </a:p>
        </p:txBody>
      </p:sp>
      <p:sp>
        <p:nvSpPr>
          <p:cNvPr id="12" name="Text 10"/>
          <p:cNvSpPr txBox="1"/>
          <p:nvPr/>
        </p:nvSpPr>
        <p:spPr>
          <a:xfrm>
            <a:off x="6537960" y="1371600"/>
            <a:ext cx="4937760" cy="219456"/>
          </a:xfrm>
          <a:prstGeom prst="rect">
            <a:avLst/>
          </a:prstGeom>
          <a:noFill/>
          <a:ln/>
        </p:spPr>
        <p:txBody>
          <a:bodyPr wrap="square" lIns="0" tIns="0" rIns="0" bIns="0"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Dynamic Scoping</a:t>
            </a:r>
            <a:endParaRPr lang="en-US" sz="1300" dirty="0"/>
          </a:p>
        </p:txBody>
      </p:sp>
      <p:sp>
        <p:nvSpPr>
          <p:cNvPr id="13" name="Text 11"/>
          <p:cNvSpPr txBox="1"/>
          <p:nvPr/>
        </p:nvSpPr>
        <p:spPr>
          <a:xfrm>
            <a:off x="6537960" y="1691640"/>
            <a:ext cx="4937760" cy="822960"/>
          </a:xfrm>
          <a:prstGeom prst="rect">
            <a:avLst/>
          </a:prstGeom>
          <a:noFill/>
          <a:ln/>
        </p:spPr>
        <p:txBody>
          <a:bodyPr wrap="square" lIns="0" tIns="0" rIns="0" bIns="0" rtlCol="0" anchor="ctr"/>
          <a:lstStyle/>
          <a:p>
            <a:pPr marL="0" indent="0">
              <a:lnSpc>
                <a:spcPct val="138000"/>
              </a:lnSpc>
              <a:buNone/>
            </a:pPr>
            <a:r>
              <a:rPr lang="en-US" sz="1200" dirty="0">
                <a:solidFill>
                  <a:srgbClr val="78350F"/>
                </a:solidFill>
                <a:latin typeface="Calibri" pitchFamily="34" charset="0"/>
                <a:ea typeface="Calibri" pitchFamily="34" charset="-122"/>
                <a:cs typeface="Calibri" pitchFamily="34" charset="-120"/>
              </a:rPr>
              <a:t>A name's scope is determined by the RUNTIME CALL STACK — which function called which. A name resolves to the most recently active variable in the call chain.</a:t>
            </a:r>
            <a:endParaRPr lang="en-US" sz="1200" dirty="0"/>
          </a:p>
        </p:txBody>
      </p:sp>
      <p:sp>
        <p:nvSpPr>
          <p:cNvPr id="14" name="Text 12"/>
          <p:cNvSpPr txBox="1"/>
          <p:nvPr/>
        </p:nvSpPr>
        <p:spPr>
          <a:xfrm>
            <a:off x="6537960" y="2578608"/>
            <a:ext cx="4937760" cy="182880"/>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Used by: Early Lisp, some shell scripting. Rare in modern languages.</a:t>
            </a:r>
            <a:endParaRPr lang="en-US" sz="1100" dirty="0"/>
          </a:p>
        </p:txBody>
      </p:sp>
      <p:sp>
        <p:nvSpPr>
          <p:cNvPr id="15" name="Text 13"/>
          <p:cNvSpPr txBox="1"/>
          <p:nvPr/>
        </p:nvSpPr>
        <p:spPr>
          <a:xfrm>
            <a:off x="411480" y="3858768"/>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Concrete comparison — what would "dynamic Python" look like?</a:t>
            </a:r>
            <a:endParaRPr lang="en-US" sz="1300" dirty="0"/>
          </a:p>
        </p:txBody>
      </p:sp>
      <p:sp>
        <p:nvSpPr>
          <p:cNvPr id="16" name="Shape 14"/>
          <p:cNvSpPr/>
          <p:nvPr/>
        </p:nvSpPr>
        <p:spPr>
          <a:xfrm>
            <a:off x="411480" y="4169664"/>
            <a:ext cx="5349240" cy="1938528"/>
          </a:xfrm>
          <a:prstGeom prst="rect">
            <a:avLst/>
          </a:prstGeom>
          <a:solidFill>
            <a:srgbClr val="F4F6FC"/>
          </a:solidFill>
          <a:ln w="12700">
            <a:solidFill>
              <a:srgbClr val="D0DAF0"/>
            </a:solidFill>
            <a:prstDash val="solid"/>
          </a:ln>
        </p:spPr>
        <p:txBody>
          <a:bodyPr/>
          <a:lstStyle/>
          <a:p>
            <a:endParaRPr lang="en-US"/>
          </a:p>
        </p:txBody>
      </p:sp>
      <p:sp>
        <p:nvSpPr>
          <p:cNvPr id="17" name="Text 15"/>
          <p:cNvSpPr txBox="1"/>
          <p:nvPr/>
        </p:nvSpPr>
        <p:spPr>
          <a:xfrm>
            <a:off x="594360" y="4242816"/>
            <a:ext cx="4937760" cy="237744"/>
          </a:xfrm>
          <a:prstGeom prst="rect">
            <a:avLst/>
          </a:prstGeom>
          <a:noFill/>
          <a:ln/>
        </p:spPr>
        <p:txBody>
          <a:bodyPr wrap="square" lIns="0" tIns="0" rIns="0" bIns="0" rtlCol="0" anchor="ctr"/>
          <a:lstStyle/>
          <a:p>
            <a:pPr marL="0" indent="0">
              <a:buNone/>
            </a:pPr>
            <a:r>
              <a:rPr lang="en-US" sz="1200" b="1" dirty="0">
                <a:solidFill>
                  <a:srgbClr val="2E5BFF"/>
                </a:solidFill>
                <a:latin typeface="Calibri" pitchFamily="34" charset="0"/>
                <a:ea typeface="Calibri" pitchFamily="34" charset="-122"/>
                <a:cs typeface="Calibri" pitchFamily="34" charset="-120"/>
              </a:rPr>
              <a:t>Static (actual Python):</a:t>
            </a:r>
            <a:endParaRPr lang="en-US" sz="1200" dirty="0"/>
          </a:p>
        </p:txBody>
      </p:sp>
      <p:sp>
        <p:nvSpPr>
          <p:cNvPr id="18" name="Text 16"/>
          <p:cNvSpPr txBox="1"/>
          <p:nvPr/>
        </p:nvSpPr>
        <p:spPr>
          <a:xfrm>
            <a:off x="594360" y="4517136"/>
            <a:ext cx="4937760" cy="1517904"/>
          </a:xfrm>
          <a:prstGeom prst="rect">
            <a:avLst/>
          </a:prstGeom>
          <a:noFill/>
          <a:ln/>
        </p:spPr>
        <p:txBody>
          <a:bodyPr wrap="square" lIns="0" tIns="0" rIns="0" bIns="0" rtlCol="0" anchor="ctr"/>
          <a:lstStyle/>
          <a:p>
            <a:pPr marL="0" indent="0">
              <a:lnSpc>
                <a:spcPct val="150000"/>
              </a:lnSpc>
              <a:buNone/>
            </a:pPr>
            <a:r>
              <a:rPr lang="en-US" sz="1150" dirty="0">
                <a:solidFill>
                  <a:srgbClr val="1E2A3A"/>
                </a:solidFill>
                <a:latin typeface="Calibri" pitchFamily="34" charset="0"/>
                <a:ea typeface="Calibri" pitchFamily="34" charset="-122"/>
                <a:cs typeface="Calibri" pitchFamily="34" charset="-120"/>
              </a:rPr>
              <a:t>print_x() → always 1</a:t>
            </a:r>
            <a:endParaRPr lang="en-US" sz="1150" dirty="0"/>
          </a:p>
          <a:p>
            <a:pPr marL="0" indent="0">
              <a:lnSpc>
                <a:spcPct val="150000"/>
              </a:lnSpc>
              <a:buNone/>
            </a:pPr>
            <a:r>
              <a:rPr lang="en-US" sz="1150" dirty="0">
                <a:solidFill>
                  <a:srgbClr val="1E2A3A"/>
                </a:solidFill>
                <a:latin typeface="Calibri" pitchFamily="34" charset="0"/>
                <a:ea typeface="Calibri" pitchFamily="34" charset="-122"/>
                <a:cs typeface="Calibri" pitchFamily="34" charset="-120"/>
              </a:rPr>
              <a:t>caller_a() → always 1</a:t>
            </a:r>
            <a:endParaRPr lang="en-US" sz="1150" dirty="0"/>
          </a:p>
          <a:p>
            <a:pPr marL="0" indent="0">
              <a:lnSpc>
                <a:spcPct val="150000"/>
              </a:lnSpc>
              <a:buNone/>
            </a:pPr>
            <a:r>
              <a:rPr lang="en-US" sz="1150" dirty="0">
                <a:solidFill>
                  <a:srgbClr val="1E2A3A"/>
                </a:solidFill>
                <a:latin typeface="Calibri" pitchFamily="34" charset="0"/>
                <a:ea typeface="Calibri" pitchFamily="34" charset="-122"/>
                <a:cs typeface="Calibri" pitchFamily="34" charset="-120"/>
              </a:rPr>
              <a:t>caller_b() → always 1</a:t>
            </a:r>
            <a:endParaRPr lang="en-US" sz="1150" dirty="0"/>
          </a:p>
          <a:p>
            <a:pPr marL="0" indent="0">
              <a:lnSpc>
                <a:spcPct val="150000"/>
              </a:lnSpc>
              <a:buNone/>
            </a:pPr>
            <a:endParaRPr lang="en-US" sz="1150" dirty="0"/>
          </a:p>
          <a:p>
            <a:pPr marL="0" indent="0">
              <a:lnSpc>
                <a:spcPct val="150000"/>
              </a:lnSpc>
              <a:buNone/>
            </a:pPr>
            <a:r>
              <a:rPr lang="en-US" sz="1150" dirty="0">
                <a:solidFill>
                  <a:srgbClr val="1E2A3A"/>
                </a:solidFill>
                <a:latin typeface="Calibri" pitchFamily="34" charset="0"/>
                <a:ea typeface="Calibri" pitchFamily="34" charset="-122"/>
                <a:cs typeface="Calibri" pitchFamily="34" charset="-120"/>
              </a:rPr>
              <a:t>x in print_x() resolved by WHERE it is written — at module level where x=1.</a:t>
            </a:r>
            <a:endParaRPr lang="en-US" sz="1150" dirty="0"/>
          </a:p>
        </p:txBody>
      </p:sp>
      <p:sp>
        <p:nvSpPr>
          <p:cNvPr id="19" name="Shape 17"/>
          <p:cNvSpPr/>
          <p:nvPr/>
        </p:nvSpPr>
        <p:spPr>
          <a:xfrm>
            <a:off x="6355080" y="4169664"/>
            <a:ext cx="5349240" cy="1938528"/>
          </a:xfrm>
          <a:prstGeom prst="rect">
            <a:avLst/>
          </a:prstGeom>
          <a:solidFill>
            <a:srgbClr val="FFFBEB"/>
          </a:solidFill>
          <a:ln w="12700">
            <a:solidFill>
              <a:srgbClr val="FCD34D"/>
            </a:solidFill>
            <a:prstDash val="solid"/>
          </a:ln>
        </p:spPr>
        <p:txBody>
          <a:bodyPr/>
          <a:lstStyle/>
          <a:p>
            <a:endParaRPr lang="en-US"/>
          </a:p>
        </p:txBody>
      </p:sp>
      <p:sp>
        <p:nvSpPr>
          <p:cNvPr id="20" name="Text 18"/>
          <p:cNvSpPr txBox="1"/>
          <p:nvPr/>
        </p:nvSpPr>
        <p:spPr>
          <a:xfrm>
            <a:off x="6537960" y="4242816"/>
            <a:ext cx="4937760" cy="237744"/>
          </a:xfrm>
          <a:prstGeom prst="rect">
            <a:avLst/>
          </a:prstGeom>
          <a:noFill/>
          <a:ln/>
        </p:spPr>
        <p:txBody>
          <a:bodyPr wrap="square" lIns="0" tIns="0" rIns="0" bIns="0" rtlCol="0" anchor="ctr"/>
          <a:lstStyle/>
          <a:p>
            <a:pPr marL="0" indent="0">
              <a:buNone/>
            </a:pPr>
            <a:r>
              <a:rPr lang="en-US" sz="1200" b="1" dirty="0">
                <a:solidFill>
                  <a:srgbClr val="92400E"/>
                </a:solidFill>
                <a:latin typeface="Calibri" pitchFamily="34" charset="0"/>
                <a:ea typeface="Calibri" pitchFamily="34" charset="-122"/>
                <a:cs typeface="Calibri" pitchFamily="34" charset="-120"/>
              </a:rPr>
              <a:t>Dynamic (hypothetical):</a:t>
            </a:r>
            <a:endParaRPr lang="en-US" sz="1200" dirty="0"/>
          </a:p>
        </p:txBody>
      </p:sp>
      <p:sp>
        <p:nvSpPr>
          <p:cNvPr id="21" name="Text 19"/>
          <p:cNvSpPr txBox="1"/>
          <p:nvPr/>
        </p:nvSpPr>
        <p:spPr>
          <a:xfrm>
            <a:off x="6537960" y="4517136"/>
            <a:ext cx="4937760" cy="1517904"/>
          </a:xfrm>
          <a:prstGeom prst="rect">
            <a:avLst/>
          </a:prstGeom>
          <a:noFill/>
          <a:ln/>
        </p:spPr>
        <p:txBody>
          <a:bodyPr wrap="square" lIns="0" tIns="0" rIns="0" bIns="0" rtlCol="0" anchor="ctr"/>
          <a:lstStyle/>
          <a:p>
            <a:pPr marL="0" indent="0">
              <a:lnSpc>
                <a:spcPct val="150000"/>
              </a:lnSpc>
              <a:buNone/>
            </a:pPr>
            <a:r>
              <a:rPr lang="en-US" sz="1150" dirty="0">
                <a:solidFill>
                  <a:srgbClr val="78350F"/>
                </a:solidFill>
                <a:latin typeface="Calibri" pitchFamily="34" charset="0"/>
                <a:ea typeface="Calibri" pitchFamily="34" charset="-122"/>
                <a:cs typeface="Calibri" pitchFamily="34" charset="-120"/>
              </a:rPr>
              <a:t>print_x() → 1</a:t>
            </a:r>
            <a:endParaRPr lang="en-US" sz="1150" dirty="0"/>
          </a:p>
          <a:p>
            <a:pPr marL="0" indent="0">
              <a:lnSpc>
                <a:spcPct val="150000"/>
              </a:lnSpc>
              <a:buNone/>
            </a:pPr>
            <a:r>
              <a:rPr lang="en-US" sz="1150" dirty="0">
                <a:solidFill>
                  <a:srgbClr val="78350F"/>
                </a:solidFill>
                <a:latin typeface="Calibri" pitchFamily="34" charset="0"/>
                <a:ea typeface="Calibri" pitchFamily="34" charset="-122"/>
                <a:cs typeface="Calibri" pitchFamily="34" charset="-120"/>
              </a:rPr>
              <a:t>caller_a() → 99 (caller_a's x)</a:t>
            </a:r>
            <a:endParaRPr lang="en-US" sz="1150" dirty="0"/>
          </a:p>
          <a:p>
            <a:pPr marL="0" indent="0">
              <a:lnSpc>
                <a:spcPct val="150000"/>
              </a:lnSpc>
              <a:buNone/>
            </a:pPr>
            <a:r>
              <a:rPr lang="en-US" sz="1150" dirty="0">
                <a:solidFill>
                  <a:srgbClr val="78350F"/>
                </a:solidFill>
                <a:latin typeface="Calibri" pitchFamily="34" charset="0"/>
                <a:ea typeface="Calibri" pitchFamily="34" charset="-122"/>
                <a:cs typeface="Calibri" pitchFamily="34" charset="-120"/>
              </a:rPr>
              <a:t>caller_b() → 42 (caller_b's x)</a:t>
            </a:r>
            <a:endParaRPr lang="en-US" sz="1150" dirty="0"/>
          </a:p>
          <a:p>
            <a:pPr marL="0" indent="0">
              <a:lnSpc>
                <a:spcPct val="150000"/>
              </a:lnSpc>
              <a:buNone/>
            </a:pPr>
            <a:endParaRPr lang="en-US" sz="1150" dirty="0"/>
          </a:p>
          <a:p>
            <a:pPr marL="0" indent="0">
              <a:lnSpc>
                <a:spcPct val="150000"/>
              </a:lnSpc>
              <a:buNone/>
            </a:pPr>
            <a:r>
              <a:rPr lang="en-US" sz="1150" dirty="0">
                <a:solidFill>
                  <a:srgbClr val="78350F"/>
                </a:solidFill>
                <a:latin typeface="Calibri" pitchFamily="34" charset="0"/>
                <a:ea typeface="Calibri" pitchFamily="34" charset="-122"/>
                <a:cs typeface="Calibri" pitchFamily="34" charset="-120"/>
              </a:rPr>
              <a:t>Same function, different output depending on WHO called it.</a:t>
            </a:r>
            <a:endParaRPr lang="en-US" sz="1150" dirty="0"/>
          </a:p>
        </p:txBody>
      </p:sp>
      <p:sp>
        <p:nvSpPr>
          <p:cNvPr id="22" name="Shape 20"/>
          <p:cNvSpPr/>
          <p:nvPr/>
        </p:nvSpPr>
        <p:spPr>
          <a:xfrm>
            <a:off x="411480" y="6199632"/>
            <a:ext cx="54864" cy="621792"/>
          </a:xfrm>
          <a:prstGeom prst="rect">
            <a:avLst/>
          </a:prstGeom>
          <a:solidFill>
            <a:srgbClr val="2E5BFF"/>
          </a:solidFill>
          <a:ln/>
        </p:spPr>
        <p:txBody>
          <a:bodyPr/>
          <a:lstStyle/>
          <a:p>
            <a:endParaRPr lang="en-US"/>
          </a:p>
        </p:txBody>
      </p:sp>
      <p:sp>
        <p:nvSpPr>
          <p:cNvPr id="23" name="Shape 21"/>
          <p:cNvSpPr/>
          <p:nvPr/>
        </p:nvSpPr>
        <p:spPr>
          <a:xfrm>
            <a:off x="466344" y="6199632"/>
            <a:ext cx="11283696" cy="621792"/>
          </a:xfrm>
          <a:prstGeom prst="rect">
            <a:avLst/>
          </a:prstGeom>
          <a:solidFill>
            <a:srgbClr val="EFF6FF"/>
          </a:solidFill>
          <a:ln w="12700">
            <a:solidFill>
              <a:srgbClr val="BFDBFE"/>
            </a:solidFill>
            <a:prstDash val="solid"/>
          </a:ln>
        </p:spPr>
        <p:txBody>
          <a:bodyPr/>
          <a:lstStyle/>
          <a:p>
            <a:endParaRPr lang="en-US"/>
          </a:p>
        </p:txBody>
      </p:sp>
      <p:sp>
        <p:nvSpPr>
          <p:cNvPr id="24" name="Text 22"/>
          <p:cNvSpPr txBox="1"/>
          <p:nvPr/>
        </p:nvSpPr>
        <p:spPr>
          <a:xfrm>
            <a:off x="594360" y="6272784"/>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25" name="Text 23"/>
          <p:cNvSpPr txBox="1"/>
          <p:nvPr/>
        </p:nvSpPr>
        <p:spPr>
          <a:xfrm>
            <a:off x="594360" y="6519672"/>
            <a:ext cx="11064240" cy="210312"/>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C, C#, and Python all chose static scoping — making a name's meaning determinable from the source text. This enables compile-time analysis, error detection, and predictable reasoning about code. Symbol tables can be built from the source structure itself.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Three Levels, Block-First Design</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C's scope model is simple by design. Everything is determined by where a declaration appears in the source text.</a:t>
            </a:r>
            <a:endParaRPr lang="en-US" sz="1300" dirty="0"/>
          </a:p>
        </p:txBody>
      </p:sp>
      <p:sp>
        <p:nvSpPr>
          <p:cNvPr id="6" name="Shape 4"/>
          <p:cNvSpPr/>
          <p:nvPr/>
        </p:nvSpPr>
        <p:spPr>
          <a:xfrm>
            <a:off x="411480" y="1298448"/>
            <a:ext cx="11338560" cy="310896"/>
          </a:xfrm>
          <a:prstGeom prst="rect">
            <a:avLst/>
          </a:prstGeom>
          <a:solidFill>
            <a:srgbClr val="1A2B5E"/>
          </a:solidFill>
          <a:ln/>
        </p:spPr>
        <p:txBody>
          <a:bodyPr/>
          <a:lstStyle/>
          <a:p>
            <a:endParaRPr lang="en-US"/>
          </a:p>
        </p:txBody>
      </p:sp>
      <p:sp>
        <p:nvSpPr>
          <p:cNvPr id="7" name="Text 5"/>
          <p:cNvSpPr txBox="1"/>
          <p:nvPr/>
        </p:nvSpPr>
        <p:spPr>
          <a:xfrm>
            <a:off x="548640" y="1371600"/>
            <a:ext cx="202996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Scope level</a:t>
            </a:r>
            <a:endParaRPr lang="en-US" sz="1100" dirty="0"/>
          </a:p>
        </p:txBody>
      </p:sp>
      <p:sp>
        <p:nvSpPr>
          <p:cNvPr id="8" name="Text 6"/>
          <p:cNvSpPr txBox="1"/>
          <p:nvPr/>
        </p:nvSpPr>
        <p:spPr>
          <a:xfrm>
            <a:off x="2651760" y="1371600"/>
            <a:ext cx="409651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Where declared</a:t>
            </a:r>
            <a:endParaRPr lang="en-US" sz="1100" dirty="0"/>
          </a:p>
        </p:txBody>
      </p:sp>
      <p:sp>
        <p:nvSpPr>
          <p:cNvPr id="9" name="Text 7"/>
          <p:cNvSpPr txBox="1"/>
          <p:nvPr/>
        </p:nvSpPr>
        <p:spPr>
          <a:xfrm>
            <a:off x="6812280" y="1371600"/>
            <a:ext cx="475488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Visibility</a:t>
            </a:r>
            <a:endParaRPr lang="en-US" sz="1100" dirty="0"/>
          </a:p>
        </p:txBody>
      </p:sp>
      <p:sp>
        <p:nvSpPr>
          <p:cNvPr id="10" name="Shape 8"/>
          <p:cNvSpPr/>
          <p:nvPr/>
        </p:nvSpPr>
        <p:spPr>
          <a:xfrm>
            <a:off x="411480" y="1645920"/>
            <a:ext cx="11338560" cy="658368"/>
          </a:xfrm>
          <a:prstGeom prst="rect">
            <a:avLst/>
          </a:prstGeom>
          <a:solidFill>
            <a:srgbClr val="F4F6FC"/>
          </a:solidFill>
          <a:ln w="12700">
            <a:solidFill>
              <a:srgbClr val="D0DAF0"/>
            </a:solidFill>
            <a:prstDash val="solid"/>
          </a:ln>
        </p:spPr>
        <p:txBody>
          <a:bodyPr/>
          <a:lstStyle/>
          <a:p>
            <a:endParaRPr lang="en-US"/>
          </a:p>
        </p:txBody>
      </p:sp>
      <p:sp>
        <p:nvSpPr>
          <p:cNvPr id="11" name="Text 9"/>
          <p:cNvSpPr txBox="1"/>
          <p:nvPr/>
        </p:nvSpPr>
        <p:spPr>
          <a:xfrm>
            <a:off x="548640" y="1810512"/>
            <a:ext cx="2029968"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Block scope</a:t>
            </a:r>
            <a:endParaRPr lang="en-US" sz="1200" dirty="0"/>
          </a:p>
        </p:txBody>
      </p:sp>
      <p:sp>
        <p:nvSpPr>
          <p:cNvPr id="12" name="Text 10"/>
          <p:cNvSpPr txBox="1"/>
          <p:nvPr/>
        </p:nvSpPr>
        <p:spPr>
          <a:xfrm>
            <a:off x="2651760" y="1810512"/>
            <a:ext cx="4096512"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Inside any { } block</a:t>
            </a:r>
            <a:endParaRPr lang="en-US" sz="1200" dirty="0"/>
          </a:p>
        </p:txBody>
      </p:sp>
      <p:sp>
        <p:nvSpPr>
          <p:cNvPr id="13" name="Text 11"/>
          <p:cNvSpPr txBox="1"/>
          <p:nvPr/>
        </p:nvSpPr>
        <p:spPr>
          <a:xfrm>
            <a:off x="6812280" y="1810512"/>
            <a:ext cx="475488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From declaration to the closing }</a:t>
            </a:r>
            <a:endParaRPr lang="en-US" sz="1200" dirty="0"/>
          </a:p>
        </p:txBody>
      </p:sp>
      <p:sp>
        <p:nvSpPr>
          <p:cNvPr id="14" name="Shape 12"/>
          <p:cNvSpPr/>
          <p:nvPr/>
        </p:nvSpPr>
        <p:spPr>
          <a:xfrm>
            <a:off x="411480" y="2340864"/>
            <a:ext cx="11338560" cy="658368"/>
          </a:xfrm>
          <a:prstGeom prst="rect">
            <a:avLst/>
          </a:prstGeom>
          <a:solidFill>
            <a:srgbClr val="FFFFFF"/>
          </a:solidFill>
          <a:ln w="12700">
            <a:solidFill>
              <a:srgbClr val="D0DAF0"/>
            </a:solidFill>
            <a:prstDash val="solid"/>
          </a:ln>
        </p:spPr>
        <p:txBody>
          <a:bodyPr/>
          <a:lstStyle/>
          <a:p>
            <a:endParaRPr lang="en-US"/>
          </a:p>
        </p:txBody>
      </p:sp>
      <p:sp>
        <p:nvSpPr>
          <p:cNvPr id="15" name="Text 13"/>
          <p:cNvSpPr txBox="1"/>
          <p:nvPr/>
        </p:nvSpPr>
        <p:spPr>
          <a:xfrm>
            <a:off x="548640" y="2505456"/>
            <a:ext cx="2029968"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Function scope</a:t>
            </a:r>
            <a:endParaRPr lang="en-US" sz="1200" dirty="0"/>
          </a:p>
        </p:txBody>
      </p:sp>
      <p:sp>
        <p:nvSpPr>
          <p:cNvPr id="16" name="Text 14"/>
          <p:cNvSpPr txBox="1"/>
          <p:nvPr/>
        </p:nvSpPr>
        <p:spPr>
          <a:xfrm>
            <a:off x="2651760" y="2505456"/>
            <a:ext cx="4096512"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Labels only (for goto)</a:t>
            </a:r>
            <a:endParaRPr lang="en-US" sz="1200" dirty="0"/>
          </a:p>
        </p:txBody>
      </p:sp>
      <p:sp>
        <p:nvSpPr>
          <p:cNvPr id="17" name="Text 15"/>
          <p:cNvSpPr txBox="1"/>
          <p:nvPr/>
        </p:nvSpPr>
        <p:spPr>
          <a:xfrm>
            <a:off x="6812280" y="2505456"/>
            <a:ext cx="475488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Entire function body</a:t>
            </a:r>
            <a:endParaRPr lang="en-US" sz="1200" dirty="0"/>
          </a:p>
        </p:txBody>
      </p:sp>
      <p:sp>
        <p:nvSpPr>
          <p:cNvPr id="18" name="Shape 16"/>
          <p:cNvSpPr/>
          <p:nvPr/>
        </p:nvSpPr>
        <p:spPr>
          <a:xfrm>
            <a:off x="411480" y="3035808"/>
            <a:ext cx="11338560" cy="658368"/>
          </a:xfrm>
          <a:prstGeom prst="rect">
            <a:avLst/>
          </a:prstGeom>
          <a:solidFill>
            <a:srgbClr val="F4F6FC"/>
          </a:solidFill>
          <a:ln w="12700">
            <a:solidFill>
              <a:srgbClr val="D0DAF0"/>
            </a:solidFill>
            <a:prstDash val="solid"/>
          </a:ln>
        </p:spPr>
        <p:txBody>
          <a:bodyPr/>
          <a:lstStyle/>
          <a:p>
            <a:endParaRPr lang="en-US"/>
          </a:p>
        </p:txBody>
      </p:sp>
      <p:sp>
        <p:nvSpPr>
          <p:cNvPr id="19" name="Text 17"/>
          <p:cNvSpPr txBox="1"/>
          <p:nvPr/>
        </p:nvSpPr>
        <p:spPr>
          <a:xfrm>
            <a:off x="548640" y="3200400"/>
            <a:ext cx="2029968" cy="32918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File scope</a:t>
            </a:r>
            <a:endParaRPr lang="en-US" sz="1200" dirty="0"/>
          </a:p>
        </p:txBody>
      </p:sp>
      <p:sp>
        <p:nvSpPr>
          <p:cNvPr id="20" name="Text 18"/>
          <p:cNvSpPr txBox="1"/>
          <p:nvPr/>
        </p:nvSpPr>
        <p:spPr>
          <a:xfrm>
            <a:off x="2651760" y="3200400"/>
            <a:ext cx="4096512"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Outside any function</a:t>
            </a:r>
            <a:endParaRPr lang="en-US" sz="1200" dirty="0"/>
          </a:p>
        </p:txBody>
      </p:sp>
      <p:sp>
        <p:nvSpPr>
          <p:cNvPr id="21" name="Text 19"/>
          <p:cNvSpPr txBox="1"/>
          <p:nvPr/>
        </p:nvSpPr>
        <p:spPr>
          <a:xfrm>
            <a:off x="6812280" y="3200400"/>
            <a:ext cx="4754880" cy="329184"/>
          </a:xfrm>
          <a:prstGeom prst="rect">
            <a:avLst/>
          </a:prstGeom>
          <a:noFill/>
          <a:ln/>
        </p:spPr>
        <p:txBody>
          <a:bodyPr wrap="square" lIns="0" tIns="0" rIns="0" bIns="0" rtlCol="0" anchor="ctr"/>
          <a:lstStyle/>
          <a:p>
            <a:pPr marL="0" indent="0">
              <a:buNone/>
            </a:pPr>
            <a:r>
              <a:rPr lang="en-US" sz="1200" dirty="0">
                <a:solidFill>
                  <a:srgbClr val="1E2A3A"/>
                </a:solidFill>
                <a:latin typeface="Calibri" pitchFamily="34" charset="0"/>
                <a:ea typeface="Calibri" pitchFamily="34" charset="-122"/>
                <a:cs typeface="Calibri" pitchFamily="34" charset="-120"/>
              </a:rPr>
              <a:t>From declaration to end of file</a:t>
            </a:r>
            <a:endParaRPr lang="en-US" sz="1200" dirty="0"/>
          </a:p>
        </p:txBody>
      </p:sp>
      <p:sp>
        <p:nvSpPr>
          <p:cNvPr id="22" name="Text 20"/>
          <p:cNvSpPr txBox="1"/>
          <p:nvPr/>
        </p:nvSpPr>
        <p:spPr>
          <a:xfrm>
            <a:off x="411480" y="3794760"/>
            <a:ext cx="11338560" cy="274320"/>
          </a:xfrm>
          <a:prstGeom prst="rect">
            <a:avLst/>
          </a:prstGeom>
          <a:noFill/>
          <a:ln/>
        </p:spPr>
        <p:txBody>
          <a:bodyPr wrap="square" lIns="0" tIns="0" rIns="0" bIns="0" rtlCol="0" anchor="ctr"/>
          <a:lstStyle/>
          <a:p>
            <a:pPr marL="0" indent="0">
              <a:buNone/>
            </a:pPr>
            <a:r>
              <a:rPr lang="en-US" sz="1300" b="1" dirty="0">
                <a:solidFill>
                  <a:srgbClr val="9B1C1C"/>
                </a:solidFill>
                <a:latin typeface="Calibri" pitchFamily="34" charset="0"/>
                <a:ea typeface="Calibri" pitchFamily="34" charset="-122"/>
                <a:cs typeface="Calibri" pitchFamily="34" charset="-120"/>
              </a:rPr>
              <a:t>The static keyword — two completely different meanings:</a:t>
            </a:r>
            <a:endParaRPr lang="en-US" sz="1300" dirty="0"/>
          </a:p>
        </p:txBody>
      </p:sp>
      <p:sp>
        <p:nvSpPr>
          <p:cNvPr id="23" name="Shape 21"/>
          <p:cNvSpPr/>
          <p:nvPr/>
        </p:nvSpPr>
        <p:spPr>
          <a:xfrm>
            <a:off x="411480" y="4096512"/>
            <a:ext cx="5349240" cy="1691640"/>
          </a:xfrm>
          <a:prstGeom prst="rect">
            <a:avLst/>
          </a:prstGeom>
          <a:solidFill>
            <a:srgbClr val="FFFFFF"/>
          </a:solidFill>
          <a:ln w="12700">
            <a:solidFill>
              <a:srgbClr val="D0DAF0"/>
            </a:solidFill>
            <a:prstDash val="solid"/>
          </a:ln>
        </p:spPr>
        <p:txBody>
          <a:bodyPr/>
          <a:lstStyle/>
          <a:p>
            <a:endParaRPr lang="en-US"/>
          </a:p>
        </p:txBody>
      </p:sp>
      <p:sp>
        <p:nvSpPr>
          <p:cNvPr id="24" name="Text 22"/>
          <p:cNvSpPr txBox="1"/>
          <p:nvPr/>
        </p:nvSpPr>
        <p:spPr>
          <a:xfrm>
            <a:off x="594360" y="4178808"/>
            <a:ext cx="493776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On a local variable:</a:t>
            </a:r>
            <a:endParaRPr lang="en-US" sz="1200" dirty="0"/>
          </a:p>
        </p:txBody>
      </p:sp>
      <p:sp>
        <p:nvSpPr>
          <p:cNvPr id="25" name="Text 23"/>
          <p:cNvSpPr txBox="1"/>
          <p:nvPr/>
        </p:nvSpPr>
        <p:spPr>
          <a:xfrm>
            <a:off x="594360" y="4443984"/>
            <a:ext cx="4937760" cy="1280160"/>
          </a:xfrm>
          <a:prstGeom prst="rect">
            <a:avLst/>
          </a:prstGeom>
          <a:noFill/>
          <a:ln/>
        </p:spPr>
        <p:txBody>
          <a:bodyPr wrap="square" lIns="0" tIns="0" rIns="0" bIns="0" rtlCol="0" anchor="ctr"/>
          <a:lstStyle/>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static int count = 0;</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same scope (function only)</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but lifetime = program-long</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value persists across calls: 1, 2, 3...</a:t>
            </a:r>
            <a:endParaRPr lang="en-US" sz="1100" dirty="0"/>
          </a:p>
        </p:txBody>
      </p:sp>
      <p:sp>
        <p:nvSpPr>
          <p:cNvPr id="26" name="Shape 24"/>
          <p:cNvSpPr/>
          <p:nvPr/>
        </p:nvSpPr>
        <p:spPr>
          <a:xfrm>
            <a:off x="6355080" y="4096512"/>
            <a:ext cx="5349240" cy="1691640"/>
          </a:xfrm>
          <a:prstGeom prst="rect">
            <a:avLst/>
          </a:prstGeom>
          <a:solidFill>
            <a:srgbClr val="FFFFFF"/>
          </a:solidFill>
          <a:ln w="12700">
            <a:solidFill>
              <a:srgbClr val="D0DAF0"/>
            </a:solidFill>
            <a:prstDash val="solid"/>
          </a:ln>
        </p:spPr>
        <p:txBody>
          <a:bodyPr/>
          <a:lstStyle/>
          <a:p>
            <a:endParaRPr lang="en-US"/>
          </a:p>
        </p:txBody>
      </p:sp>
      <p:sp>
        <p:nvSpPr>
          <p:cNvPr id="27" name="Text 25"/>
          <p:cNvSpPr txBox="1"/>
          <p:nvPr/>
        </p:nvSpPr>
        <p:spPr>
          <a:xfrm>
            <a:off x="6537960" y="4178808"/>
            <a:ext cx="493776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On a file-scope name:</a:t>
            </a:r>
            <a:endParaRPr lang="en-US" sz="1200" dirty="0"/>
          </a:p>
        </p:txBody>
      </p:sp>
      <p:sp>
        <p:nvSpPr>
          <p:cNvPr id="28" name="Text 26"/>
          <p:cNvSpPr txBox="1"/>
          <p:nvPr/>
        </p:nvSpPr>
        <p:spPr>
          <a:xfrm>
            <a:off x="6537960" y="4443984"/>
            <a:ext cx="4937760" cy="1280160"/>
          </a:xfrm>
          <a:prstGeom prst="rect">
            <a:avLst/>
          </a:prstGeom>
          <a:noFill/>
          <a:ln/>
        </p:spPr>
        <p:txBody>
          <a:bodyPr wrap="square" lIns="0" tIns="0" rIns="0" bIns="0" rtlCol="0" anchor="ctr"/>
          <a:lstStyle/>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static int internalCount = 0;</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file scope, but RESTRICTED</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not visible to other .c files</a:t>
            </a:r>
            <a:endParaRPr lang="en-US" sz="1100" dirty="0"/>
          </a:p>
          <a:p>
            <a:pPr marL="0" indent="0">
              <a:lnSpc>
                <a:spcPct val="150000"/>
              </a:lnSpc>
              <a:buNone/>
            </a:pPr>
            <a:r>
              <a:rPr lang="en-US" sz="1100" dirty="0">
                <a:solidFill>
                  <a:srgbClr val="1A2B5E"/>
                </a:solidFill>
                <a:latin typeface="Courier New" pitchFamily="34" charset="0"/>
                <a:ea typeface="Courier New" pitchFamily="34" charset="-122"/>
                <a:cs typeface="Courier New" pitchFamily="34" charset="-120"/>
              </a:rPr>
              <a:t>// C's version of "private"</a:t>
            </a:r>
            <a:endParaRPr lang="en-US" sz="1100" dirty="0"/>
          </a:p>
        </p:txBody>
      </p:sp>
      <p:sp>
        <p:nvSpPr>
          <p:cNvPr id="29" name="Shape 27"/>
          <p:cNvSpPr/>
          <p:nvPr/>
        </p:nvSpPr>
        <p:spPr>
          <a:xfrm>
            <a:off x="411480" y="5870448"/>
            <a:ext cx="54864" cy="749808"/>
          </a:xfrm>
          <a:prstGeom prst="rect">
            <a:avLst/>
          </a:prstGeom>
          <a:solidFill>
            <a:srgbClr val="F59E0B"/>
          </a:solidFill>
          <a:ln/>
        </p:spPr>
        <p:txBody>
          <a:bodyPr/>
          <a:lstStyle/>
          <a:p>
            <a:endParaRPr lang="en-US"/>
          </a:p>
        </p:txBody>
      </p:sp>
      <p:sp>
        <p:nvSpPr>
          <p:cNvPr id="30" name="Shape 28"/>
          <p:cNvSpPr/>
          <p:nvPr/>
        </p:nvSpPr>
        <p:spPr>
          <a:xfrm>
            <a:off x="466344" y="5870448"/>
            <a:ext cx="11283696" cy="749808"/>
          </a:xfrm>
          <a:prstGeom prst="rect">
            <a:avLst/>
          </a:prstGeom>
          <a:solidFill>
            <a:srgbClr val="FFFBEB"/>
          </a:solidFill>
          <a:ln w="12700">
            <a:solidFill>
              <a:srgbClr val="FCD34D"/>
            </a:solidFill>
            <a:prstDash val="solid"/>
          </a:ln>
        </p:spPr>
        <p:txBody>
          <a:bodyPr/>
          <a:lstStyle/>
          <a:p>
            <a:endParaRPr lang="en-US"/>
          </a:p>
        </p:txBody>
      </p:sp>
      <p:sp>
        <p:nvSpPr>
          <p:cNvPr id="31" name="Text 29"/>
          <p:cNvSpPr txBox="1"/>
          <p:nvPr/>
        </p:nvSpPr>
        <p:spPr>
          <a:xfrm>
            <a:off x="594360" y="5961888"/>
            <a:ext cx="11064240" cy="566928"/>
          </a:xfrm>
          <a:prstGeom prst="rect">
            <a:avLst/>
          </a:prstGeom>
          <a:noFill/>
          <a:ln/>
        </p:spPr>
        <p:txBody>
          <a:bodyPr wrap="square" lIns="0" tIns="0" rIns="0" bIns="0" rtlCol="0" anchor="ctr"/>
          <a:lstStyle/>
          <a:p>
            <a:pPr marL="0" indent="0">
              <a:lnSpc>
                <a:spcPct val="135000"/>
              </a:lnSpc>
              <a:buNone/>
            </a:pPr>
            <a:r>
              <a:rPr lang="en-US" sz="1200" dirty="0">
                <a:solidFill>
                  <a:srgbClr val="92400E"/>
                </a:solidFill>
                <a:latin typeface="Calibri" pitchFamily="34" charset="0"/>
                <a:ea typeface="Calibri" pitchFamily="34" charset="-122"/>
                <a:cs typeface="Calibri" pitchFamily="34" charset="-120"/>
              </a:rPr>
              <a:t>Same keyword, two meanings = widely considered a C design flaw. Affects lifetime in one context, restricts scope in another. C++ provides separate mechanisms; C# and Python have no equivalent overloading.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Name Resolution: The Innermost Declaration Wins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3</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C's resolution rule: search outward from the innermost scope — stop at the first match.</a:t>
            </a:r>
            <a:endParaRPr lang="en-US" sz="1300" dirty="0"/>
          </a:p>
        </p:txBody>
      </p:sp>
      <p:sp>
        <p:nvSpPr>
          <p:cNvPr id="6" name="Shape 4"/>
          <p:cNvSpPr/>
          <p:nvPr/>
        </p:nvSpPr>
        <p:spPr>
          <a:xfrm>
            <a:off x="411480" y="1298448"/>
            <a:ext cx="676656" cy="237744"/>
          </a:xfrm>
          <a:prstGeom prst="roundRect">
            <a:avLst>
              <a:gd name="adj" fmla="val 23077"/>
            </a:avLst>
          </a:prstGeom>
          <a:solidFill>
            <a:srgbClr val="E8F0FE"/>
          </a:solidFill>
          <a:ln/>
        </p:spPr>
        <p:txBody>
          <a:bodyPr/>
          <a:lstStyle/>
          <a:p>
            <a:endParaRPr lang="en-US"/>
          </a:p>
        </p:txBody>
      </p:sp>
      <p:sp>
        <p:nvSpPr>
          <p:cNvPr id="7" name="Text 5"/>
          <p:cNvSpPr txBox="1"/>
          <p:nvPr/>
        </p:nvSpPr>
        <p:spPr>
          <a:xfrm>
            <a:off x="448056" y="1325880"/>
            <a:ext cx="603504" cy="182880"/>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8" name="Shape 6"/>
          <p:cNvSpPr/>
          <p:nvPr/>
        </p:nvSpPr>
        <p:spPr>
          <a:xfrm>
            <a:off x="411480" y="1572768"/>
            <a:ext cx="5852160" cy="310896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539496" y="1664208"/>
            <a:ext cx="5650992" cy="294436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x = 10;       // file scope (A)</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main()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int x = 20;   // main() scope (B) — shadows A</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int x = 30; // block scope (C) — shadows B</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printf("%d", x); // (1) → 30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printf("%d", x); // (2) → 20  (C is gone)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0" name="Text 8"/>
          <p:cNvSpPr txBox="1"/>
          <p:nvPr/>
        </p:nvSpPr>
        <p:spPr>
          <a:xfrm>
            <a:off x="6492240" y="1353312"/>
            <a:ext cx="53949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Resolving x at (1):</a:t>
            </a:r>
            <a:endParaRPr lang="en-US" sz="1300" dirty="0"/>
          </a:p>
        </p:txBody>
      </p:sp>
      <p:sp>
        <p:nvSpPr>
          <p:cNvPr id="11" name="Shape 9"/>
          <p:cNvSpPr/>
          <p:nvPr/>
        </p:nvSpPr>
        <p:spPr>
          <a:xfrm>
            <a:off x="6492240" y="1645920"/>
            <a:ext cx="5394960" cy="1417320"/>
          </a:xfrm>
          <a:prstGeom prst="rect">
            <a:avLst/>
          </a:prstGeom>
          <a:solidFill>
            <a:srgbClr val="EEF1FA"/>
          </a:solidFill>
          <a:ln w="12700">
            <a:solidFill>
              <a:srgbClr val="D0DAF0"/>
            </a:solidFill>
            <a:prstDash val="solid"/>
          </a:ln>
        </p:spPr>
        <p:txBody>
          <a:bodyPr/>
          <a:lstStyle/>
          <a:p>
            <a:endParaRPr lang="en-US"/>
          </a:p>
        </p:txBody>
      </p:sp>
      <p:sp>
        <p:nvSpPr>
          <p:cNvPr id="12" name="Text 10"/>
          <p:cNvSpPr txBox="1"/>
          <p:nvPr/>
        </p:nvSpPr>
        <p:spPr>
          <a:xfrm>
            <a:off x="6656832" y="1737360"/>
            <a:ext cx="5074920" cy="1234440"/>
          </a:xfrm>
          <a:prstGeom prst="rect">
            <a:avLst/>
          </a:prstGeom>
          <a:noFill/>
          <a:ln/>
        </p:spPr>
        <p:txBody>
          <a:bodyPr wrap="square" lIns="0" tIns="0" rIns="0" bIns="0" rtlCol="0" anchor="ctr"/>
          <a:lstStyle/>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Search innermost block → x = 30 found</a:t>
            </a: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 Stop here. Use x = 30.</a:t>
            </a:r>
            <a:endParaRPr lang="en-US" sz="1150" dirty="0"/>
          </a:p>
          <a:p>
            <a:pPr marL="0" indent="0">
              <a:lnSpc>
                <a:spcPct val="155000"/>
              </a:lnSpc>
              <a:buNone/>
            </a:pP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(x = 20 and x = 10 both exist but</a:t>
            </a: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are shadowed — never reached.)</a:t>
            </a:r>
            <a:endParaRPr lang="en-US" sz="1150" dirty="0"/>
          </a:p>
        </p:txBody>
      </p:sp>
      <p:sp>
        <p:nvSpPr>
          <p:cNvPr id="13" name="Text 11"/>
          <p:cNvSpPr txBox="1"/>
          <p:nvPr/>
        </p:nvSpPr>
        <p:spPr>
          <a:xfrm>
            <a:off x="6492240" y="3200400"/>
            <a:ext cx="539496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Resolving x at (2):</a:t>
            </a:r>
            <a:endParaRPr lang="en-US" sz="1300" dirty="0"/>
          </a:p>
        </p:txBody>
      </p:sp>
      <p:sp>
        <p:nvSpPr>
          <p:cNvPr id="14" name="Shape 12"/>
          <p:cNvSpPr/>
          <p:nvPr/>
        </p:nvSpPr>
        <p:spPr>
          <a:xfrm>
            <a:off x="6492240" y="3493008"/>
            <a:ext cx="5394960" cy="1417320"/>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6656832" y="3584448"/>
            <a:ext cx="5074920" cy="1234440"/>
          </a:xfrm>
          <a:prstGeom prst="rect">
            <a:avLst/>
          </a:prstGeom>
          <a:noFill/>
          <a:ln/>
        </p:spPr>
        <p:txBody>
          <a:bodyPr wrap="square" lIns="0" tIns="0" rIns="0" bIns="0" rtlCol="0" anchor="ctr"/>
          <a:lstStyle/>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Inner block ended — x = 30 is gone.</a:t>
            </a: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Search main() scope → x = 20 found</a:t>
            </a: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 Stop here. Use x = 20.</a:t>
            </a:r>
            <a:endParaRPr lang="en-US" sz="1150" dirty="0"/>
          </a:p>
          <a:p>
            <a:pPr marL="0" indent="0">
              <a:lnSpc>
                <a:spcPct val="155000"/>
              </a:lnSpc>
              <a:buNone/>
            </a:pPr>
            <a:endParaRPr lang="en-US" sz="1150" dirty="0"/>
          </a:p>
          <a:p>
            <a:pPr marL="0" indent="0">
              <a:lnSpc>
                <a:spcPct val="155000"/>
              </a:lnSpc>
              <a:buNone/>
            </a:pPr>
            <a:r>
              <a:rPr lang="en-US" sz="1150" dirty="0">
                <a:solidFill>
                  <a:srgbClr val="1A2B5E"/>
                </a:solidFill>
                <a:latin typeface="Courier New" pitchFamily="34" charset="0"/>
                <a:ea typeface="Courier New" pitchFamily="34" charset="-122"/>
                <a:cs typeface="Courier New" pitchFamily="34" charset="-120"/>
              </a:rPr>
              <a:t>(File-scope x = 10 still shadowed.)</a:t>
            </a:r>
            <a:endParaRPr lang="en-US" sz="1150" dirty="0"/>
          </a:p>
        </p:txBody>
      </p:sp>
      <p:sp>
        <p:nvSpPr>
          <p:cNvPr id="16" name="Shape 14"/>
          <p:cNvSpPr/>
          <p:nvPr/>
        </p:nvSpPr>
        <p:spPr>
          <a:xfrm>
            <a:off x="411480" y="5029200"/>
            <a:ext cx="54864" cy="749808"/>
          </a:xfrm>
          <a:prstGeom prst="rect">
            <a:avLst/>
          </a:prstGeom>
          <a:solidFill>
            <a:srgbClr val="2E5BFF"/>
          </a:solidFill>
          <a:ln/>
        </p:spPr>
        <p:txBody>
          <a:bodyPr/>
          <a:lstStyle/>
          <a:p>
            <a:endParaRPr lang="en-US"/>
          </a:p>
        </p:txBody>
      </p:sp>
      <p:sp>
        <p:nvSpPr>
          <p:cNvPr id="17" name="Shape 15"/>
          <p:cNvSpPr/>
          <p:nvPr/>
        </p:nvSpPr>
        <p:spPr>
          <a:xfrm>
            <a:off x="466344" y="5029200"/>
            <a:ext cx="11283696" cy="749808"/>
          </a:xfrm>
          <a:prstGeom prst="rect">
            <a:avLst/>
          </a:prstGeom>
          <a:solidFill>
            <a:srgbClr val="EFF6FF"/>
          </a:solidFill>
          <a:ln w="12700">
            <a:solidFill>
              <a:srgbClr val="BFDBFE"/>
            </a:solidFill>
            <a:prstDash val="solid"/>
          </a:ln>
        </p:spPr>
        <p:txBody>
          <a:bodyPr/>
          <a:lstStyle/>
          <a:p>
            <a:endParaRPr lang="en-US"/>
          </a:p>
        </p:txBody>
      </p:sp>
      <p:sp>
        <p:nvSpPr>
          <p:cNvPr id="18" name="Text 16"/>
          <p:cNvSpPr txBox="1"/>
          <p:nvPr/>
        </p:nvSpPr>
        <p:spPr>
          <a:xfrm>
            <a:off x="594360" y="5102352"/>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19" name="Text 17"/>
          <p:cNvSpPr txBox="1"/>
          <p:nvPr/>
        </p:nvSpPr>
        <p:spPr>
          <a:xfrm>
            <a:off x="594360" y="5349240"/>
            <a:ext cx="11064240" cy="338328"/>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C's design choice: any { } block creates a new scope. Inner declarations shadow outer ones — both exist simultaneously but the inner one takes precedence. Flexible, but silent. No warning that x = 10 is unreachable from inside main().</a:t>
            </a:r>
            <a:endParaRPr lang="en-US" sz="1200" dirty="0"/>
          </a:p>
        </p:txBody>
      </p:sp>
      <p:sp>
        <p:nvSpPr>
          <p:cNvPr id="20" name="Shape 18"/>
          <p:cNvSpPr/>
          <p:nvPr/>
        </p:nvSpPr>
        <p:spPr>
          <a:xfrm>
            <a:off x="411480" y="5897880"/>
            <a:ext cx="54864" cy="749808"/>
          </a:xfrm>
          <a:prstGeom prst="rect">
            <a:avLst/>
          </a:prstGeom>
          <a:solidFill>
            <a:srgbClr val="6D28D9"/>
          </a:solidFill>
          <a:ln/>
        </p:spPr>
        <p:txBody>
          <a:bodyPr/>
          <a:lstStyle/>
          <a:p>
            <a:endParaRPr lang="en-US"/>
          </a:p>
        </p:txBody>
      </p:sp>
      <p:sp>
        <p:nvSpPr>
          <p:cNvPr id="21" name="Shape 19"/>
          <p:cNvSpPr/>
          <p:nvPr/>
        </p:nvSpPr>
        <p:spPr>
          <a:xfrm>
            <a:off x="466344" y="5897880"/>
            <a:ext cx="11283696" cy="749808"/>
          </a:xfrm>
          <a:prstGeom prst="rect">
            <a:avLst/>
          </a:prstGeom>
          <a:solidFill>
            <a:srgbClr val="F5F3FF"/>
          </a:solidFill>
          <a:ln w="12700">
            <a:solidFill>
              <a:srgbClr val="C4B5FD"/>
            </a:solidFill>
            <a:prstDash val="solid"/>
          </a:ln>
        </p:spPr>
        <p:txBody>
          <a:bodyPr/>
          <a:lstStyle/>
          <a:p>
            <a:endParaRPr lang="en-US"/>
          </a:p>
        </p:txBody>
      </p:sp>
      <p:sp>
        <p:nvSpPr>
          <p:cNvPr id="22" name="Text 20"/>
          <p:cNvSpPr txBox="1"/>
          <p:nvPr/>
        </p:nvSpPr>
        <p:spPr>
          <a:xfrm>
            <a:off x="594360" y="5971032"/>
            <a:ext cx="11064240" cy="219456"/>
          </a:xfrm>
          <a:prstGeom prst="rect">
            <a:avLst/>
          </a:prstGeom>
          <a:noFill/>
          <a:ln/>
        </p:spPr>
        <p:txBody>
          <a:bodyPr wrap="square" lIns="0" tIns="0" rIns="0" bIns="0" rtlCol="0" anchor="ctr"/>
          <a:lstStyle/>
          <a:p>
            <a:pPr marL="0" indent="0">
              <a:buNone/>
            </a:pPr>
            <a:r>
              <a:rPr lang="en-US" sz="1000" b="1" dirty="0">
                <a:solidFill>
                  <a:srgbClr val="6D28D9"/>
                </a:solidFill>
                <a:latin typeface="Calibri" pitchFamily="34" charset="0"/>
                <a:ea typeface="Calibri" pitchFamily="34" charset="-122"/>
                <a:cs typeface="Calibri" pitchFamily="34" charset="-120"/>
              </a:rPr>
              <a:t>🤔  THINK</a:t>
            </a:r>
            <a:endParaRPr lang="en-US" sz="1000" dirty="0"/>
          </a:p>
        </p:txBody>
      </p:sp>
      <p:sp>
        <p:nvSpPr>
          <p:cNvPr id="23" name="Text 21"/>
          <p:cNvSpPr txBox="1"/>
          <p:nvPr/>
        </p:nvSpPr>
        <p:spPr>
          <a:xfrm>
            <a:off x="594360" y="6217920"/>
            <a:ext cx="11064240" cy="338328"/>
          </a:xfrm>
          <a:prstGeom prst="rect">
            <a:avLst/>
          </a:prstGeom>
          <a:noFill/>
          <a:ln/>
        </p:spPr>
        <p:txBody>
          <a:bodyPr wrap="square" lIns="0" tIns="0" rIns="0" bIns="0" rtlCol="0" anchor="ctr"/>
          <a:lstStyle/>
          <a:p>
            <a:pPr marL="0" indent="0">
              <a:lnSpc>
                <a:spcPct val="135000"/>
              </a:lnSpc>
              <a:buNone/>
            </a:pPr>
            <a:r>
              <a:rPr lang="en-US" sz="1200" dirty="0">
                <a:solidFill>
                  <a:srgbClr val="4C1D95"/>
                </a:solidFill>
                <a:latin typeface="Calibri" pitchFamily="34" charset="0"/>
                <a:ea typeface="Calibri" pitchFamily="34" charset="-122"/>
                <a:cs typeface="Calibri" pitchFamily="34" charset="-120"/>
              </a:rPr>
              <a:t>int x = 1; (A)   void foo() { int x = 2; (B)  { int x = 3; (C)  printf(x); // Use 1  }  printf(x); // Use 2  }  printf(x); // Use 3 — which declaration for each 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Python: The LEGB Rule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4</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Python's name resolution follows a formal, named four-layer search — always in this order, stopping at the first match.</a:t>
            </a:r>
            <a:endParaRPr lang="en-US" sz="1300" dirty="0"/>
          </a:p>
        </p:txBody>
      </p:sp>
      <p:sp>
        <p:nvSpPr>
          <p:cNvPr id="6" name="Shape 4"/>
          <p:cNvSpPr/>
          <p:nvPr/>
        </p:nvSpPr>
        <p:spPr>
          <a:xfrm>
            <a:off x="411480" y="1325880"/>
            <a:ext cx="11338560" cy="1170432"/>
          </a:xfrm>
          <a:prstGeom prst="rect">
            <a:avLst/>
          </a:prstGeom>
          <a:solidFill>
            <a:srgbClr val="F5F3FF"/>
          </a:solidFill>
          <a:ln w="12700">
            <a:solidFill>
              <a:srgbClr val="C4B5FD"/>
            </a:solidFill>
            <a:prstDash val="solid"/>
          </a:ln>
        </p:spPr>
        <p:txBody>
          <a:bodyPr/>
          <a:lstStyle/>
          <a:p>
            <a:endParaRPr lang="en-US"/>
          </a:p>
        </p:txBody>
      </p:sp>
      <p:sp>
        <p:nvSpPr>
          <p:cNvPr id="7" name="Text 5"/>
          <p:cNvSpPr txBox="1"/>
          <p:nvPr/>
        </p:nvSpPr>
        <p:spPr>
          <a:xfrm>
            <a:off x="502920" y="1645920"/>
            <a:ext cx="658368" cy="530352"/>
          </a:xfrm>
          <a:prstGeom prst="rect">
            <a:avLst/>
          </a:prstGeom>
          <a:noFill/>
          <a:ln/>
        </p:spPr>
        <p:txBody>
          <a:bodyPr wrap="square" lIns="0" tIns="0" rIns="0" bIns="0" rtlCol="0" anchor="ctr"/>
          <a:lstStyle/>
          <a:p>
            <a:pPr marL="0" indent="0" algn="ctr">
              <a:buNone/>
            </a:pPr>
            <a:r>
              <a:rPr lang="en-US" sz="2600" b="1" dirty="0">
                <a:solidFill>
                  <a:srgbClr val="4C1D95"/>
                </a:solidFill>
                <a:latin typeface="Calibri" pitchFamily="34" charset="0"/>
                <a:ea typeface="Calibri" pitchFamily="34" charset="-122"/>
                <a:cs typeface="Calibri" pitchFamily="34" charset="-120"/>
              </a:rPr>
              <a:t>L</a:t>
            </a:r>
            <a:endParaRPr lang="en-US" sz="2600" dirty="0"/>
          </a:p>
        </p:txBody>
      </p:sp>
      <p:sp>
        <p:nvSpPr>
          <p:cNvPr id="8" name="Text 6"/>
          <p:cNvSpPr txBox="1"/>
          <p:nvPr/>
        </p:nvSpPr>
        <p:spPr>
          <a:xfrm>
            <a:off x="1261872" y="1399032"/>
            <a:ext cx="2194560" cy="292608"/>
          </a:xfrm>
          <a:prstGeom prst="rect">
            <a:avLst/>
          </a:prstGeom>
          <a:noFill/>
          <a:ln/>
        </p:spPr>
        <p:txBody>
          <a:bodyPr wrap="square" lIns="0" tIns="0" rIns="0" bIns="0" rtlCol="0" anchor="ctr"/>
          <a:lstStyle/>
          <a:p>
            <a:pPr marL="0" indent="0">
              <a:buNone/>
            </a:pPr>
            <a:r>
              <a:rPr lang="en-US" sz="1300" b="1" dirty="0">
                <a:solidFill>
                  <a:srgbClr val="4C1D95"/>
                </a:solidFill>
                <a:latin typeface="Calibri" pitchFamily="34" charset="0"/>
                <a:ea typeface="Calibri" pitchFamily="34" charset="-122"/>
                <a:cs typeface="Calibri" pitchFamily="34" charset="-120"/>
              </a:rPr>
              <a:t>Local</a:t>
            </a:r>
            <a:endParaRPr lang="en-US" sz="1300" dirty="0"/>
          </a:p>
        </p:txBody>
      </p:sp>
      <p:sp>
        <p:nvSpPr>
          <p:cNvPr id="9" name="Text 7"/>
          <p:cNvSpPr txBox="1"/>
          <p:nvPr/>
        </p:nvSpPr>
        <p:spPr>
          <a:xfrm>
            <a:off x="1261872" y="1709928"/>
            <a:ext cx="2194560" cy="256032"/>
          </a:xfrm>
          <a:prstGeom prst="rect">
            <a:avLst/>
          </a:prstGeom>
          <a:noFill/>
          <a:ln/>
        </p:spPr>
        <p:txBody>
          <a:bodyPr wrap="square" lIns="0" tIns="0" rIns="0" bIns="0" rtlCol="0" anchor="ctr"/>
          <a:lstStyle/>
          <a:p>
            <a:pPr marL="0" indent="0">
              <a:buNone/>
            </a:pPr>
            <a:r>
              <a:rPr lang="en-US" sz="1100" i="1" dirty="0">
                <a:solidFill>
                  <a:srgbClr val="4C1D95"/>
                </a:solidFill>
                <a:latin typeface="Calibri" pitchFamily="34" charset="0"/>
                <a:ea typeface="Calibri" pitchFamily="34" charset="-122"/>
                <a:cs typeface="Calibri" pitchFamily="34" charset="-120"/>
              </a:rPr>
              <a:t>← searched first</a:t>
            </a:r>
            <a:endParaRPr lang="en-US" sz="1100" dirty="0"/>
          </a:p>
        </p:txBody>
      </p:sp>
      <p:sp>
        <p:nvSpPr>
          <p:cNvPr id="10" name="Text 8"/>
          <p:cNvSpPr txBox="1"/>
          <p:nvPr/>
        </p:nvSpPr>
        <p:spPr>
          <a:xfrm>
            <a:off x="3547872" y="1508760"/>
            <a:ext cx="8229600" cy="804672"/>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Names defined inside the current function — parameters and local assignments</a:t>
            </a:r>
            <a:endParaRPr lang="en-US" sz="1200" dirty="0"/>
          </a:p>
        </p:txBody>
      </p:sp>
      <p:sp>
        <p:nvSpPr>
          <p:cNvPr id="11" name="Shape 9"/>
          <p:cNvSpPr/>
          <p:nvPr/>
        </p:nvSpPr>
        <p:spPr>
          <a:xfrm>
            <a:off x="411480" y="2587752"/>
            <a:ext cx="11338560" cy="1170432"/>
          </a:xfrm>
          <a:prstGeom prst="rect">
            <a:avLst/>
          </a:prstGeom>
          <a:solidFill>
            <a:srgbClr val="FFFBEB"/>
          </a:solidFill>
          <a:ln w="12700">
            <a:solidFill>
              <a:srgbClr val="FCD34D"/>
            </a:solidFill>
            <a:prstDash val="solid"/>
          </a:ln>
        </p:spPr>
        <p:txBody>
          <a:bodyPr/>
          <a:lstStyle/>
          <a:p>
            <a:endParaRPr lang="en-US"/>
          </a:p>
        </p:txBody>
      </p:sp>
      <p:sp>
        <p:nvSpPr>
          <p:cNvPr id="12" name="Text 10"/>
          <p:cNvSpPr txBox="1"/>
          <p:nvPr/>
        </p:nvSpPr>
        <p:spPr>
          <a:xfrm>
            <a:off x="502920" y="2907792"/>
            <a:ext cx="658368" cy="530352"/>
          </a:xfrm>
          <a:prstGeom prst="rect">
            <a:avLst/>
          </a:prstGeom>
          <a:noFill/>
          <a:ln/>
        </p:spPr>
        <p:txBody>
          <a:bodyPr wrap="square" lIns="0" tIns="0" rIns="0" bIns="0" rtlCol="0" anchor="ctr"/>
          <a:lstStyle/>
          <a:p>
            <a:pPr marL="0" indent="0" algn="ctr">
              <a:buNone/>
            </a:pPr>
            <a:r>
              <a:rPr lang="en-US" sz="2600" b="1" dirty="0">
                <a:solidFill>
                  <a:srgbClr val="92400E"/>
                </a:solidFill>
                <a:latin typeface="Calibri" pitchFamily="34" charset="0"/>
                <a:ea typeface="Calibri" pitchFamily="34" charset="-122"/>
                <a:cs typeface="Calibri" pitchFamily="34" charset="-120"/>
              </a:rPr>
              <a:t>E</a:t>
            </a:r>
            <a:endParaRPr lang="en-US" sz="2600" dirty="0"/>
          </a:p>
        </p:txBody>
      </p:sp>
      <p:sp>
        <p:nvSpPr>
          <p:cNvPr id="13" name="Text 11"/>
          <p:cNvSpPr txBox="1"/>
          <p:nvPr/>
        </p:nvSpPr>
        <p:spPr>
          <a:xfrm>
            <a:off x="1261872" y="2660904"/>
            <a:ext cx="2194560" cy="292608"/>
          </a:xfrm>
          <a:prstGeom prst="rect">
            <a:avLst/>
          </a:prstGeom>
          <a:noFill/>
          <a:ln/>
        </p:spPr>
        <p:txBody>
          <a:bodyPr wrap="square" lIns="0" tIns="0" rIns="0" bIns="0"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Enclosing</a:t>
            </a:r>
            <a:endParaRPr lang="en-US" sz="1300" dirty="0"/>
          </a:p>
        </p:txBody>
      </p:sp>
      <p:sp>
        <p:nvSpPr>
          <p:cNvPr id="14" name="Text 12"/>
          <p:cNvSpPr txBox="1"/>
          <p:nvPr/>
        </p:nvSpPr>
        <p:spPr>
          <a:xfrm>
            <a:off x="1261872" y="2971800"/>
            <a:ext cx="2194560" cy="256032"/>
          </a:xfrm>
          <a:prstGeom prst="rect">
            <a:avLst/>
          </a:prstGeom>
          <a:noFill/>
          <a:ln/>
        </p:spPr>
        <p:txBody>
          <a:bodyPr wrap="square" lIns="0" tIns="0" rIns="0" bIns="0" rtlCol="0" anchor="ctr"/>
          <a:lstStyle/>
          <a:p>
            <a:pPr marL="0" indent="0">
              <a:buNone/>
            </a:pPr>
            <a:r>
              <a:rPr lang="en-US" sz="1100" i="1" dirty="0">
                <a:solidFill>
                  <a:srgbClr val="92400E"/>
                </a:solidFill>
                <a:latin typeface="Calibri" pitchFamily="34" charset="0"/>
                <a:ea typeface="Calibri" pitchFamily="34" charset="-122"/>
                <a:cs typeface="Calibri" pitchFamily="34" charset="-120"/>
              </a:rPr>
              <a:t>← searched first</a:t>
            </a:r>
            <a:endParaRPr lang="en-US" sz="1100" dirty="0"/>
          </a:p>
        </p:txBody>
      </p:sp>
      <p:sp>
        <p:nvSpPr>
          <p:cNvPr id="15" name="Text 13"/>
          <p:cNvSpPr txBox="1"/>
          <p:nvPr/>
        </p:nvSpPr>
        <p:spPr>
          <a:xfrm>
            <a:off x="3547872" y="2770632"/>
            <a:ext cx="8229600" cy="804672"/>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Local scope of any enclosing functions (for nested functions) — searched outward</a:t>
            </a:r>
            <a:endParaRPr lang="en-US" sz="1200" dirty="0"/>
          </a:p>
        </p:txBody>
      </p:sp>
      <p:sp>
        <p:nvSpPr>
          <p:cNvPr id="16" name="Shape 14"/>
          <p:cNvSpPr/>
          <p:nvPr/>
        </p:nvSpPr>
        <p:spPr>
          <a:xfrm>
            <a:off x="411480" y="3849624"/>
            <a:ext cx="11338560" cy="1170432"/>
          </a:xfrm>
          <a:prstGeom prst="rect">
            <a:avLst/>
          </a:prstGeom>
          <a:solidFill>
            <a:srgbClr val="EAF7EE"/>
          </a:solidFill>
          <a:ln w="12700">
            <a:solidFill>
              <a:srgbClr val="6EE7B7"/>
            </a:solidFill>
            <a:prstDash val="solid"/>
          </a:ln>
        </p:spPr>
        <p:txBody>
          <a:bodyPr/>
          <a:lstStyle/>
          <a:p>
            <a:endParaRPr lang="en-US"/>
          </a:p>
        </p:txBody>
      </p:sp>
      <p:sp>
        <p:nvSpPr>
          <p:cNvPr id="17" name="Text 15"/>
          <p:cNvSpPr txBox="1"/>
          <p:nvPr/>
        </p:nvSpPr>
        <p:spPr>
          <a:xfrm>
            <a:off x="502920" y="4169664"/>
            <a:ext cx="658368" cy="530352"/>
          </a:xfrm>
          <a:prstGeom prst="rect">
            <a:avLst/>
          </a:prstGeom>
          <a:noFill/>
          <a:ln/>
        </p:spPr>
        <p:txBody>
          <a:bodyPr wrap="square" lIns="0" tIns="0" rIns="0" bIns="0" rtlCol="0" anchor="ctr"/>
          <a:lstStyle/>
          <a:p>
            <a:pPr marL="0" indent="0" algn="ctr">
              <a:buNone/>
            </a:pPr>
            <a:r>
              <a:rPr lang="en-US" sz="2600" b="1" dirty="0">
                <a:solidFill>
                  <a:srgbClr val="166534"/>
                </a:solidFill>
                <a:latin typeface="Calibri" pitchFamily="34" charset="0"/>
                <a:ea typeface="Calibri" pitchFamily="34" charset="-122"/>
                <a:cs typeface="Calibri" pitchFamily="34" charset="-120"/>
              </a:rPr>
              <a:t>G</a:t>
            </a:r>
            <a:endParaRPr lang="en-US" sz="2600" dirty="0"/>
          </a:p>
        </p:txBody>
      </p:sp>
      <p:sp>
        <p:nvSpPr>
          <p:cNvPr id="18" name="Text 16"/>
          <p:cNvSpPr txBox="1"/>
          <p:nvPr/>
        </p:nvSpPr>
        <p:spPr>
          <a:xfrm>
            <a:off x="1261872" y="3922776"/>
            <a:ext cx="2194560" cy="292608"/>
          </a:xfrm>
          <a:prstGeom prst="rect">
            <a:avLst/>
          </a:prstGeom>
          <a:noFill/>
          <a:ln/>
        </p:spPr>
        <p:txBody>
          <a:bodyPr wrap="square" lIns="0" tIns="0" rIns="0" bIns="0" rtlCol="0" anchor="ctr"/>
          <a:lstStyle/>
          <a:p>
            <a:pPr marL="0" indent="0">
              <a:buNone/>
            </a:pPr>
            <a:r>
              <a:rPr lang="en-US" sz="1300" b="1" dirty="0">
                <a:solidFill>
                  <a:srgbClr val="166534"/>
                </a:solidFill>
                <a:latin typeface="Calibri" pitchFamily="34" charset="0"/>
                <a:ea typeface="Calibri" pitchFamily="34" charset="-122"/>
                <a:cs typeface="Calibri" pitchFamily="34" charset="-120"/>
              </a:rPr>
              <a:t>Global</a:t>
            </a:r>
            <a:endParaRPr lang="en-US" sz="1300" dirty="0"/>
          </a:p>
        </p:txBody>
      </p:sp>
      <p:sp>
        <p:nvSpPr>
          <p:cNvPr id="19" name="Text 17"/>
          <p:cNvSpPr txBox="1"/>
          <p:nvPr/>
        </p:nvSpPr>
        <p:spPr>
          <a:xfrm>
            <a:off x="1261872" y="4233672"/>
            <a:ext cx="2194560" cy="256032"/>
          </a:xfrm>
          <a:prstGeom prst="rect">
            <a:avLst/>
          </a:prstGeom>
          <a:noFill/>
          <a:ln/>
        </p:spPr>
        <p:txBody>
          <a:bodyPr wrap="square" lIns="0" tIns="0" rIns="0" bIns="0" rtlCol="0" anchor="ctr"/>
          <a:lstStyle/>
          <a:p>
            <a:pPr marL="0" indent="0">
              <a:buNone/>
            </a:pPr>
            <a:r>
              <a:rPr lang="en-US" sz="1100" i="1" dirty="0">
                <a:solidFill>
                  <a:srgbClr val="166534"/>
                </a:solidFill>
                <a:latin typeface="Calibri" pitchFamily="34" charset="0"/>
                <a:ea typeface="Calibri" pitchFamily="34" charset="-122"/>
                <a:cs typeface="Calibri" pitchFamily="34" charset="-120"/>
              </a:rPr>
              <a:t>← searched first</a:t>
            </a:r>
            <a:endParaRPr lang="en-US" sz="1100" dirty="0"/>
          </a:p>
        </p:txBody>
      </p:sp>
      <p:sp>
        <p:nvSpPr>
          <p:cNvPr id="20" name="Text 18"/>
          <p:cNvSpPr txBox="1"/>
          <p:nvPr/>
        </p:nvSpPr>
        <p:spPr>
          <a:xfrm>
            <a:off x="3547872" y="4032504"/>
            <a:ext cx="8229600" cy="804672"/>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Names defined at the module level — top of the .py file, imported names</a:t>
            </a:r>
            <a:endParaRPr lang="en-US" sz="1200" dirty="0"/>
          </a:p>
        </p:txBody>
      </p:sp>
      <p:sp>
        <p:nvSpPr>
          <p:cNvPr id="21" name="Shape 19"/>
          <p:cNvSpPr/>
          <p:nvPr/>
        </p:nvSpPr>
        <p:spPr>
          <a:xfrm>
            <a:off x="411480" y="5111496"/>
            <a:ext cx="11338560" cy="1170432"/>
          </a:xfrm>
          <a:prstGeom prst="rect">
            <a:avLst/>
          </a:prstGeom>
          <a:solidFill>
            <a:srgbClr val="FEF2F2"/>
          </a:solidFill>
          <a:ln w="12700">
            <a:solidFill>
              <a:srgbClr val="FCA5A5"/>
            </a:solidFill>
            <a:prstDash val="solid"/>
          </a:ln>
        </p:spPr>
        <p:txBody>
          <a:bodyPr/>
          <a:lstStyle/>
          <a:p>
            <a:endParaRPr lang="en-US"/>
          </a:p>
        </p:txBody>
      </p:sp>
      <p:sp>
        <p:nvSpPr>
          <p:cNvPr id="22" name="Text 20"/>
          <p:cNvSpPr txBox="1"/>
          <p:nvPr/>
        </p:nvSpPr>
        <p:spPr>
          <a:xfrm>
            <a:off x="502920" y="5431536"/>
            <a:ext cx="658368" cy="530352"/>
          </a:xfrm>
          <a:prstGeom prst="rect">
            <a:avLst/>
          </a:prstGeom>
          <a:noFill/>
          <a:ln/>
        </p:spPr>
        <p:txBody>
          <a:bodyPr wrap="square" lIns="0" tIns="0" rIns="0" bIns="0" rtlCol="0" anchor="ctr"/>
          <a:lstStyle/>
          <a:p>
            <a:pPr marL="0" indent="0" algn="ctr">
              <a:buNone/>
            </a:pPr>
            <a:r>
              <a:rPr lang="en-US" sz="2600" b="1" dirty="0">
                <a:solidFill>
                  <a:srgbClr val="9B1C1C"/>
                </a:solidFill>
                <a:latin typeface="Calibri" pitchFamily="34" charset="0"/>
                <a:ea typeface="Calibri" pitchFamily="34" charset="-122"/>
                <a:cs typeface="Calibri" pitchFamily="34" charset="-120"/>
              </a:rPr>
              <a:t>B</a:t>
            </a:r>
            <a:endParaRPr lang="en-US" sz="2600" dirty="0"/>
          </a:p>
        </p:txBody>
      </p:sp>
      <p:sp>
        <p:nvSpPr>
          <p:cNvPr id="23" name="Text 21"/>
          <p:cNvSpPr txBox="1"/>
          <p:nvPr/>
        </p:nvSpPr>
        <p:spPr>
          <a:xfrm>
            <a:off x="1261872" y="5184648"/>
            <a:ext cx="2194560" cy="292608"/>
          </a:xfrm>
          <a:prstGeom prst="rect">
            <a:avLst/>
          </a:prstGeom>
          <a:noFill/>
          <a:ln/>
        </p:spPr>
        <p:txBody>
          <a:bodyPr wrap="square" lIns="0" tIns="0" rIns="0" bIns="0" rtlCol="0" anchor="ctr"/>
          <a:lstStyle/>
          <a:p>
            <a:pPr marL="0" indent="0">
              <a:buNone/>
            </a:pPr>
            <a:r>
              <a:rPr lang="en-US" sz="1300" b="1" dirty="0">
                <a:solidFill>
                  <a:srgbClr val="9B1C1C"/>
                </a:solidFill>
                <a:latin typeface="Calibri" pitchFamily="34" charset="0"/>
                <a:ea typeface="Calibri" pitchFamily="34" charset="-122"/>
                <a:cs typeface="Calibri" pitchFamily="34" charset="-120"/>
              </a:rPr>
              <a:t>Built-in</a:t>
            </a:r>
            <a:endParaRPr lang="en-US" sz="1300" dirty="0"/>
          </a:p>
        </p:txBody>
      </p:sp>
      <p:sp>
        <p:nvSpPr>
          <p:cNvPr id="24" name="Text 22"/>
          <p:cNvSpPr txBox="1"/>
          <p:nvPr/>
        </p:nvSpPr>
        <p:spPr>
          <a:xfrm>
            <a:off x="1261872" y="5495544"/>
            <a:ext cx="2194560" cy="256032"/>
          </a:xfrm>
          <a:prstGeom prst="rect">
            <a:avLst/>
          </a:prstGeom>
          <a:noFill/>
          <a:ln/>
        </p:spPr>
        <p:txBody>
          <a:bodyPr wrap="square" lIns="0" tIns="0" rIns="0" bIns="0" rtlCol="0" anchor="ctr"/>
          <a:lstStyle/>
          <a:p>
            <a:pPr marL="0" indent="0">
              <a:buNone/>
            </a:pPr>
            <a:r>
              <a:rPr lang="en-US" sz="1100" i="1" dirty="0">
                <a:solidFill>
                  <a:srgbClr val="9B1C1C"/>
                </a:solidFill>
                <a:latin typeface="Calibri" pitchFamily="34" charset="0"/>
                <a:ea typeface="Calibri" pitchFamily="34" charset="-122"/>
                <a:cs typeface="Calibri" pitchFamily="34" charset="-120"/>
              </a:rPr>
              <a:t>← searched first</a:t>
            </a:r>
            <a:endParaRPr lang="en-US" sz="1100" dirty="0"/>
          </a:p>
        </p:txBody>
      </p:sp>
      <p:sp>
        <p:nvSpPr>
          <p:cNvPr id="25" name="Text 23"/>
          <p:cNvSpPr txBox="1"/>
          <p:nvPr/>
        </p:nvSpPr>
        <p:spPr>
          <a:xfrm>
            <a:off x="3547872" y="5294376"/>
            <a:ext cx="8229600" cy="804672"/>
          </a:xfrm>
          <a:prstGeom prst="rect">
            <a:avLst/>
          </a:prstGeom>
          <a:noFill/>
          <a:ln/>
        </p:spPr>
        <p:txBody>
          <a:bodyPr wrap="square" lIns="0" tIns="0" rIns="0" bIns="0" rtlCol="0" anchor="ctr"/>
          <a:lstStyle/>
          <a:p>
            <a:pPr marL="0" indent="0">
              <a:lnSpc>
                <a:spcPct val="138000"/>
              </a:lnSpc>
              <a:buNone/>
            </a:pPr>
            <a:r>
              <a:rPr lang="en-US" sz="1200" dirty="0">
                <a:solidFill>
                  <a:srgbClr val="1E2A3A"/>
                </a:solidFill>
                <a:latin typeface="Calibri" pitchFamily="34" charset="0"/>
                <a:ea typeface="Calibri" pitchFamily="34" charset="-122"/>
                <a:cs typeface="Calibri" pitchFamily="34" charset="-120"/>
              </a:rPr>
              <a:t>Names Python always provides: print, len, range, int, str, True, None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Python: global, nonlocal, and the UnboundLocalError Trap</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4</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Assignment always creates a local by default. To write to an outer scope, the programmer must be explicit.</a:t>
            </a:r>
            <a:endParaRPr lang="en-US" sz="1300" dirty="0"/>
          </a:p>
        </p:txBody>
      </p:sp>
      <p:sp>
        <p:nvSpPr>
          <p:cNvPr id="6" name="Shape 4"/>
          <p:cNvSpPr/>
          <p:nvPr/>
        </p:nvSpPr>
        <p:spPr>
          <a:xfrm>
            <a:off x="411480" y="1298448"/>
            <a:ext cx="676656" cy="237744"/>
          </a:xfrm>
          <a:prstGeom prst="roundRect">
            <a:avLst>
              <a:gd name="adj" fmla="val 23077"/>
            </a:avLst>
          </a:prstGeom>
          <a:solidFill>
            <a:srgbClr val="FEF3E8"/>
          </a:solidFill>
          <a:ln/>
        </p:spPr>
        <p:txBody>
          <a:bodyPr/>
          <a:lstStyle/>
          <a:p>
            <a:endParaRPr lang="en-US"/>
          </a:p>
        </p:txBody>
      </p:sp>
      <p:sp>
        <p:nvSpPr>
          <p:cNvPr id="7" name="Text 5"/>
          <p:cNvSpPr txBox="1"/>
          <p:nvPr/>
        </p:nvSpPr>
        <p:spPr>
          <a:xfrm>
            <a:off x="448056" y="1325880"/>
            <a:ext cx="603504" cy="182880"/>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8" name="Shape 6"/>
          <p:cNvSpPr/>
          <p:nvPr/>
        </p:nvSpPr>
        <p:spPr>
          <a:xfrm>
            <a:off x="411480" y="1572768"/>
            <a:ext cx="5349240" cy="1810512"/>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539496" y="1664208"/>
            <a:ext cx="5148072" cy="16459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Without global — creates a new local</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count = 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increment():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count += 1      # UnboundLocalError!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 Python sees count=... → treats count as local</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 but there's no local count yet to read</a:t>
            </a:r>
            <a:endParaRPr lang="en-US" sz="1100" dirty="0"/>
          </a:p>
        </p:txBody>
      </p:sp>
      <p:sp>
        <p:nvSpPr>
          <p:cNvPr id="10" name="Shape 8"/>
          <p:cNvSpPr/>
          <p:nvPr/>
        </p:nvSpPr>
        <p:spPr>
          <a:xfrm>
            <a:off x="411480" y="3200400"/>
            <a:ext cx="676656" cy="237744"/>
          </a:xfrm>
          <a:prstGeom prst="roundRect">
            <a:avLst>
              <a:gd name="adj" fmla="val 23077"/>
            </a:avLst>
          </a:prstGeom>
          <a:solidFill>
            <a:srgbClr val="FEF3E8"/>
          </a:solidFill>
          <a:ln/>
        </p:spPr>
        <p:txBody>
          <a:bodyPr/>
          <a:lstStyle/>
          <a:p>
            <a:endParaRPr lang="en-US"/>
          </a:p>
        </p:txBody>
      </p:sp>
      <p:sp>
        <p:nvSpPr>
          <p:cNvPr id="11" name="Text 9"/>
          <p:cNvSpPr txBox="1"/>
          <p:nvPr/>
        </p:nvSpPr>
        <p:spPr>
          <a:xfrm>
            <a:off x="448056" y="3227832"/>
            <a:ext cx="603504" cy="182880"/>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2" name="Shape 10"/>
          <p:cNvSpPr/>
          <p:nvPr/>
        </p:nvSpPr>
        <p:spPr>
          <a:xfrm>
            <a:off x="411480" y="3474720"/>
            <a:ext cx="5349240" cy="1874520"/>
          </a:xfrm>
          <a:prstGeom prst="rect">
            <a:avLst/>
          </a:prstGeom>
          <a:solidFill>
            <a:srgbClr val="EEF1FA"/>
          </a:solidFill>
          <a:ln w="12700">
            <a:solidFill>
              <a:srgbClr val="D0DAF0"/>
            </a:solidFill>
            <a:prstDash val="solid"/>
          </a:ln>
        </p:spPr>
        <p:txBody>
          <a:bodyPr/>
          <a:lstStyle/>
          <a:p>
            <a:endParaRPr lang="en-US"/>
          </a:p>
        </p:txBody>
      </p:sp>
      <p:sp>
        <p:nvSpPr>
          <p:cNvPr id="13" name="Text 11"/>
          <p:cNvSpPr txBox="1"/>
          <p:nvPr/>
        </p:nvSpPr>
        <p:spPr>
          <a:xfrm>
            <a:off x="539496" y="3566160"/>
            <a:ext cx="5148072" cy="170992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With global — modifies module-level count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count = 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increment():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global count    # "I mean the module-level count"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count += 1      # now modifies the global</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increment()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print(count)  # 1</a:t>
            </a:r>
            <a:endParaRPr lang="en-US" sz="1100" dirty="0"/>
          </a:p>
        </p:txBody>
      </p:sp>
      <p:sp>
        <p:nvSpPr>
          <p:cNvPr id="14" name="Shape 12"/>
          <p:cNvSpPr/>
          <p:nvPr/>
        </p:nvSpPr>
        <p:spPr>
          <a:xfrm>
            <a:off x="6355080" y="1298448"/>
            <a:ext cx="676656" cy="237744"/>
          </a:xfrm>
          <a:prstGeom prst="roundRect">
            <a:avLst>
              <a:gd name="adj" fmla="val 23077"/>
            </a:avLst>
          </a:prstGeom>
          <a:solidFill>
            <a:srgbClr val="FEF3E8"/>
          </a:solidFill>
          <a:ln/>
        </p:spPr>
        <p:txBody>
          <a:bodyPr/>
          <a:lstStyle/>
          <a:p>
            <a:endParaRPr lang="en-US"/>
          </a:p>
        </p:txBody>
      </p:sp>
      <p:sp>
        <p:nvSpPr>
          <p:cNvPr id="15" name="Text 13"/>
          <p:cNvSpPr txBox="1"/>
          <p:nvPr/>
        </p:nvSpPr>
        <p:spPr>
          <a:xfrm>
            <a:off x="6391656" y="1325880"/>
            <a:ext cx="603504" cy="182880"/>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6" name="Shape 14"/>
          <p:cNvSpPr/>
          <p:nvPr/>
        </p:nvSpPr>
        <p:spPr>
          <a:xfrm>
            <a:off x="6355080" y="1572768"/>
            <a:ext cx="5349240" cy="2724912"/>
          </a:xfrm>
          <a:prstGeom prst="rect">
            <a:avLst/>
          </a:prstGeom>
          <a:solidFill>
            <a:srgbClr val="EEF1FA"/>
          </a:solidFill>
          <a:ln w="12700">
            <a:solidFill>
              <a:srgbClr val="D0DAF0"/>
            </a:solidFill>
            <a:prstDash val="solid"/>
          </a:ln>
        </p:spPr>
        <p:txBody>
          <a:bodyPr/>
          <a:lstStyle/>
          <a:p>
            <a:endParaRPr lang="en-US"/>
          </a:p>
        </p:txBody>
      </p:sp>
      <p:sp>
        <p:nvSpPr>
          <p:cNvPr id="17" name="Text 15"/>
          <p:cNvSpPr txBox="1"/>
          <p:nvPr/>
        </p:nvSpPr>
        <p:spPr>
          <a:xfrm>
            <a:off x="6483096" y="1664208"/>
            <a:ext cx="5148072" cy="2560320"/>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With nonlocal — modifies enclosing scope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outer():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count = 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def inner():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nonlocal count  # "I mean outer's count"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count += 1</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inner()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print(count)  # 1</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outer()</a:t>
            </a:r>
            <a:endParaRPr lang="en-US" sz="1100" dirty="0"/>
          </a:p>
        </p:txBody>
      </p:sp>
      <p:sp>
        <p:nvSpPr>
          <p:cNvPr id="18" name="Shape 16"/>
          <p:cNvSpPr/>
          <p:nvPr/>
        </p:nvSpPr>
        <p:spPr>
          <a:xfrm>
            <a:off x="411480" y="5193792"/>
            <a:ext cx="54864" cy="1170432"/>
          </a:xfrm>
          <a:prstGeom prst="rect">
            <a:avLst/>
          </a:prstGeom>
          <a:solidFill>
            <a:srgbClr val="2E5BFF"/>
          </a:solidFill>
          <a:ln/>
        </p:spPr>
        <p:txBody>
          <a:bodyPr/>
          <a:lstStyle/>
          <a:p>
            <a:endParaRPr lang="en-US"/>
          </a:p>
        </p:txBody>
      </p:sp>
      <p:sp>
        <p:nvSpPr>
          <p:cNvPr id="19" name="Shape 17"/>
          <p:cNvSpPr/>
          <p:nvPr/>
        </p:nvSpPr>
        <p:spPr>
          <a:xfrm>
            <a:off x="466344" y="5193792"/>
            <a:ext cx="11283696" cy="1170432"/>
          </a:xfrm>
          <a:prstGeom prst="rect">
            <a:avLst/>
          </a:prstGeom>
          <a:solidFill>
            <a:srgbClr val="EFF6FF"/>
          </a:solidFill>
          <a:ln w="12700">
            <a:solidFill>
              <a:srgbClr val="BFDBFE"/>
            </a:solidFill>
            <a:prstDash val="solid"/>
          </a:ln>
        </p:spPr>
        <p:txBody>
          <a:bodyPr/>
          <a:lstStyle/>
          <a:p>
            <a:endParaRPr lang="en-US"/>
          </a:p>
        </p:txBody>
      </p:sp>
      <p:sp>
        <p:nvSpPr>
          <p:cNvPr id="20" name="Text 18"/>
          <p:cNvSpPr txBox="1"/>
          <p:nvPr/>
        </p:nvSpPr>
        <p:spPr>
          <a:xfrm>
            <a:off x="594360" y="5266944"/>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21" name="Text 19"/>
          <p:cNvSpPr txBox="1"/>
          <p:nvPr/>
        </p:nvSpPr>
        <p:spPr>
          <a:xfrm>
            <a:off x="594360" y="5513832"/>
            <a:ext cx="11064240" cy="758952"/>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Python's design choice: assignment inside a function always creates a local binding — protecting outer scopes from accidental modification. The programmer must explicitly declare global or nonlocal intent. C made the opposite choice: no such protection, assignment resolves whatever variable the name reaches. Both are defensible — Python trades freedom for safety.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Four Levels — Scope Mirrors Object-Oriented Structure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5</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A teaching model: block → method → class → namespace. Each level mirrors a structural unit of the language.</a:t>
            </a:r>
            <a:endParaRPr lang="en-US" sz="1300" dirty="0"/>
          </a:p>
        </p:txBody>
      </p:sp>
      <p:sp>
        <p:nvSpPr>
          <p:cNvPr id="6" name="Shape 4"/>
          <p:cNvSpPr/>
          <p:nvPr/>
        </p:nvSpPr>
        <p:spPr>
          <a:xfrm>
            <a:off x="411480" y="1298448"/>
            <a:ext cx="676656" cy="237744"/>
          </a:xfrm>
          <a:prstGeom prst="roundRect">
            <a:avLst>
              <a:gd name="adj" fmla="val 23077"/>
            </a:avLst>
          </a:prstGeom>
          <a:solidFill>
            <a:srgbClr val="F3E8FE"/>
          </a:solidFill>
          <a:ln/>
        </p:spPr>
        <p:txBody>
          <a:bodyPr/>
          <a:lstStyle/>
          <a:p>
            <a:endParaRPr lang="en-US"/>
          </a:p>
        </p:txBody>
      </p:sp>
      <p:sp>
        <p:nvSpPr>
          <p:cNvPr id="7" name="Text 5"/>
          <p:cNvSpPr txBox="1"/>
          <p:nvPr/>
        </p:nvSpPr>
        <p:spPr>
          <a:xfrm>
            <a:off x="448056" y="1325880"/>
            <a:ext cx="603504" cy="182880"/>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8" name="Shape 6"/>
          <p:cNvSpPr/>
          <p:nvPr/>
        </p:nvSpPr>
        <p:spPr>
          <a:xfrm>
            <a:off x="411480" y="1572768"/>
            <a:ext cx="6309360" cy="4498848"/>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539496" y="1664208"/>
            <a:ext cx="6108192" cy="433425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namespace SchoolApp {              // namespace scope</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class Student {                 // class scope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private string name;       // visible to ALL methods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private int grade;</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public void Report() {     // method scope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string prefix = "Stu:"; // method-local</a:t>
            </a:r>
            <a:endParaRPr lang="en-US" sz="1100" dirty="0"/>
          </a:p>
          <a:p>
            <a:pPr marL="0" indent="0">
              <a:lnSpc>
                <a:spcPct val="155000"/>
              </a:lnSpc>
              <a:buNone/>
            </a:pP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if (grade &gt;= 90)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string msg = "A";  // block scope — here only</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Console.WriteLine($"{prefix} {name} — {msg}");</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 msg is NOT accessible here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858000" y="1298448"/>
            <a:ext cx="4892040" cy="1024128"/>
          </a:xfrm>
          <a:prstGeom prst="rect">
            <a:avLst/>
          </a:prstGeom>
          <a:solidFill>
            <a:srgbClr val="EFF6FF"/>
          </a:solidFill>
          <a:ln w="12700">
            <a:solidFill>
              <a:srgbClr val="BFDBFE"/>
            </a:solidFill>
            <a:prstDash val="solid"/>
          </a:ln>
        </p:spPr>
        <p:txBody>
          <a:bodyPr/>
          <a:lstStyle/>
          <a:p>
            <a:endParaRPr lang="en-US"/>
          </a:p>
        </p:txBody>
      </p:sp>
      <p:sp>
        <p:nvSpPr>
          <p:cNvPr id="11" name="Text 9"/>
          <p:cNvSpPr txBox="1"/>
          <p:nvPr/>
        </p:nvSpPr>
        <p:spPr>
          <a:xfrm>
            <a:off x="7040880" y="1371600"/>
            <a:ext cx="45262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Namespace scope</a:t>
            </a:r>
            <a:endParaRPr lang="en-US" sz="1200" dirty="0"/>
          </a:p>
        </p:txBody>
      </p:sp>
      <p:sp>
        <p:nvSpPr>
          <p:cNvPr id="12" name="Text 10"/>
          <p:cNvSpPr txBox="1"/>
          <p:nvPr/>
        </p:nvSpPr>
        <p:spPr>
          <a:xfrm>
            <a:off x="7040880" y="1627632"/>
            <a:ext cx="4526280" cy="640080"/>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Broadest — classes visible throughout the namespace. C# equivalent of C's multi-file scope, but explicit.</a:t>
            </a:r>
            <a:endParaRPr lang="en-US" sz="1150" dirty="0"/>
          </a:p>
        </p:txBody>
      </p:sp>
      <p:sp>
        <p:nvSpPr>
          <p:cNvPr id="13" name="Shape 11"/>
          <p:cNvSpPr/>
          <p:nvPr/>
        </p:nvSpPr>
        <p:spPr>
          <a:xfrm>
            <a:off x="6858000" y="2414016"/>
            <a:ext cx="4892040" cy="1024128"/>
          </a:xfrm>
          <a:prstGeom prst="rect">
            <a:avLst/>
          </a:prstGeom>
          <a:solidFill>
            <a:srgbClr val="F5F3FF"/>
          </a:solidFill>
          <a:ln w="12700">
            <a:solidFill>
              <a:srgbClr val="C4B5FD"/>
            </a:solidFill>
            <a:prstDash val="solid"/>
          </a:ln>
        </p:spPr>
        <p:txBody>
          <a:bodyPr/>
          <a:lstStyle/>
          <a:p>
            <a:endParaRPr lang="en-US"/>
          </a:p>
        </p:txBody>
      </p:sp>
      <p:sp>
        <p:nvSpPr>
          <p:cNvPr id="14" name="Text 12"/>
          <p:cNvSpPr txBox="1"/>
          <p:nvPr/>
        </p:nvSpPr>
        <p:spPr>
          <a:xfrm>
            <a:off x="7040880" y="2487168"/>
            <a:ext cx="45262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Class scope</a:t>
            </a:r>
            <a:endParaRPr lang="en-US" sz="1200" dirty="0"/>
          </a:p>
        </p:txBody>
      </p:sp>
      <p:sp>
        <p:nvSpPr>
          <p:cNvPr id="15" name="Text 13"/>
          <p:cNvSpPr txBox="1"/>
          <p:nvPr/>
        </p:nvSpPr>
        <p:spPr>
          <a:xfrm>
            <a:off x="7040880" y="2743200"/>
            <a:ext cx="4526280" cy="640080"/>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Fields and methods visible to ALL methods in the class (with access modifiers). C has no equivalent.</a:t>
            </a:r>
            <a:endParaRPr lang="en-US" sz="1150" dirty="0"/>
          </a:p>
        </p:txBody>
      </p:sp>
      <p:sp>
        <p:nvSpPr>
          <p:cNvPr id="16" name="Shape 14"/>
          <p:cNvSpPr/>
          <p:nvPr/>
        </p:nvSpPr>
        <p:spPr>
          <a:xfrm>
            <a:off x="6858000" y="3529584"/>
            <a:ext cx="4892040" cy="1024128"/>
          </a:xfrm>
          <a:prstGeom prst="rect">
            <a:avLst/>
          </a:prstGeom>
          <a:solidFill>
            <a:srgbClr val="EAF7EE"/>
          </a:solidFill>
          <a:ln w="12700">
            <a:solidFill>
              <a:srgbClr val="6EE7B7"/>
            </a:solidFill>
            <a:prstDash val="solid"/>
          </a:ln>
        </p:spPr>
        <p:txBody>
          <a:bodyPr/>
          <a:lstStyle/>
          <a:p>
            <a:endParaRPr lang="en-US"/>
          </a:p>
        </p:txBody>
      </p:sp>
      <p:sp>
        <p:nvSpPr>
          <p:cNvPr id="17" name="Text 15"/>
          <p:cNvSpPr txBox="1"/>
          <p:nvPr/>
        </p:nvSpPr>
        <p:spPr>
          <a:xfrm>
            <a:off x="7040880" y="3602736"/>
            <a:ext cx="45262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Method scope</a:t>
            </a:r>
            <a:endParaRPr lang="en-US" sz="1200" dirty="0"/>
          </a:p>
        </p:txBody>
      </p:sp>
      <p:sp>
        <p:nvSpPr>
          <p:cNvPr id="18" name="Text 16"/>
          <p:cNvSpPr txBox="1"/>
          <p:nvPr/>
        </p:nvSpPr>
        <p:spPr>
          <a:xfrm>
            <a:off x="7040880" y="3858768"/>
            <a:ext cx="4526280" cy="640080"/>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Parameters and locals visible from declaration to end of method. Like C's block scope at function level.</a:t>
            </a:r>
            <a:endParaRPr lang="en-US" sz="1150" dirty="0"/>
          </a:p>
        </p:txBody>
      </p:sp>
      <p:sp>
        <p:nvSpPr>
          <p:cNvPr id="19" name="Shape 17"/>
          <p:cNvSpPr/>
          <p:nvPr/>
        </p:nvSpPr>
        <p:spPr>
          <a:xfrm>
            <a:off x="6858000" y="4645152"/>
            <a:ext cx="4892040" cy="1024128"/>
          </a:xfrm>
          <a:prstGeom prst="rect">
            <a:avLst/>
          </a:prstGeom>
          <a:solidFill>
            <a:srgbClr val="FEF2F2"/>
          </a:solidFill>
          <a:ln w="12700">
            <a:solidFill>
              <a:srgbClr val="FCA5A5"/>
            </a:solidFill>
            <a:prstDash val="solid"/>
          </a:ln>
        </p:spPr>
        <p:txBody>
          <a:bodyPr/>
          <a:lstStyle/>
          <a:p>
            <a:endParaRPr lang="en-US"/>
          </a:p>
        </p:txBody>
      </p:sp>
      <p:sp>
        <p:nvSpPr>
          <p:cNvPr id="20" name="Text 18"/>
          <p:cNvSpPr txBox="1"/>
          <p:nvPr/>
        </p:nvSpPr>
        <p:spPr>
          <a:xfrm>
            <a:off x="7040880" y="4718304"/>
            <a:ext cx="45262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Block scope</a:t>
            </a:r>
            <a:endParaRPr lang="en-US" sz="1200" dirty="0"/>
          </a:p>
        </p:txBody>
      </p:sp>
      <p:sp>
        <p:nvSpPr>
          <p:cNvPr id="21" name="Text 19"/>
          <p:cNvSpPr txBox="1"/>
          <p:nvPr/>
        </p:nvSpPr>
        <p:spPr>
          <a:xfrm>
            <a:off x="7040880" y="4974336"/>
            <a:ext cx="4526280" cy="640080"/>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Variables in if/for/while visible only within that block. Same rule as C.</a:t>
            </a:r>
            <a:endParaRPr lang="en-US" sz="1150" dirty="0"/>
          </a:p>
        </p:txBody>
      </p:sp>
      <p:sp>
        <p:nvSpPr>
          <p:cNvPr id="22" name="Shape 20"/>
          <p:cNvSpPr/>
          <p:nvPr/>
        </p:nvSpPr>
        <p:spPr>
          <a:xfrm>
            <a:off x="411480" y="5870448"/>
            <a:ext cx="54864" cy="749808"/>
          </a:xfrm>
          <a:prstGeom prst="rect">
            <a:avLst/>
          </a:prstGeom>
          <a:solidFill>
            <a:srgbClr val="2E5BFF"/>
          </a:solidFill>
          <a:ln/>
        </p:spPr>
        <p:txBody>
          <a:bodyPr/>
          <a:lstStyle/>
          <a:p>
            <a:endParaRPr lang="en-US"/>
          </a:p>
        </p:txBody>
      </p:sp>
      <p:sp>
        <p:nvSpPr>
          <p:cNvPr id="23" name="Shape 21"/>
          <p:cNvSpPr/>
          <p:nvPr/>
        </p:nvSpPr>
        <p:spPr>
          <a:xfrm>
            <a:off x="466344" y="5870448"/>
            <a:ext cx="11283696" cy="749808"/>
          </a:xfrm>
          <a:prstGeom prst="rect">
            <a:avLst/>
          </a:prstGeom>
          <a:solidFill>
            <a:srgbClr val="EFF6FF"/>
          </a:solidFill>
          <a:ln w="12700">
            <a:solidFill>
              <a:srgbClr val="BFDBFE"/>
            </a:solidFill>
            <a:prstDash val="solid"/>
          </a:ln>
        </p:spPr>
        <p:txBody>
          <a:bodyPr/>
          <a:lstStyle/>
          <a:p>
            <a:endParaRPr lang="en-US"/>
          </a:p>
        </p:txBody>
      </p:sp>
      <p:sp>
        <p:nvSpPr>
          <p:cNvPr id="24" name="Text 22"/>
          <p:cNvSpPr txBox="1"/>
          <p:nvPr/>
        </p:nvSpPr>
        <p:spPr>
          <a:xfrm>
            <a:off x="594360" y="5943600"/>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25" name="Text 23"/>
          <p:cNvSpPr txBox="1"/>
          <p:nvPr/>
        </p:nvSpPr>
        <p:spPr>
          <a:xfrm>
            <a:off x="594360" y="6190488"/>
            <a:ext cx="11064240" cy="338328"/>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Each scope level in C# reflects a structural abstraction the language supports. Adding classes → class scope. Adding namespaces → namespace scope. Scope hierarchy follows the language's organisational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Shadowing: A Language Design Decision</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6</a:t>
            </a:r>
            <a:endParaRPr lang="en-US" sz="900" dirty="0"/>
          </a:p>
        </p:txBody>
      </p:sp>
      <p:sp>
        <p:nvSpPr>
          <p:cNvPr id="5" name="Text 3"/>
          <p:cNvSpPr txBox="1"/>
          <p:nvPr/>
        </p:nvSpPr>
        <p:spPr>
          <a:xfrm>
            <a:off x="411480" y="905256"/>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Shadowing = a declaration in an inner scope uses the same name as one in an outer scope. The inner one wins.</a:t>
            </a:r>
            <a:endParaRPr lang="en-US" sz="1300" dirty="0"/>
          </a:p>
        </p:txBody>
      </p:sp>
      <p:sp>
        <p:nvSpPr>
          <p:cNvPr id="6" name="Shape 4"/>
          <p:cNvSpPr/>
          <p:nvPr/>
        </p:nvSpPr>
        <p:spPr>
          <a:xfrm>
            <a:off x="411480" y="1207008"/>
            <a:ext cx="11338560" cy="292608"/>
          </a:xfrm>
          <a:prstGeom prst="rect">
            <a:avLst/>
          </a:prstGeom>
          <a:solidFill>
            <a:srgbClr val="1A2B5E"/>
          </a:solidFill>
          <a:ln/>
        </p:spPr>
        <p:txBody>
          <a:bodyPr/>
          <a:lstStyle/>
          <a:p>
            <a:endParaRPr lang="en-US"/>
          </a:p>
        </p:txBody>
      </p:sp>
      <p:sp>
        <p:nvSpPr>
          <p:cNvPr id="7" name="Text 5"/>
          <p:cNvSpPr txBox="1"/>
          <p:nvPr/>
        </p:nvSpPr>
        <p:spPr>
          <a:xfrm>
            <a:off x="548640" y="1280160"/>
            <a:ext cx="171907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Language</a:t>
            </a:r>
            <a:endParaRPr lang="en-US" sz="1100" dirty="0"/>
          </a:p>
        </p:txBody>
      </p:sp>
      <p:sp>
        <p:nvSpPr>
          <p:cNvPr id="8" name="Text 6"/>
          <p:cNvSpPr txBox="1"/>
          <p:nvPr/>
        </p:nvSpPr>
        <p:spPr>
          <a:xfrm>
            <a:off x="2331720" y="1280160"/>
            <a:ext cx="294436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Shadowing allowed?</a:t>
            </a:r>
            <a:endParaRPr lang="en-US" sz="1100" dirty="0"/>
          </a:p>
        </p:txBody>
      </p:sp>
      <p:sp>
        <p:nvSpPr>
          <p:cNvPr id="9" name="Text 7"/>
          <p:cNvSpPr txBox="1"/>
          <p:nvPr/>
        </p:nvSpPr>
        <p:spPr>
          <a:xfrm>
            <a:off x="5349240" y="1280160"/>
            <a:ext cx="674827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Design choice</a:t>
            </a:r>
            <a:endParaRPr lang="en-US" sz="1100" dirty="0"/>
          </a:p>
        </p:txBody>
      </p:sp>
      <p:sp>
        <p:nvSpPr>
          <p:cNvPr id="10" name="Shape 8"/>
          <p:cNvSpPr/>
          <p:nvPr/>
        </p:nvSpPr>
        <p:spPr>
          <a:xfrm>
            <a:off x="396240" y="1637153"/>
            <a:ext cx="11338560" cy="420624"/>
          </a:xfrm>
          <a:prstGeom prst="rect">
            <a:avLst/>
          </a:prstGeom>
          <a:solidFill>
            <a:srgbClr val="F4F6FC"/>
          </a:solidFill>
          <a:ln w="12700">
            <a:solidFill>
              <a:srgbClr val="D0DAF0"/>
            </a:solidFill>
            <a:prstDash val="solid"/>
          </a:ln>
        </p:spPr>
        <p:txBody>
          <a:bodyPr/>
          <a:lstStyle/>
          <a:p>
            <a:endParaRPr lang="en-US"/>
          </a:p>
        </p:txBody>
      </p:sp>
      <p:sp>
        <p:nvSpPr>
          <p:cNvPr id="11" name="Shape 9"/>
          <p:cNvSpPr/>
          <p:nvPr/>
        </p:nvSpPr>
        <p:spPr>
          <a:xfrm>
            <a:off x="411480" y="1627632"/>
            <a:ext cx="73152" cy="804672"/>
          </a:xfrm>
          <a:prstGeom prst="rect">
            <a:avLst/>
          </a:prstGeom>
          <a:solidFill>
            <a:srgbClr val="2E5BFF"/>
          </a:solidFill>
          <a:ln/>
        </p:spPr>
        <p:txBody>
          <a:bodyPr/>
          <a:lstStyle/>
          <a:p>
            <a:endParaRPr lang="en-US"/>
          </a:p>
        </p:txBody>
      </p:sp>
      <p:sp>
        <p:nvSpPr>
          <p:cNvPr id="12" name="Text 10"/>
          <p:cNvSpPr txBox="1"/>
          <p:nvPr/>
        </p:nvSpPr>
        <p:spPr>
          <a:xfrm>
            <a:off x="551688" y="1673729"/>
            <a:ext cx="1664208" cy="329184"/>
          </a:xfrm>
          <a:prstGeom prst="rect">
            <a:avLst/>
          </a:prstGeom>
          <a:noFill/>
          <a:ln/>
        </p:spPr>
        <p:txBody>
          <a:bodyPr wrap="square" lIns="0" tIns="0" rIns="0" bIns="0" rtlCol="0" anchor="ctr"/>
          <a:lstStyle/>
          <a:p>
            <a:pPr marL="0" indent="0">
              <a:buNone/>
            </a:pPr>
            <a:r>
              <a:rPr lang="en-US" sz="1300" b="1" dirty="0">
                <a:solidFill>
                  <a:srgbClr val="2E5BFF"/>
                </a:solidFill>
                <a:latin typeface="Calibri" pitchFamily="34" charset="0"/>
                <a:ea typeface="Calibri" pitchFamily="34" charset="-122"/>
                <a:cs typeface="Calibri" pitchFamily="34" charset="-120"/>
              </a:rPr>
              <a:t>C</a:t>
            </a:r>
            <a:endParaRPr lang="en-US" sz="1300" dirty="0"/>
          </a:p>
        </p:txBody>
      </p:sp>
      <p:sp>
        <p:nvSpPr>
          <p:cNvPr id="13" name="Text 11"/>
          <p:cNvSpPr txBox="1"/>
          <p:nvPr/>
        </p:nvSpPr>
        <p:spPr>
          <a:xfrm>
            <a:off x="2316480" y="1600577"/>
            <a:ext cx="2944368" cy="512064"/>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Yes — any inner block variable hides an outer</a:t>
            </a:r>
            <a:endParaRPr lang="en-US" sz="1150" dirty="0"/>
          </a:p>
        </p:txBody>
      </p:sp>
      <p:sp>
        <p:nvSpPr>
          <p:cNvPr id="14" name="Text 12"/>
          <p:cNvSpPr txBox="1"/>
          <p:nvPr/>
        </p:nvSpPr>
        <p:spPr>
          <a:xfrm>
            <a:off x="5887777" y="1569888"/>
            <a:ext cx="5391828" cy="512064"/>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Simplicity: no special rules, innermost always wins, silent</a:t>
            </a:r>
            <a:endParaRPr lang="en-US" sz="1150" dirty="0"/>
          </a:p>
        </p:txBody>
      </p:sp>
      <p:sp>
        <p:nvSpPr>
          <p:cNvPr id="15" name="Shape 13"/>
          <p:cNvSpPr/>
          <p:nvPr/>
        </p:nvSpPr>
        <p:spPr>
          <a:xfrm>
            <a:off x="396240" y="2195312"/>
            <a:ext cx="11338560" cy="548640"/>
          </a:xfrm>
          <a:prstGeom prst="rect">
            <a:avLst/>
          </a:prstGeom>
          <a:solidFill>
            <a:srgbClr val="FFFFFF"/>
          </a:solidFill>
          <a:ln w="12700">
            <a:solidFill>
              <a:srgbClr val="D0DAF0"/>
            </a:solidFill>
            <a:prstDash val="solid"/>
          </a:ln>
        </p:spPr>
        <p:txBody>
          <a:bodyPr/>
          <a:lstStyle/>
          <a:p>
            <a:endParaRPr lang="en-US"/>
          </a:p>
        </p:txBody>
      </p:sp>
      <p:sp>
        <p:nvSpPr>
          <p:cNvPr id="16" name="Shape 14"/>
          <p:cNvSpPr/>
          <p:nvPr/>
        </p:nvSpPr>
        <p:spPr>
          <a:xfrm>
            <a:off x="396240" y="2195312"/>
            <a:ext cx="73152" cy="660623"/>
          </a:xfrm>
          <a:prstGeom prst="rect">
            <a:avLst/>
          </a:prstGeom>
          <a:solidFill>
            <a:srgbClr val="C05E00"/>
          </a:solidFill>
          <a:ln/>
        </p:spPr>
        <p:txBody>
          <a:bodyPr/>
          <a:lstStyle/>
          <a:p>
            <a:endParaRPr lang="en-US"/>
          </a:p>
        </p:txBody>
      </p:sp>
      <p:sp>
        <p:nvSpPr>
          <p:cNvPr id="17" name="Text 15"/>
          <p:cNvSpPr txBox="1"/>
          <p:nvPr/>
        </p:nvSpPr>
        <p:spPr>
          <a:xfrm>
            <a:off x="551688" y="2414768"/>
            <a:ext cx="1664208" cy="329184"/>
          </a:xfrm>
          <a:prstGeom prst="rect">
            <a:avLst/>
          </a:prstGeom>
          <a:noFill/>
          <a:ln/>
        </p:spPr>
        <p:txBody>
          <a:bodyPr wrap="square" lIns="0" tIns="0" rIns="0" bIns="0" rtlCol="0" anchor="ctr"/>
          <a:lstStyle/>
          <a:p>
            <a:pPr marL="0" indent="0">
              <a:buNone/>
            </a:pPr>
            <a:r>
              <a:rPr lang="en-US" sz="1300" b="1" dirty="0">
                <a:solidFill>
                  <a:srgbClr val="C05E00"/>
                </a:solidFill>
                <a:latin typeface="Calibri" pitchFamily="34" charset="0"/>
                <a:ea typeface="Calibri" pitchFamily="34" charset="-122"/>
                <a:cs typeface="Calibri" pitchFamily="34" charset="-120"/>
              </a:rPr>
              <a:t>Python</a:t>
            </a:r>
            <a:endParaRPr lang="en-US" sz="1300" dirty="0"/>
          </a:p>
        </p:txBody>
      </p:sp>
      <p:sp>
        <p:nvSpPr>
          <p:cNvPr id="18" name="Text 16"/>
          <p:cNvSpPr txBox="1"/>
          <p:nvPr/>
        </p:nvSpPr>
        <p:spPr>
          <a:xfrm>
            <a:off x="2316480" y="2341616"/>
            <a:ext cx="3317518" cy="329184"/>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Yes — local/enclosing/global names can share a name</a:t>
            </a:r>
            <a:endParaRPr lang="en-US" sz="1150" dirty="0"/>
          </a:p>
        </p:txBody>
      </p:sp>
      <p:sp>
        <p:nvSpPr>
          <p:cNvPr id="19" name="Text 17"/>
          <p:cNvSpPr txBox="1"/>
          <p:nvPr/>
        </p:nvSpPr>
        <p:spPr>
          <a:xfrm>
            <a:off x="5887777" y="2170510"/>
            <a:ext cx="5773871" cy="512064"/>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Flexibility: LEGB search, global/nonlocal to override</a:t>
            </a:r>
            <a:endParaRPr lang="en-US" sz="1150" dirty="0"/>
          </a:p>
        </p:txBody>
      </p:sp>
      <p:sp>
        <p:nvSpPr>
          <p:cNvPr id="20" name="Shape 18"/>
          <p:cNvSpPr/>
          <p:nvPr/>
        </p:nvSpPr>
        <p:spPr>
          <a:xfrm>
            <a:off x="411480" y="2899025"/>
            <a:ext cx="11338560" cy="804672"/>
          </a:xfrm>
          <a:prstGeom prst="rect">
            <a:avLst/>
          </a:prstGeom>
          <a:solidFill>
            <a:srgbClr val="F4F6FC"/>
          </a:solidFill>
          <a:ln w="12700">
            <a:solidFill>
              <a:srgbClr val="D0DAF0"/>
            </a:solidFill>
            <a:prstDash val="solid"/>
          </a:ln>
        </p:spPr>
        <p:txBody>
          <a:bodyPr/>
          <a:lstStyle/>
          <a:p>
            <a:endParaRPr lang="en-US"/>
          </a:p>
        </p:txBody>
      </p:sp>
      <p:sp>
        <p:nvSpPr>
          <p:cNvPr id="21" name="Shape 19"/>
          <p:cNvSpPr/>
          <p:nvPr/>
        </p:nvSpPr>
        <p:spPr>
          <a:xfrm>
            <a:off x="396240" y="2903785"/>
            <a:ext cx="73152" cy="804672"/>
          </a:xfrm>
          <a:prstGeom prst="rect">
            <a:avLst/>
          </a:prstGeom>
          <a:solidFill>
            <a:srgbClr val="7B2FBE"/>
          </a:solidFill>
          <a:ln/>
        </p:spPr>
        <p:txBody>
          <a:bodyPr/>
          <a:lstStyle/>
          <a:p>
            <a:endParaRPr lang="en-US"/>
          </a:p>
        </p:txBody>
      </p:sp>
      <p:sp>
        <p:nvSpPr>
          <p:cNvPr id="22" name="Text 20"/>
          <p:cNvSpPr txBox="1"/>
          <p:nvPr/>
        </p:nvSpPr>
        <p:spPr>
          <a:xfrm>
            <a:off x="551688" y="3098188"/>
            <a:ext cx="1664208" cy="329184"/>
          </a:xfrm>
          <a:prstGeom prst="rect">
            <a:avLst/>
          </a:prstGeom>
          <a:noFill/>
          <a:ln/>
        </p:spPr>
        <p:txBody>
          <a:bodyPr wrap="square" lIns="0" tIns="0" rIns="0" bIns="0" rtlCol="0" anchor="ctr"/>
          <a:lstStyle/>
          <a:p>
            <a:pPr marL="0" indent="0">
              <a:buNone/>
            </a:pPr>
            <a:r>
              <a:rPr lang="en-US" sz="1300" b="1" dirty="0">
                <a:solidFill>
                  <a:srgbClr val="7B2FBE"/>
                </a:solidFill>
                <a:latin typeface="Calibri" pitchFamily="34" charset="0"/>
                <a:ea typeface="Calibri" pitchFamily="34" charset="-122"/>
                <a:cs typeface="Calibri" pitchFamily="34" charset="-120"/>
              </a:rPr>
              <a:t>C#</a:t>
            </a:r>
            <a:endParaRPr lang="en-US" sz="1300" dirty="0"/>
          </a:p>
        </p:txBody>
      </p:sp>
      <p:sp>
        <p:nvSpPr>
          <p:cNvPr id="23" name="Text 21"/>
          <p:cNvSpPr txBox="1"/>
          <p:nvPr/>
        </p:nvSpPr>
        <p:spPr>
          <a:xfrm>
            <a:off x="2316480" y="3025036"/>
            <a:ext cx="2944368" cy="512064"/>
          </a:xfrm>
          <a:prstGeom prst="rect">
            <a:avLst/>
          </a:prstGeom>
          <a:noFill/>
          <a:ln/>
        </p:spPr>
        <p:txBody>
          <a:bodyPr wrap="square" lIns="0" tIns="0" rIns="0" bIns="0" rtlCol="0" anchor="ctr"/>
          <a:lstStyle/>
          <a:p>
            <a:pPr marL="0" indent="0">
              <a:lnSpc>
                <a:spcPct val="130000"/>
              </a:lnSpc>
              <a:buNone/>
            </a:pPr>
            <a:r>
              <a:rPr lang="en-US" sz="1150" dirty="0">
                <a:solidFill>
                  <a:srgbClr val="1E2A3A"/>
                </a:solidFill>
                <a:latin typeface="Calibri" pitchFamily="34" charset="0"/>
                <a:ea typeface="Calibri" pitchFamily="34" charset="-122"/>
                <a:cs typeface="Calibri" pitchFamily="34" charset="-120"/>
              </a:rPr>
              <a:t>Partial — class fields shadowed by locals; local-shadows-local in same method blocked</a:t>
            </a:r>
            <a:endParaRPr lang="en-US" sz="1150" dirty="0"/>
          </a:p>
        </p:txBody>
      </p:sp>
      <p:sp>
        <p:nvSpPr>
          <p:cNvPr id="24" name="Text 22"/>
          <p:cNvSpPr txBox="1"/>
          <p:nvPr/>
        </p:nvSpPr>
        <p:spPr>
          <a:xfrm>
            <a:off x="5887777" y="2986205"/>
            <a:ext cx="3788497" cy="512064"/>
          </a:xfrm>
          <a:prstGeom prst="rect">
            <a:avLst/>
          </a:prstGeom>
          <a:noFill/>
          <a:ln/>
        </p:spPr>
        <p:txBody>
          <a:bodyPr wrap="square" lIns="0" tIns="0" rIns="0" bIns="0" rtlCol="0" anchor="ctr"/>
          <a:lstStyle/>
          <a:p>
            <a:pPr marL="0" indent="0">
              <a:lnSpc>
                <a:spcPct val="130000"/>
              </a:lnSpc>
              <a:buNone/>
            </a:pPr>
            <a:r>
              <a:rPr lang="en-US" sz="1150" dirty="0">
                <a:solidFill>
                  <a:srgbClr val="5A6A82"/>
                </a:solidFill>
                <a:latin typeface="Calibri" pitchFamily="34" charset="0"/>
                <a:ea typeface="Calibri" pitchFamily="34" charset="-122"/>
                <a:cs typeface="Calibri" pitchFamily="34" charset="-120"/>
              </a:rPr>
              <a:t>Safety: prevents one specific common mistake</a:t>
            </a:r>
            <a:endParaRPr lang="en-US" sz="1150" dirty="0"/>
          </a:p>
        </p:txBody>
      </p:sp>
      <p:sp>
        <p:nvSpPr>
          <p:cNvPr id="25" name="Text 23"/>
          <p:cNvSpPr txBox="1"/>
          <p:nvPr/>
        </p:nvSpPr>
        <p:spPr>
          <a:xfrm>
            <a:off x="396240" y="3831713"/>
            <a:ext cx="11338560" cy="274320"/>
          </a:xfrm>
          <a:prstGeom prst="rect">
            <a:avLst/>
          </a:prstGeom>
          <a:noFill/>
          <a:ln/>
        </p:spPr>
        <p:txBody>
          <a:bodyPr wrap="square" lIns="0" tIns="0" rIns="0" bIns="0" rtlCol="0" anchor="ctr"/>
          <a:lstStyle/>
          <a:p>
            <a:pPr marL="0" indent="0">
              <a:buNone/>
            </a:pPr>
            <a:r>
              <a:rPr lang="en-US" sz="1300" b="1" dirty="0">
                <a:solidFill>
                  <a:srgbClr val="9B1C1C"/>
                </a:solidFill>
                <a:latin typeface="Calibri" pitchFamily="34" charset="0"/>
                <a:ea typeface="Calibri" pitchFamily="34" charset="-122"/>
                <a:cs typeface="Calibri" pitchFamily="34" charset="-120"/>
              </a:rPr>
              <a:t>Classic C# shadowing bug — parameter shadows class field:</a:t>
            </a:r>
            <a:endParaRPr lang="en-US" sz="1300" dirty="0"/>
          </a:p>
        </p:txBody>
      </p:sp>
      <p:sp>
        <p:nvSpPr>
          <p:cNvPr id="26" name="Shape 24"/>
          <p:cNvSpPr/>
          <p:nvPr/>
        </p:nvSpPr>
        <p:spPr>
          <a:xfrm>
            <a:off x="411480" y="4110417"/>
            <a:ext cx="676656" cy="237744"/>
          </a:xfrm>
          <a:prstGeom prst="roundRect">
            <a:avLst>
              <a:gd name="adj" fmla="val 23077"/>
            </a:avLst>
          </a:prstGeom>
          <a:solidFill>
            <a:srgbClr val="F3E8FE"/>
          </a:solidFill>
          <a:ln/>
        </p:spPr>
        <p:txBody>
          <a:bodyPr/>
          <a:lstStyle/>
          <a:p>
            <a:endParaRPr lang="en-US"/>
          </a:p>
        </p:txBody>
      </p:sp>
      <p:sp>
        <p:nvSpPr>
          <p:cNvPr id="27" name="Text 25"/>
          <p:cNvSpPr txBox="1"/>
          <p:nvPr/>
        </p:nvSpPr>
        <p:spPr>
          <a:xfrm>
            <a:off x="396240" y="4121163"/>
            <a:ext cx="603504" cy="229564"/>
          </a:xfrm>
          <a:prstGeom prst="rect">
            <a:avLst/>
          </a:prstGeom>
          <a:noFill/>
          <a:ln/>
        </p:spPr>
        <p:txBody>
          <a:bodyPr wrap="square" lIns="0" tIns="0" rIns="0" bIns="0" rtlCol="0" anchor="ctr"/>
          <a:lstStyle/>
          <a:p>
            <a:pPr marL="0" indent="0" algn="ctr">
              <a:buNone/>
            </a:pPr>
            <a:r>
              <a:rPr lang="en-US" sz="1000" b="1" dirty="0">
                <a:solidFill>
                  <a:srgbClr val="7B2FBE"/>
                </a:solidFill>
                <a:latin typeface="Courier New" pitchFamily="34" charset="0"/>
                <a:ea typeface="Courier New" pitchFamily="34" charset="-122"/>
                <a:cs typeface="Courier New" pitchFamily="34" charset="-120"/>
              </a:rPr>
              <a:t>C#</a:t>
            </a:r>
            <a:endParaRPr lang="en-US" sz="1000" dirty="0"/>
          </a:p>
        </p:txBody>
      </p:sp>
      <p:sp>
        <p:nvSpPr>
          <p:cNvPr id="28" name="Shape 26"/>
          <p:cNvSpPr/>
          <p:nvPr/>
        </p:nvSpPr>
        <p:spPr>
          <a:xfrm>
            <a:off x="426720" y="4415956"/>
            <a:ext cx="11338560" cy="1572768"/>
          </a:xfrm>
          <a:prstGeom prst="rect">
            <a:avLst/>
          </a:prstGeom>
          <a:solidFill>
            <a:srgbClr val="EEF1FA"/>
          </a:solidFill>
          <a:ln w="12700">
            <a:solidFill>
              <a:srgbClr val="D0DAF0"/>
            </a:solidFill>
            <a:prstDash val="solid"/>
          </a:ln>
        </p:spPr>
        <p:txBody>
          <a:bodyPr/>
          <a:lstStyle/>
          <a:p>
            <a:endParaRPr lang="en-US"/>
          </a:p>
        </p:txBody>
      </p:sp>
      <p:sp>
        <p:nvSpPr>
          <p:cNvPr id="29" name="Text 27"/>
          <p:cNvSpPr txBox="1"/>
          <p:nvPr/>
        </p:nvSpPr>
        <p:spPr>
          <a:xfrm>
            <a:off x="466344" y="4478022"/>
            <a:ext cx="11225784" cy="1474722"/>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class Counter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private int count = 0;             // class field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public void Broken(int count) {    // parameter shadows field!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count++;                       // increments the PARAMETER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Console.WriteLine(this.count); // must use "this" for field</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p:txBody>
      </p:sp>
      <p:sp>
        <p:nvSpPr>
          <p:cNvPr id="30" name="Shape 28"/>
          <p:cNvSpPr/>
          <p:nvPr/>
        </p:nvSpPr>
        <p:spPr>
          <a:xfrm>
            <a:off x="401901" y="6042952"/>
            <a:ext cx="54864" cy="457200"/>
          </a:xfrm>
          <a:prstGeom prst="rect">
            <a:avLst/>
          </a:prstGeom>
          <a:solidFill>
            <a:srgbClr val="2E5BFF"/>
          </a:solidFill>
          <a:ln/>
        </p:spPr>
        <p:txBody>
          <a:bodyPr/>
          <a:lstStyle/>
          <a:p>
            <a:endParaRPr lang="en-US"/>
          </a:p>
        </p:txBody>
      </p:sp>
      <p:sp>
        <p:nvSpPr>
          <p:cNvPr id="31" name="Shape 29"/>
          <p:cNvSpPr/>
          <p:nvPr/>
        </p:nvSpPr>
        <p:spPr>
          <a:xfrm>
            <a:off x="456765" y="6042952"/>
            <a:ext cx="11278035" cy="815048"/>
          </a:xfrm>
          <a:prstGeom prst="rect">
            <a:avLst/>
          </a:prstGeom>
          <a:solidFill>
            <a:srgbClr val="EFF6FF"/>
          </a:solidFill>
          <a:ln w="12700">
            <a:solidFill>
              <a:srgbClr val="BFDBFE"/>
            </a:solidFill>
            <a:prstDash val="solid"/>
          </a:ln>
        </p:spPr>
        <p:txBody>
          <a:bodyPr/>
          <a:lstStyle/>
          <a:p>
            <a:endParaRPr lang="en-US"/>
          </a:p>
        </p:txBody>
      </p:sp>
      <p:sp>
        <p:nvSpPr>
          <p:cNvPr id="32" name="Text 30"/>
          <p:cNvSpPr txBox="1"/>
          <p:nvPr/>
        </p:nvSpPr>
        <p:spPr>
          <a:xfrm>
            <a:off x="584781" y="6116104"/>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33" name="Text 31"/>
          <p:cNvSpPr txBox="1"/>
          <p:nvPr/>
        </p:nvSpPr>
        <p:spPr>
          <a:xfrm>
            <a:off x="824267" y="6528200"/>
            <a:ext cx="11064240" cy="45720"/>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Is shadowing good, bad, or both? C prioritises simplicity — allow it, trust the programmer. C# prioritises safety — block one specific dangerous case. Python prioritises expressiveness — allow it, provide keywords to control it. No single "correct" answer.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Name Resolution: The 7-Step Algorithm</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6b</a:t>
            </a:r>
            <a:endParaRPr lang="en-US" sz="900" dirty="0"/>
          </a:p>
        </p:txBody>
      </p:sp>
      <p:sp>
        <p:nvSpPr>
          <p:cNvPr id="5" name="Text 3"/>
          <p:cNvSpPr txBox="1"/>
          <p:nvPr/>
        </p:nvSpPr>
        <p:spPr>
          <a:xfrm>
            <a:off x="411480" y="987552"/>
            <a:ext cx="11338560" cy="329184"/>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Name resolution is the process of determining which declaration a particular use of a name refers to.</a:t>
            </a:r>
            <a:endParaRPr lang="en-US" sz="1300" dirty="0"/>
          </a:p>
        </p:txBody>
      </p:sp>
      <p:sp>
        <p:nvSpPr>
          <p:cNvPr id="6" name="Shape 4"/>
          <p:cNvSpPr/>
          <p:nvPr/>
        </p:nvSpPr>
        <p:spPr>
          <a:xfrm>
            <a:off x="411480" y="1389888"/>
            <a:ext cx="475488" cy="475488"/>
          </a:xfrm>
          <a:prstGeom prst="rect">
            <a:avLst/>
          </a:prstGeom>
          <a:solidFill>
            <a:srgbClr val="1A2B5E"/>
          </a:solidFill>
          <a:ln/>
        </p:spPr>
        <p:txBody>
          <a:bodyPr/>
          <a:lstStyle/>
          <a:p>
            <a:endParaRPr lang="en-US"/>
          </a:p>
        </p:txBody>
      </p:sp>
      <p:sp>
        <p:nvSpPr>
          <p:cNvPr id="7" name="Text 5"/>
          <p:cNvSpPr txBox="1"/>
          <p:nvPr/>
        </p:nvSpPr>
        <p:spPr>
          <a:xfrm>
            <a:off x="411480" y="1481328"/>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05840" y="1426464"/>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Find the use</a:t>
            </a:r>
            <a:endParaRPr lang="en-US" sz="1200" dirty="0"/>
          </a:p>
        </p:txBody>
      </p:sp>
      <p:sp>
        <p:nvSpPr>
          <p:cNvPr id="9" name="Text 7"/>
          <p:cNvSpPr txBox="1"/>
          <p:nvPr/>
        </p:nvSpPr>
        <p:spPr>
          <a:xfrm>
            <a:off x="3977640" y="1426464"/>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Identify the name being referenced in the code.</a:t>
            </a:r>
            <a:endParaRPr lang="en-US" sz="1200" dirty="0"/>
          </a:p>
        </p:txBody>
      </p:sp>
      <p:sp>
        <p:nvSpPr>
          <p:cNvPr id="10" name="Shape 8"/>
          <p:cNvSpPr/>
          <p:nvPr/>
        </p:nvSpPr>
        <p:spPr>
          <a:xfrm>
            <a:off x="411480" y="2103120"/>
            <a:ext cx="475488" cy="475488"/>
          </a:xfrm>
          <a:prstGeom prst="rect">
            <a:avLst/>
          </a:prstGeom>
          <a:solidFill>
            <a:srgbClr val="1A2B5E"/>
          </a:solidFill>
          <a:ln/>
        </p:spPr>
        <p:txBody>
          <a:bodyPr/>
          <a:lstStyle/>
          <a:p>
            <a:endParaRPr lang="en-US"/>
          </a:p>
        </p:txBody>
      </p:sp>
      <p:sp>
        <p:nvSpPr>
          <p:cNvPr id="11" name="Text 9"/>
          <p:cNvSpPr txBox="1"/>
          <p:nvPr/>
        </p:nvSpPr>
        <p:spPr>
          <a:xfrm>
            <a:off x="411480" y="2194560"/>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05840" y="2139696"/>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Identify current scope</a:t>
            </a:r>
            <a:endParaRPr lang="en-US" sz="1200" dirty="0"/>
          </a:p>
        </p:txBody>
      </p:sp>
      <p:sp>
        <p:nvSpPr>
          <p:cNvPr id="13" name="Text 11"/>
          <p:cNvSpPr txBox="1"/>
          <p:nvPr/>
        </p:nvSpPr>
        <p:spPr>
          <a:xfrm>
            <a:off x="3977640" y="2139696"/>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Which function, block, or module contains this reference?</a:t>
            </a:r>
            <a:endParaRPr lang="en-US" sz="1200" dirty="0"/>
          </a:p>
        </p:txBody>
      </p:sp>
      <p:sp>
        <p:nvSpPr>
          <p:cNvPr id="14" name="Shape 12"/>
          <p:cNvSpPr/>
          <p:nvPr/>
        </p:nvSpPr>
        <p:spPr>
          <a:xfrm>
            <a:off x="411480" y="2816352"/>
            <a:ext cx="475488" cy="475488"/>
          </a:xfrm>
          <a:prstGeom prst="rect">
            <a:avLst/>
          </a:prstGeom>
          <a:solidFill>
            <a:srgbClr val="1A2B5E"/>
          </a:solidFill>
          <a:ln/>
        </p:spPr>
        <p:txBody>
          <a:bodyPr/>
          <a:lstStyle/>
          <a:p>
            <a:endParaRPr lang="en-US"/>
          </a:p>
        </p:txBody>
      </p:sp>
      <p:sp>
        <p:nvSpPr>
          <p:cNvPr id="15" name="Text 13"/>
          <p:cNvSpPr txBox="1"/>
          <p:nvPr/>
        </p:nvSpPr>
        <p:spPr>
          <a:xfrm>
            <a:off x="411480" y="2907792"/>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05840" y="2852928"/>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Search current scope</a:t>
            </a:r>
            <a:endParaRPr lang="en-US" sz="1200" dirty="0"/>
          </a:p>
        </p:txBody>
      </p:sp>
      <p:sp>
        <p:nvSpPr>
          <p:cNvPr id="17" name="Text 15"/>
          <p:cNvSpPr txBox="1"/>
          <p:nvPr/>
        </p:nvSpPr>
        <p:spPr>
          <a:xfrm>
            <a:off x="3977640" y="2852928"/>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Is there a declaration for this name here?</a:t>
            </a:r>
            <a:endParaRPr lang="en-US" sz="1200" dirty="0"/>
          </a:p>
        </p:txBody>
      </p:sp>
      <p:sp>
        <p:nvSpPr>
          <p:cNvPr id="18" name="Shape 16"/>
          <p:cNvSpPr/>
          <p:nvPr/>
        </p:nvSpPr>
        <p:spPr>
          <a:xfrm>
            <a:off x="411480" y="3529584"/>
            <a:ext cx="475488" cy="475488"/>
          </a:xfrm>
          <a:prstGeom prst="rect">
            <a:avLst/>
          </a:prstGeom>
          <a:solidFill>
            <a:srgbClr val="1A7A3C"/>
          </a:solidFill>
          <a:ln/>
        </p:spPr>
        <p:txBody>
          <a:bodyPr/>
          <a:lstStyle/>
          <a:p>
            <a:endParaRPr lang="en-US"/>
          </a:p>
        </p:txBody>
      </p:sp>
      <p:sp>
        <p:nvSpPr>
          <p:cNvPr id="19" name="Text 17"/>
          <p:cNvSpPr txBox="1"/>
          <p:nvPr/>
        </p:nvSpPr>
        <p:spPr>
          <a:xfrm>
            <a:off x="411480" y="3621024"/>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05840" y="3566160"/>
            <a:ext cx="2834640" cy="237744"/>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If found — stop</a:t>
            </a:r>
            <a:endParaRPr lang="en-US" sz="1200" dirty="0"/>
          </a:p>
        </p:txBody>
      </p:sp>
      <p:sp>
        <p:nvSpPr>
          <p:cNvPr id="21" name="Text 19"/>
          <p:cNvSpPr txBox="1"/>
          <p:nvPr/>
        </p:nvSpPr>
        <p:spPr>
          <a:xfrm>
            <a:off x="3977640" y="3566160"/>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Use that declaration. Resolution is complete.</a:t>
            </a:r>
            <a:endParaRPr lang="en-US" sz="1200" dirty="0"/>
          </a:p>
        </p:txBody>
      </p:sp>
      <p:sp>
        <p:nvSpPr>
          <p:cNvPr id="22" name="Shape 20"/>
          <p:cNvSpPr/>
          <p:nvPr/>
        </p:nvSpPr>
        <p:spPr>
          <a:xfrm>
            <a:off x="411480" y="4242816"/>
            <a:ext cx="475488" cy="475488"/>
          </a:xfrm>
          <a:prstGeom prst="rect">
            <a:avLst/>
          </a:prstGeom>
          <a:solidFill>
            <a:srgbClr val="1A2B5E"/>
          </a:solidFill>
          <a:ln/>
        </p:spPr>
        <p:txBody>
          <a:bodyPr/>
          <a:lstStyle/>
          <a:p>
            <a:endParaRPr lang="en-US"/>
          </a:p>
        </p:txBody>
      </p:sp>
      <p:sp>
        <p:nvSpPr>
          <p:cNvPr id="23" name="Text 21"/>
          <p:cNvSpPr txBox="1"/>
          <p:nvPr/>
        </p:nvSpPr>
        <p:spPr>
          <a:xfrm>
            <a:off x="411480" y="4334256"/>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05840" y="4279392"/>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If not found — move outward</a:t>
            </a:r>
            <a:endParaRPr lang="en-US" sz="1200" dirty="0"/>
          </a:p>
        </p:txBody>
      </p:sp>
      <p:sp>
        <p:nvSpPr>
          <p:cNvPr id="25" name="Text 23"/>
          <p:cNvSpPr txBox="1"/>
          <p:nvPr/>
        </p:nvSpPr>
        <p:spPr>
          <a:xfrm>
            <a:off x="3977640" y="4279392"/>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Go to the enclosing scope, following the language's rules.</a:t>
            </a:r>
            <a:endParaRPr lang="en-US" sz="1200" dirty="0"/>
          </a:p>
        </p:txBody>
      </p:sp>
      <p:sp>
        <p:nvSpPr>
          <p:cNvPr id="26" name="Shape 24"/>
          <p:cNvSpPr/>
          <p:nvPr/>
        </p:nvSpPr>
        <p:spPr>
          <a:xfrm>
            <a:off x="411480" y="4956048"/>
            <a:ext cx="475488" cy="475488"/>
          </a:xfrm>
          <a:prstGeom prst="rect">
            <a:avLst/>
          </a:prstGeom>
          <a:solidFill>
            <a:srgbClr val="1A2B5E"/>
          </a:solidFill>
          <a:ln/>
        </p:spPr>
        <p:txBody>
          <a:bodyPr/>
          <a:lstStyle/>
          <a:p>
            <a:endParaRPr lang="en-US"/>
          </a:p>
        </p:txBody>
      </p:sp>
      <p:sp>
        <p:nvSpPr>
          <p:cNvPr id="27" name="Text 25"/>
          <p:cNvSpPr txBox="1"/>
          <p:nvPr/>
        </p:nvSpPr>
        <p:spPr>
          <a:xfrm>
            <a:off x="411480" y="5047488"/>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1005840" y="4992624"/>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Continue outward</a:t>
            </a:r>
            <a:endParaRPr lang="en-US" sz="1200" dirty="0"/>
          </a:p>
        </p:txBody>
      </p:sp>
      <p:sp>
        <p:nvSpPr>
          <p:cNvPr id="29" name="Text 27"/>
          <p:cNvSpPr txBox="1"/>
          <p:nvPr/>
        </p:nvSpPr>
        <p:spPr>
          <a:xfrm>
            <a:off x="3977640" y="4992624"/>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Repeat until found or no more enclosing scopes.</a:t>
            </a:r>
            <a:endParaRPr lang="en-US" sz="1200" dirty="0"/>
          </a:p>
        </p:txBody>
      </p:sp>
      <p:sp>
        <p:nvSpPr>
          <p:cNvPr id="30" name="Shape 28"/>
          <p:cNvSpPr/>
          <p:nvPr/>
        </p:nvSpPr>
        <p:spPr>
          <a:xfrm>
            <a:off x="411480" y="5669280"/>
            <a:ext cx="475488" cy="475488"/>
          </a:xfrm>
          <a:prstGeom prst="rect">
            <a:avLst/>
          </a:prstGeom>
          <a:solidFill>
            <a:srgbClr val="1A2B5E"/>
          </a:solidFill>
          <a:ln/>
        </p:spPr>
        <p:txBody>
          <a:bodyPr/>
          <a:lstStyle/>
          <a:p>
            <a:endParaRPr lang="en-US"/>
          </a:p>
        </p:txBody>
      </p:sp>
      <p:sp>
        <p:nvSpPr>
          <p:cNvPr id="31" name="Text 29"/>
          <p:cNvSpPr txBox="1"/>
          <p:nvPr/>
        </p:nvSpPr>
        <p:spPr>
          <a:xfrm>
            <a:off x="411480" y="5760720"/>
            <a:ext cx="4754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2" name="Text 30"/>
          <p:cNvSpPr txBox="1"/>
          <p:nvPr/>
        </p:nvSpPr>
        <p:spPr>
          <a:xfrm>
            <a:off x="1005840" y="5705856"/>
            <a:ext cx="283464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If never found</a:t>
            </a:r>
            <a:endParaRPr lang="en-US" sz="1200" dirty="0"/>
          </a:p>
        </p:txBody>
      </p:sp>
      <p:sp>
        <p:nvSpPr>
          <p:cNvPr id="33" name="Text 31"/>
          <p:cNvSpPr txBox="1"/>
          <p:nvPr/>
        </p:nvSpPr>
        <p:spPr>
          <a:xfrm>
            <a:off x="3977640" y="5705856"/>
            <a:ext cx="8229600" cy="594360"/>
          </a:xfrm>
          <a:prstGeom prst="rect">
            <a:avLst/>
          </a:prstGeom>
          <a:noFill/>
          <a:ln/>
        </p:spPr>
        <p:txBody>
          <a:bodyPr wrap="square" lIns="0" tIns="0" rIns="0" bIns="0" rtlCol="0" anchor="ctr"/>
          <a:lstStyle/>
          <a:p>
            <a:pPr marL="0" indent="0">
              <a:lnSpc>
                <a:spcPct val="132000"/>
              </a:lnSpc>
              <a:buNone/>
            </a:pPr>
            <a:r>
              <a:rPr lang="en-US" sz="1200" dirty="0">
                <a:solidFill>
                  <a:srgbClr val="1E2A3A"/>
                </a:solidFill>
                <a:latin typeface="Calibri" pitchFamily="34" charset="0"/>
                <a:ea typeface="Calibri" pitchFamily="34" charset="-122"/>
                <a:cs typeface="Calibri" pitchFamily="34" charset="-120"/>
              </a:rPr>
              <a:t>Language decides: compile error (C/C#) or runtime NameError (Python).</a:t>
            </a:r>
            <a:endParaRPr lang="en-US" sz="1200" dirty="0"/>
          </a:p>
        </p:txBody>
      </p:sp>
      <p:sp>
        <p:nvSpPr>
          <p:cNvPr id="34" name="Shape 32"/>
          <p:cNvSpPr/>
          <p:nvPr/>
        </p:nvSpPr>
        <p:spPr>
          <a:xfrm>
            <a:off x="411480" y="6400800"/>
            <a:ext cx="11338560" cy="402336"/>
          </a:xfrm>
          <a:prstGeom prst="rect">
            <a:avLst/>
          </a:prstGeom>
          <a:solidFill>
            <a:srgbClr val="EEF1FA"/>
          </a:solidFill>
          <a:ln w="12700">
            <a:solidFill>
              <a:srgbClr val="D0DAF0"/>
            </a:solidFill>
            <a:prstDash val="solid"/>
          </a:ln>
        </p:spPr>
        <p:txBody>
          <a:bodyPr/>
          <a:lstStyle/>
          <a:p>
            <a:endParaRPr lang="en-US"/>
          </a:p>
        </p:txBody>
      </p:sp>
      <p:sp>
        <p:nvSpPr>
          <p:cNvPr id="35" name="Text 33"/>
          <p:cNvSpPr txBox="1"/>
          <p:nvPr/>
        </p:nvSpPr>
        <p:spPr>
          <a:xfrm>
            <a:off x="566928" y="6492240"/>
            <a:ext cx="1097280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 compile error  ·  C#: compile error  ·  Python: NameError at runtime  ←  Step 7 reveals a key design difference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Name Resolution: What Changes When Scopes Are Removed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6b</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same print(x) — different outcome depending on which declarations exist in enclosing scopes.</a:t>
            </a:r>
            <a:endParaRPr lang="en-US" sz="1300" dirty="0"/>
          </a:p>
        </p:txBody>
      </p:sp>
      <p:sp>
        <p:nvSpPr>
          <p:cNvPr id="6" name="Shape 4"/>
          <p:cNvSpPr/>
          <p:nvPr/>
        </p:nvSpPr>
        <p:spPr>
          <a:xfrm>
            <a:off x="441960" y="1429512"/>
            <a:ext cx="2905034" cy="182880"/>
          </a:xfrm>
          <a:prstGeom prst="roundRect">
            <a:avLst>
              <a:gd name="adj" fmla="val 23077"/>
            </a:avLst>
          </a:prstGeom>
          <a:solidFill>
            <a:srgbClr val="FEF3E8"/>
          </a:solidFill>
          <a:ln/>
        </p:spPr>
        <p:txBody>
          <a:bodyPr/>
          <a:lstStyle/>
          <a:p>
            <a:endParaRPr lang="en-US"/>
          </a:p>
        </p:txBody>
      </p:sp>
      <p:sp>
        <p:nvSpPr>
          <p:cNvPr id="7" name="Text 5"/>
          <p:cNvSpPr txBox="1"/>
          <p:nvPr/>
        </p:nvSpPr>
        <p:spPr>
          <a:xfrm>
            <a:off x="542544" y="1457960"/>
            <a:ext cx="603504" cy="182880"/>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8" name="Shape 6"/>
          <p:cNvSpPr/>
          <p:nvPr/>
        </p:nvSpPr>
        <p:spPr>
          <a:xfrm>
            <a:off x="441960" y="1713992"/>
            <a:ext cx="2905034" cy="2194560"/>
          </a:xfrm>
          <a:prstGeom prst="rect">
            <a:avLst/>
          </a:prstGeom>
          <a:solidFill>
            <a:srgbClr val="EEF1FA"/>
          </a:solidFill>
          <a:ln w="12700">
            <a:solidFill>
              <a:srgbClr val="D0DAF0"/>
            </a:solidFill>
            <a:prstDash val="solid"/>
          </a:ln>
        </p:spPr>
        <p:txBody>
          <a:bodyPr/>
          <a:lstStyle/>
          <a:p>
            <a:endParaRPr lang="en-US"/>
          </a:p>
        </p:txBody>
      </p:sp>
      <p:sp>
        <p:nvSpPr>
          <p:cNvPr id="9" name="Text 7"/>
          <p:cNvSpPr txBox="1"/>
          <p:nvPr/>
        </p:nvSpPr>
        <p:spPr>
          <a:xfrm>
            <a:off x="569976" y="1805432"/>
            <a:ext cx="2777018" cy="2029968"/>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x = 100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outer():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x = 50</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def inner():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 x = 10 ← varies</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print(x)</a:t>
            </a:r>
            <a:endParaRPr lang="en-US" sz="1100" dirty="0"/>
          </a:p>
        </p:txBody>
      </p:sp>
      <p:sp>
        <p:nvSpPr>
          <p:cNvPr id="10" name="Shape 8"/>
          <p:cNvSpPr/>
          <p:nvPr/>
        </p:nvSpPr>
        <p:spPr>
          <a:xfrm>
            <a:off x="3456722" y="1383792"/>
            <a:ext cx="2560320" cy="292608"/>
          </a:xfrm>
          <a:prstGeom prst="roundRect">
            <a:avLst>
              <a:gd name="adj" fmla="val 18750"/>
            </a:avLst>
          </a:prstGeom>
          <a:solidFill>
            <a:srgbClr val="EDE9FE"/>
          </a:solidFill>
          <a:ln w="12700">
            <a:solidFill>
              <a:srgbClr val="C4B5FD"/>
            </a:solidFill>
            <a:prstDash val="solid"/>
          </a:ln>
        </p:spPr>
        <p:txBody>
          <a:bodyPr/>
          <a:lstStyle/>
          <a:p>
            <a:endParaRPr lang="en-US"/>
          </a:p>
        </p:txBody>
      </p:sp>
      <p:sp>
        <p:nvSpPr>
          <p:cNvPr id="11" name="Text 9"/>
          <p:cNvSpPr txBox="1"/>
          <p:nvPr/>
        </p:nvSpPr>
        <p:spPr>
          <a:xfrm>
            <a:off x="3529874" y="1429512"/>
            <a:ext cx="2340864" cy="201168"/>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All three x declarations</a:t>
            </a:r>
            <a:endParaRPr lang="en-US" sz="1000" dirty="0"/>
          </a:p>
        </p:txBody>
      </p:sp>
      <p:sp>
        <p:nvSpPr>
          <p:cNvPr id="12" name="Shape 10"/>
          <p:cNvSpPr/>
          <p:nvPr/>
        </p:nvSpPr>
        <p:spPr>
          <a:xfrm>
            <a:off x="3456722" y="1757970"/>
            <a:ext cx="2560320" cy="2221992"/>
          </a:xfrm>
          <a:prstGeom prst="rect">
            <a:avLst/>
          </a:prstGeom>
          <a:solidFill>
            <a:srgbClr val="EEF1FA"/>
          </a:solidFill>
          <a:ln w="12700">
            <a:solidFill>
              <a:srgbClr val="C4B5FD"/>
            </a:solidFill>
            <a:prstDash val="solid"/>
          </a:ln>
        </p:spPr>
        <p:txBody>
          <a:bodyPr/>
          <a:lstStyle/>
          <a:p>
            <a:endParaRPr lang="en-US" dirty="0"/>
          </a:p>
        </p:txBody>
      </p:sp>
      <p:sp>
        <p:nvSpPr>
          <p:cNvPr id="13" name="Text 11"/>
          <p:cNvSpPr txBox="1"/>
          <p:nvPr/>
        </p:nvSpPr>
        <p:spPr>
          <a:xfrm>
            <a:off x="3548162" y="1795272"/>
            <a:ext cx="2331720" cy="1719072"/>
          </a:xfrm>
          <a:prstGeom prst="rect">
            <a:avLst/>
          </a:prstGeom>
          <a:noFill/>
          <a:ln/>
        </p:spPr>
        <p:txBody>
          <a:bodyPr wrap="square" lIns="0" tIns="0" rIns="0" bIns="0" rtlCol="0" anchor="ctr"/>
          <a:lstStyle/>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x=10 local in inner()</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L (inner): → found!</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Use x = 10.</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Output: 10</a:t>
            </a:r>
            <a:endParaRPr lang="en-US" sz="1050" dirty="0"/>
          </a:p>
        </p:txBody>
      </p:sp>
      <p:sp>
        <p:nvSpPr>
          <p:cNvPr id="14" name="Shape 12"/>
          <p:cNvSpPr/>
          <p:nvPr/>
        </p:nvSpPr>
        <p:spPr>
          <a:xfrm>
            <a:off x="6090194" y="1383792"/>
            <a:ext cx="2487168" cy="292608"/>
          </a:xfrm>
          <a:prstGeom prst="roundRect">
            <a:avLst>
              <a:gd name="adj" fmla="val 18750"/>
            </a:avLst>
          </a:prstGeom>
          <a:solidFill>
            <a:srgbClr val="FFFBEB"/>
          </a:solidFill>
          <a:ln w="12700">
            <a:solidFill>
              <a:srgbClr val="FCD34D"/>
            </a:solidFill>
            <a:prstDash val="solid"/>
          </a:ln>
        </p:spPr>
        <p:txBody>
          <a:bodyPr/>
          <a:lstStyle/>
          <a:p>
            <a:endParaRPr lang="en-US"/>
          </a:p>
        </p:txBody>
      </p:sp>
      <p:sp>
        <p:nvSpPr>
          <p:cNvPr id="15" name="Text 13"/>
          <p:cNvSpPr txBox="1"/>
          <p:nvPr/>
        </p:nvSpPr>
        <p:spPr>
          <a:xfrm>
            <a:off x="6163346" y="1429512"/>
            <a:ext cx="2340864" cy="201168"/>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Remove inner's x</a:t>
            </a:r>
            <a:endParaRPr lang="en-US" sz="1000" dirty="0"/>
          </a:p>
        </p:txBody>
      </p:sp>
      <p:sp>
        <p:nvSpPr>
          <p:cNvPr id="16" name="Shape 14"/>
          <p:cNvSpPr/>
          <p:nvPr/>
        </p:nvSpPr>
        <p:spPr>
          <a:xfrm>
            <a:off x="6090194" y="1722120"/>
            <a:ext cx="2487168" cy="2257842"/>
          </a:xfrm>
          <a:prstGeom prst="rect">
            <a:avLst/>
          </a:prstGeom>
          <a:solidFill>
            <a:srgbClr val="EEF1FA"/>
          </a:solidFill>
          <a:ln w="12700">
            <a:solidFill>
              <a:srgbClr val="FCD34D"/>
            </a:solidFill>
            <a:prstDash val="solid"/>
          </a:ln>
        </p:spPr>
        <p:txBody>
          <a:bodyPr/>
          <a:lstStyle/>
          <a:p>
            <a:endParaRPr lang="en-US"/>
          </a:p>
        </p:txBody>
      </p:sp>
      <p:sp>
        <p:nvSpPr>
          <p:cNvPr id="17" name="Text 15"/>
          <p:cNvSpPr txBox="1"/>
          <p:nvPr/>
        </p:nvSpPr>
        <p:spPr>
          <a:xfrm>
            <a:off x="6181634" y="1795272"/>
            <a:ext cx="2331720" cy="1719072"/>
          </a:xfrm>
          <a:prstGeom prst="rect">
            <a:avLst/>
          </a:prstGeom>
          <a:noFill/>
          <a:ln/>
        </p:spPr>
        <p:txBody>
          <a:bodyPr wrap="square" lIns="0" tIns="0" rIns="0" bIns="0" rtlCol="0" anchor="ctr"/>
          <a:lstStyle/>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x=10 deleted from inner()</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L (inner): miss ✗</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E (outer): → found!</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x = 50</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Output: 50</a:t>
            </a:r>
            <a:endParaRPr lang="en-US" sz="1050" dirty="0"/>
          </a:p>
        </p:txBody>
      </p:sp>
      <p:sp>
        <p:nvSpPr>
          <p:cNvPr id="18" name="Shape 16"/>
          <p:cNvSpPr/>
          <p:nvPr/>
        </p:nvSpPr>
        <p:spPr>
          <a:xfrm>
            <a:off x="8723666" y="1383792"/>
            <a:ext cx="2487168" cy="292608"/>
          </a:xfrm>
          <a:prstGeom prst="roundRect">
            <a:avLst>
              <a:gd name="adj" fmla="val 18750"/>
            </a:avLst>
          </a:prstGeom>
          <a:solidFill>
            <a:srgbClr val="DCFCE7"/>
          </a:solidFill>
          <a:ln w="12700">
            <a:solidFill>
              <a:srgbClr val="6EE7B7"/>
            </a:solidFill>
            <a:prstDash val="solid"/>
          </a:ln>
        </p:spPr>
        <p:txBody>
          <a:bodyPr/>
          <a:lstStyle/>
          <a:p>
            <a:endParaRPr lang="en-US"/>
          </a:p>
        </p:txBody>
      </p:sp>
      <p:sp>
        <p:nvSpPr>
          <p:cNvPr id="19" name="Text 17"/>
          <p:cNvSpPr txBox="1"/>
          <p:nvPr/>
        </p:nvSpPr>
        <p:spPr>
          <a:xfrm>
            <a:off x="8796818" y="1429512"/>
            <a:ext cx="2340864" cy="201168"/>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Remove outer's x too</a:t>
            </a:r>
            <a:endParaRPr lang="en-US" sz="1000" dirty="0"/>
          </a:p>
        </p:txBody>
      </p:sp>
      <p:sp>
        <p:nvSpPr>
          <p:cNvPr id="20" name="Shape 18"/>
          <p:cNvSpPr/>
          <p:nvPr/>
        </p:nvSpPr>
        <p:spPr>
          <a:xfrm>
            <a:off x="8723666" y="1722120"/>
            <a:ext cx="2487168" cy="2246376"/>
          </a:xfrm>
          <a:prstGeom prst="rect">
            <a:avLst/>
          </a:prstGeom>
          <a:solidFill>
            <a:srgbClr val="EEF1FA"/>
          </a:solidFill>
          <a:ln w="12700">
            <a:solidFill>
              <a:srgbClr val="6EE7B7"/>
            </a:solidFill>
            <a:prstDash val="solid"/>
          </a:ln>
        </p:spPr>
        <p:txBody>
          <a:bodyPr/>
          <a:lstStyle/>
          <a:p>
            <a:endParaRPr lang="en-US"/>
          </a:p>
        </p:txBody>
      </p:sp>
      <p:sp>
        <p:nvSpPr>
          <p:cNvPr id="21" name="Text 19"/>
          <p:cNvSpPr txBox="1"/>
          <p:nvPr/>
        </p:nvSpPr>
        <p:spPr>
          <a:xfrm>
            <a:off x="8815106" y="1795272"/>
            <a:ext cx="2331720" cy="1719072"/>
          </a:xfrm>
          <a:prstGeom prst="rect">
            <a:avLst/>
          </a:prstGeom>
          <a:noFill/>
          <a:ln/>
        </p:spPr>
        <p:txBody>
          <a:bodyPr wrap="square" lIns="0" tIns="0" rIns="0" bIns="0" rtlCol="0" anchor="ctr"/>
          <a:lstStyle/>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x=50 deleted from outer()</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L: miss ✗</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E: miss ✗</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Search G: → found!</a:t>
            </a: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x = 100</a:t>
            </a:r>
            <a:endParaRPr lang="en-US" sz="1050" dirty="0"/>
          </a:p>
          <a:p>
            <a:pPr marL="0" indent="0">
              <a:lnSpc>
                <a:spcPct val="155000"/>
              </a:lnSpc>
              <a:buNone/>
            </a:pPr>
            <a:endParaRPr lang="en-US" sz="1050" dirty="0"/>
          </a:p>
          <a:p>
            <a:pPr marL="0" indent="0">
              <a:lnSpc>
                <a:spcPct val="155000"/>
              </a:lnSpc>
              <a:buNone/>
            </a:pPr>
            <a:r>
              <a:rPr lang="en-US" sz="1050" dirty="0">
                <a:solidFill>
                  <a:srgbClr val="1A2B5E"/>
                </a:solidFill>
                <a:latin typeface="Courier New" pitchFamily="34" charset="0"/>
                <a:ea typeface="Courier New" pitchFamily="34" charset="-122"/>
                <a:cs typeface="Courier New" pitchFamily="34" charset="-120"/>
              </a:rPr>
              <a:t>Output: 100</a:t>
            </a:r>
            <a:endParaRPr lang="en-US" sz="1050" dirty="0"/>
          </a:p>
        </p:txBody>
      </p:sp>
      <p:sp>
        <p:nvSpPr>
          <p:cNvPr id="22" name="Text 20"/>
          <p:cNvSpPr txBox="1"/>
          <p:nvPr/>
        </p:nvSpPr>
        <p:spPr>
          <a:xfrm>
            <a:off x="411480" y="3913632"/>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Name resolution across all three languages — same algorithm, different scopes:</a:t>
            </a:r>
            <a:endParaRPr lang="en-US" sz="1300" dirty="0"/>
          </a:p>
        </p:txBody>
      </p:sp>
      <p:sp>
        <p:nvSpPr>
          <p:cNvPr id="23" name="Shape 21"/>
          <p:cNvSpPr/>
          <p:nvPr/>
        </p:nvSpPr>
        <p:spPr>
          <a:xfrm>
            <a:off x="374904" y="4251960"/>
            <a:ext cx="11338560" cy="292608"/>
          </a:xfrm>
          <a:prstGeom prst="rect">
            <a:avLst/>
          </a:prstGeom>
          <a:solidFill>
            <a:srgbClr val="1A2B5E"/>
          </a:solidFill>
          <a:ln/>
        </p:spPr>
        <p:txBody>
          <a:bodyPr/>
          <a:lstStyle/>
          <a:p>
            <a:endParaRPr lang="en-US"/>
          </a:p>
        </p:txBody>
      </p:sp>
      <p:sp>
        <p:nvSpPr>
          <p:cNvPr id="24" name="Text 22"/>
          <p:cNvSpPr txBox="1"/>
          <p:nvPr/>
        </p:nvSpPr>
        <p:spPr>
          <a:xfrm>
            <a:off x="512064" y="4325112"/>
            <a:ext cx="162763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25" name="Text 23"/>
          <p:cNvSpPr txBox="1"/>
          <p:nvPr/>
        </p:nvSpPr>
        <p:spPr>
          <a:xfrm>
            <a:off x="2203704" y="4325112"/>
            <a:ext cx="276148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4"/>
          <p:cNvSpPr txBox="1"/>
          <p:nvPr/>
        </p:nvSpPr>
        <p:spPr>
          <a:xfrm>
            <a:off x="5038344" y="4325112"/>
            <a:ext cx="340156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7" name="Text 25"/>
          <p:cNvSpPr txBox="1"/>
          <p:nvPr/>
        </p:nvSpPr>
        <p:spPr>
          <a:xfrm>
            <a:off x="8513064" y="4325112"/>
            <a:ext cx="345643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28" name="Shape 26"/>
          <p:cNvSpPr/>
          <p:nvPr/>
        </p:nvSpPr>
        <p:spPr>
          <a:xfrm>
            <a:off x="374904" y="4572000"/>
            <a:ext cx="11338560" cy="402336"/>
          </a:xfrm>
          <a:prstGeom prst="rect">
            <a:avLst/>
          </a:prstGeom>
          <a:solidFill>
            <a:srgbClr val="F4F6FC"/>
          </a:solidFill>
          <a:ln w="12700">
            <a:solidFill>
              <a:srgbClr val="D0DAF0"/>
            </a:solidFill>
            <a:prstDash val="solid"/>
          </a:ln>
        </p:spPr>
        <p:txBody>
          <a:bodyPr/>
          <a:lstStyle/>
          <a:p>
            <a:endParaRPr lang="en-US"/>
          </a:p>
        </p:txBody>
      </p:sp>
      <p:sp>
        <p:nvSpPr>
          <p:cNvPr id="29" name="Text 27"/>
          <p:cNvSpPr txBox="1"/>
          <p:nvPr/>
        </p:nvSpPr>
        <p:spPr>
          <a:xfrm>
            <a:off x="512064" y="4663440"/>
            <a:ext cx="1627632"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1st search</a:t>
            </a:r>
            <a:endParaRPr lang="en-US" sz="1100" dirty="0"/>
          </a:p>
        </p:txBody>
      </p:sp>
      <p:sp>
        <p:nvSpPr>
          <p:cNvPr id="30" name="Text 28"/>
          <p:cNvSpPr txBox="1"/>
          <p:nvPr/>
        </p:nvSpPr>
        <p:spPr>
          <a:xfrm>
            <a:off x="2203704" y="4663440"/>
            <a:ext cx="2761488" cy="237744"/>
          </a:xfrm>
          <a:prstGeom prst="rect">
            <a:avLst/>
          </a:prstGeom>
          <a:noFill/>
          <a:ln/>
        </p:spPr>
        <p:txBody>
          <a:bodyPr wrap="square" lIns="0" tIns="0" rIns="0" bIns="0" rtlCol="0" anchor="ctr"/>
          <a:lstStyle/>
          <a:p>
            <a:pPr marL="0" indent="0">
              <a:buNone/>
            </a:pPr>
            <a:r>
              <a:rPr lang="en-US" sz="1100" dirty="0">
                <a:solidFill>
                  <a:srgbClr val="2E5BFF"/>
                </a:solidFill>
                <a:latin typeface="Calibri" pitchFamily="34" charset="0"/>
                <a:ea typeface="Calibri" pitchFamily="34" charset="-122"/>
                <a:cs typeface="Calibri" pitchFamily="34" charset="-120"/>
              </a:rPr>
              <a:t>Current block</a:t>
            </a:r>
            <a:endParaRPr lang="en-US" sz="1100" dirty="0"/>
          </a:p>
        </p:txBody>
      </p:sp>
      <p:sp>
        <p:nvSpPr>
          <p:cNvPr id="31" name="Text 29"/>
          <p:cNvSpPr txBox="1"/>
          <p:nvPr/>
        </p:nvSpPr>
        <p:spPr>
          <a:xfrm>
            <a:off x="5038344" y="4663440"/>
            <a:ext cx="3401568" cy="237744"/>
          </a:xfrm>
          <a:prstGeom prst="rect">
            <a:avLst/>
          </a:prstGeom>
          <a:noFill/>
          <a:ln/>
        </p:spPr>
        <p:txBody>
          <a:bodyPr wrap="square" lIns="0" tIns="0" rIns="0" bIns="0" rtlCol="0" anchor="ctr"/>
          <a:lstStyle/>
          <a:p>
            <a:pPr marL="0" indent="0">
              <a:buNone/>
            </a:pPr>
            <a:r>
              <a:rPr lang="en-US" sz="1100" dirty="0">
                <a:solidFill>
                  <a:srgbClr val="7B2FBE"/>
                </a:solidFill>
                <a:latin typeface="Calibri" pitchFamily="34" charset="0"/>
                <a:ea typeface="Calibri" pitchFamily="34" charset="-122"/>
                <a:cs typeface="Calibri" pitchFamily="34" charset="-120"/>
              </a:rPr>
              <a:t>Current block</a:t>
            </a:r>
            <a:endParaRPr lang="en-US" sz="1100" dirty="0"/>
          </a:p>
        </p:txBody>
      </p:sp>
      <p:sp>
        <p:nvSpPr>
          <p:cNvPr id="32" name="Text 30"/>
          <p:cNvSpPr txBox="1"/>
          <p:nvPr/>
        </p:nvSpPr>
        <p:spPr>
          <a:xfrm>
            <a:off x="8513064" y="4663440"/>
            <a:ext cx="3456432" cy="237744"/>
          </a:xfrm>
          <a:prstGeom prst="rect">
            <a:avLst/>
          </a:prstGeom>
          <a:noFill/>
          <a:ln/>
        </p:spPr>
        <p:txBody>
          <a:bodyPr wrap="square" lIns="0" tIns="0" rIns="0" bIns="0" rtlCol="0" anchor="ctr"/>
          <a:lstStyle/>
          <a:p>
            <a:pPr marL="0" indent="0">
              <a:buNone/>
            </a:pPr>
            <a:r>
              <a:rPr lang="en-US" sz="1100" dirty="0">
                <a:solidFill>
                  <a:srgbClr val="C05E00"/>
                </a:solidFill>
                <a:latin typeface="Calibri" pitchFamily="34" charset="0"/>
                <a:ea typeface="Calibri" pitchFamily="34" charset="-122"/>
                <a:cs typeface="Calibri" pitchFamily="34" charset="-120"/>
              </a:rPr>
              <a:t>Local (L)</a:t>
            </a:r>
            <a:endParaRPr lang="en-US" sz="1100" dirty="0"/>
          </a:p>
        </p:txBody>
      </p:sp>
      <p:sp>
        <p:nvSpPr>
          <p:cNvPr id="33" name="Shape 31"/>
          <p:cNvSpPr/>
          <p:nvPr/>
        </p:nvSpPr>
        <p:spPr>
          <a:xfrm>
            <a:off x="374904" y="4992624"/>
            <a:ext cx="11338560" cy="402336"/>
          </a:xfrm>
          <a:prstGeom prst="rect">
            <a:avLst/>
          </a:prstGeom>
          <a:solidFill>
            <a:srgbClr val="FFFFFF"/>
          </a:solidFill>
          <a:ln w="12700">
            <a:solidFill>
              <a:srgbClr val="D0DAF0"/>
            </a:solidFill>
            <a:prstDash val="solid"/>
          </a:ln>
        </p:spPr>
        <p:txBody>
          <a:bodyPr/>
          <a:lstStyle/>
          <a:p>
            <a:endParaRPr lang="en-US"/>
          </a:p>
        </p:txBody>
      </p:sp>
      <p:sp>
        <p:nvSpPr>
          <p:cNvPr id="34" name="Text 32"/>
          <p:cNvSpPr txBox="1"/>
          <p:nvPr/>
        </p:nvSpPr>
        <p:spPr>
          <a:xfrm>
            <a:off x="512064" y="5084064"/>
            <a:ext cx="1627632"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2nd search</a:t>
            </a:r>
            <a:endParaRPr lang="en-US" sz="1100" dirty="0"/>
          </a:p>
        </p:txBody>
      </p:sp>
      <p:sp>
        <p:nvSpPr>
          <p:cNvPr id="35" name="Text 33"/>
          <p:cNvSpPr txBox="1"/>
          <p:nvPr/>
        </p:nvSpPr>
        <p:spPr>
          <a:xfrm>
            <a:off x="2203704" y="5084064"/>
            <a:ext cx="2761488" cy="237744"/>
          </a:xfrm>
          <a:prstGeom prst="rect">
            <a:avLst/>
          </a:prstGeom>
          <a:noFill/>
          <a:ln/>
        </p:spPr>
        <p:txBody>
          <a:bodyPr wrap="square" lIns="0" tIns="0" rIns="0" bIns="0" rtlCol="0" anchor="ctr"/>
          <a:lstStyle/>
          <a:p>
            <a:pPr marL="0" indent="0">
              <a:buNone/>
            </a:pPr>
            <a:r>
              <a:rPr lang="en-US" sz="1100" dirty="0">
                <a:solidFill>
                  <a:srgbClr val="2E5BFF"/>
                </a:solidFill>
                <a:latin typeface="Calibri" pitchFamily="34" charset="0"/>
                <a:ea typeface="Calibri" pitchFamily="34" charset="-122"/>
                <a:cs typeface="Calibri" pitchFamily="34" charset="-120"/>
              </a:rPr>
              <a:t>Enclosing block(s)</a:t>
            </a:r>
            <a:endParaRPr lang="en-US" sz="1100" dirty="0"/>
          </a:p>
        </p:txBody>
      </p:sp>
      <p:sp>
        <p:nvSpPr>
          <p:cNvPr id="36" name="Text 34"/>
          <p:cNvSpPr txBox="1"/>
          <p:nvPr/>
        </p:nvSpPr>
        <p:spPr>
          <a:xfrm>
            <a:off x="5038344" y="5084064"/>
            <a:ext cx="3401568" cy="237744"/>
          </a:xfrm>
          <a:prstGeom prst="rect">
            <a:avLst/>
          </a:prstGeom>
          <a:noFill/>
          <a:ln/>
        </p:spPr>
        <p:txBody>
          <a:bodyPr wrap="square" lIns="0" tIns="0" rIns="0" bIns="0" rtlCol="0" anchor="ctr"/>
          <a:lstStyle/>
          <a:p>
            <a:pPr marL="0" indent="0">
              <a:buNone/>
            </a:pPr>
            <a:r>
              <a:rPr lang="en-US" sz="1100" dirty="0">
                <a:solidFill>
                  <a:srgbClr val="7B2FBE"/>
                </a:solidFill>
                <a:latin typeface="Calibri" pitchFamily="34" charset="0"/>
                <a:ea typeface="Calibri" pitchFamily="34" charset="-122"/>
                <a:cs typeface="Calibri" pitchFamily="34" charset="-120"/>
              </a:rPr>
              <a:t>Enclosing blocks / method</a:t>
            </a:r>
            <a:endParaRPr lang="en-US" sz="1100" dirty="0"/>
          </a:p>
        </p:txBody>
      </p:sp>
      <p:sp>
        <p:nvSpPr>
          <p:cNvPr id="37" name="Text 35"/>
          <p:cNvSpPr txBox="1"/>
          <p:nvPr/>
        </p:nvSpPr>
        <p:spPr>
          <a:xfrm>
            <a:off x="8513064" y="5084064"/>
            <a:ext cx="3456432" cy="237744"/>
          </a:xfrm>
          <a:prstGeom prst="rect">
            <a:avLst/>
          </a:prstGeom>
          <a:noFill/>
          <a:ln/>
        </p:spPr>
        <p:txBody>
          <a:bodyPr wrap="square" lIns="0" tIns="0" rIns="0" bIns="0" rtlCol="0" anchor="ctr"/>
          <a:lstStyle/>
          <a:p>
            <a:pPr marL="0" indent="0">
              <a:buNone/>
            </a:pPr>
            <a:r>
              <a:rPr lang="en-US" sz="1100" dirty="0">
                <a:solidFill>
                  <a:srgbClr val="C05E00"/>
                </a:solidFill>
                <a:latin typeface="Calibri" pitchFamily="34" charset="0"/>
                <a:ea typeface="Calibri" pitchFamily="34" charset="-122"/>
                <a:cs typeface="Calibri" pitchFamily="34" charset="-120"/>
              </a:rPr>
              <a:t>Enclosing function(s) (E)</a:t>
            </a:r>
            <a:endParaRPr lang="en-US" sz="1100" dirty="0"/>
          </a:p>
        </p:txBody>
      </p:sp>
      <p:sp>
        <p:nvSpPr>
          <p:cNvPr id="38" name="Shape 36"/>
          <p:cNvSpPr/>
          <p:nvPr/>
        </p:nvSpPr>
        <p:spPr>
          <a:xfrm>
            <a:off x="374904" y="5413248"/>
            <a:ext cx="11338560" cy="402336"/>
          </a:xfrm>
          <a:prstGeom prst="rect">
            <a:avLst/>
          </a:prstGeom>
          <a:solidFill>
            <a:srgbClr val="F4F6FC"/>
          </a:solidFill>
          <a:ln w="12700">
            <a:solidFill>
              <a:srgbClr val="D0DAF0"/>
            </a:solidFill>
            <a:prstDash val="solid"/>
          </a:ln>
        </p:spPr>
        <p:txBody>
          <a:bodyPr/>
          <a:lstStyle/>
          <a:p>
            <a:endParaRPr lang="en-US"/>
          </a:p>
        </p:txBody>
      </p:sp>
      <p:sp>
        <p:nvSpPr>
          <p:cNvPr id="39" name="Text 37"/>
          <p:cNvSpPr txBox="1"/>
          <p:nvPr/>
        </p:nvSpPr>
        <p:spPr>
          <a:xfrm>
            <a:off x="512064" y="5504688"/>
            <a:ext cx="1627632"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3rd search</a:t>
            </a:r>
            <a:endParaRPr lang="en-US" sz="1100" dirty="0"/>
          </a:p>
        </p:txBody>
      </p:sp>
      <p:sp>
        <p:nvSpPr>
          <p:cNvPr id="40" name="Text 38"/>
          <p:cNvSpPr txBox="1"/>
          <p:nvPr/>
        </p:nvSpPr>
        <p:spPr>
          <a:xfrm>
            <a:off x="2203704" y="5504688"/>
            <a:ext cx="2761488" cy="237744"/>
          </a:xfrm>
          <a:prstGeom prst="rect">
            <a:avLst/>
          </a:prstGeom>
          <a:noFill/>
          <a:ln/>
        </p:spPr>
        <p:txBody>
          <a:bodyPr wrap="square" lIns="0" tIns="0" rIns="0" bIns="0" rtlCol="0" anchor="ctr"/>
          <a:lstStyle/>
          <a:p>
            <a:pPr marL="0" indent="0">
              <a:buNone/>
            </a:pPr>
            <a:r>
              <a:rPr lang="en-US" sz="1100" dirty="0">
                <a:solidFill>
                  <a:srgbClr val="2E5BFF"/>
                </a:solidFill>
                <a:latin typeface="Calibri" pitchFamily="34" charset="0"/>
                <a:ea typeface="Calibri" pitchFamily="34" charset="-122"/>
                <a:cs typeface="Calibri" pitchFamily="34" charset="-120"/>
              </a:rPr>
              <a:t>File scope</a:t>
            </a:r>
            <a:endParaRPr lang="en-US" sz="1100" dirty="0"/>
          </a:p>
        </p:txBody>
      </p:sp>
      <p:sp>
        <p:nvSpPr>
          <p:cNvPr id="41" name="Text 39"/>
          <p:cNvSpPr txBox="1"/>
          <p:nvPr/>
        </p:nvSpPr>
        <p:spPr>
          <a:xfrm>
            <a:off x="5038344" y="5504688"/>
            <a:ext cx="3401568" cy="237744"/>
          </a:xfrm>
          <a:prstGeom prst="rect">
            <a:avLst/>
          </a:prstGeom>
          <a:noFill/>
          <a:ln/>
        </p:spPr>
        <p:txBody>
          <a:bodyPr wrap="square" lIns="0" tIns="0" rIns="0" bIns="0" rtlCol="0" anchor="ctr"/>
          <a:lstStyle/>
          <a:p>
            <a:pPr marL="0" indent="0">
              <a:buNone/>
            </a:pPr>
            <a:r>
              <a:rPr lang="en-US" sz="1100" dirty="0">
                <a:solidFill>
                  <a:srgbClr val="7B2FBE"/>
                </a:solidFill>
                <a:latin typeface="Calibri" pitchFamily="34" charset="0"/>
                <a:ea typeface="Calibri" pitchFamily="34" charset="-122"/>
                <a:cs typeface="Calibri" pitchFamily="34" charset="-120"/>
              </a:rPr>
              <a:t>Class / type scope</a:t>
            </a:r>
            <a:endParaRPr lang="en-US" sz="1100" dirty="0"/>
          </a:p>
        </p:txBody>
      </p:sp>
      <p:sp>
        <p:nvSpPr>
          <p:cNvPr id="42" name="Text 40"/>
          <p:cNvSpPr txBox="1"/>
          <p:nvPr/>
        </p:nvSpPr>
        <p:spPr>
          <a:xfrm>
            <a:off x="8513064" y="5504688"/>
            <a:ext cx="3456432" cy="237744"/>
          </a:xfrm>
          <a:prstGeom prst="rect">
            <a:avLst/>
          </a:prstGeom>
          <a:noFill/>
          <a:ln/>
        </p:spPr>
        <p:txBody>
          <a:bodyPr wrap="square" lIns="0" tIns="0" rIns="0" bIns="0" rtlCol="0" anchor="ctr"/>
          <a:lstStyle/>
          <a:p>
            <a:pPr marL="0" indent="0">
              <a:buNone/>
            </a:pPr>
            <a:r>
              <a:rPr lang="en-US" sz="1100" dirty="0">
                <a:solidFill>
                  <a:srgbClr val="C05E00"/>
                </a:solidFill>
                <a:latin typeface="Calibri" pitchFamily="34" charset="0"/>
                <a:ea typeface="Calibri" pitchFamily="34" charset="-122"/>
                <a:cs typeface="Calibri" pitchFamily="34" charset="-120"/>
              </a:rPr>
              <a:t>Global / module (G)</a:t>
            </a:r>
            <a:endParaRPr lang="en-US" sz="1100" dirty="0"/>
          </a:p>
        </p:txBody>
      </p:sp>
      <p:sp>
        <p:nvSpPr>
          <p:cNvPr id="43" name="Shape 41"/>
          <p:cNvSpPr/>
          <p:nvPr/>
        </p:nvSpPr>
        <p:spPr>
          <a:xfrm>
            <a:off x="374904" y="5833872"/>
            <a:ext cx="11338560" cy="402336"/>
          </a:xfrm>
          <a:prstGeom prst="rect">
            <a:avLst/>
          </a:prstGeom>
          <a:solidFill>
            <a:srgbClr val="FFFFFF"/>
          </a:solidFill>
          <a:ln w="12700">
            <a:solidFill>
              <a:srgbClr val="D0DAF0"/>
            </a:solidFill>
            <a:prstDash val="solid"/>
          </a:ln>
        </p:spPr>
        <p:txBody>
          <a:bodyPr/>
          <a:lstStyle/>
          <a:p>
            <a:endParaRPr lang="en-US"/>
          </a:p>
        </p:txBody>
      </p:sp>
      <p:sp>
        <p:nvSpPr>
          <p:cNvPr id="44" name="Text 42"/>
          <p:cNvSpPr txBox="1"/>
          <p:nvPr/>
        </p:nvSpPr>
        <p:spPr>
          <a:xfrm>
            <a:off x="512064" y="5925312"/>
            <a:ext cx="1627632"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4th search</a:t>
            </a:r>
            <a:endParaRPr lang="en-US" sz="1100" dirty="0"/>
          </a:p>
        </p:txBody>
      </p:sp>
      <p:sp>
        <p:nvSpPr>
          <p:cNvPr id="45" name="Text 43"/>
          <p:cNvSpPr txBox="1"/>
          <p:nvPr/>
        </p:nvSpPr>
        <p:spPr>
          <a:xfrm>
            <a:off x="2203704" y="5925312"/>
            <a:ext cx="2761488" cy="237744"/>
          </a:xfrm>
          <a:prstGeom prst="rect">
            <a:avLst/>
          </a:prstGeom>
          <a:noFill/>
          <a:ln/>
        </p:spPr>
        <p:txBody>
          <a:bodyPr wrap="square" lIns="0" tIns="0" rIns="0" bIns="0" rtlCol="0" anchor="ctr"/>
          <a:lstStyle/>
          <a:p>
            <a:pPr marL="0" indent="0">
              <a:buNone/>
            </a:pPr>
            <a:r>
              <a:rPr lang="en-US" sz="1100" dirty="0">
                <a:solidFill>
                  <a:srgbClr val="2E5BFF"/>
                </a:solidFill>
                <a:latin typeface="Calibri" pitchFamily="34" charset="0"/>
                <a:ea typeface="Calibri" pitchFamily="34" charset="-122"/>
                <a:cs typeface="Calibri" pitchFamily="34" charset="-120"/>
              </a:rPr>
              <a:t>—</a:t>
            </a:r>
            <a:endParaRPr lang="en-US" sz="1100" dirty="0"/>
          </a:p>
        </p:txBody>
      </p:sp>
      <p:sp>
        <p:nvSpPr>
          <p:cNvPr id="46" name="Text 44"/>
          <p:cNvSpPr txBox="1"/>
          <p:nvPr/>
        </p:nvSpPr>
        <p:spPr>
          <a:xfrm>
            <a:off x="5038344" y="5925312"/>
            <a:ext cx="3401568" cy="237744"/>
          </a:xfrm>
          <a:prstGeom prst="rect">
            <a:avLst/>
          </a:prstGeom>
          <a:noFill/>
          <a:ln/>
        </p:spPr>
        <p:txBody>
          <a:bodyPr wrap="square" lIns="0" tIns="0" rIns="0" bIns="0" rtlCol="0" anchor="ctr"/>
          <a:lstStyle/>
          <a:p>
            <a:pPr marL="0" indent="0">
              <a:buNone/>
            </a:pPr>
            <a:r>
              <a:rPr lang="en-US" sz="1100" dirty="0">
                <a:solidFill>
                  <a:srgbClr val="7B2FBE"/>
                </a:solidFill>
                <a:latin typeface="Calibri" pitchFamily="34" charset="0"/>
                <a:ea typeface="Calibri" pitchFamily="34" charset="-122"/>
                <a:cs typeface="Calibri" pitchFamily="34" charset="-120"/>
              </a:rPr>
              <a:t>Namespace scope</a:t>
            </a:r>
            <a:endParaRPr lang="en-US" sz="1100" dirty="0"/>
          </a:p>
        </p:txBody>
      </p:sp>
      <p:sp>
        <p:nvSpPr>
          <p:cNvPr id="47" name="Text 45"/>
          <p:cNvSpPr txBox="1"/>
          <p:nvPr/>
        </p:nvSpPr>
        <p:spPr>
          <a:xfrm>
            <a:off x="8513064" y="5925312"/>
            <a:ext cx="3456432" cy="237744"/>
          </a:xfrm>
          <a:prstGeom prst="rect">
            <a:avLst/>
          </a:prstGeom>
          <a:noFill/>
          <a:ln/>
        </p:spPr>
        <p:txBody>
          <a:bodyPr wrap="square" lIns="0" tIns="0" rIns="0" bIns="0" rtlCol="0" anchor="ctr"/>
          <a:lstStyle/>
          <a:p>
            <a:pPr marL="0" indent="0">
              <a:buNone/>
            </a:pPr>
            <a:r>
              <a:rPr lang="en-US" sz="1100" dirty="0">
                <a:solidFill>
                  <a:srgbClr val="C05E00"/>
                </a:solidFill>
                <a:latin typeface="Calibri" pitchFamily="34" charset="0"/>
                <a:ea typeface="Calibri" pitchFamily="34" charset="-122"/>
                <a:cs typeface="Calibri" pitchFamily="34" charset="-120"/>
              </a:rPr>
              <a:t>Built-in (B)</a:t>
            </a:r>
            <a:endParaRPr lang="en-US" sz="1100" dirty="0"/>
          </a:p>
        </p:txBody>
      </p:sp>
      <p:sp>
        <p:nvSpPr>
          <p:cNvPr id="48" name="Shape 46"/>
          <p:cNvSpPr/>
          <p:nvPr/>
        </p:nvSpPr>
        <p:spPr>
          <a:xfrm>
            <a:off x="374904" y="6254496"/>
            <a:ext cx="11338560" cy="402336"/>
          </a:xfrm>
          <a:prstGeom prst="rect">
            <a:avLst/>
          </a:prstGeom>
          <a:solidFill>
            <a:srgbClr val="F4F6FC"/>
          </a:solidFill>
          <a:ln w="12700">
            <a:solidFill>
              <a:srgbClr val="D0DAF0"/>
            </a:solidFill>
            <a:prstDash val="solid"/>
          </a:ln>
        </p:spPr>
        <p:txBody>
          <a:bodyPr/>
          <a:lstStyle/>
          <a:p>
            <a:endParaRPr lang="en-US"/>
          </a:p>
        </p:txBody>
      </p:sp>
      <p:sp>
        <p:nvSpPr>
          <p:cNvPr id="49" name="Text 47"/>
          <p:cNvSpPr txBox="1"/>
          <p:nvPr/>
        </p:nvSpPr>
        <p:spPr>
          <a:xfrm>
            <a:off x="512064" y="6345936"/>
            <a:ext cx="1627632" cy="237744"/>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Not found</a:t>
            </a:r>
            <a:endParaRPr lang="en-US" sz="1100" dirty="0"/>
          </a:p>
        </p:txBody>
      </p:sp>
      <p:sp>
        <p:nvSpPr>
          <p:cNvPr id="50" name="Text 48"/>
          <p:cNvSpPr txBox="1"/>
          <p:nvPr/>
        </p:nvSpPr>
        <p:spPr>
          <a:xfrm>
            <a:off x="2203704" y="6345936"/>
            <a:ext cx="2761488" cy="237744"/>
          </a:xfrm>
          <a:prstGeom prst="rect">
            <a:avLst/>
          </a:prstGeom>
          <a:noFill/>
          <a:ln/>
        </p:spPr>
        <p:txBody>
          <a:bodyPr wrap="square" lIns="0" tIns="0" rIns="0" bIns="0" rtlCol="0" anchor="ctr"/>
          <a:lstStyle/>
          <a:p>
            <a:pPr marL="0" indent="0">
              <a:buNone/>
            </a:pPr>
            <a:r>
              <a:rPr lang="en-US" sz="1100" dirty="0">
                <a:solidFill>
                  <a:srgbClr val="2E5BFF"/>
                </a:solidFill>
                <a:latin typeface="Calibri" pitchFamily="34" charset="0"/>
                <a:ea typeface="Calibri" pitchFamily="34" charset="-122"/>
                <a:cs typeface="Calibri" pitchFamily="34" charset="-120"/>
              </a:rPr>
              <a:t>Compile error</a:t>
            </a:r>
            <a:endParaRPr lang="en-US" sz="1100" dirty="0"/>
          </a:p>
        </p:txBody>
      </p:sp>
      <p:sp>
        <p:nvSpPr>
          <p:cNvPr id="51" name="Text 49"/>
          <p:cNvSpPr txBox="1"/>
          <p:nvPr/>
        </p:nvSpPr>
        <p:spPr>
          <a:xfrm>
            <a:off x="5038344" y="6345936"/>
            <a:ext cx="3401568" cy="237744"/>
          </a:xfrm>
          <a:prstGeom prst="rect">
            <a:avLst/>
          </a:prstGeom>
          <a:noFill/>
          <a:ln/>
        </p:spPr>
        <p:txBody>
          <a:bodyPr wrap="square" lIns="0" tIns="0" rIns="0" bIns="0" rtlCol="0" anchor="ctr"/>
          <a:lstStyle/>
          <a:p>
            <a:pPr marL="0" indent="0">
              <a:buNone/>
            </a:pPr>
            <a:r>
              <a:rPr lang="en-US" sz="1100" dirty="0">
                <a:solidFill>
                  <a:srgbClr val="7B2FBE"/>
                </a:solidFill>
                <a:latin typeface="Calibri" pitchFamily="34" charset="0"/>
                <a:ea typeface="Calibri" pitchFamily="34" charset="-122"/>
                <a:cs typeface="Calibri" pitchFamily="34" charset="-120"/>
              </a:rPr>
              <a:t>Compile error</a:t>
            </a:r>
            <a:endParaRPr lang="en-US" sz="1100" dirty="0"/>
          </a:p>
        </p:txBody>
      </p:sp>
      <p:sp>
        <p:nvSpPr>
          <p:cNvPr id="52" name="Text 50"/>
          <p:cNvSpPr txBox="1"/>
          <p:nvPr/>
        </p:nvSpPr>
        <p:spPr>
          <a:xfrm>
            <a:off x="8513064" y="6345936"/>
            <a:ext cx="3456432" cy="237744"/>
          </a:xfrm>
          <a:prstGeom prst="rect">
            <a:avLst/>
          </a:prstGeom>
          <a:noFill/>
          <a:ln/>
        </p:spPr>
        <p:txBody>
          <a:bodyPr wrap="square" lIns="0" tIns="0" rIns="0" bIns="0" rtlCol="0" anchor="ctr"/>
          <a:lstStyle/>
          <a:p>
            <a:pPr marL="0" indent="0">
              <a:buNone/>
            </a:pPr>
            <a:r>
              <a:rPr lang="en-US" sz="1100" dirty="0">
                <a:solidFill>
                  <a:srgbClr val="C05E00"/>
                </a:solidFill>
                <a:latin typeface="Calibri" pitchFamily="34" charset="0"/>
                <a:ea typeface="Calibri" pitchFamily="34" charset="-122"/>
                <a:cs typeface="Calibri" pitchFamily="34" charset="-120"/>
              </a:rPr>
              <a:t>NameError at runtime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Symbol Tables: The Data Structure Behind Name Resolution</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7</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compiler or interpreter needs a mechanism to remember what names have been declared, where, and what they mean.</a:t>
            </a:r>
            <a:endParaRPr lang="en-US" sz="1300" dirty="0"/>
          </a:p>
        </p:txBody>
      </p:sp>
      <p:sp>
        <p:nvSpPr>
          <p:cNvPr id="6" name="Shape 4"/>
          <p:cNvSpPr/>
          <p:nvPr/>
        </p:nvSpPr>
        <p:spPr>
          <a:xfrm>
            <a:off x="411480" y="1298448"/>
            <a:ext cx="11338560" cy="566928"/>
          </a:xfrm>
          <a:prstGeom prst="rect">
            <a:avLst/>
          </a:prstGeom>
          <a:solidFill>
            <a:srgbClr val="1A2B5E"/>
          </a:solidFill>
          <a:ln/>
        </p:spPr>
        <p:txBody>
          <a:bodyPr/>
          <a:lstStyle/>
          <a:p>
            <a:endParaRPr lang="en-US"/>
          </a:p>
        </p:txBody>
      </p:sp>
      <p:sp>
        <p:nvSpPr>
          <p:cNvPr id="7" name="Text 5"/>
          <p:cNvSpPr txBox="1"/>
          <p:nvPr/>
        </p:nvSpPr>
        <p:spPr>
          <a:xfrm>
            <a:off x="594360" y="1417320"/>
            <a:ext cx="10972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 symbol table maps each identifier to its kind, type, scope, and associated information.</a:t>
            </a:r>
            <a:endParaRPr lang="en-US" sz="1400" dirty="0"/>
          </a:p>
        </p:txBody>
      </p:sp>
      <p:sp>
        <p:nvSpPr>
          <p:cNvPr id="8" name="Text 6"/>
          <p:cNvSpPr txBox="1"/>
          <p:nvPr/>
        </p:nvSpPr>
        <p:spPr>
          <a:xfrm>
            <a:off x="411480" y="1956816"/>
            <a:ext cx="1133856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A conceptual symbol table (teaching model — real tables store much more):</a:t>
            </a:r>
            <a:endParaRPr lang="en-US" sz="1200" dirty="0"/>
          </a:p>
        </p:txBody>
      </p:sp>
      <p:sp>
        <p:nvSpPr>
          <p:cNvPr id="9" name="Shape 7"/>
          <p:cNvSpPr/>
          <p:nvPr/>
        </p:nvSpPr>
        <p:spPr>
          <a:xfrm>
            <a:off x="411480" y="2249424"/>
            <a:ext cx="11338560" cy="292608"/>
          </a:xfrm>
          <a:prstGeom prst="rect">
            <a:avLst/>
          </a:prstGeom>
          <a:solidFill>
            <a:srgbClr val="1A2B5E"/>
          </a:solidFill>
          <a:ln/>
        </p:spPr>
        <p:txBody>
          <a:bodyPr/>
          <a:lstStyle/>
          <a:p>
            <a:endParaRPr lang="en-US"/>
          </a:p>
        </p:txBody>
      </p:sp>
      <p:sp>
        <p:nvSpPr>
          <p:cNvPr id="10" name="Text 8"/>
          <p:cNvSpPr txBox="1"/>
          <p:nvPr/>
        </p:nvSpPr>
        <p:spPr>
          <a:xfrm>
            <a:off x="548640" y="2322576"/>
            <a:ext cx="162763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11" name="Text 9"/>
          <p:cNvSpPr txBox="1"/>
          <p:nvPr/>
        </p:nvSpPr>
        <p:spPr>
          <a:xfrm>
            <a:off x="2240280" y="2322576"/>
            <a:ext cx="175564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Kind</a:t>
            </a:r>
            <a:endParaRPr lang="en-US" sz="1100" dirty="0"/>
          </a:p>
        </p:txBody>
      </p:sp>
      <p:sp>
        <p:nvSpPr>
          <p:cNvPr id="12" name="Text 10"/>
          <p:cNvSpPr txBox="1"/>
          <p:nvPr/>
        </p:nvSpPr>
        <p:spPr>
          <a:xfrm>
            <a:off x="4069080" y="2322576"/>
            <a:ext cx="190195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13" name="Text 11"/>
          <p:cNvSpPr txBox="1"/>
          <p:nvPr/>
        </p:nvSpPr>
        <p:spPr>
          <a:xfrm>
            <a:off x="6035040" y="2322576"/>
            <a:ext cx="254203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Scope</a:t>
            </a:r>
            <a:endParaRPr lang="en-US" sz="1100" dirty="0"/>
          </a:p>
        </p:txBody>
      </p:sp>
      <p:sp>
        <p:nvSpPr>
          <p:cNvPr id="14" name="Text 12"/>
          <p:cNvSpPr txBox="1"/>
          <p:nvPr/>
        </p:nvSpPr>
        <p:spPr>
          <a:xfrm>
            <a:off x="8641080" y="2322576"/>
            <a:ext cx="338328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Attributes</a:t>
            </a:r>
            <a:endParaRPr lang="en-US" sz="1100" dirty="0"/>
          </a:p>
        </p:txBody>
      </p:sp>
      <p:sp>
        <p:nvSpPr>
          <p:cNvPr id="15" name="Shape 13"/>
          <p:cNvSpPr/>
          <p:nvPr/>
        </p:nvSpPr>
        <p:spPr>
          <a:xfrm>
            <a:off x="411480" y="2578608"/>
            <a:ext cx="11338560" cy="493776"/>
          </a:xfrm>
          <a:prstGeom prst="rect">
            <a:avLst/>
          </a:prstGeom>
          <a:solidFill>
            <a:srgbClr val="F4F6FC"/>
          </a:solidFill>
          <a:ln w="12700">
            <a:solidFill>
              <a:srgbClr val="D0DAF0"/>
            </a:solidFill>
            <a:prstDash val="solid"/>
          </a:ln>
        </p:spPr>
        <p:txBody>
          <a:bodyPr/>
          <a:lstStyle/>
          <a:p>
            <a:endParaRPr lang="en-US"/>
          </a:p>
        </p:txBody>
      </p:sp>
      <p:sp>
        <p:nvSpPr>
          <p:cNvPr id="16" name="Text 14"/>
          <p:cNvSpPr txBox="1"/>
          <p:nvPr/>
        </p:nvSpPr>
        <p:spPr>
          <a:xfrm>
            <a:off x="548640" y="2697480"/>
            <a:ext cx="1627632" cy="256032"/>
          </a:xfrm>
          <a:prstGeom prst="rect">
            <a:avLst/>
          </a:prstGeom>
          <a:noFill/>
          <a:ln/>
        </p:spPr>
        <p:txBody>
          <a:bodyPr wrap="square" lIns="0" tIns="0" rIns="0" bIns="0" rtlCol="0" anchor="ctr"/>
          <a:lstStyle/>
          <a:p>
            <a:pPr marL="0" indent="0">
              <a:buNone/>
            </a:pPr>
            <a:r>
              <a:rPr lang="en-US" sz="1200" b="1" dirty="0">
                <a:solidFill>
                  <a:srgbClr val="1A2B5E"/>
                </a:solidFill>
                <a:latin typeface="Courier New" pitchFamily="34" charset="0"/>
                <a:ea typeface="Courier New" pitchFamily="34" charset="-122"/>
                <a:cs typeface="Courier New" pitchFamily="34" charset="-120"/>
              </a:rPr>
              <a:t>globalCount</a:t>
            </a:r>
            <a:endParaRPr lang="en-US" sz="1200" dirty="0"/>
          </a:p>
        </p:txBody>
      </p:sp>
      <p:sp>
        <p:nvSpPr>
          <p:cNvPr id="17" name="Text 15"/>
          <p:cNvSpPr txBox="1"/>
          <p:nvPr/>
        </p:nvSpPr>
        <p:spPr>
          <a:xfrm>
            <a:off x="2240280" y="2697480"/>
            <a:ext cx="1755648" cy="256032"/>
          </a:xfrm>
          <a:prstGeom prst="rect">
            <a:avLst/>
          </a:prstGeom>
          <a:noFill/>
          <a:ln/>
        </p:spPr>
        <p:txBody>
          <a:bodyPr wrap="square" lIns="0" tIns="0" rIns="0" bIns="0" rtlCol="0" anchor="ctr"/>
          <a:lstStyle/>
          <a:p>
            <a:pPr marL="0" indent="0">
              <a:buNone/>
            </a:pPr>
            <a:r>
              <a:rPr lang="en-US" sz="1200" dirty="0">
                <a:solidFill>
                  <a:srgbClr val="6D28D9"/>
                </a:solidFill>
                <a:latin typeface="Calibri" pitchFamily="34" charset="0"/>
                <a:ea typeface="Calibri" pitchFamily="34" charset="-122"/>
                <a:cs typeface="Calibri" pitchFamily="34" charset="-120"/>
              </a:rPr>
              <a:t>variable</a:t>
            </a:r>
            <a:endParaRPr lang="en-US" sz="1200" dirty="0"/>
          </a:p>
        </p:txBody>
      </p:sp>
      <p:sp>
        <p:nvSpPr>
          <p:cNvPr id="18" name="Text 16"/>
          <p:cNvSpPr txBox="1"/>
          <p:nvPr/>
        </p:nvSpPr>
        <p:spPr>
          <a:xfrm>
            <a:off x="4069080" y="2697480"/>
            <a:ext cx="1901952" cy="256032"/>
          </a:xfrm>
          <a:prstGeom prst="rect">
            <a:avLst/>
          </a:prstGeom>
          <a:noFill/>
          <a:ln/>
        </p:spPr>
        <p:txBody>
          <a:bodyPr wrap="square" lIns="0" tIns="0" rIns="0" bIns="0" rtlCol="0" anchor="ctr"/>
          <a:lstStyle/>
          <a:p>
            <a:pPr marL="0" indent="0">
              <a:buNone/>
            </a:pPr>
            <a:r>
              <a:rPr lang="en-US" sz="1200" dirty="0">
                <a:solidFill>
                  <a:srgbClr val="2E5BFF"/>
                </a:solidFill>
                <a:latin typeface="Courier New" pitchFamily="34" charset="0"/>
                <a:ea typeface="Courier New" pitchFamily="34" charset="-122"/>
                <a:cs typeface="Courier New" pitchFamily="34" charset="-120"/>
              </a:rPr>
              <a:t>int</a:t>
            </a:r>
            <a:endParaRPr lang="en-US" sz="1200" dirty="0"/>
          </a:p>
        </p:txBody>
      </p:sp>
      <p:sp>
        <p:nvSpPr>
          <p:cNvPr id="19" name="Text 17"/>
          <p:cNvSpPr txBox="1"/>
          <p:nvPr/>
        </p:nvSpPr>
        <p:spPr>
          <a:xfrm>
            <a:off x="6035040" y="2697480"/>
            <a:ext cx="2542032" cy="256032"/>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file (global)</a:t>
            </a:r>
            <a:endParaRPr lang="en-US" sz="1200" dirty="0"/>
          </a:p>
        </p:txBody>
      </p:sp>
      <p:sp>
        <p:nvSpPr>
          <p:cNvPr id="20" name="Text 18"/>
          <p:cNvSpPr txBox="1"/>
          <p:nvPr/>
        </p:nvSpPr>
        <p:spPr>
          <a:xfrm>
            <a:off x="8641080" y="2697480"/>
            <a:ext cx="338328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initialised = 0</a:t>
            </a:r>
            <a:endParaRPr lang="en-US" sz="1200" dirty="0"/>
          </a:p>
        </p:txBody>
      </p:sp>
      <p:sp>
        <p:nvSpPr>
          <p:cNvPr id="21" name="Shape 19"/>
          <p:cNvSpPr/>
          <p:nvPr/>
        </p:nvSpPr>
        <p:spPr>
          <a:xfrm>
            <a:off x="411480" y="3090672"/>
            <a:ext cx="11338560" cy="493776"/>
          </a:xfrm>
          <a:prstGeom prst="rect">
            <a:avLst/>
          </a:prstGeom>
          <a:solidFill>
            <a:srgbClr val="FFFFFF"/>
          </a:solidFill>
          <a:ln w="12700">
            <a:solidFill>
              <a:srgbClr val="D0DAF0"/>
            </a:solidFill>
            <a:prstDash val="solid"/>
          </a:ln>
        </p:spPr>
        <p:txBody>
          <a:bodyPr/>
          <a:lstStyle/>
          <a:p>
            <a:endParaRPr lang="en-US"/>
          </a:p>
        </p:txBody>
      </p:sp>
      <p:sp>
        <p:nvSpPr>
          <p:cNvPr id="22" name="Text 20"/>
          <p:cNvSpPr txBox="1"/>
          <p:nvPr/>
        </p:nvSpPr>
        <p:spPr>
          <a:xfrm>
            <a:off x="548640" y="3209544"/>
            <a:ext cx="1627632" cy="256032"/>
          </a:xfrm>
          <a:prstGeom prst="rect">
            <a:avLst/>
          </a:prstGeom>
          <a:noFill/>
          <a:ln/>
        </p:spPr>
        <p:txBody>
          <a:bodyPr wrap="square" lIns="0" tIns="0" rIns="0" bIns="0" rtlCol="0" anchor="ctr"/>
          <a:lstStyle/>
          <a:p>
            <a:pPr marL="0" indent="0">
              <a:buNone/>
            </a:pPr>
            <a:r>
              <a:rPr lang="en-US" sz="1200" b="1" dirty="0">
                <a:solidFill>
                  <a:srgbClr val="1A2B5E"/>
                </a:solidFill>
                <a:latin typeface="Courier New" pitchFamily="34" charset="0"/>
                <a:ea typeface="Courier New" pitchFamily="34" charset="-122"/>
                <a:cs typeface="Courier New" pitchFamily="34" charset="-120"/>
              </a:rPr>
              <a:t>average</a:t>
            </a:r>
            <a:endParaRPr lang="en-US" sz="1200" dirty="0"/>
          </a:p>
        </p:txBody>
      </p:sp>
      <p:sp>
        <p:nvSpPr>
          <p:cNvPr id="23" name="Text 21"/>
          <p:cNvSpPr txBox="1"/>
          <p:nvPr/>
        </p:nvSpPr>
        <p:spPr>
          <a:xfrm>
            <a:off x="2240280" y="3209544"/>
            <a:ext cx="1755648" cy="256032"/>
          </a:xfrm>
          <a:prstGeom prst="rect">
            <a:avLst/>
          </a:prstGeom>
          <a:noFill/>
          <a:ln/>
        </p:spPr>
        <p:txBody>
          <a:bodyPr wrap="square" lIns="0" tIns="0" rIns="0" bIns="0" rtlCol="0" anchor="ctr"/>
          <a:lstStyle/>
          <a:p>
            <a:pPr marL="0" indent="0">
              <a:buNone/>
            </a:pPr>
            <a:r>
              <a:rPr lang="en-US" sz="1200" dirty="0">
                <a:solidFill>
                  <a:srgbClr val="6D28D9"/>
                </a:solidFill>
                <a:latin typeface="Calibri" pitchFamily="34" charset="0"/>
                <a:ea typeface="Calibri" pitchFamily="34" charset="-122"/>
                <a:cs typeface="Calibri" pitchFamily="34" charset="-120"/>
              </a:rPr>
              <a:t>function</a:t>
            </a:r>
            <a:endParaRPr lang="en-US" sz="1200" dirty="0"/>
          </a:p>
        </p:txBody>
      </p:sp>
      <p:sp>
        <p:nvSpPr>
          <p:cNvPr id="24" name="Text 22"/>
          <p:cNvSpPr txBox="1"/>
          <p:nvPr/>
        </p:nvSpPr>
        <p:spPr>
          <a:xfrm>
            <a:off x="4069080" y="3209544"/>
            <a:ext cx="1901952" cy="256032"/>
          </a:xfrm>
          <a:prstGeom prst="rect">
            <a:avLst/>
          </a:prstGeom>
          <a:noFill/>
          <a:ln/>
        </p:spPr>
        <p:txBody>
          <a:bodyPr wrap="square" lIns="0" tIns="0" rIns="0" bIns="0" rtlCol="0" anchor="ctr"/>
          <a:lstStyle/>
          <a:p>
            <a:pPr marL="0" indent="0">
              <a:buNone/>
            </a:pPr>
            <a:r>
              <a:rPr lang="en-US" sz="1200" dirty="0">
                <a:solidFill>
                  <a:srgbClr val="2E5BFF"/>
                </a:solidFill>
                <a:latin typeface="Courier New" pitchFamily="34" charset="0"/>
                <a:ea typeface="Courier New" pitchFamily="34" charset="-122"/>
                <a:cs typeface="Courier New" pitchFamily="34" charset="-120"/>
              </a:rPr>
              <a:t>float</a:t>
            </a:r>
            <a:endParaRPr lang="en-US" sz="1200" dirty="0"/>
          </a:p>
        </p:txBody>
      </p:sp>
      <p:sp>
        <p:nvSpPr>
          <p:cNvPr id="25" name="Text 23"/>
          <p:cNvSpPr txBox="1"/>
          <p:nvPr/>
        </p:nvSpPr>
        <p:spPr>
          <a:xfrm>
            <a:off x="6035040" y="3209544"/>
            <a:ext cx="2542032" cy="256032"/>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file</a:t>
            </a:r>
            <a:endParaRPr lang="en-US" sz="1200" dirty="0"/>
          </a:p>
        </p:txBody>
      </p:sp>
      <p:sp>
        <p:nvSpPr>
          <p:cNvPr id="26" name="Text 24"/>
          <p:cNvSpPr txBox="1"/>
          <p:nvPr/>
        </p:nvSpPr>
        <p:spPr>
          <a:xfrm>
            <a:off x="8641080" y="3209544"/>
            <a:ext cx="338328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params: (int, int)</a:t>
            </a:r>
            <a:endParaRPr lang="en-US" sz="1200" dirty="0"/>
          </a:p>
        </p:txBody>
      </p:sp>
      <p:sp>
        <p:nvSpPr>
          <p:cNvPr id="27" name="Shape 25"/>
          <p:cNvSpPr/>
          <p:nvPr/>
        </p:nvSpPr>
        <p:spPr>
          <a:xfrm>
            <a:off x="411480" y="3602736"/>
            <a:ext cx="11338560" cy="493776"/>
          </a:xfrm>
          <a:prstGeom prst="rect">
            <a:avLst/>
          </a:prstGeom>
          <a:solidFill>
            <a:srgbClr val="F4F6FC"/>
          </a:solidFill>
          <a:ln w="12700">
            <a:solidFill>
              <a:srgbClr val="D0DAF0"/>
            </a:solidFill>
            <a:prstDash val="solid"/>
          </a:ln>
        </p:spPr>
        <p:txBody>
          <a:bodyPr/>
          <a:lstStyle/>
          <a:p>
            <a:endParaRPr lang="en-US"/>
          </a:p>
        </p:txBody>
      </p:sp>
      <p:sp>
        <p:nvSpPr>
          <p:cNvPr id="28" name="Text 26"/>
          <p:cNvSpPr txBox="1"/>
          <p:nvPr/>
        </p:nvSpPr>
        <p:spPr>
          <a:xfrm>
            <a:off x="548640" y="3721608"/>
            <a:ext cx="1627632" cy="256032"/>
          </a:xfrm>
          <a:prstGeom prst="rect">
            <a:avLst/>
          </a:prstGeom>
          <a:noFill/>
          <a:ln/>
        </p:spPr>
        <p:txBody>
          <a:bodyPr wrap="square" lIns="0" tIns="0" rIns="0" bIns="0" rtlCol="0" anchor="ctr"/>
          <a:lstStyle/>
          <a:p>
            <a:pPr marL="0" indent="0">
              <a:buNone/>
            </a:pPr>
            <a:r>
              <a:rPr lang="en-US" sz="1200" b="1" dirty="0">
                <a:solidFill>
                  <a:srgbClr val="1A2B5E"/>
                </a:solidFill>
                <a:latin typeface="Courier New" pitchFamily="34" charset="0"/>
                <a:ea typeface="Courier New" pitchFamily="34" charset="-122"/>
                <a:cs typeface="Courier New" pitchFamily="34" charset="-120"/>
              </a:rPr>
              <a:t>a</a:t>
            </a:r>
            <a:endParaRPr lang="en-US" sz="1200" dirty="0"/>
          </a:p>
        </p:txBody>
      </p:sp>
      <p:sp>
        <p:nvSpPr>
          <p:cNvPr id="29" name="Text 27"/>
          <p:cNvSpPr txBox="1"/>
          <p:nvPr/>
        </p:nvSpPr>
        <p:spPr>
          <a:xfrm>
            <a:off x="2240280" y="3721608"/>
            <a:ext cx="1755648" cy="256032"/>
          </a:xfrm>
          <a:prstGeom prst="rect">
            <a:avLst/>
          </a:prstGeom>
          <a:noFill/>
          <a:ln/>
        </p:spPr>
        <p:txBody>
          <a:bodyPr wrap="square" lIns="0" tIns="0" rIns="0" bIns="0" rtlCol="0" anchor="ctr"/>
          <a:lstStyle/>
          <a:p>
            <a:pPr marL="0" indent="0">
              <a:buNone/>
            </a:pPr>
            <a:r>
              <a:rPr lang="en-US" sz="1200" dirty="0">
                <a:solidFill>
                  <a:srgbClr val="6D28D9"/>
                </a:solidFill>
                <a:latin typeface="Calibri" pitchFamily="34" charset="0"/>
                <a:ea typeface="Calibri" pitchFamily="34" charset="-122"/>
                <a:cs typeface="Calibri" pitchFamily="34" charset="-120"/>
              </a:rPr>
              <a:t>parameter</a:t>
            </a:r>
            <a:endParaRPr lang="en-US" sz="1200" dirty="0"/>
          </a:p>
        </p:txBody>
      </p:sp>
      <p:sp>
        <p:nvSpPr>
          <p:cNvPr id="30" name="Text 28"/>
          <p:cNvSpPr txBox="1"/>
          <p:nvPr/>
        </p:nvSpPr>
        <p:spPr>
          <a:xfrm>
            <a:off x="4069080" y="3721608"/>
            <a:ext cx="1901952" cy="256032"/>
          </a:xfrm>
          <a:prstGeom prst="rect">
            <a:avLst/>
          </a:prstGeom>
          <a:noFill/>
          <a:ln/>
        </p:spPr>
        <p:txBody>
          <a:bodyPr wrap="square" lIns="0" tIns="0" rIns="0" bIns="0" rtlCol="0" anchor="ctr"/>
          <a:lstStyle/>
          <a:p>
            <a:pPr marL="0" indent="0">
              <a:buNone/>
            </a:pPr>
            <a:r>
              <a:rPr lang="en-US" sz="1200" dirty="0">
                <a:solidFill>
                  <a:srgbClr val="2E5BFF"/>
                </a:solidFill>
                <a:latin typeface="Courier New" pitchFamily="34" charset="0"/>
                <a:ea typeface="Courier New" pitchFamily="34" charset="-122"/>
                <a:cs typeface="Courier New" pitchFamily="34" charset="-120"/>
              </a:rPr>
              <a:t>int</a:t>
            </a:r>
            <a:endParaRPr lang="en-US" sz="1200" dirty="0"/>
          </a:p>
        </p:txBody>
      </p:sp>
      <p:sp>
        <p:nvSpPr>
          <p:cNvPr id="31" name="Text 29"/>
          <p:cNvSpPr txBox="1"/>
          <p:nvPr/>
        </p:nvSpPr>
        <p:spPr>
          <a:xfrm>
            <a:off x="6035040" y="3721608"/>
            <a:ext cx="2542032" cy="256032"/>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average()</a:t>
            </a:r>
            <a:endParaRPr lang="en-US" sz="1200" dirty="0"/>
          </a:p>
        </p:txBody>
      </p:sp>
      <p:sp>
        <p:nvSpPr>
          <p:cNvPr id="32" name="Text 30"/>
          <p:cNvSpPr txBox="1"/>
          <p:nvPr/>
        </p:nvSpPr>
        <p:spPr>
          <a:xfrm>
            <a:off x="8641080" y="3721608"/>
            <a:ext cx="338328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param index 0</a:t>
            </a:r>
            <a:endParaRPr lang="en-US" sz="1200" dirty="0"/>
          </a:p>
        </p:txBody>
      </p:sp>
      <p:sp>
        <p:nvSpPr>
          <p:cNvPr id="33" name="Shape 31"/>
          <p:cNvSpPr/>
          <p:nvPr/>
        </p:nvSpPr>
        <p:spPr>
          <a:xfrm>
            <a:off x="411480" y="4114800"/>
            <a:ext cx="11338560" cy="493776"/>
          </a:xfrm>
          <a:prstGeom prst="rect">
            <a:avLst/>
          </a:prstGeom>
          <a:solidFill>
            <a:srgbClr val="FFFFFF"/>
          </a:solidFill>
          <a:ln w="12700">
            <a:solidFill>
              <a:srgbClr val="D0DAF0"/>
            </a:solidFill>
            <a:prstDash val="solid"/>
          </a:ln>
        </p:spPr>
        <p:txBody>
          <a:bodyPr/>
          <a:lstStyle/>
          <a:p>
            <a:endParaRPr lang="en-US"/>
          </a:p>
        </p:txBody>
      </p:sp>
      <p:sp>
        <p:nvSpPr>
          <p:cNvPr id="34" name="Text 32"/>
          <p:cNvSpPr txBox="1"/>
          <p:nvPr/>
        </p:nvSpPr>
        <p:spPr>
          <a:xfrm>
            <a:off x="548640" y="4233672"/>
            <a:ext cx="1627632" cy="256032"/>
          </a:xfrm>
          <a:prstGeom prst="rect">
            <a:avLst/>
          </a:prstGeom>
          <a:noFill/>
          <a:ln/>
        </p:spPr>
        <p:txBody>
          <a:bodyPr wrap="square" lIns="0" tIns="0" rIns="0" bIns="0" rtlCol="0" anchor="ctr"/>
          <a:lstStyle/>
          <a:p>
            <a:pPr marL="0" indent="0">
              <a:buNone/>
            </a:pPr>
            <a:r>
              <a:rPr lang="en-US" sz="1200" b="1" dirty="0">
                <a:solidFill>
                  <a:srgbClr val="1A2B5E"/>
                </a:solidFill>
                <a:latin typeface="Courier New" pitchFamily="34" charset="0"/>
                <a:ea typeface="Courier New" pitchFamily="34" charset="-122"/>
                <a:cs typeface="Courier New" pitchFamily="34" charset="-120"/>
              </a:rPr>
              <a:t>sum</a:t>
            </a:r>
            <a:endParaRPr lang="en-US" sz="1200" dirty="0"/>
          </a:p>
        </p:txBody>
      </p:sp>
      <p:sp>
        <p:nvSpPr>
          <p:cNvPr id="35" name="Text 33"/>
          <p:cNvSpPr txBox="1"/>
          <p:nvPr/>
        </p:nvSpPr>
        <p:spPr>
          <a:xfrm>
            <a:off x="2240280" y="4233672"/>
            <a:ext cx="1755648" cy="256032"/>
          </a:xfrm>
          <a:prstGeom prst="rect">
            <a:avLst/>
          </a:prstGeom>
          <a:noFill/>
          <a:ln/>
        </p:spPr>
        <p:txBody>
          <a:bodyPr wrap="square" lIns="0" tIns="0" rIns="0" bIns="0" rtlCol="0" anchor="ctr"/>
          <a:lstStyle/>
          <a:p>
            <a:pPr marL="0" indent="0">
              <a:buNone/>
            </a:pPr>
            <a:r>
              <a:rPr lang="en-US" sz="1200" dirty="0">
                <a:solidFill>
                  <a:srgbClr val="6D28D9"/>
                </a:solidFill>
                <a:latin typeface="Calibri" pitchFamily="34" charset="0"/>
                <a:ea typeface="Calibri" pitchFamily="34" charset="-122"/>
                <a:cs typeface="Calibri" pitchFamily="34" charset="-120"/>
              </a:rPr>
              <a:t>variable</a:t>
            </a:r>
            <a:endParaRPr lang="en-US" sz="1200" dirty="0"/>
          </a:p>
        </p:txBody>
      </p:sp>
      <p:sp>
        <p:nvSpPr>
          <p:cNvPr id="36" name="Text 34"/>
          <p:cNvSpPr txBox="1"/>
          <p:nvPr/>
        </p:nvSpPr>
        <p:spPr>
          <a:xfrm>
            <a:off x="4069080" y="4233672"/>
            <a:ext cx="1901952" cy="256032"/>
          </a:xfrm>
          <a:prstGeom prst="rect">
            <a:avLst/>
          </a:prstGeom>
          <a:noFill/>
          <a:ln/>
        </p:spPr>
        <p:txBody>
          <a:bodyPr wrap="square" lIns="0" tIns="0" rIns="0" bIns="0" rtlCol="0" anchor="ctr"/>
          <a:lstStyle/>
          <a:p>
            <a:pPr marL="0" indent="0">
              <a:buNone/>
            </a:pPr>
            <a:r>
              <a:rPr lang="en-US" sz="1200" dirty="0">
                <a:solidFill>
                  <a:srgbClr val="2E5BFF"/>
                </a:solidFill>
                <a:latin typeface="Courier New" pitchFamily="34" charset="0"/>
                <a:ea typeface="Courier New" pitchFamily="34" charset="-122"/>
                <a:cs typeface="Courier New" pitchFamily="34" charset="-120"/>
              </a:rPr>
              <a:t>int</a:t>
            </a:r>
            <a:endParaRPr lang="en-US" sz="1200" dirty="0"/>
          </a:p>
        </p:txBody>
      </p:sp>
      <p:sp>
        <p:nvSpPr>
          <p:cNvPr id="37" name="Text 35"/>
          <p:cNvSpPr txBox="1"/>
          <p:nvPr/>
        </p:nvSpPr>
        <p:spPr>
          <a:xfrm>
            <a:off x="6035040" y="4233672"/>
            <a:ext cx="2542032" cy="256032"/>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average() block</a:t>
            </a:r>
            <a:endParaRPr lang="en-US" sz="1200" dirty="0"/>
          </a:p>
        </p:txBody>
      </p:sp>
      <p:sp>
        <p:nvSpPr>
          <p:cNvPr id="38" name="Text 36"/>
          <p:cNvSpPr txBox="1"/>
          <p:nvPr/>
        </p:nvSpPr>
        <p:spPr>
          <a:xfrm>
            <a:off x="8641080" y="4233672"/>
            <a:ext cx="338328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local</a:t>
            </a:r>
            <a:endParaRPr lang="en-US" sz="1200" dirty="0"/>
          </a:p>
        </p:txBody>
      </p:sp>
      <p:sp>
        <p:nvSpPr>
          <p:cNvPr id="39" name="Shape 37"/>
          <p:cNvSpPr/>
          <p:nvPr/>
        </p:nvSpPr>
        <p:spPr>
          <a:xfrm>
            <a:off x="411480" y="4626864"/>
            <a:ext cx="11338560" cy="493776"/>
          </a:xfrm>
          <a:prstGeom prst="rect">
            <a:avLst/>
          </a:prstGeom>
          <a:solidFill>
            <a:srgbClr val="F4F6FC"/>
          </a:solidFill>
          <a:ln w="12700">
            <a:solidFill>
              <a:srgbClr val="D0DAF0"/>
            </a:solidFill>
            <a:prstDash val="solid"/>
          </a:ln>
        </p:spPr>
        <p:txBody>
          <a:bodyPr/>
          <a:lstStyle/>
          <a:p>
            <a:endParaRPr lang="en-US"/>
          </a:p>
        </p:txBody>
      </p:sp>
      <p:sp>
        <p:nvSpPr>
          <p:cNvPr id="40" name="Text 38"/>
          <p:cNvSpPr txBox="1"/>
          <p:nvPr/>
        </p:nvSpPr>
        <p:spPr>
          <a:xfrm>
            <a:off x="548640" y="4745736"/>
            <a:ext cx="1627632" cy="256032"/>
          </a:xfrm>
          <a:prstGeom prst="rect">
            <a:avLst/>
          </a:prstGeom>
          <a:noFill/>
          <a:ln/>
        </p:spPr>
        <p:txBody>
          <a:bodyPr wrap="square" lIns="0" tIns="0" rIns="0" bIns="0" rtlCol="0" anchor="ctr"/>
          <a:lstStyle/>
          <a:p>
            <a:pPr marL="0" indent="0">
              <a:buNone/>
            </a:pPr>
            <a:r>
              <a:rPr lang="en-US" sz="1200" b="1" dirty="0">
                <a:solidFill>
                  <a:srgbClr val="1A2B5E"/>
                </a:solidFill>
                <a:latin typeface="Courier New" pitchFamily="34" charset="0"/>
                <a:ea typeface="Courier New" pitchFamily="34" charset="-122"/>
                <a:cs typeface="Courier New" pitchFamily="34" charset="-120"/>
              </a:rPr>
              <a:t>result</a:t>
            </a:r>
            <a:endParaRPr lang="en-US" sz="1200" dirty="0"/>
          </a:p>
        </p:txBody>
      </p:sp>
      <p:sp>
        <p:nvSpPr>
          <p:cNvPr id="41" name="Text 39"/>
          <p:cNvSpPr txBox="1"/>
          <p:nvPr/>
        </p:nvSpPr>
        <p:spPr>
          <a:xfrm>
            <a:off x="2240280" y="4745736"/>
            <a:ext cx="1755648" cy="256032"/>
          </a:xfrm>
          <a:prstGeom prst="rect">
            <a:avLst/>
          </a:prstGeom>
          <a:noFill/>
          <a:ln/>
        </p:spPr>
        <p:txBody>
          <a:bodyPr wrap="square" lIns="0" tIns="0" rIns="0" bIns="0" rtlCol="0" anchor="ctr"/>
          <a:lstStyle/>
          <a:p>
            <a:pPr marL="0" indent="0">
              <a:buNone/>
            </a:pPr>
            <a:r>
              <a:rPr lang="en-US" sz="1200" dirty="0">
                <a:solidFill>
                  <a:srgbClr val="6D28D9"/>
                </a:solidFill>
                <a:latin typeface="Calibri" pitchFamily="34" charset="0"/>
                <a:ea typeface="Calibri" pitchFamily="34" charset="-122"/>
                <a:cs typeface="Calibri" pitchFamily="34" charset="-120"/>
              </a:rPr>
              <a:t>variable</a:t>
            </a:r>
            <a:endParaRPr lang="en-US" sz="1200" dirty="0"/>
          </a:p>
        </p:txBody>
      </p:sp>
      <p:sp>
        <p:nvSpPr>
          <p:cNvPr id="42" name="Text 40"/>
          <p:cNvSpPr txBox="1"/>
          <p:nvPr/>
        </p:nvSpPr>
        <p:spPr>
          <a:xfrm>
            <a:off x="4069080" y="4745736"/>
            <a:ext cx="1901952" cy="256032"/>
          </a:xfrm>
          <a:prstGeom prst="rect">
            <a:avLst/>
          </a:prstGeom>
          <a:noFill/>
          <a:ln/>
        </p:spPr>
        <p:txBody>
          <a:bodyPr wrap="square" lIns="0" tIns="0" rIns="0" bIns="0" rtlCol="0" anchor="ctr"/>
          <a:lstStyle/>
          <a:p>
            <a:pPr marL="0" indent="0">
              <a:buNone/>
            </a:pPr>
            <a:r>
              <a:rPr lang="en-US" sz="1200" dirty="0">
                <a:solidFill>
                  <a:srgbClr val="2E5BFF"/>
                </a:solidFill>
                <a:latin typeface="Courier New" pitchFamily="34" charset="0"/>
                <a:ea typeface="Courier New" pitchFamily="34" charset="-122"/>
                <a:cs typeface="Courier New" pitchFamily="34" charset="-120"/>
              </a:rPr>
              <a:t>float</a:t>
            </a:r>
            <a:endParaRPr lang="en-US" sz="1200" dirty="0"/>
          </a:p>
        </p:txBody>
      </p:sp>
      <p:sp>
        <p:nvSpPr>
          <p:cNvPr id="43" name="Text 41"/>
          <p:cNvSpPr txBox="1"/>
          <p:nvPr/>
        </p:nvSpPr>
        <p:spPr>
          <a:xfrm>
            <a:off x="6035040" y="4745736"/>
            <a:ext cx="2542032" cy="256032"/>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average() block</a:t>
            </a:r>
            <a:endParaRPr lang="en-US" sz="1200" dirty="0"/>
          </a:p>
        </p:txBody>
      </p:sp>
      <p:sp>
        <p:nvSpPr>
          <p:cNvPr id="44" name="Text 42"/>
          <p:cNvSpPr txBox="1"/>
          <p:nvPr/>
        </p:nvSpPr>
        <p:spPr>
          <a:xfrm>
            <a:off x="8641080" y="4745736"/>
            <a:ext cx="338328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local</a:t>
            </a:r>
            <a:endParaRPr lang="en-US" sz="1200" dirty="0"/>
          </a:p>
        </p:txBody>
      </p:sp>
      <p:sp>
        <p:nvSpPr>
          <p:cNvPr id="45" name="Text 43"/>
          <p:cNvSpPr txBox="1"/>
          <p:nvPr/>
        </p:nvSpPr>
        <p:spPr>
          <a:xfrm>
            <a:off x="411480" y="5285232"/>
            <a:ext cx="457200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What symbol tables enable:</a:t>
            </a:r>
            <a:endParaRPr lang="en-US" sz="1300" dirty="0"/>
          </a:p>
        </p:txBody>
      </p:sp>
      <p:sp>
        <p:nvSpPr>
          <p:cNvPr id="46" name="Text 44"/>
          <p:cNvSpPr txBox="1"/>
          <p:nvPr/>
        </p:nvSpPr>
        <p:spPr>
          <a:xfrm>
            <a:off x="411480" y="5577840"/>
            <a:ext cx="32004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Name resolution</a:t>
            </a:r>
            <a:endParaRPr lang="en-US" sz="1200" dirty="0"/>
          </a:p>
        </p:txBody>
      </p:sp>
      <p:sp>
        <p:nvSpPr>
          <p:cNvPr id="47" name="Text 45"/>
          <p:cNvSpPr txBox="1"/>
          <p:nvPr/>
        </p:nvSpPr>
        <p:spPr>
          <a:xfrm>
            <a:off x="3730752" y="5577840"/>
            <a:ext cx="832104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Finding which declaration a name refers to — the core use</a:t>
            </a:r>
            <a:endParaRPr lang="en-US" sz="1200" dirty="0"/>
          </a:p>
        </p:txBody>
      </p:sp>
      <p:sp>
        <p:nvSpPr>
          <p:cNvPr id="48" name="Text 46"/>
          <p:cNvSpPr txBox="1"/>
          <p:nvPr/>
        </p:nvSpPr>
        <p:spPr>
          <a:xfrm>
            <a:off x="411480" y="5907024"/>
            <a:ext cx="32004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Type checking</a:t>
            </a:r>
            <a:endParaRPr lang="en-US" sz="1200" dirty="0"/>
          </a:p>
        </p:txBody>
      </p:sp>
      <p:sp>
        <p:nvSpPr>
          <p:cNvPr id="49" name="Text 47"/>
          <p:cNvSpPr txBox="1"/>
          <p:nvPr/>
        </p:nvSpPr>
        <p:spPr>
          <a:xfrm>
            <a:off x="3730752" y="5907024"/>
            <a:ext cx="832104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Once the name is resolved, checking operation correctness</a:t>
            </a:r>
            <a:endParaRPr lang="en-US" sz="1200" dirty="0"/>
          </a:p>
        </p:txBody>
      </p:sp>
      <p:sp>
        <p:nvSpPr>
          <p:cNvPr id="50" name="Text 48"/>
          <p:cNvSpPr txBox="1"/>
          <p:nvPr/>
        </p:nvSpPr>
        <p:spPr>
          <a:xfrm>
            <a:off x="411480" y="6236208"/>
            <a:ext cx="32004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Duplicate detection</a:t>
            </a:r>
            <a:endParaRPr lang="en-US" sz="1200" dirty="0"/>
          </a:p>
        </p:txBody>
      </p:sp>
      <p:sp>
        <p:nvSpPr>
          <p:cNvPr id="51" name="Text 49"/>
          <p:cNvSpPr txBox="1"/>
          <p:nvPr/>
        </p:nvSpPr>
        <p:spPr>
          <a:xfrm>
            <a:off x="3730752" y="6236208"/>
            <a:ext cx="832104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Catching two declarations with the same name in the same scope</a:t>
            </a:r>
            <a:endParaRPr lang="en-US" sz="1200" dirty="0"/>
          </a:p>
        </p:txBody>
      </p:sp>
      <p:sp>
        <p:nvSpPr>
          <p:cNvPr id="52" name="Text 50"/>
          <p:cNvSpPr txBox="1"/>
          <p:nvPr/>
        </p:nvSpPr>
        <p:spPr>
          <a:xfrm>
            <a:off x="411480" y="6565392"/>
            <a:ext cx="320040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Unused variables</a:t>
            </a:r>
            <a:endParaRPr lang="en-US" sz="1200" dirty="0"/>
          </a:p>
        </p:txBody>
      </p:sp>
      <p:sp>
        <p:nvSpPr>
          <p:cNvPr id="53" name="Text 51"/>
          <p:cNvSpPr txBox="1"/>
          <p:nvPr/>
        </p:nvSpPr>
        <p:spPr>
          <a:xfrm>
            <a:off x="3730752" y="6565392"/>
            <a:ext cx="8321040" cy="256032"/>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Noticing a name was declared but never looked up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Symbol Table Stack: How Nested Scopes Are Implemented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7</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Scope is hierarchical — so symbol tables are stacked. One table per active scope.</a:t>
            </a:r>
            <a:endParaRPr lang="en-US" sz="1300" dirty="0"/>
          </a:p>
        </p:txBody>
      </p:sp>
      <p:sp>
        <p:nvSpPr>
          <p:cNvPr id="6" name="Text 4"/>
          <p:cNvSpPr txBox="1"/>
          <p:nvPr/>
        </p:nvSpPr>
        <p:spPr>
          <a:xfrm>
            <a:off x="411480" y="1298448"/>
            <a:ext cx="58521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Source code nesting:</a:t>
            </a:r>
            <a:endParaRPr lang="en-US" sz="1300" dirty="0"/>
          </a:p>
        </p:txBody>
      </p:sp>
      <p:sp>
        <p:nvSpPr>
          <p:cNvPr id="7" name="Shape 5"/>
          <p:cNvSpPr/>
          <p:nvPr/>
        </p:nvSpPr>
        <p:spPr>
          <a:xfrm>
            <a:off x="411480" y="1609344"/>
            <a:ext cx="5852160" cy="1097280"/>
          </a:xfrm>
          <a:prstGeom prst="rect">
            <a:avLst/>
          </a:prstGeom>
          <a:solidFill>
            <a:srgbClr val="EEF1FA"/>
          </a:solidFill>
          <a:ln w="12700">
            <a:solidFill>
              <a:srgbClr val="D0DAF0"/>
            </a:solidFill>
            <a:prstDash val="solid"/>
          </a:ln>
        </p:spPr>
        <p:txBody>
          <a:bodyPr/>
          <a:lstStyle/>
          <a:p>
            <a:endParaRPr lang="en-US"/>
          </a:p>
        </p:txBody>
      </p:sp>
      <p:sp>
        <p:nvSpPr>
          <p:cNvPr id="8" name="Text 6"/>
          <p:cNvSpPr txBox="1"/>
          <p:nvPr/>
        </p:nvSpPr>
        <p:spPr>
          <a:xfrm>
            <a:off x="566928" y="1700784"/>
            <a:ext cx="5577840" cy="914400"/>
          </a:xfrm>
          <a:prstGeom prst="rect">
            <a:avLst/>
          </a:prstGeom>
          <a:noFill/>
          <a:ln/>
        </p:spPr>
        <p:txBody>
          <a:bodyPr wrap="square" lIns="0" tIns="0" rIns="0" bIns="0" rtlCol="0" anchor="ctr"/>
          <a:lstStyle/>
          <a:p>
            <a:pPr marL="0" indent="0">
              <a:lnSpc>
                <a:spcPct val="165000"/>
              </a:lnSpc>
              <a:buNone/>
            </a:pPr>
            <a:r>
              <a:rPr lang="en-US" sz="1200" dirty="0">
                <a:solidFill>
                  <a:srgbClr val="1A2B5E"/>
                </a:solidFill>
                <a:latin typeface="Courier New" pitchFamily="34" charset="0"/>
                <a:ea typeface="Courier New" pitchFamily="34" charset="-122"/>
                <a:cs typeface="Courier New" pitchFamily="34" charset="-120"/>
              </a:rPr>
              <a:t>Global Scope</a:t>
            </a:r>
            <a:endParaRPr lang="en-US" sz="1200" dirty="0"/>
          </a:p>
          <a:p>
            <a:pPr marL="0" indent="0">
              <a:lnSpc>
                <a:spcPct val="165000"/>
              </a:lnSpc>
              <a:buNone/>
            </a:pPr>
            <a:r>
              <a:rPr lang="en-US" sz="1200" dirty="0">
                <a:solidFill>
                  <a:srgbClr val="1A2B5E"/>
                </a:solidFill>
                <a:latin typeface="Courier New" pitchFamily="34" charset="0"/>
                <a:ea typeface="Courier New" pitchFamily="34" charset="-122"/>
                <a:cs typeface="Courier New" pitchFamily="34" charset="-120"/>
              </a:rPr>
              <a:t>  └── Function Scope</a:t>
            </a:r>
            <a:endParaRPr lang="en-US" sz="1200" dirty="0"/>
          </a:p>
          <a:p>
            <a:pPr marL="0" indent="0">
              <a:lnSpc>
                <a:spcPct val="165000"/>
              </a:lnSpc>
              <a:buNone/>
            </a:pPr>
            <a:r>
              <a:rPr lang="en-US" sz="1200" dirty="0">
                <a:solidFill>
                  <a:srgbClr val="1A2B5E"/>
                </a:solidFill>
                <a:latin typeface="Courier New" pitchFamily="34" charset="0"/>
                <a:ea typeface="Courier New" pitchFamily="34" charset="-122"/>
                <a:cs typeface="Courier New" pitchFamily="34" charset="-120"/>
              </a:rPr>
              <a:t>        └── Block Scope</a:t>
            </a:r>
            <a:endParaRPr lang="en-US" sz="1200" dirty="0"/>
          </a:p>
        </p:txBody>
      </p:sp>
      <p:sp>
        <p:nvSpPr>
          <p:cNvPr id="9" name="Text 7"/>
          <p:cNvSpPr txBox="1"/>
          <p:nvPr/>
        </p:nvSpPr>
        <p:spPr>
          <a:xfrm>
            <a:off x="6492240" y="1298448"/>
            <a:ext cx="553212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Compiler table stack (while inside the block):</a:t>
            </a:r>
            <a:endParaRPr lang="en-US" sz="1300" dirty="0"/>
          </a:p>
        </p:txBody>
      </p:sp>
      <p:sp>
        <p:nvSpPr>
          <p:cNvPr id="10" name="Shape 8"/>
          <p:cNvSpPr/>
          <p:nvPr/>
        </p:nvSpPr>
        <p:spPr>
          <a:xfrm>
            <a:off x="6492240" y="1609344"/>
            <a:ext cx="5532120" cy="621792"/>
          </a:xfrm>
          <a:prstGeom prst="rect">
            <a:avLst/>
          </a:prstGeom>
          <a:solidFill>
            <a:srgbClr val="F5F3FF"/>
          </a:solidFill>
          <a:ln w="12700">
            <a:solidFill>
              <a:srgbClr val="C4B5FD"/>
            </a:solidFill>
            <a:prstDash val="solid"/>
          </a:ln>
        </p:spPr>
        <p:txBody>
          <a:bodyPr/>
          <a:lstStyle/>
          <a:p>
            <a:endParaRPr lang="en-US"/>
          </a:p>
        </p:txBody>
      </p:sp>
      <p:sp>
        <p:nvSpPr>
          <p:cNvPr id="11" name="Text 9"/>
          <p:cNvSpPr txBox="1"/>
          <p:nvPr/>
        </p:nvSpPr>
        <p:spPr>
          <a:xfrm>
            <a:off x="6656832" y="1773936"/>
            <a:ext cx="347472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Current Block</a:t>
            </a:r>
            <a:endParaRPr lang="en-US" sz="1300" dirty="0"/>
          </a:p>
        </p:txBody>
      </p:sp>
      <p:sp>
        <p:nvSpPr>
          <p:cNvPr id="12" name="Text 10"/>
          <p:cNvSpPr txBox="1"/>
          <p:nvPr/>
        </p:nvSpPr>
        <p:spPr>
          <a:xfrm>
            <a:off x="10222992" y="1773936"/>
            <a:ext cx="1664208" cy="256032"/>
          </a:xfrm>
          <a:prstGeom prst="rect">
            <a:avLst/>
          </a:prstGeom>
          <a:noFill/>
          <a:ln/>
        </p:spPr>
        <p:txBody>
          <a:bodyPr wrap="square" lIns="0" tIns="0" rIns="0" bIns="0" rtlCol="0" anchor="ctr"/>
          <a:lstStyle/>
          <a:p>
            <a:pPr marL="0" indent="0" algn="r">
              <a:buNone/>
            </a:pPr>
            <a:r>
              <a:rPr lang="en-US" sz="1100" i="1" dirty="0">
                <a:solidFill>
                  <a:srgbClr val="5A6A82"/>
                </a:solidFill>
                <a:latin typeface="Calibri" pitchFamily="34" charset="0"/>
                <a:ea typeface="Calibri" pitchFamily="34" charset="-122"/>
                <a:cs typeface="Calibri" pitchFamily="34" charset="-120"/>
              </a:rPr>
              <a:t>← searched first</a:t>
            </a:r>
            <a:endParaRPr lang="en-US" sz="1100" dirty="0"/>
          </a:p>
        </p:txBody>
      </p:sp>
      <p:sp>
        <p:nvSpPr>
          <p:cNvPr id="13" name="Shape 11"/>
          <p:cNvSpPr/>
          <p:nvPr/>
        </p:nvSpPr>
        <p:spPr>
          <a:xfrm>
            <a:off x="6492240" y="2267712"/>
            <a:ext cx="5532120" cy="621792"/>
          </a:xfrm>
          <a:prstGeom prst="rect">
            <a:avLst/>
          </a:prstGeom>
          <a:solidFill>
            <a:srgbClr val="EEF1FA"/>
          </a:solidFill>
          <a:ln w="12700">
            <a:solidFill>
              <a:srgbClr val="D0DAF0"/>
            </a:solidFill>
            <a:prstDash val="solid"/>
          </a:ln>
        </p:spPr>
        <p:txBody>
          <a:bodyPr/>
          <a:lstStyle/>
          <a:p>
            <a:endParaRPr lang="en-US"/>
          </a:p>
        </p:txBody>
      </p:sp>
      <p:sp>
        <p:nvSpPr>
          <p:cNvPr id="14" name="Text 12"/>
          <p:cNvSpPr txBox="1"/>
          <p:nvPr/>
        </p:nvSpPr>
        <p:spPr>
          <a:xfrm>
            <a:off x="6656832" y="2432304"/>
            <a:ext cx="347472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Function Scope</a:t>
            </a:r>
            <a:endParaRPr lang="en-US" sz="1300" dirty="0"/>
          </a:p>
        </p:txBody>
      </p:sp>
      <p:sp>
        <p:nvSpPr>
          <p:cNvPr id="15" name="Text 13"/>
          <p:cNvSpPr txBox="1"/>
          <p:nvPr/>
        </p:nvSpPr>
        <p:spPr>
          <a:xfrm>
            <a:off x="10222992" y="2432304"/>
            <a:ext cx="1664208" cy="256032"/>
          </a:xfrm>
          <a:prstGeom prst="rect">
            <a:avLst/>
          </a:prstGeom>
          <a:noFill/>
          <a:ln/>
        </p:spPr>
        <p:txBody>
          <a:bodyPr wrap="square" lIns="0" tIns="0" rIns="0" bIns="0" rtlCol="0" anchor="ctr"/>
          <a:lstStyle/>
          <a:p>
            <a:pPr marL="0" indent="0" algn="r">
              <a:buNone/>
            </a:pPr>
            <a:endParaRPr lang="en-US" sz="1100" dirty="0"/>
          </a:p>
        </p:txBody>
      </p:sp>
      <p:sp>
        <p:nvSpPr>
          <p:cNvPr id="16" name="Shape 14"/>
          <p:cNvSpPr/>
          <p:nvPr/>
        </p:nvSpPr>
        <p:spPr>
          <a:xfrm>
            <a:off x="6492240" y="2926080"/>
            <a:ext cx="5532120" cy="621792"/>
          </a:xfrm>
          <a:prstGeom prst="rect">
            <a:avLst/>
          </a:prstGeom>
          <a:solidFill>
            <a:srgbClr val="EAF7EE"/>
          </a:solidFill>
          <a:ln w="12700">
            <a:solidFill>
              <a:srgbClr val="6EE7B7"/>
            </a:solidFill>
            <a:prstDash val="solid"/>
          </a:ln>
        </p:spPr>
        <p:txBody>
          <a:bodyPr/>
          <a:lstStyle/>
          <a:p>
            <a:endParaRPr lang="en-US"/>
          </a:p>
        </p:txBody>
      </p:sp>
      <p:sp>
        <p:nvSpPr>
          <p:cNvPr id="17" name="Text 15"/>
          <p:cNvSpPr txBox="1"/>
          <p:nvPr/>
        </p:nvSpPr>
        <p:spPr>
          <a:xfrm>
            <a:off x="6656832" y="3090672"/>
            <a:ext cx="3474720" cy="256032"/>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Global Scope</a:t>
            </a:r>
            <a:endParaRPr lang="en-US" sz="1300" dirty="0"/>
          </a:p>
        </p:txBody>
      </p:sp>
      <p:sp>
        <p:nvSpPr>
          <p:cNvPr id="18" name="Text 16"/>
          <p:cNvSpPr txBox="1"/>
          <p:nvPr/>
        </p:nvSpPr>
        <p:spPr>
          <a:xfrm>
            <a:off x="10222992" y="3090672"/>
            <a:ext cx="1664208" cy="256032"/>
          </a:xfrm>
          <a:prstGeom prst="rect">
            <a:avLst/>
          </a:prstGeom>
          <a:noFill/>
          <a:ln/>
        </p:spPr>
        <p:txBody>
          <a:bodyPr wrap="square" lIns="0" tIns="0" rIns="0" bIns="0" rtlCol="0" anchor="ctr"/>
          <a:lstStyle/>
          <a:p>
            <a:pPr marL="0" indent="0" algn="r">
              <a:buNone/>
            </a:pPr>
            <a:r>
              <a:rPr lang="en-US" sz="1100" i="1" dirty="0">
                <a:solidFill>
                  <a:srgbClr val="5A6A82"/>
                </a:solidFill>
                <a:latin typeface="Calibri" pitchFamily="34" charset="0"/>
                <a:ea typeface="Calibri" pitchFamily="34" charset="-122"/>
                <a:cs typeface="Calibri" pitchFamily="34" charset="-120"/>
              </a:rPr>
              <a:t>← searched last</a:t>
            </a:r>
            <a:endParaRPr lang="en-US" sz="1100" dirty="0"/>
          </a:p>
        </p:txBody>
      </p:sp>
      <p:sp>
        <p:nvSpPr>
          <p:cNvPr id="19" name="Text 17"/>
          <p:cNvSpPr txBox="1"/>
          <p:nvPr/>
        </p:nvSpPr>
        <p:spPr>
          <a:xfrm>
            <a:off x="411480" y="2834640"/>
            <a:ext cx="58521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Lifecycle events:</a:t>
            </a:r>
            <a:endParaRPr lang="en-US" sz="1300" dirty="0"/>
          </a:p>
        </p:txBody>
      </p:sp>
      <p:sp>
        <p:nvSpPr>
          <p:cNvPr id="20" name="Shape 18"/>
          <p:cNvSpPr/>
          <p:nvPr/>
        </p:nvSpPr>
        <p:spPr>
          <a:xfrm>
            <a:off x="411480" y="3145536"/>
            <a:ext cx="5852160" cy="2084832"/>
          </a:xfrm>
          <a:prstGeom prst="rect">
            <a:avLst/>
          </a:prstGeom>
          <a:solidFill>
            <a:srgbClr val="EEF1FA"/>
          </a:solidFill>
          <a:ln w="12700">
            <a:solidFill>
              <a:srgbClr val="D0DAF0"/>
            </a:solidFill>
            <a:prstDash val="solid"/>
          </a:ln>
        </p:spPr>
        <p:txBody>
          <a:bodyPr/>
          <a:lstStyle/>
          <a:p>
            <a:endParaRPr lang="en-US"/>
          </a:p>
        </p:txBody>
      </p:sp>
      <p:sp>
        <p:nvSpPr>
          <p:cNvPr id="21" name="Text 19"/>
          <p:cNvSpPr txBox="1"/>
          <p:nvPr/>
        </p:nvSpPr>
        <p:spPr>
          <a:xfrm>
            <a:off x="566928" y="3236976"/>
            <a:ext cx="5577840" cy="1901952"/>
          </a:xfrm>
          <a:prstGeom prst="rect">
            <a:avLst/>
          </a:prstGeom>
          <a:noFill/>
          <a:ln/>
        </p:spPr>
        <p:txBody>
          <a:bodyPr wrap="square" lIns="0" tIns="0" rIns="0" bIns="0" rtlCol="0" anchor="ctr"/>
          <a:lstStyle/>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Enter scope   → create and push a new table</a:t>
            </a:r>
            <a:endParaRPr lang="en-US" sz="1150" dirty="0"/>
          </a:p>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Declare a name → record it in the top table</a:t>
            </a:r>
            <a:endParaRPr lang="en-US" sz="1150" dirty="0"/>
          </a:p>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Reference a name → search top → ... → bottom</a:t>
            </a:r>
            <a:endParaRPr lang="en-US" sz="1150" dirty="0"/>
          </a:p>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                  stop at first match</a:t>
            </a:r>
            <a:endParaRPr lang="en-US" sz="1150" dirty="0"/>
          </a:p>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Exit scope     → pop the top table</a:t>
            </a:r>
            <a:endParaRPr lang="en-US" sz="1150" dirty="0"/>
          </a:p>
          <a:p>
            <a:pPr marL="0" indent="0">
              <a:lnSpc>
                <a:spcPct val="160000"/>
              </a:lnSpc>
              <a:buNone/>
            </a:pPr>
            <a:r>
              <a:rPr lang="en-US" sz="1150" dirty="0">
                <a:solidFill>
                  <a:srgbClr val="1A2B5E"/>
                </a:solidFill>
                <a:latin typeface="Courier New" pitchFamily="34" charset="0"/>
                <a:ea typeface="Courier New" pitchFamily="34" charset="-122"/>
                <a:cs typeface="Courier New" pitchFamily="34" charset="-120"/>
              </a:rPr>
              <a:t>                  (names in it are gone)</a:t>
            </a:r>
            <a:endParaRPr lang="en-US" sz="1150" dirty="0"/>
          </a:p>
        </p:txBody>
      </p:sp>
      <p:sp>
        <p:nvSpPr>
          <p:cNvPr id="22" name="Shape 20"/>
          <p:cNvSpPr/>
          <p:nvPr/>
        </p:nvSpPr>
        <p:spPr>
          <a:xfrm>
            <a:off x="6492240" y="3145536"/>
            <a:ext cx="54864" cy="2084832"/>
          </a:xfrm>
          <a:prstGeom prst="rect">
            <a:avLst/>
          </a:prstGeom>
          <a:solidFill>
            <a:srgbClr val="2E5BFF"/>
          </a:solidFill>
          <a:ln/>
        </p:spPr>
        <p:txBody>
          <a:bodyPr/>
          <a:lstStyle/>
          <a:p>
            <a:endParaRPr lang="en-US"/>
          </a:p>
        </p:txBody>
      </p:sp>
      <p:sp>
        <p:nvSpPr>
          <p:cNvPr id="23" name="Shape 21"/>
          <p:cNvSpPr/>
          <p:nvPr/>
        </p:nvSpPr>
        <p:spPr>
          <a:xfrm>
            <a:off x="6547104" y="3145536"/>
            <a:ext cx="5477256" cy="2084832"/>
          </a:xfrm>
          <a:prstGeom prst="rect">
            <a:avLst/>
          </a:prstGeom>
          <a:solidFill>
            <a:srgbClr val="EFF6FF"/>
          </a:solidFill>
          <a:ln w="12700">
            <a:solidFill>
              <a:srgbClr val="BFDBFE"/>
            </a:solidFill>
            <a:prstDash val="solid"/>
          </a:ln>
        </p:spPr>
        <p:txBody>
          <a:bodyPr/>
          <a:lstStyle/>
          <a:p>
            <a:endParaRPr lang="en-US"/>
          </a:p>
        </p:txBody>
      </p:sp>
      <p:sp>
        <p:nvSpPr>
          <p:cNvPr id="24" name="Text 22"/>
          <p:cNvSpPr txBox="1"/>
          <p:nvPr/>
        </p:nvSpPr>
        <p:spPr>
          <a:xfrm>
            <a:off x="6675120" y="3218688"/>
            <a:ext cx="525780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25" name="Text 23"/>
          <p:cNvSpPr txBox="1"/>
          <p:nvPr/>
        </p:nvSpPr>
        <p:spPr>
          <a:xfrm>
            <a:off x="6675120" y="3465576"/>
            <a:ext cx="5257800" cy="1673352"/>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The symbol table stack directly mirrors the scope hierarchy the language designer chose. C#'s four scope levels → four-layer stack. Python's LEGB → four layers: Local on top, Built-in at the bottom. The design decision about scope rules determines the implementation structure that must support them.</a:t>
            </a:r>
            <a:endParaRPr lang="en-US" sz="1200" dirty="0"/>
          </a:p>
        </p:txBody>
      </p:sp>
      <p:sp>
        <p:nvSpPr>
          <p:cNvPr id="26" name="Text 24"/>
          <p:cNvSpPr txBox="1"/>
          <p:nvPr/>
        </p:nvSpPr>
        <p:spPr>
          <a:xfrm>
            <a:off x="411480" y="5321808"/>
            <a:ext cx="11338560" cy="274320"/>
          </a:xfrm>
          <a:prstGeom prst="rect">
            <a:avLst/>
          </a:prstGeom>
          <a:noFill/>
          <a:ln/>
        </p:spPr>
        <p:txBody>
          <a:bodyPr wrap="square" lIns="0" tIns="0" rIns="0" bIns="0" rtlCol="0" anchor="ctr"/>
          <a:lstStyle/>
          <a:p>
            <a:pPr marL="0" indent="0">
              <a:buNone/>
            </a:pPr>
            <a:r>
              <a:rPr lang="en-US" sz="1300" b="1" dirty="0">
                <a:solidFill>
                  <a:srgbClr val="1A2B5E"/>
                </a:solidFill>
                <a:latin typeface="Calibri" pitchFamily="34" charset="0"/>
                <a:ea typeface="Calibri" pitchFamily="34" charset="-122"/>
                <a:cs typeface="Calibri" pitchFamily="34" charset="-120"/>
              </a:rPr>
              <a:t>Name lookup = search down the stack. Name declaration = add to the top table.</a:t>
            </a:r>
            <a:endParaRPr lang="en-US" sz="1300" dirty="0"/>
          </a:p>
        </p:txBody>
      </p:sp>
      <p:sp>
        <p:nvSpPr>
          <p:cNvPr id="27" name="Shape 25"/>
          <p:cNvSpPr/>
          <p:nvPr/>
        </p:nvSpPr>
        <p:spPr>
          <a:xfrm>
            <a:off x="411480" y="5650992"/>
            <a:ext cx="54864" cy="713232"/>
          </a:xfrm>
          <a:prstGeom prst="rect">
            <a:avLst/>
          </a:prstGeom>
          <a:solidFill>
            <a:srgbClr val="2E5BFF"/>
          </a:solidFill>
          <a:ln/>
        </p:spPr>
        <p:txBody>
          <a:bodyPr/>
          <a:lstStyle/>
          <a:p>
            <a:endParaRPr lang="en-US"/>
          </a:p>
        </p:txBody>
      </p:sp>
      <p:sp>
        <p:nvSpPr>
          <p:cNvPr id="28" name="Shape 26"/>
          <p:cNvSpPr/>
          <p:nvPr/>
        </p:nvSpPr>
        <p:spPr>
          <a:xfrm>
            <a:off x="466344" y="5650992"/>
            <a:ext cx="11283696" cy="713232"/>
          </a:xfrm>
          <a:prstGeom prst="rect">
            <a:avLst/>
          </a:prstGeom>
          <a:solidFill>
            <a:srgbClr val="EFF6FF"/>
          </a:solidFill>
          <a:ln w="12700">
            <a:solidFill>
              <a:srgbClr val="BFDBFE"/>
            </a:solidFill>
            <a:prstDash val="solid"/>
          </a:ln>
        </p:spPr>
        <p:txBody>
          <a:bodyPr/>
          <a:lstStyle/>
          <a:p>
            <a:endParaRPr lang="en-US"/>
          </a:p>
        </p:txBody>
      </p:sp>
      <p:sp>
        <p:nvSpPr>
          <p:cNvPr id="29" name="Text 27"/>
          <p:cNvSpPr txBox="1"/>
          <p:nvPr/>
        </p:nvSpPr>
        <p:spPr>
          <a:xfrm>
            <a:off x="594360" y="5742432"/>
            <a:ext cx="11064240" cy="530352"/>
          </a:xfrm>
          <a:prstGeom prst="rect">
            <a:avLst/>
          </a:prstGeom>
          <a:noFill/>
          <a:ln/>
        </p:spPr>
        <p:txBody>
          <a:bodyPr wrap="square" lIns="0" tIns="0" rIns="0" bIns="0" rtlCol="0" anchor="ctr"/>
          <a:lstStyle/>
          <a:p>
            <a:pPr marL="0" indent="0">
              <a:lnSpc>
                <a:spcPct val="135000"/>
              </a:lnSpc>
              <a:buNone/>
            </a:pPr>
            <a:r>
              <a:rPr lang="en-US" sz="1200" dirty="0">
                <a:solidFill>
                  <a:srgbClr val="1E3A8A"/>
                </a:solidFill>
                <a:latin typeface="Calibri" pitchFamily="34" charset="0"/>
                <a:ea typeface="Calibri" pitchFamily="34" charset="-122"/>
                <a:cs typeface="Calibri" pitchFamily="34" charset="-120"/>
              </a:rPr>
              <a:t>In a statically scoped language, the compiler builds most of this structure from the source text — it reads the code, builds the tables, and can detect errors before running. In a dynamically scoped language, the runtime must maintain a similar structure that follows the call stack instead of the source structure.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Scope Tracing — Practice the Algorithm</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8</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For each exercise, apply the resolution algorithm: find the use → identify scope → search outward → stop at first match.</a:t>
            </a:r>
            <a:endParaRPr lang="en-US" sz="1300" dirty="0"/>
          </a:p>
        </p:txBody>
      </p:sp>
      <p:sp>
        <p:nvSpPr>
          <p:cNvPr id="6" name="Shape 4"/>
          <p:cNvSpPr/>
          <p:nvPr/>
        </p:nvSpPr>
        <p:spPr>
          <a:xfrm>
            <a:off x="413222" y="1298448"/>
            <a:ext cx="5530378" cy="3737138"/>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594360" y="1389888"/>
            <a:ext cx="658368" cy="256032"/>
          </a:xfrm>
          <a:prstGeom prst="roundRect">
            <a:avLst>
              <a:gd name="adj" fmla="val 25000"/>
            </a:avLst>
          </a:prstGeom>
          <a:solidFill>
            <a:srgbClr val="E8F0FE"/>
          </a:solidFill>
          <a:ln/>
        </p:spPr>
        <p:txBody>
          <a:bodyPr/>
          <a:lstStyle/>
          <a:p>
            <a:endParaRPr lang="en-US"/>
          </a:p>
        </p:txBody>
      </p:sp>
      <p:sp>
        <p:nvSpPr>
          <p:cNvPr id="8" name="Text 6"/>
          <p:cNvSpPr txBox="1"/>
          <p:nvPr/>
        </p:nvSpPr>
        <p:spPr>
          <a:xfrm>
            <a:off x="630936" y="1417320"/>
            <a:ext cx="585216" cy="201168"/>
          </a:xfrm>
          <a:prstGeom prst="rect">
            <a:avLst/>
          </a:prstGeom>
          <a:noFill/>
          <a:ln/>
        </p:spPr>
        <p:txBody>
          <a:bodyPr wrap="square" lIns="0" tIns="0" rIns="0" bIns="0" rtlCol="0" anchor="ctr"/>
          <a:lstStyle/>
          <a:p>
            <a:pPr marL="0" indent="0" algn="ctr">
              <a:buNone/>
            </a:pPr>
            <a:r>
              <a:rPr lang="en-US" sz="1000" b="1" dirty="0">
                <a:solidFill>
                  <a:srgbClr val="2E5BFF"/>
                </a:solidFill>
                <a:latin typeface="Courier New" pitchFamily="34" charset="0"/>
                <a:ea typeface="Courier New" pitchFamily="34" charset="-122"/>
                <a:cs typeface="Courier New" pitchFamily="34" charset="-120"/>
              </a:rPr>
              <a:t>C</a:t>
            </a:r>
            <a:endParaRPr lang="en-US" sz="1000" dirty="0"/>
          </a:p>
        </p:txBody>
      </p:sp>
      <p:sp>
        <p:nvSpPr>
          <p:cNvPr id="9" name="Text 7"/>
          <p:cNvSpPr txBox="1"/>
          <p:nvPr/>
        </p:nvSpPr>
        <p:spPr>
          <a:xfrm>
            <a:off x="594360" y="1700784"/>
            <a:ext cx="507492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Which "score" and "extra" at each comment?</a:t>
            </a:r>
            <a:endParaRPr lang="en-US" sz="1200" dirty="0"/>
          </a:p>
        </p:txBody>
      </p:sp>
      <p:sp>
        <p:nvSpPr>
          <p:cNvPr id="10" name="Shape 8"/>
          <p:cNvSpPr/>
          <p:nvPr/>
        </p:nvSpPr>
        <p:spPr>
          <a:xfrm>
            <a:off x="594360" y="1975104"/>
            <a:ext cx="5166360" cy="2916936"/>
          </a:xfrm>
          <a:prstGeom prst="rect">
            <a:avLst/>
          </a:prstGeom>
          <a:solidFill>
            <a:srgbClr val="EEF1FA"/>
          </a:solidFill>
          <a:ln w="12700">
            <a:solidFill>
              <a:srgbClr val="D0DAF0"/>
            </a:solidFill>
            <a:prstDash val="solid"/>
          </a:ln>
        </p:spPr>
        <p:txBody>
          <a:bodyPr/>
          <a:lstStyle/>
          <a:p>
            <a:endParaRPr lang="en-US"/>
          </a:p>
        </p:txBody>
      </p:sp>
      <p:sp>
        <p:nvSpPr>
          <p:cNvPr id="11" name="Text 9"/>
          <p:cNvSpPr txBox="1"/>
          <p:nvPr/>
        </p:nvSpPr>
        <p:spPr>
          <a:xfrm>
            <a:off x="722376" y="2066544"/>
            <a:ext cx="4873752" cy="2798064"/>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score = 100;          // file scope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bonus(int score) {    // parameter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if (score &gt; 50)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int extra = 10;   // block scope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score += extra;   // (1) which score? extra?</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return score;         // (2) which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int main()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bonus(score);         // (3) which score?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a:t>
            </a:r>
            <a:endParaRPr lang="en-US" sz="1100" dirty="0"/>
          </a:p>
        </p:txBody>
      </p:sp>
      <p:sp>
        <p:nvSpPr>
          <p:cNvPr id="12" name="Shape 10"/>
          <p:cNvSpPr/>
          <p:nvPr/>
        </p:nvSpPr>
        <p:spPr>
          <a:xfrm>
            <a:off x="6080760" y="1298448"/>
            <a:ext cx="5669280" cy="3737138"/>
          </a:xfrm>
          <a:prstGeom prst="rect">
            <a:avLst/>
          </a:prstGeom>
          <a:solidFill>
            <a:srgbClr val="FFFFFF"/>
          </a:solidFill>
          <a:ln w="12700">
            <a:solidFill>
              <a:srgbClr val="D0DAF0"/>
            </a:solidFill>
            <a:prstDash val="solid"/>
          </a:ln>
        </p:spPr>
        <p:txBody>
          <a:bodyPr/>
          <a:lstStyle/>
          <a:p>
            <a:endParaRPr lang="en-US"/>
          </a:p>
        </p:txBody>
      </p:sp>
      <p:sp>
        <p:nvSpPr>
          <p:cNvPr id="13" name="Shape 11"/>
          <p:cNvSpPr/>
          <p:nvPr/>
        </p:nvSpPr>
        <p:spPr>
          <a:xfrm>
            <a:off x="6263640" y="1389888"/>
            <a:ext cx="658368" cy="256032"/>
          </a:xfrm>
          <a:prstGeom prst="roundRect">
            <a:avLst>
              <a:gd name="adj" fmla="val 25000"/>
            </a:avLst>
          </a:prstGeom>
          <a:solidFill>
            <a:srgbClr val="FEF3E8"/>
          </a:solidFill>
          <a:ln/>
        </p:spPr>
        <p:txBody>
          <a:bodyPr/>
          <a:lstStyle/>
          <a:p>
            <a:endParaRPr lang="en-US"/>
          </a:p>
        </p:txBody>
      </p:sp>
      <p:sp>
        <p:nvSpPr>
          <p:cNvPr id="14" name="Text 12"/>
          <p:cNvSpPr txBox="1"/>
          <p:nvPr/>
        </p:nvSpPr>
        <p:spPr>
          <a:xfrm>
            <a:off x="6300216" y="1417320"/>
            <a:ext cx="585216" cy="201168"/>
          </a:xfrm>
          <a:prstGeom prst="rect">
            <a:avLst/>
          </a:prstGeom>
          <a:noFill/>
          <a:ln/>
        </p:spPr>
        <p:txBody>
          <a:bodyPr wrap="square" lIns="0" tIns="0" rIns="0" bIns="0" rtlCol="0" anchor="ctr"/>
          <a:lstStyle/>
          <a:p>
            <a:pPr marL="0" indent="0" algn="ctr">
              <a:buNone/>
            </a:pPr>
            <a:r>
              <a:rPr lang="en-US" sz="1000" b="1" dirty="0">
                <a:solidFill>
                  <a:srgbClr val="C05E00"/>
                </a:solidFill>
                <a:latin typeface="Courier New" pitchFamily="34" charset="0"/>
                <a:ea typeface="Courier New" pitchFamily="34" charset="-122"/>
                <a:cs typeface="Courier New" pitchFamily="34" charset="-120"/>
              </a:rPr>
              <a:t>Python</a:t>
            </a:r>
            <a:endParaRPr lang="en-US" sz="1000" dirty="0"/>
          </a:p>
        </p:txBody>
      </p:sp>
      <p:sp>
        <p:nvSpPr>
          <p:cNvPr id="15" name="Text 13"/>
          <p:cNvSpPr txBox="1"/>
          <p:nvPr/>
        </p:nvSpPr>
        <p:spPr>
          <a:xfrm>
            <a:off x="6263640" y="1700784"/>
            <a:ext cx="5212080" cy="237744"/>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Which LEGB layer for each name?</a:t>
            </a:r>
            <a:endParaRPr lang="en-US" sz="1200" dirty="0"/>
          </a:p>
        </p:txBody>
      </p:sp>
      <p:sp>
        <p:nvSpPr>
          <p:cNvPr id="16" name="Shape 14"/>
          <p:cNvSpPr/>
          <p:nvPr/>
        </p:nvSpPr>
        <p:spPr>
          <a:xfrm>
            <a:off x="6263640" y="1975103"/>
            <a:ext cx="5334000" cy="2944369"/>
          </a:xfrm>
          <a:prstGeom prst="rect">
            <a:avLst/>
          </a:prstGeom>
          <a:solidFill>
            <a:srgbClr val="EEF1FA"/>
          </a:solidFill>
          <a:ln w="12700">
            <a:solidFill>
              <a:srgbClr val="D0DAF0"/>
            </a:solidFill>
            <a:prstDash val="solid"/>
          </a:ln>
        </p:spPr>
        <p:txBody>
          <a:bodyPr/>
          <a:lstStyle/>
          <a:p>
            <a:endParaRPr lang="en-US"/>
          </a:p>
        </p:txBody>
      </p:sp>
      <p:sp>
        <p:nvSpPr>
          <p:cNvPr id="17" name="Text 15"/>
          <p:cNvSpPr txBox="1"/>
          <p:nvPr/>
        </p:nvSpPr>
        <p:spPr>
          <a:xfrm>
            <a:off x="6391656" y="2066544"/>
            <a:ext cx="5010912" cy="2230846"/>
          </a:xfrm>
          <a:prstGeom prst="rect">
            <a:avLst/>
          </a:prstGeom>
          <a:noFill/>
          <a:ln/>
        </p:spPr>
        <p:txBody>
          <a:bodyPr wrap="square" lIns="0" tIns="0" rIns="0" bIns="0" rtlCol="0" anchor="ctr"/>
          <a:lstStyle/>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result = 100                # G</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def compute():</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multiplier = 3          # E for apply()</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def apply(n):</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total = n * multiplier</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print(total)     # (1) — L</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print(multiplier) # (2) —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print(result)    # (3) — ?</a:t>
            </a:r>
            <a:endParaRPr lang="en-US" sz="1100" dirty="0"/>
          </a:p>
          <a:p>
            <a:pPr marL="0" indent="0">
              <a:lnSpc>
                <a:spcPct val="155000"/>
              </a:lnSpc>
              <a:buNone/>
            </a:pPr>
            <a:r>
              <a:rPr lang="en-US" sz="1100" dirty="0">
                <a:solidFill>
                  <a:srgbClr val="1A2B5E"/>
                </a:solidFill>
                <a:latin typeface="Courier New" pitchFamily="34" charset="0"/>
                <a:ea typeface="Courier New" pitchFamily="34" charset="-122"/>
                <a:cs typeface="Courier New" pitchFamily="34" charset="-120"/>
              </a:rPr>
              <a:t>        print(len)       # (4) — ?</a:t>
            </a:r>
            <a:endParaRPr lang="en-US" sz="1100" dirty="0"/>
          </a:p>
        </p:txBody>
      </p:sp>
      <p:sp>
        <p:nvSpPr>
          <p:cNvPr id="18" name="Shape 16"/>
          <p:cNvSpPr/>
          <p:nvPr/>
        </p:nvSpPr>
        <p:spPr>
          <a:xfrm>
            <a:off x="386226" y="5136170"/>
            <a:ext cx="5557374" cy="1492940"/>
          </a:xfrm>
          <a:prstGeom prst="rect">
            <a:avLst/>
          </a:prstGeom>
          <a:solidFill>
            <a:srgbClr val="EAF7EE"/>
          </a:solidFill>
          <a:ln w="12700">
            <a:solidFill>
              <a:srgbClr val="6EE7B7"/>
            </a:solidFill>
            <a:prstDash val="solid"/>
          </a:ln>
        </p:spPr>
        <p:txBody>
          <a:bodyPr/>
          <a:lstStyle/>
          <a:p>
            <a:endParaRPr lang="en-US"/>
          </a:p>
        </p:txBody>
      </p:sp>
      <p:sp>
        <p:nvSpPr>
          <p:cNvPr id="19" name="Text 17"/>
          <p:cNvSpPr txBox="1"/>
          <p:nvPr/>
        </p:nvSpPr>
        <p:spPr>
          <a:xfrm>
            <a:off x="594360" y="5274492"/>
            <a:ext cx="5166360" cy="237744"/>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C answers:</a:t>
            </a:r>
            <a:endParaRPr lang="en-US" sz="1200" dirty="0"/>
          </a:p>
        </p:txBody>
      </p:sp>
      <p:sp>
        <p:nvSpPr>
          <p:cNvPr id="20" name="Text 18"/>
          <p:cNvSpPr txBox="1"/>
          <p:nvPr/>
        </p:nvSpPr>
        <p:spPr>
          <a:xfrm>
            <a:off x="567364" y="5266218"/>
            <a:ext cx="5284796" cy="1113536"/>
          </a:xfrm>
          <a:prstGeom prst="rect">
            <a:avLst/>
          </a:prstGeom>
          <a:noFill/>
          <a:ln/>
        </p:spPr>
        <p:txBody>
          <a:bodyPr wrap="square" lIns="0" tIns="0" rIns="0" bIns="0" rtlCol="0" anchor="ctr"/>
          <a:lstStyle/>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(1) score = parameter (shadows file-scope); extra = block local</a:t>
            </a:r>
            <a:endParaRPr lang="en-US" sz="1200" dirty="0"/>
          </a:p>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(2) score = parameter (if-block ended, extra is gone)</a:t>
            </a:r>
            <a:endParaRPr lang="en-US" sz="1200" dirty="0"/>
          </a:p>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(3) score = file-scope global (no local/param in main)</a:t>
            </a:r>
            <a:endParaRPr lang="en-US" sz="1200" dirty="0"/>
          </a:p>
        </p:txBody>
      </p:sp>
      <p:sp>
        <p:nvSpPr>
          <p:cNvPr id="21" name="Shape 19"/>
          <p:cNvSpPr/>
          <p:nvPr/>
        </p:nvSpPr>
        <p:spPr>
          <a:xfrm>
            <a:off x="6136494" y="5136170"/>
            <a:ext cx="5669280" cy="1465798"/>
          </a:xfrm>
          <a:prstGeom prst="rect">
            <a:avLst/>
          </a:prstGeom>
          <a:solidFill>
            <a:srgbClr val="EAF7EE"/>
          </a:solidFill>
          <a:ln w="12700">
            <a:solidFill>
              <a:srgbClr val="6EE7B7"/>
            </a:solidFill>
            <a:prstDash val="solid"/>
          </a:ln>
        </p:spPr>
        <p:txBody>
          <a:bodyPr/>
          <a:lstStyle/>
          <a:p>
            <a:endParaRPr lang="en-US"/>
          </a:p>
        </p:txBody>
      </p:sp>
      <p:sp>
        <p:nvSpPr>
          <p:cNvPr id="22" name="Text 20"/>
          <p:cNvSpPr txBox="1"/>
          <p:nvPr/>
        </p:nvSpPr>
        <p:spPr>
          <a:xfrm>
            <a:off x="6309360" y="5273621"/>
            <a:ext cx="5212080" cy="237744"/>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LEGB answers:</a:t>
            </a:r>
            <a:endParaRPr lang="en-US" sz="1200" dirty="0"/>
          </a:p>
        </p:txBody>
      </p:sp>
      <p:sp>
        <p:nvSpPr>
          <p:cNvPr id="23" name="Text 21"/>
          <p:cNvSpPr txBox="1"/>
          <p:nvPr/>
        </p:nvSpPr>
        <p:spPr>
          <a:xfrm>
            <a:off x="6319374" y="5284942"/>
            <a:ext cx="5212080" cy="1253744"/>
          </a:xfrm>
          <a:prstGeom prst="rect">
            <a:avLst/>
          </a:prstGeom>
          <a:noFill/>
          <a:ln/>
        </p:spPr>
        <p:txBody>
          <a:bodyPr wrap="square" lIns="0" tIns="0" rIns="0" bIns="0" rtlCol="0" anchor="ctr"/>
          <a:lstStyle/>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(1) total → L (Local to apply)</a:t>
            </a:r>
            <a:endParaRPr lang="en-US" sz="1200" dirty="0"/>
          </a:p>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(2) multiplier → E (Enclosing: compute())</a:t>
            </a:r>
            <a:endParaRPr lang="en-US" sz="1200" dirty="0"/>
          </a:p>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(3) result → G (Global: module level)</a:t>
            </a:r>
            <a:endParaRPr lang="en-US" sz="1200" dirty="0"/>
          </a:p>
          <a:p>
            <a:pPr marL="0" indent="0">
              <a:lnSpc>
                <a:spcPct val="155000"/>
              </a:lnSpc>
              <a:buNone/>
            </a:pPr>
            <a:r>
              <a:rPr lang="en-US" sz="1200" dirty="0">
                <a:solidFill>
                  <a:srgbClr val="1A7A3C"/>
                </a:solidFill>
                <a:latin typeface="Calibri" pitchFamily="34" charset="0"/>
                <a:ea typeface="Calibri" pitchFamily="34" charset="-122"/>
                <a:cs typeface="Calibri" pitchFamily="34" charset="-120"/>
              </a:rPr>
              <a:t>(4) len → B (Built-in: Python always has it)</a:t>
            </a:r>
            <a:endParaRPr lang="en-US" sz="1200" dirty="0"/>
          </a:p>
        </p:txBody>
      </p:sp>
      <p:sp>
        <p:nvSpPr>
          <p:cNvPr id="24" name="Text 22"/>
          <p:cNvSpPr txBox="1"/>
          <p:nvPr/>
        </p:nvSpPr>
        <p:spPr>
          <a:xfrm>
            <a:off x="440218" y="6629110"/>
            <a:ext cx="5284796" cy="267934"/>
          </a:xfrm>
          <a:prstGeom prst="rect">
            <a:avLst/>
          </a:prstGeom>
          <a:noFill/>
          <a:ln/>
        </p:spPr>
        <p:txBody>
          <a:bodyPr wrap="square" lIns="0" tIns="0" rIns="0" bIns="0" rtlCol="0" anchor="ctr"/>
          <a:lstStyle/>
          <a:p>
            <a:pPr marL="0" indent="0">
              <a:buNone/>
            </a:pPr>
            <a:r>
              <a:rPr lang="en-US" sz="1200" i="1" dirty="0">
                <a:solidFill>
                  <a:srgbClr val="5A6A82"/>
                </a:solidFill>
                <a:latin typeface="Calibri" pitchFamily="34" charset="0"/>
                <a:ea typeface="Calibri" pitchFamily="34" charset="-122"/>
                <a:cs typeface="Calibri" pitchFamily="34" charset="-120"/>
              </a:rPr>
              <a:t>Try these before reading the answers. Use the 7-step algorithm from slide 13.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Six Common Misconceptions About Scope</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9</a:t>
            </a:r>
            <a:endParaRPr lang="en-US" sz="900" dirty="0"/>
          </a:p>
        </p:txBody>
      </p:sp>
      <p:sp>
        <p:nvSpPr>
          <p:cNvPr id="5" name="Shape 3"/>
          <p:cNvSpPr/>
          <p:nvPr/>
        </p:nvSpPr>
        <p:spPr>
          <a:xfrm>
            <a:off x="411480" y="1024128"/>
            <a:ext cx="5349240" cy="1353312"/>
          </a:xfrm>
          <a:prstGeom prst="rect">
            <a:avLst/>
          </a:prstGeom>
          <a:solidFill>
            <a:srgbClr val="FEF2F2"/>
          </a:solidFill>
          <a:ln w="12700">
            <a:solidFill>
              <a:srgbClr val="FCA5A5"/>
            </a:solidFill>
            <a:prstDash val="solid"/>
          </a:ln>
        </p:spPr>
        <p:txBody>
          <a:bodyPr/>
          <a:lstStyle/>
          <a:p>
            <a:endParaRPr lang="en-US"/>
          </a:p>
        </p:txBody>
      </p:sp>
      <p:sp>
        <p:nvSpPr>
          <p:cNvPr id="6" name="Text 4"/>
          <p:cNvSpPr txBox="1"/>
          <p:nvPr/>
        </p:nvSpPr>
        <p:spPr>
          <a:xfrm>
            <a:off x="594360" y="1115568"/>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"Scope and lifetime are the same thing."</a:t>
            </a:r>
            <a:endParaRPr lang="en-US" sz="1200" dirty="0"/>
          </a:p>
        </p:txBody>
      </p:sp>
      <p:sp>
        <p:nvSpPr>
          <p:cNvPr id="7" name="Shape 5"/>
          <p:cNvSpPr/>
          <p:nvPr/>
        </p:nvSpPr>
        <p:spPr>
          <a:xfrm>
            <a:off x="5989320" y="1024128"/>
            <a:ext cx="5760720" cy="1353312"/>
          </a:xfrm>
          <a:prstGeom prst="rect">
            <a:avLst/>
          </a:prstGeom>
          <a:solidFill>
            <a:srgbClr val="EAF7EE"/>
          </a:solidFill>
          <a:ln w="12700">
            <a:solidFill>
              <a:srgbClr val="6EE7B7"/>
            </a:solidFill>
            <a:prstDash val="solid"/>
          </a:ln>
        </p:spPr>
        <p:txBody>
          <a:bodyPr/>
          <a:lstStyle/>
          <a:p>
            <a:endParaRPr lang="en-US"/>
          </a:p>
        </p:txBody>
      </p:sp>
      <p:sp>
        <p:nvSpPr>
          <p:cNvPr id="8" name="Text 6"/>
          <p:cNvSpPr txBox="1"/>
          <p:nvPr/>
        </p:nvSpPr>
        <p:spPr>
          <a:xfrm>
            <a:off x="6172200" y="1115568"/>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Scope = WHERE in source code (static/textual). Lifetime = HOW LONG during execution (runtime). C static locals prove the difference: function scope, program-long lifetime.</a:t>
            </a:r>
            <a:endParaRPr lang="en-US" sz="1200" dirty="0"/>
          </a:p>
        </p:txBody>
      </p:sp>
      <p:sp>
        <p:nvSpPr>
          <p:cNvPr id="9" name="Shape 7"/>
          <p:cNvSpPr/>
          <p:nvPr/>
        </p:nvSpPr>
        <p:spPr>
          <a:xfrm>
            <a:off x="411480" y="2505456"/>
            <a:ext cx="5349240" cy="1353312"/>
          </a:xfrm>
          <a:prstGeom prst="rect">
            <a:avLst/>
          </a:prstGeom>
          <a:solidFill>
            <a:srgbClr val="FEF2F2"/>
          </a:solidFill>
          <a:ln w="12700">
            <a:solidFill>
              <a:srgbClr val="FCA5A5"/>
            </a:solidFill>
            <a:prstDash val="solid"/>
          </a:ln>
        </p:spPr>
        <p:txBody>
          <a:bodyPr/>
          <a:lstStyle/>
          <a:p>
            <a:endParaRPr lang="en-US"/>
          </a:p>
        </p:txBody>
      </p:sp>
      <p:sp>
        <p:nvSpPr>
          <p:cNvPr id="10" name="Text 8"/>
          <p:cNvSpPr txBox="1"/>
          <p:nvPr/>
        </p:nvSpPr>
        <p:spPr>
          <a:xfrm>
            <a:off x="594360" y="2596896"/>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"Python's global keyword makes a variable visible everywhere."</a:t>
            </a:r>
            <a:endParaRPr lang="en-US" sz="1200" dirty="0"/>
          </a:p>
        </p:txBody>
      </p:sp>
      <p:sp>
        <p:nvSpPr>
          <p:cNvPr id="11" name="Shape 9"/>
          <p:cNvSpPr/>
          <p:nvPr/>
        </p:nvSpPr>
        <p:spPr>
          <a:xfrm>
            <a:off x="5989320" y="2505456"/>
            <a:ext cx="5760720" cy="1353312"/>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72200" y="2596896"/>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global x is a scope-resolution instruction: "look up x in G scope, not L." It does not broadcast visibility or create a new variable.</a:t>
            </a:r>
            <a:endParaRPr lang="en-US" sz="1200" dirty="0"/>
          </a:p>
        </p:txBody>
      </p:sp>
      <p:sp>
        <p:nvSpPr>
          <p:cNvPr id="13" name="Shape 11"/>
          <p:cNvSpPr/>
          <p:nvPr/>
        </p:nvSpPr>
        <p:spPr>
          <a:xfrm>
            <a:off x="411480" y="3986784"/>
            <a:ext cx="5349240" cy="1353312"/>
          </a:xfrm>
          <a:prstGeom prst="rect">
            <a:avLst/>
          </a:prstGeom>
          <a:solidFill>
            <a:srgbClr val="FEF2F2"/>
          </a:solidFill>
          <a:ln w="12700">
            <a:solidFill>
              <a:srgbClr val="FCA5A5"/>
            </a:solidFill>
            <a:prstDash val="solid"/>
          </a:ln>
        </p:spPr>
        <p:txBody>
          <a:bodyPr/>
          <a:lstStyle/>
          <a:p>
            <a:endParaRPr lang="en-US"/>
          </a:p>
        </p:txBody>
      </p:sp>
      <p:sp>
        <p:nvSpPr>
          <p:cNvPr id="14" name="Text 12"/>
          <p:cNvSpPr txBox="1"/>
          <p:nvPr/>
        </p:nvSpPr>
        <p:spPr>
          <a:xfrm>
            <a:off x="594360" y="4078224"/>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"Dynamic scoping and dynamic typing are the same concept."</a:t>
            </a:r>
            <a:endParaRPr lang="en-US" sz="1200" dirty="0"/>
          </a:p>
        </p:txBody>
      </p:sp>
      <p:sp>
        <p:nvSpPr>
          <p:cNvPr id="15" name="Shape 13"/>
          <p:cNvSpPr/>
          <p:nvPr/>
        </p:nvSpPr>
        <p:spPr>
          <a:xfrm>
            <a:off x="5989320" y="3986784"/>
            <a:ext cx="5760720" cy="1353312"/>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172200" y="4078224"/>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Completely unrelated. Dynamic typing = types checked at runtime (Chapter 3). Dynamic scoping = names resolved via call stack. Python has dynamic typing but static (lexical) scoping.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More Misconceptions (continued)</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9</a:t>
            </a:r>
            <a:endParaRPr lang="en-US" sz="900" dirty="0"/>
          </a:p>
        </p:txBody>
      </p:sp>
      <p:sp>
        <p:nvSpPr>
          <p:cNvPr id="5" name="Shape 3"/>
          <p:cNvSpPr/>
          <p:nvPr/>
        </p:nvSpPr>
        <p:spPr>
          <a:xfrm>
            <a:off x="411480" y="1024128"/>
            <a:ext cx="5349240" cy="1353312"/>
          </a:xfrm>
          <a:prstGeom prst="rect">
            <a:avLst/>
          </a:prstGeom>
          <a:solidFill>
            <a:srgbClr val="FEF2F2"/>
          </a:solidFill>
          <a:ln w="12700">
            <a:solidFill>
              <a:srgbClr val="FCA5A5"/>
            </a:solidFill>
            <a:prstDash val="solid"/>
          </a:ln>
        </p:spPr>
        <p:txBody>
          <a:bodyPr/>
          <a:lstStyle/>
          <a:p>
            <a:endParaRPr lang="en-US"/>
          </a:p>
        </p:txBody>
      </p:sp>
      <p:sp>
        <p:nvSpPr>
          <p:cNvPr id="6" name="Text 4"/>
          <p:cNvSpPr txBox="1"/>
          <p:nvPr/>
        </p:nvSpPr>
        <p:spPr>
          <a:xfrm>
            <a:off x="594360" y="1115568"/>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"A Python function can always see and modify global variables."</a:t>
            </a:r>
            <a:endParaRPr lang="en-US" sz="1200" dirty="0"/>
          </a:p>
        </p:txBody>
      </p:sp>
      <p:sp>
        <p:nvSpPr>
          <p:cNvPr id="7" name="Shape 5"/>
          <p:cNvSpPr/>
          <p:nvPr/>
        </p:nvSpPr>
        <p:spPr>
          <a:xfrm>
            <a:off x="5989320" y="1024128"/>
            <a:ext cx="5760720" cy="1353312"/>
          </a:xfrm>
          <a:prstGeom prst="rect">
            <a:avLst/>
          </a:prstGeom>
          <a:solidFill>
            <a:srgbClr val="EAF7EE"/>
          </a:solidFill>
          <a:ln w="12700">
            <a:solidFill>
              <a:srgbClr val="6EE7B7"/>
            </a:solidFill>
            <a:prstDash val="solid"/>
          </a:ln>
        </p:spPr>
        <p:txBody>
          <a:bodyPr/>
          <a:lstStyle/>
          <a:p>
            <a:endParaRPr lang="en-US"/>
          </a:p>
        </p:txBody>
      </p:sp>
      <p:sp>
        <p:nvSpPr>
          <p:cNvPr id="8" name="Text 6"/>
          <p:cNvSpPr txBox="1"/>
          <p:nvPr/>
        </p:nvSpPr>
        <p:spPr>
          <a:xfrm>
            <a:off x="6172200" y="1115568"/>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Read: yes (via LEGB G layer). Modify: only with "global x" declaration. Without it, assignment creates a new local. This causes the UnboundLocalError trap.</a:t>
            </a:r>
            <a:endParaRPr lang="en-US" sz="1200" dirty="0"/>
          </a:p>
        </p:txBody>
      </p:sp>
      <p:sp>
        <p:nvSpPr>
          <p:cNvPr id="9" name="Shape 7"/>
          <p:cNvSpPr/>
          <p:nvPr/>
        </p:nvSpPr>
        <p:spPr>
          <a:xfrm>
            <a:off x="411480" y="2505456"/>
            <a:ext cx="5349240" cy="1353312"/>
          </a:xfrm>
          <a:prstGeom prst="rect">
            <a:avLst/>
          </a:prstGeom>
          <a:solidFill>
            <a:srgbClr val="FEF2F2"/>
          </a:solidFill>
          <a:ln w="12700">
            <a:solidFill>
              <a:srgbClr val="FCA5A5"/>
            </a:solidFill>
            <a:prstDash val="solid"/>
          </a:ln>
        </p:spPr>
        <p:txBody>
          <a:bodyPr/>
          <a:lstStyle/>
          <a:p>
            <a:endParaRPr lang="en-US"/>
          </a:p>
        </p:txBody>
      </p:sp>
      <p:sp>
        <p:nvSpPr>
          <p:cNvPr id="10" name="Text 8"/>
          <p:cNvSpPr txBox="1"/>
          <p:nvPr/>
        </p:nvSpPr>
        <p:spPr>
          <a:xfrm>
            <a:off x="594360" y="2596896"/>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"C# namespace scope = Python module scope."</a:t>
            </a:r>
            <a:endParaRPr lang="en-US" sz="1200" dirty="0"/>
          </a:p>
        </p:txBody>
      </p:sp>
      <p:sp>
        <p:nvSpPr>
          <p:cNvPr id="11" name="Shape 9"/>
          <p:cNvSpPr/>
          <p:nvPr/>
        </p:nvSpPr>
        <p:spPr>
          <a:xfrm>
            <a:off x="5989320" y="2505456"/>
            <a:ext cx="5760720" cy="1353312"/>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72200" y="2596896"/>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Similar role, different rules. A Python module = one .py file. A C# namespace can span multiple files; multiple namespaces can exist in one file. Not the same.</a:t>
            </a:r>
            <a:endParaRPr lang="en-US" sz="1200" dirty="0"/>
          </a:p>
        </p:txBody>
      </p:sp>
      <p:sp>
        <p:nvSpPr>
          <p:cNvPr id="13" name="Shape 11"/>
          <p:cNvSpPr/>
          <p:nvPr/>
        </p:nvSpPr>
        <p:spPr>
          <a:xfrm>
            <a:off x="411480" y="3986784"/>
            <a:ext cx="5349240" cy="1353312"/>
          </a:xfrm>
          <a:prstGeom prst="rect">
            <a:avLst/>
          </a:prstGeom>
          <a:solidFill>
            <a:srgbClr val="FEF2F2"/>
          </a:solidFill>
          <a:ln w="12700">
            <a:solidFill>
              <a:srgbClr val="FCA5A5"/>
            </a:solidFill>
            <a:prstDash val="solid"/>
          </a:ln>
        </p:spPr>
        <p:txBody>
          <a:bodyPr/>
          <a:lstStyle/>
          <a:p>
            <a:endParaRPr lang="en-US"/>
          </a:p>
        </p:txBody>
      </p:sp>
      <p:sp>
        <p:nvSpPr>
          <p:cNvPr id="14" name="Text 12"/>
          <p:cNvSpPr txBox="1"/>
          <p:nvPr/>
        </p:nvSpPr>
        <p:spPr>
          <a:xfrm>
            <a:off x="594360" y="4078224"/>
            <a:ext cx="5029200" cy="1133856"/>
          </a:xfrm>
          <a:prstGeom prst="rect">
            <a:avLst/>
          </a:prstGeom>
          <a:noFill/>
          <a:ln/>
        </p:spPr>
        <p:txBody>
          <a:bodyPr wrap="square" lIns="0" tIns="0" rIns="0" bIns="0" rtlCol="0" anchor="ctr"/>
          <a:lstStyle/>
          <a:p>
            <a:pPr marL="0" indent="0">
              <a:lnSpc>
                <a:spcPct val="130000"/>
              </a:lnSpc>
              <a:buNone/>
            </a:pPr>
            <a:r>
              <a:rPr lang="en-US" sz="1200" b="1" dirty="0">
                <a:solidFill>
                  <a:srgbClr val="9B1C1C"/>
                </a:solidFill>
                <a:latin typeface="Calibri" pitchFamily="34" charset="0"/>
                <a:ea typeface="Calibri" pitchFamily="34" charset="-122"/>
                <a:cs typeface="Calibri" pitchFamily="34" charset="-120"/>
              </a:rPr>
              <a:t>❌  "LEGB means Python always checks all four layers."</a:t>
            </a:r>
            <a:endParaRPr lang="en-US" sz="1200" dirty="0"/>
          </a:p>
        </p:txBody>
      </p:sp>
      <p:sp>
        <p:nvSpPr>
          <p:cNvPr id="15" name="Shape 13"/>
          <p:cNvSpPr/>
          <p:nvPr/>
        </p:nvSpPr>
        <p:spPr>
          <a:xfrm>
            <a:off x="5989320" y="3986784"/>
            <a:ext cx="5760720" cy="1353312"/>
          </a:xfrm>
          <a:prstGeom prst="rect">
            <a:avLst/>
          </a:prstGeom>
          <a:solidFill>
            <a:srgbClr val="EAF7EE"/>
          </a:solidFill>
          <a:ln w="12700">
            <a:solidFill>
              <a:srgbClr val="6EE7B7"/>
            </a:solidFill>
            <a:prstDash val="solid"/>
          </a:ln>
        </p:spPr>
        <p:txBody>
          <a:bodyPr/>
          <a:lstStyle/>
          <a:p>
            <a:endParaRPr lang="en-US"/>
          </a:p>
        </p:txBody>
      </p:sp>
      <p:sp>
        <p:nvSpPr>
          <p:cNvPr id="16" name="Text 14"/>
          <p:cNvSpPr txBox="1"/>
          <p:nvPr/>
        </p:nvSpPr>
        <p:spPr>
          <a:xfrm>
            <a:off x="6172200" y="4078224"/>
            <a:ext cx="5394960" cy="1133856"/>
          </a:xfrm>
          <a:prstGeom prst="rect">
            <a:avLst/>
          </a:prstGeom>
          <a:noFill/>
          <a:ln/>
        </p:spPr>
        <p:txBody>
          <a:bodyPr wrap="square" lIns="0" tIns="0" rIns="0" bIns="0" rtlCol="0" anchor="ctr"/>
          <a:lstStyle/>
          <a:p>
            <a:pPr marL="0" indent="0">
              <a:lnSpc>
                <a:spcPct val="135000"/>
              </a:lnSpc>
              <a:buNone/>
            </a:pPr>
            <a:r>
              <a:rPr lang="en-US" sz="1200" dirty="0">
                <a:solidFill>
                  <a:srgbClr val="1A7A3C"/>
                </a:solidFill>
                <a:latin typeface="Calibri" pitchFamily="34" charset="0"/>
                <a:ea typeface="Calibri" pitchFamily="34" charset="-122"/>
                <a:cs typeface="Calibri" pitchFamily="34" charset="-120"/>
              </a:rPr>
              <a:t>✓  Python stops at the first match. Finding x in L → immediately done; E, G, B never searched. LEGB defines the ORDER and the STOPPING RULE, not an exhaustive search.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Scope Rules Are Language Design Decisions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11</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Every scope rule reflects a deliberate tradeoff. There is no single "best" set of rules.</a:t>
            </a:r>
            <a:endParaRPr lang="en-US" sz="1300" dirty="0"/>
          </a:p>
        </p:txBody>
      </p:sp>
      <p:sp>
        <p:nvSpPr>
          <p:cNvPr id="6" name="Shape 4"/>
          <p:cNvSpPr/>
          <p:nvPr/>
        </p:nvSpPr>
        <p:spPr>
          <a:xfrm>
            <a:off x="411480" y="1298448"/>
            <a:ext cx="11338560" cy="292608"/>
          </a:xfrm>
          <a:prstGeom prst="rect">
            <a:avLst/>
          </a:prstGeom>
          <a:solidFill>
            <a:srgbClr val="1A2B5E"/>
          </a:solidFill>
          <a:ln/>
        </p:spPr>
        <p:txBody>
          <a:bodyPr/>
          <a:lstStyle/>
          <a:p>
            <a:endParaRPr lang="en-US"/>
          </a:p>
        </p:txBody>
      </p:sp>
      <p:sp>
        <p:nvSpPr>
          <p:cNvPr id="7" name="Text 5"/>
          <p:cNvSpPr txBox="1"/>
          <p:nvPr/>
        </p:nvSpPr>
        <p:spPr>
          <a:xfrm>
            <a:off x="548640" y="1371600"/>
            <a:ext cx="3547872"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Design question</a:t>
            </a:r>
            <a:endParaRPr lang="en-US" sz="1100" dirty="0"/>
          </a:p>
        </p:txBody>
      </p:sp>
      <p:sp>
        <p:nvSpPr>
          <p:cNvPr id="8" name="Text 6"/>
          <p:cNvSpPr txBox="1"/>
          <p:nvPr/>
        </p:nvSpPr>
        <p:spPr>
          <a:xfrm>
            <a:off x="4160520" y="1371600"/>
            <a:ext cx="239572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9" name="Text 7"/>
          <p:cNvSpPr txBox="1"/>
          <p:nvPr/>
        </p:nvSpPr>
        <p:spPr>
          <a:xfrm>
            <a:off x="6629400" y="1371600"/>
            <a:ext cx="267004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0" name="Text 8"/>
          <p:cNvSpPr txBox="1"/>
          <p:nvPr/>
        </p:nvSpPr>
        <p:spPr>
          <a:xfrm>
            <a:off x="9372600" y="1371600"/>
            <a:ext cx="2670048"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11" name="Shape 9"/>
          <p:cNvSpPr/>
          <p:nvPr/>
        </p:nvSpPr>
        <p:spPr>
          <a:xfrm>
            <a:off x="411480" y="1627632"/>
            <a:ext cx="11338560" cy="621792"/>
          </a:xfrm>
          <a:prstGeom prst="rect">
            <a:avLst/>
          </a:prstGeom>
          <a:solidFill>
            <a:srgbClr val="F4F6FC"/>
          </a:solidFill>
          <a:ln w="12700">
            <a:solidFill>
              <a:srgbClr val="D0DAF0"/>
            </a:solidFill>
            <a:prstDash val="solid"/>
          </a:ln>
        </p:spPr>
        <p:txBody>
          <a:bodyPr/>
          <a:lstStyle/>
          <a:p>
            <a:endParaRPr lang="en-US"/>
          </a:p>
        </p:txBody>
      </p:sp>
      <p:sp>
        <p:nvSpPr>
          <p:cNvPr id="12" name="Text 10"/>
          <p:cNvSpPr txBox="1"/>
          <p:nvPr/>
        </p:nvSpPr>
        <p:spPr>
          <a:xfrm>
            <a:off x="548640" y="1792224"/>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Scoping model</a:t>
            </a:r>
            <a:endParaRPr lang="en-US" sz="1200" dirty="0"/>
          </a:p>
        </p:txBody>
      </p:sp>
      <p:sp>
        <p:nvSpPr>
          <p:cNvPr id="13" name="Text 11"/>
          <p:cNvSpPr txBox="1"/>
          <p:nvPr/>
        </p:nvSpPr>
        <p:spPr>
          <a:xfrm>
            <a:off x="4160520" y="1792224"/>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Lexical / static</a:t>
            </a:r>
            <a:endParaRPr lang="en-US" sz="1150" dirty="0"/>
          </a:p>
        </p:txBody>
      </p:sp>
      <p:sp>
        <p:nvSpPr>
          <p:cNvPr id="14" name="Text 12"/>
          <p:cNvSpPr txBox="1"/>
          <p:nvPr/>
        </p:nvSpPr>
        <p:spPr>
          <a:xfrm>
            <a:off x="6629400" y="1792224"/>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Lexical / static</a:t>
            </a:r>
            <a:endParaRPr lang="en-US" sz="1150" dirty="0"/>
          </a:p>
        </p:txBody>
      </p:sp>
      <p:sp>
        <p:nvSpPr>
          <p:cNvPr id="15" name="Text 13"/>
          <p:cNvSpPr txBox="1"/>
          <p:nvPr/>
        </p:nvSpPr>
        <p:spPr>
          <a:xfrm>
            <a:off x="9372600" y="1792224"/>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Lexical / static</a:t>
            </a:r>
            <a:endParaRPr lang="en-US" sz="1150" dirty="0"/>
          </a:p>
        </p:txBody>
      </p:sp>
      <p:sp>
        <p:nvSpPr>
          <p:cNvPr id="16" name="Shape 14"/>
          <p:cNvSpPr/>
          <p:nvPr/>
        </p:nvSpPr>
        <p:spPr>
          <a:xfrm>
            <a:off x="411480" y="2286000"/>
            <a:ext cx="11338560" cy="621792"/>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548640" y="2450592"/>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Do blocks create scopes?</a:t>
            </a:r>
            <a:endParaRPr lang="en-US" sz="1200" dirty="0"/>
          </a:p>
        </p:txBody>
      </p:sp>
      <p:sp>
        <p:nvSpPr>
          <p:cNvPr id="18" name="Text 16"/>
          <p:cNvSpPr txBox="1"/>
          <p:nvPr/>
        </p:nvSpPr>
        <p:spPr>
          <a:xfrm>
            <a:off x="4160520" y="2450592"/>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Yes — every { }</a:t>
            </a:r>
            <a:endParaRPr lang="en-US" sz="1150" dirty="0"/>
          </a:p>
        </p:txBody>
      </p:sp>
      <p:sp>
        <p:nvSpPr>
          <p:cNvPr id="19" name="Text 17"/>
          <p:cNvSpPr txBox="1"/>
          <p:nvPr/>
        </p:nvSpPr>
        <p:spPr>
          <a:xfrm>
            <a:off x="6629400" y="2450592"/>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Yes — every { }</a:t>
            </a:r>
            <a:endParaRPr lang="en-US" sz="1150" dirty="0"/>
          </a:p>
        </p:txBody>
      </p:sp>
      <p:sp>
        <p:nvSpPr>
          <p:cNvPr id="20" name="Text 18"/>
          <p:cNvSpPr txBox="1"/>
          <p:nvPr/>
        </p:nvSpPr>
        <p:spPr>
          <a:xfrm>
            <a:off x="9372600" y="2450592"/>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No — functions do, most blocks do not</a:t>
            </a:r>
            <a:endParaRPr lang="en-US" sz="1150" dirty="0"/>
          </a:p>
        </p:txBody>
      </p:sp>
      <p:sp>
        <p:nvSpPr>
          <p:cNvPr id="21" name="Shape 19"/>
          <p:cNvSpPr/>
          <p:nvPr/>
        </p:nvSpPr>
        <p:spPr>
          <a:xfrm>
            <a:off x="411480" y="2944368"/>
            <a:ext cx="11338560" cy="621792"/>
          </a:xfrm>
          <a:prstGeom prst="rect">
            <a:avLst/>
          </a:prstGeom>
          <a:solidFill>
            <a:srgbClr val="F4F6FC"/>
          </a:solidFill>
          <a:ln w="12700">
            <a:solidFill>
              <a:srgbClr val="D0DAF0"/>
            </a:solidFill>
            <a:prstDash val="solid"/>
          </a:ln>
        </p:spPr>
        <p:txBody>
          <a:bodyPr/>
          <a:lstStyle/>
          <a:p>
            <a:endParaRPr lang="en-US"/>
          </a:p>
        </p:txBody>
      </p:sp>
      <p:sp>
        <p:nvSpPr>
          <p:cNvPr id="22" name="Text 20"/>
          <p:cNvSpPr txBox="1"/>
          <p:nvPr/>
        </p:nvSpPr>
        <p:spPr>
          <a:xfrm>
            <a:off x="548640" y="3108960"/>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Nested function scope?</a:t>
            </a:r>
            <a:endParaRPr lang="en-US" sz="1200" dirty="0"/>
          </a:p>
        </p:txBody>
      </p:sp>
      <p:sp>
        <p:nvSpPr>
          <p:cNvPr id="23" name="Text 21"/>
          <p:cNvSpPr txBox="1"/>
          <p:nvPr/>
        </p:nvSpPr>
        <p:spPr>
          <a:xfrm>
            <a:off x="4160520" y="3108960"/>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No — not in standard C</a:t>
            </a:r>
            <a:endParaRPr lang="en-US" sz="1150" dirty="0"/>
          </a:p>
        </p:txBody>
      </p:sp>
      <p:sp>
        <p:nvSpPr>
          <p:cNvPr id="24" name="Text 22"/>
          <p:cNvSpPr txBox="1"/>
          <p:nvPr/>
        </p:nvSpPr>
        <p:spPr>
          <a:xfrm>
            <a:off x="6629400" y="3108960"/>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Limited</a:t>
            </a:r>
            <a:endParaRPr lang="en-US" sz="1150" dirty="0"/>
          </a:p>
        </p:txBody>
      </p:sp>
      <p:sp>
        <p:nvSpPr>
          <p:cNvPr id="25" name="Text 23"/>
          <p:cNvSpPr txBox="1"/>
          <p:nvPr/>
        </p:nvSpPr>
        <p:spPr>
          <a:xfrm>
            <a:off x="9372600" y="3108960"/>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Yes — LEGB Enclosing layer</a:t>
            </a:r>
            <a:endParaRPr lang="en-US" sz="1150" dirty="0"/>
          </a:p>
        </p:txBody>
      </p:sp>
      <p:sp>
        <p:nvSpPr>
          <p:cNvPr id="26" name="Shape 24"/>
          <p:cNvSpPr/>
          <p:nvPr/>
        </p:nvSpPr>
        <p:spPr>
          <a:xfrm>
            <a:off x="411480" y="3602736"/>
            <a:ext cx="11338560" cy="621792"/>
          </a:xfrm>
          <a:prstGeom prst="rect">
            <a:avLst/>
          </a:prstGeom>
          <a:solidFill>
            <a:srgbClr val="FFFFFF"/>
          </a:solidFill>
          <a:ln w="12700">
            <a:solidFill>
              <a:srgbClr val="D0DAF0"/>
            </a:solidFill>
            <a:prstDash val="solid"/>
          </a:ln>
        </p:spPr>
        <p:txBody>
          <a:bodyPr/>
          <a:lstStyle/>
          <a:p>
            <a:endParaRPr lang="en-US"/>
          </a:p>
        </p:txBody>
      </p:sp>
      <p:sp>
        <p:nvSpPr>
          <p:cNvPr id="27" name="Text 25"/>
          <p:cNvSpPr txBox="1"/>
          <p:nvPr/>
        </p:nvSpPr>
        <p:spPr>
          <a:xfrm>
            <a:off x="548640" y="3767328"/>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Shadowing of locals</a:t>
            </a:r>
            <a:endParaRPr lang="en-US" sz="1200" dirty="0"/>
          </a:p>
        </p:txBody>
      </p:sp>
      <p:sp>
        <p:nvSpPr>
          <p:cNvPr id="28" name="Text 26"/>
          <p:cNvSpPr txBox="1"/>
          <p:nvPr/>
        </p:nvSpPr>
        <p:spPr>
          <a:xfrm>
            <a:off x="4160520" y="3767328"/>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Allowed, silent</a:t>
            </a:r>
            <a:endParaRPr lang="en-US" sz="1150" dirty="0"/>
          </a:p>
        </p:txBody>
      </p:sp>
      <p:sp>
        <p:nvSpPr>
          <p:cNvPr id="29" name="Text 27"/>
          <p:cNvSpPr txBox="1"/>
          <p:nvPr/>
        </p:nvSpPr>
        <p:spPr>
          <a:xfrm>
            <a:off x="6629400" y="3767328"/>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Restricted in same method</a:t>
            </a:r>
            <a:endParaRPr lang="en-US" sz="1150" dirty="0"/>
          </a:p>
        </p:txBody>
      </p:sp>
      <p:sp>
        <p:nvSpPr>
          <p:cNvPr id="30" name="Text 28"/>
          <p:cNvSpPr txBox="1"/>
          <p:nvPr/>
        </p:nvSpPr>
        <p:spPr>
          <a:xfrm>
            <a:off x="9372600" y="3767328"/>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Allowed</a:t>
            </a:r>
            <a:endParaRPr lang="en-US" sz="1150" dirty="0"/>
          </a:p>
        </p:txBody>
      </p:sp>
      <p:sp>
        <p:nvSpPr>
          <p:cNvPr id="31" name="Shape 29"/>
          <p:cNvSpPr/>
          <p:nvPr/>
        </p:nvSpPr>
        <p:spPr>
          <a:xfrm>
            <a:off x="411480" y="4261104"/>
            <a:ext cx="11338560" cy="621792"/>
          </a:xfrm>
          <a:prstGeom prst="rect">
            <a:avLst/>
          </a:prstGeom>
          <a:solidFill>
            <a:srgbClr val="F4F6FC"/>
          </a:solidFill>
          <a:ln w="12700">
            <a:solidFill>
              <a:srgbClr val="D0DAF0"/>
            </a:solidFill>
            <a:prstDash val="solid"/>
          </a:ln>
        </p:spPr>
        <p:txBody>
          <a:bodyPr/>
          <a:lstStyle/>
          <a:p>
            <a:endParaRPr lang="en-US"/>
          </a:p>
        </p:txBody>
      </p:sp>
      <p:sp>
        <p:nvSpPr>
          <p:cNvPr id="32" name="Text 30"/>
          <p:cNvSpPr txBox="1"/>
          <p:nvPr/>
        </p:nvSpPr>
        <p:spPr>
          <a:xfrm>
            <a:off x="548640" y="4425696"/>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Undeclared name error</a:t>
            </a:r>
            <a:endParaRPr lang="en-US" sz="1200" dirty="0"/>
          </a:p>
        </p:txBody>
      </p:sp>
      <p:sp>
        <p:nvSpPr>
          <p:cNvPr id="33" name="Text 31"/>
          <p:cNvSpPr txBox="1"/>
          <p:nvPr/>
        </p:nvSpPr>
        <p:spPr>
          <a:xfrm>
            <a:off x="4160520" y="4425696"/>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Compile time</a:t>
            </a:r>
            <a:endParaRPr lang="en-US" sz="1150" dirty="0"/>
          </a:p>
        </p:txBody>
      </p:sp>
      <p:sp>
        <p:nvSpPr>
          <p:cNvPr id="34" name="Text 32"/>
          <p:cNvSpPr txBox="1"/>
          <p:nvPr/>
        </p:nvSpPr>
        <p:spPr>
          <a:xfrm>
            <a:off x="6629400" y="4425696"/>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Compile time</a:t>
            </a:r>
            <a:endParaRPr lang="en-US" sz="1150" dirty="0"/>
          </a:p>
        </p:txBody>
      </p:sp>
      <p:sp>
        <p:nvSpPr>
          <p:cNvPr id="35" name="Text 33"/>
          <p:cNvSpPr txBox="1"/>
          <p:nvPr/>
        </p:nvSpPr>
        <p:spPr>
          <a:xfrm>
            <a:off x="9372600" y="4425696"/>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Runtime (NameError)</a:t>
            </a:r>
            <a:endParaRPr lang="en-US" sz="1150" dirty="0"/>
          </a:p>
        </p:txBody>
      </p:sp>
      <p:sp>
        <p:nvSpPr>
          <p:cNvPr id="36" name="Shape 34"/>
          <p:cNvSpPr/>
          <p:nvPr/>
        </p:nvSpPr>
        <p:spPr>
          <a:xfrm>
            <a:off x="411480" y="4919472"/>
            <a:ext cx="11338560" cy="621792"/>
          </a:xfrm>
          <a:prstGeom prst="rect">
            <a:avLst/>
          </a:prstGeom>
          <a:solidFill>
            <a:srgbClr val="FFFFFF"/>
          </a:solidFill>
          <a:ln w="12700">
            <a:solidFill>
              <a:srgbClr val="D0DAF0"/>
            </a:solidFill>
            <a:prstDash val="solid"/>
          </a:ln>
        </p:spPr>
        <p:txBody>
          <a:bodyPr/>
          <a:lstStyle/>
          <a:p>
            <a:endParaRPr lang="en-US"/>
          </a:p>
        </p:txBody>
      </p:sp>
      <p:sp>
        <p:nvSpPr>
          <p:cNvPr id="37" name="Text 35"/>
          <p:cNvSpPr txBox="1"/>
          <p:nvPr/>
        </p:nvSpPr>
        <p:spPr>
          <a:xfrm>
            <a:off x="548640" y="5084064"/>
            <a:ext cx="3547872" cy="329184"/>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Implementation concept</a:t>
            </a:r>
            <a:endParaRPr lang="en-US" sz="1200" dirty="0"/>
          </a:p>
        </p:txBody>
      </p:sp>
      <p:sp>
        <p:nvSpPr>
          <p:cNvPr id="38" name="Text 36"/>
          <p:cNvSpPr txBox="1"/>
          <p:nvPr/>
        </p:nvSpPr>
        <p:spPr>
          <a:xfrm>
            <a:off x="4160520" y="5084064"/>
            <a:ext cx="2395728" cy="329184"/>
          </a:xfrm>
          <a:prstGeom prst="rect">
            <a:avLst/>
          </a:prstGeom>
          <a:noFill/>
          <a:ln/>
        </p:spPr>
        <p:txBody>
          <a:bodyPr wrap="square" lIns="0" tIns="0" rIns="0" bIns="0" rtlCol="0" anchor="ctr"/>
          <a:lstStyle/>
          <a:p>
            <a:pPr marL="0" indent="0">
              <a:lnSpc>
                <a:spcPct val="120000"/>
              </a:lnSpc>
              <a:buNone/>
            </a:pPr>
            <a:r>
              <a:rPr lang="en-US" sz="1150" dirty="0">
                <a:solidFill>
                  <a:srgbClr val="2E5BFF"/>
                </a:solidFill>
                <a:latin typeface="Calibri" pitchFamily="34" charset="0"/>
                <a:ea typeface="Calibri" pitchFamily="34" charset="-122"/>
                <a:cs typeface="Calibri" pitchFamily="34" charset="-120"/>
              </a:rPr>
              <a:t>Symbol tables</a:t>
            </a:r>
            <a:endParaRPr lang="en-US" sz="1150" dirty="0"/>
          </a:p>
        </p:txBody>
      </p:sp>
      <p:sp>
        <p:nvSpPr>
          <p:cNvPr id="39" name="Text 37"/>
          <p:cNvSpPr txBox="1"/>
          <p:nvPr/>
        </p:nvSpPr>
        <p:spPr>
          <a:xfrm>
            <a:off x="6629400" y="5084064"/>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7B2FBE"/>
                </a:solidFill>
                <a:latin typeface="Calibri" pitchFamily="34" charset="0"/>
                <a:ea typeface="Calibri" pitchFamily="34" charset="-122"/>
                <a:cs typeface="Calibri" pitchFamily="34" charset="-120"/>
              </a:rPr>
              <a:t>Symbol tables</a:t>
            </a:r>
            <a:endParaRPr lang="en-US" sz="1150" dirty="0"/>
          </a:p>
        </p:txBody>
      </p:sp>
      <p:sp>
        <p:nvSpPr>
          <p:cNvPr id="40" name="Text 38"/>
          <p:cNvSpPr txBox="1"/>
          <p:nvPr/>
        </p:nvSpPr>
        <p:spPr>
          <a:xfrm>
            <a:off x="9372600" y="5084064"/>
            <a:ext cx="2670048" cy="329184"/>
          </a:xfrm>
          <a:prstGeom prst="rect">
            <a:avLst/>
          </a:prstGeom>
          <a:noFill/>
          <a:ln/>
        </p:spPr>
        <p:txBody>
          <a:bodyPr wrap="square" lIns="0" tIns="0" rIns="0" bIns="0" rtlCol="0" anchor="ctr"/>
          <a:lstStyle/>
          <a:p>
            <a:pPr marL="0" indent="0">
              <a:lnSpc>
                <a:spcPct val="120000"/>
              </a:lnSpc>
              <a:buNone/>
            </a:pPr>
            <a:r>
              <a:rPr lang="en-US" sz="1150" dirty="0">
                <a:solidFill>
                  <a:srgbClr val="C05E00"/>
                </a:solidFill>
                <a:latin typeface="Calibri" pitchFamily="34" charset="0"/>
                <a:ea typeface="Calibri" pitchFamily="34" charset="-122"/>
                <a:cs typeface="Calibri" pitchFamily="34" charset="-120"/>
              </a:rPr>
              <a:t>Symbol tables / environments</a:t>
            </a:r>
            <a:endParaRPr lang="en-US" sz="1150" dirty="0"/>
          </a:p>
        </p:txBody>
      </p:sp>
      <p:sp>
        <p:nvSpPr>
          <p:cNvPr id="41" name="Shape 39"/>
          <p:cNvSpPr/>
          <p:nvPr/>
        </p:nvSpPr>
        <p:spPr>
          <a:xfrm>
            <a:off x="411480" y="5715000"/>
            <a:ext cx="54864" cy="658368"/>
          </a:xfrm>
          <a:prstGeom prst="rect">
            <a:avLst/>
          </a:prstGeom>
          <a:solidFill>
            <a:srgbClr val="2E5BFF"/>
          </a:solidFill>
          <a:ln/>
        </p:spPr>
        <p:txBody>
          <a:bodyPr/>
          <a:lstStyle/>
          <a:p>
            <a:endParaRPr lang="en-US"/>
          </a:p>
        </p:txBody>
      </p:sp>
      <p:sp>
        <p:nvSpPr>
          <p:cNvPr id="42" name="Shape 40"/>
          <p:cNvSpPr/>
          <p:nvPr/>
        </p:nvSpPr>
        <p:spPr>
          <a:xfrm>
            <a:off x="466344" y="5715000"/>
            <a:ext cx="11283696" cy="886968"/>
          </a:xfrm>
          <a:prstGeom prst="rect">
            <a:avLst/>
          </a:prstGeom>
          <a:solidFill>
            <a:srgbClr val="EFF6FF"/>
          </a:solidFill>
          <a:ln w="12700">
            <a:solidFill>
              <a:srgbClr val="BFDBFE"/>
            </a:solidFill>
            <a:prstDash val="solid"/>
          </a:ln>
        </p:spPr>
        <p:txBody>
          <a:bodyPr/>
          <a:lstStyle/>
          <a:p>
            <a:endParaRPr lang="en-US"/>
          </a:p>
        </p:txBody>
      </p:sp>
      <p:sp>
        <p:nvSpPr>
          <p:cNvPr id="43" name="Text 41"/>
          <p:cNvSpPr txBox="1"/>
          <p:nvPr/>
        </p:nvSpPr>
        <p:spPr>
          <a:xfrm>
            <a:off x="594360" y="5788152"/>
            <a:ext cx="11064240" cy="219456"/>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  LANGUAGE DESIGN CONNECTION</a:t>
            </a:r>
            <a:endParaRPr lang="en-US" sz="1000" dirty="0"/>
          </a:p>
        </p:txBody>
      </p:sp>
      <p:sp>
        <p:nvSpPr>
          <p:cNvPr id="44" name="Text 42"/>
          <p:cNvSpPr txBox="1"/>
          <p:nvPr/>
        </p:nvSpPr>
        <p:spPr>
          <a:xfrm>
            <a:off x="594360" y="6035040"/>
            <a:ext cx="11064240" cy="246888"/>
          </a:xfrm>
          <a:prstGeom prst="rect">
            <a:avLst/>
          </a:prstGeom>
          <a:noFill/>
          <a:ln/>
        </p:spPr>
        <p:txBody>
          <a:bodyPr wrap="square" lIns="0" tIns="0" rIns="0" bIns="0" rtlCol="0" anchor="ctr"/>
          <a:lstStyle/>
          <a:p>
            <a:pPr marL="0" indent="0">
              <a:lnSpc>
                <a:spcPct val="138000"/>
              </a:lnSpc>
              <a:buNone/>
            </a:pPr>
            <a:r>
              <a:rPr lang="en-US" sz="1200" dirty="0">
                <a:solidFill>
                  <a:srgbClr val="1E3A8A"/>
                </a:solidFill>
                <a:latin typeface="Calibri" pitchFamily="34" charset="0"/>
                <a:ea typeface="Calibri" pitchFamily="34" charset="-122"/>
                <a:cs typeface="Calibri" pitchFamily="34" charset="-120"/>
              </a:rPr>
              <a:t>Every row in this table represents a decision a language designer made — with consequences for programmers, compilers, and what errors are possible. That is what Programming Language Design is about.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A2B5E"/>
          </a:solidFill>
          <a:ln/>
        </p:spPr>
        <p:txBody>
          <a:bodyPr/>
          <a:lstStyle/>
          <a:p>
            <a:endParaRPr lang="en-US"/>
          </a:p>
        </p:txBody>
      </p:sp>
      <p:sp>
        <p:nvSpPr>
          <p:cNvPr id="3" name="Text 1"/>
          <p:cNvSpPr txBox="1"/>
          <p:nvPr/>
        </p:nvSpPr>
        <p:spPr>
          <a:xfrm>
            <a:off x="411480" y="109728"/>
            <a:ext cx="104241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Practice — Key Questions to Discuss</a:t>
            </a:r>
            <a:endParaRPr lang="en-US" sz="2200" dirty="0"/>
          </a:p>
        </p:txBody>
      </p:sp>
      <p:sp>
        <p:nvSpPr>
          <p:cNvPr id="4" name="Text 2"/>
          <p:cNvSpPr txBox="1"/>
          <p:nvPr/>
        </p:nvSpPr>
        <p:spPr>
          <a:xfrm>
            <a:off x="10561320" y="256032"/>
            <a:ext cx="1463040" cy="329184"/>
          </a:xfrm>
          <a:prstGeom prst="rect">
            <a:avLst/>
          </a:prstGeom>
          <a:noFill/>
          <a:ln/>
        </p:spPr>
        <p:txBody>
          <a:bodyPr wrap="square" lIns="0" tIns="0" rIns="0" bIns="0" rtlCol="0" anchor="ctr"/>
          <a:lstStyle/>
          <a:p>
            <a:pPr marL="0" indent="0" algn="r">
              <a:buNone/>
            </a:pPr>
            <a:r>
              <a:rPr lang="en-US" sz="900" dirty="0">
                <a:solidFill>
                  <a:srgbClr val="7A90B8"/>
                </a:solidFill>
                <a:latin typeface="Calibri" pitchFamily="34" charset="0"/>
                <a:ea typeface="Calibri" pitchFamily="34" charset="-122"/>
                <a:cs typeface="Calibri" pitchFamily="34" charset="-120"/>
              </a:rPr>
              <a:t>Section 10</a:t>
            </a:r>
            <a:endParaRPr lang="en-US" sz="9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300" dirty="0">
                <a:solidFill>
                  <a:srgbClr val="5A6A82"/>
                </a:solidFill>
                <a:latin typeface="Calibri" pitchFamily="34" charset="0"/>
                <a:ea typeface="Calibri" pitchFamily="34" charset="-122"/>
                <a:cs typeface="Calibri" pitchFamily="34" charset="-120"/>
              </a:rPr>
              <a:t>The tutorial has 12 graded questions. Discuss these four as a class before completing the full quiz:</a:t>
            </a:r>
            <a:endParaRPr lang="en-US" sz="1300" dirty="0"/>
          </a:p>
        </p:txBody>
      </p:sp>
      <p:sp>
        <p:nvSpPr>
          <p:cNvPr id="6" name="Shape 4"/>
          <p:cNvSpPr/>
          <p:nvPr/>
        </p:nvSpPr>
        <p:spPr>
          <a:xfrm>
            <a:off x="411480" y="1353312"/>
            <a:ext cx="11338560" cy="1261872"/>
          </a:xfrm>
          <a:prstGeom prst="rect">
            <a:avLst/>
          </a:prstGeom>
          <a:solidFill>
            <a:srgbClr val="FFFFFF"/>
          </a:solidFill>
          <a:ln w="12700">
            <a:solidFill>
              <a:srgbClr val="D0DAF0"/>
            </a:solidFill>
            <a:prstDash val="solid"/>
          </a:ln>
        </p:spPr>
        <p:txBody>
          <a:bodyPr/>
          <a:lstStyle/>
          <a:p>
            <a:endParaRPr lang="en-US"/>
          </a:p>
        </p:txBody>
      </p:sp>
      <p:sp>
        <p:nvSpPr>
          <p:cNvPr id="7" name="Shape 5"/>
          <p:cNvSpPr/>
          <p:nvPr/>
        </p:nvSpPr>
        <p:spPr>
          <a:xfrm>
            <a:off x="411480" y="1353312"/>
            <a:ext cx="658368" cy="1261872"/>
          </a:xfrm>
          <a:prstGeom prst="rect">
            <a:avLst/>
          </a:prstGeom>
          <a:solidFill>
            <a:srgbClr val="1A2B5E"/>
          </a:solidFill>
          <a:ln/>
        </p:spPr>
        <p:txBody>
          <a:bodyPr/>
          <a:lstStyle/>
          <a:p>
            <a:endParaRPr lang="en-US"/>
          </a:p>
        </p:txBody>
      </p:sp>
      <p:sp>
        <p:nvSpPr>
          <p:cNvPr id="8" name="Text 6"/>
          <p:cNvSpPr txBox="1"/>
          <p:nvPr/>
        </p:nvSpPr>
        <p:spPr>
          <a:xfrm>
            <a:off x="411480" y="1627632"/>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9" name="Text 7"/>
          <p:cNvSpPr txBox="1"/>
          <p:nvPr/>
        </p:nvSpPr>
        <p:spPr>
          <a:xfrm>
            <a:off x="1170432" y="1408176"/>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Scope</a:t>
            </a:r>
            <a:endParaRPr lang="en-US" sz="1000" dirty="0"/>
          </a:p>
        </p:txBody>
      </p:sp>
      <p:sp>
        <p:nvSpPr>
          <p:cNvPr id="10" name="Text 8"/>
          <p:cNvSpPr txBox="1"/>
          <p:nvPr/>
        </p:nvSpPr>
        <p:spPr>
          <a:xfrm>
            <a:off x="1170432" y="1627632"/>
            <a:ext cx="4572000" cy="658368"/>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Which statement best defines scope in programming language design?</a:t>
            </a:r>
            <a:endParaRPr lang="en-US" sz="1200" dirty="0"/>
          </a:p>
        </p:txBody>
      </p:sp>
      <p:sp>
        <p:nvSpPr>
          <p:cNvPr id="11" name="Shape 9"/>
          <p:cNvSpPr/>
          <p:nvPr/>
        </p:nvSpPr>
        <p:spPr>
          <a:xfrm>
            <a:off x="5943600" y="1408176"/>
            <a:ext cx="5257800" cy="1152144"/>
          </a:xfrm>
          <a:prstGeom prst="rect">
            <a:avLst/>
          </a:prstGeom>
          <a:solidFill>
            <a:srgbClr val="EAF7EE"/>
          </a:solidFill>
          <a:ln w="12700">
            <a:solidFill>
              <a:srgbClr val="6EE7B7"/>
            </a:solidFill>
            <a:prstDash val="solid"/>
          </a:ln>
        </p:spPr>
        <p:txBody>
          <a:bodyPr/>
          <a:lstStyle/>
          <a:p>
            <a:endParaRPr lang="en-US"/>
          </a:p>
        </p:txBody>
      </p:sp>
      <p:sp>
        <p:nvSpPr>
          <p:cNvPr id="12" name="Text 10"/>
          <p:cNvSpPr txBox="1"/>
          <p:nvPr/>
        </p:nvSpPr>
        <p:spPr>
          <a:xfrm>
            <a:off x="6126480" y="1481328"/>
            <a:ext cx="4919472" cy="969264"/>
          </a:xfrm>
          <a:prstGeom prst="rect">
            <a:avLst/>
          </a:prstGeom>
          <a:noFill/>
          <a:ln/>
        </p:spPr>
        <p:txBody>
          <a:bodyPr wrap="square" lIns="0" tIns="0" rIns="0" bIns="0" rtlCol="0" anchor="ctr"/>
          <a:lstStyle/>
          <a:p>
            <a:pPr marL="0" indent="0">
              <a:lnSpc>
                <a:spcPct val="135000"/>
              </a:lnSpc>
              <a:buNone/>
            </a:pPr>
            <a:r>
              <a:rPr lang="en-US" sz="1150" dirty="0">
                <a:solidFill>
                  <a:srgbClr val="1A7A3C"/>
                </a:solidFill>
                <a:latin typeface="Calibri" pitchFamily="34" charset="0"/>
                <a:ea typeface="Calibri" pitchFamily="34" charset="-122"/>
                <a:cs typeface="Calibri" pitchFamily="34" charset="-120"/>
              </a:rPr>
              <a:t>B: The region of source code in which a name is visible and can be referenced. Not lifetime (A), not symbol table (C), not call stack (D).</a:t>
            </a:r>
            <a:endParaRPr lang="en-US" sz="1150" dirty="0"/>
          </a:p>
        </p:txBody>
      </p:sp>
      <p:sp>
        <p:nvSpPr>
          <p:cNvPr id="13" name="Shape 11"/>
          <p:cNvSpPr/>
          <p:nvPr/>
        </p:nvSpPr>
        <p:spPr>
          <a:xfrm>
            <a:off x="411480" y="2706624"/>
            <a:ext cx="11338560" cy="1261872"/>
          </a:xfrm>
          <a:prstGeom prst="rect">
            <a:avLst/>
          </a:prstGeom>
          <a:solidFill>
            <a:srgbClr val="FFFFFF"/>
          </a:solidFill>
          <a:ln w="12700">
            <a:solidFill>
              <a:srgbClr val="D0DAF0"/>
            </a:solidFill>
            <a:prstDash val="solid"/>
          </a:ln>
        </p:spPr>
        <p:txBody>
          <a:bodyPr/>
          <a:lstStyle/>
          <a:p>
            <a:endParaRPr lang="en-US"/>
          </a:p>
        </p:txBody>
      </p:sp>
      <p:sp>
        <p:nvSpPr>
          <p:cNvPr id="14" name="Shape 12"/>
          <p:cNvSpPr/>
          <p:nvPr/>
        </p:nvSpPr>
        <p:spPr>
          <a:xfrm>
            <a:off x="411480" y="2706624"/>
            <a:ext cx="658368" cy="1261872"/>
          </a:xfrm>
          <a:prstGeom prst="rect">
            <a:avLst/>
          </a:prstGeom>
          <a:solidFill>
            <a:srgbClr val="1A2B5E"/>
          </a:solidFill>
          <a:ln/>
        </p:spPr>
        <p:txBody>
          <a:bodyPr/>
          <a:lstStyle/>
          <a:p>
            <a:endParaRPr lang="en-US"/>
          </a:p>
        </p:txBody>
      </p:sp>
      <p:sp>
        <p:nvSpPr>
          <p:cNvPr id="15" name="Text 13"/>
          <p:cNvSpPr txBox="1"/>
          <p:nvPr/>
        </p:nvSpPr>
        <p:spPr>
          <a:xfrm>
            <a:off x="411480" y="2980944"/>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Q7</a:t>
            </a:r>
            <a:endParaRPr lang="en-US" sz="1200" dirty="0"/>
          </a:p>
        </p:txBody>
      </p:sp>
      <p:sp>
        <p:nvSpPr>
          <p:cNvPr id="16" name="Text 14"/>
          <p:cNvSpPr txBox="1"/>
          <p:nvPr/>
        </p:nvSpPr>
        <p:spPr>
          <a:xfrm>
            <a:off x="1170432" y="2761488"/>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Predict output</a:t>
            </a:r>
            <a:endParaRPr lang="en-US" sz="1000" dirty="0"/>
          </a:p>
        </p:txBody>
      </p:sp>
      <p:sp>
        <p:nvSpPr>
          <p:cNvPr id="17" name="Text 15"/>
          <p:cNvSpPr txBox="1"/>
          <p:nvPr/>
        </p:nvSpPr>
        <p:spPr>
          <a:xfrm>
            <a:off x="1170432" y="2980944"/>
            <a:ext cx="4572000" cy="658368"/>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x="G"  def outer():  x="E"  def inner():  print(x)  inner()  outer() — what prints?</a:t>
            </a:r>
            <a:endParaRPr lang="en-US" sz="1200" dirty="0"/>
          </a:p>
        </p:txBody>
      </p:sp>
      <p:sp>
        <p:nvSpPr>
          <p:cNvPr id="18" name="Shape 16"/>
          <p:cNvSpPr/>
          <p:nvPr/>
        </p:nvSpPr>
        <p:spPr>
          <a:xfrm>
            <a:off x="5943600" y="2761488"/>
            <a:ext cx="5257800" cy="1152144"/>
          </a:xfrm>
          <a:prstGeom prst="rect">
            <a:avLst/>
          </a:prstGeom>
          <a:solidFill>
            <a:srgbClr val="EAF7EE"/>
          </a:solidFill>
          <a:ln w="12700">
            <a:solidFill>
              <a:srgbClr val="6EE7B7"/>
            </a:solidFill>
            <a:prstDash val="solid"/>
          </a:ln>
        </p:spPr>
        <p:txBody>
          <a:bodyPr/>
          <a:lstStyle/>
          <a:p>
            <a:endParaRPr lang="en-US"/>
          </a:p>
        </p:txBody>
      </p:sp>
      <p:sp>
        <p:nvSpPr>
          <p:cNvPr id="19" name="Text 17"/>
          <p:cNvSpPr txBox="1"/>
          <p:nvPr/>
        </p:nvSpPr>
        <p:spPr>
          <a:xfrm>
            <a:off x="6126480" y="2834640"/>
            <a:ext cx="4919472" cy="969264"/>
          </a:xfrm>
          <a:prstGeom prst="rect">
            <a:avLst/>
          </a:prstGeom>
          <a:noFill/>
          <a:ln/>
        </p:spPr>
        <p:txBody>
          <a:bodyPr wrap="square" lIns="0" tIns="0" rIns="0" bIns="0" rtlCol="0" anchor="ctr"/>
          <a:lstStyle/>
          <a:p>
            <a:pPr marL="0" indent="0">
              <a:lnSpc>
                <a:spcPct val="135000"/>
              </a:lnSpc>
              <a:buNone/>
            </a:pPr>
            <a:r>
              <a:rPr lang="en-US" sz="1150" dirty="0">
                <a:solidFill>
                  <a:srgbClr val="1A7A3C"/>
                </a:solidFill>
                <a:latin typeface="Calibri" pitchFamily="34" charset="0"/>
                <a:ea typeface="Calibri" pitchFamily="34" charset="-122"/>
                <a:cs typeface="Calibri" pitchFamily="34" charset="-120"/>
              </a:rPr>
              <a:t>B: "E" — inner() checks Local (not found), then Enclosing (outer()) — finds x="E". Stops. Never reaches G.</a:t>
            </a:r>
            <a:endParaRPr lang="en-US" sz="1150" dirty="0"/>
          </a:p>
        </p:txBody>
      </p:sp>
      <p:sp>
        <p:nvSpPr>
          <p:cNvPr id="20" name="Shape 18"/>
          <p:cNvSpPr/>
          <p:nvPr/>
        </p:nvSpPr>
        <p:spPr>
          <a:xfrm>
            <a:off x="411480" y="4059936"/>
            <a:ext cx="11338560" cy="1261872"/>
          </a:xfrm>
          <a:prstGeom prst="rect">
            <a:avLst/>
          </a:prstGeom>
          <a:solidFill>
            <a:srgbClr val="FFFFFF"/>
          </a:solidFill>
          <a:ln w="12700">
            <a:solidFill>
              <a:srgbClr val="D0DAF0"/>
            </a:solidFill>
            <a:prstDash val="solid"/>
          </a:ln>
        </p:spPr>
        <p:txBody>
          <a:bodyPr/>
          <a:lstStyle/>
          <a:p>
            <a:endParaRPr lang="en-US"/>
          </a:p>
        </p:txBody>
      </p:sp>
      <p:sp>
        <p:nvSpPr>
          <p:cNvPr id="21" name="Shape 19"/>
          <p:cNvSpPr/>
          <p:nvPr/>
        </p:nvSpPr>
        <p:spPr>
          <a:xfrm>
            <a:off x="411480" y="4059936"/>
            <a:ext cx="658368" cy="1261872"/>
          </a:xfrm>
          <a:prstGeom prst="rect">
            <a:avLst/>
          </a:prstGeom>
          <a:solidFill>
            <a:srgbClr val="1A2B5E"/>
          </a:solidFill>
          <a:ln/>
        </p:spPr>
        <p:txBody>
          <a:bodyPr/>
          <a:lstStyle/>
          <a:p>
            <a:endParaRPr lang="en-US"/>
          </a:p>
        </p:txBody>
      </p:sp>
      <p:sp>
        <p:nvSpPr>
          <p:cNvPr id="22" name="Text 20"/>
          <p:cNvSpPr txBox="1"/>
          <p:nvPr/>
        </p:nvSpPr>
        <p:spPr>
          <a:xfrm>
            <a:off x="411480" y="4334256"/>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Q10</a:t>
            </a:r>
            <a:endParaRPr lang="en-US" sz="1200" dirty="0"/>
          </a:p>
        </p:txBody>
      </p:sp>
      <p:sp>
        <p:nvSpPr>
          <p:cNvPr id="23" name="Text 21"/>
          <p:cNvSpPr txBox="1"/>
          <p:nvPr/>
        </p:nvSpPr>
        <p:spPr>
          <a:xfrm>
            <a:off x="1170432" y="4114800"/>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Scope vs Lifetime</a:t>
            </a:r>
            <a:endParaRPr lang="en-US" sz="1000" dirty="0"/>
          </a:p>
        </p:txBody>
      </p:sp>
      <p:sp>
        <p:nvSpPr>
          <p:cNvPr id="24" name="Text 22"/>
          <p:cNvSpPr txBox="1"/>
          <p:nvPr/>
        </p:nvSpPr>
        <p:spPr>
          <a:xfrm>
            <a:off x="1170432" y="4334256"/>
            <a:ext cx="4572000" cy="658368"/>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In C, a variable declared with  static int count = 0;  inside a function has which unusual combination?</a:t>
            </a:r>
            <a:endParaRPr lang="en-US" sz="1200" dirty="0"/>
          </a:p>
        </p:txBody>
      </p:sp>
      <p:sp>
        <p:nvSpPr>
          <p:cNvPr id="25" name="Shape 23"/>
          <p:cNvSpPr/>
          <p:nvPr/>
        </p:nvSpPr>
        <p:spPr>
          <a:xfrm>
            <a:off x="5943600" y="4114800"/>
            <a:ext cx="5257800" cy="1152144"/>
          </a:xfrm>
          <a:prstGeom prst="rect">
            <a:avLst/>
          </a:prstGeom>
          <a:solidFill>
            <a:srgbClr val="EAF7EE"/>
          </a:solidFill>
          <a:ln w="12700">
            <a:solidFill>
              <a:srgbClr val="6EE7B7"/>
            </a:solidFill>
            <a:prstDash val="solid"/>
          </a:ln>
        </p:spPr>
        <p:txBody>
          <a:bodyPr/>
          <a:lstStyle/>
          <a:p>
            <a:endParaRPr lang="en-US"/>
          </a:p>
        </p:txBody>
      </p:sp>
      <p:sp>
        <p:nvSpPr>
          <p:cNvPr id="26" name="Text 24"/>
          <p:cNvSpPr txBox="1"/>
          <p:nvPr/>
        </p:nvSpPr>
        <p:spPr>
          <a:xfrm>
            <a:off x="6126480" y="4187952"/>
            <a:ext cx="4919472" cy="969264"/>
          </a:xfrm>
          <a:prstGeom prst="rect">
            <a:avLst/>
          </a:prstGeom>
          <a:noFill/>
          <a:ln/>
        </p:spPr>
        <p:txBody>
          <a:bodyPr wrap="square" lIns="0" tIns="0" rIns="0" bIns="0" rtlCol="0" anchor="ctr"/>
          <a:lstStyle/>
          <a:p>
            <a:pPr marL="0" indent="0">
              <a:lnSpc>
                <a:spcPct val="135000"/>
              </a:lnSpc>
              <a:buNone/>
            </a:pPr>
            <a:r>
              <a:rPr lang="en-US" sz="1150" dirty="0">
                <a:solidFill>
                  <a:srgbClr val="1A7A3C"/>
                </a:solidFill>
                <a:latin typeface="Calibri" pitchFamily="34" charset="0"/>
                <a:ea typeface="Calibri" pitchFamily="34" charset="-122"/>
                <a:cs typeface="Calibri" pitchFamily="34" charset="-120"/>
              </a:rPr>
              <a:t>B: Function (block) scope + program-long lifetime. Scope and lifetime are independent — this is the proof.</a:t>
            </a:r>
            <a:endParaRPr lang="en-US" sz="1150" dirty="0"/>
          </a:p>
        </p:txBody>
      </p:sp>
      <p:sp>
        <p:nvSpPr>
          <p:cNvPr id="27" name="Shape 25"/>
          <p:cNvSpPr/>
          <p:nvPr/>
        </p:nvSpPr>
        <p:spPr>
          <a:xfrm>
            <a:off x="411480" y="5413248"/>
            <a:ext cx="11338560" cy="1261872"/>
          </a:xfrm>
          <a:prstGeom prst="rect">
            <a:avLst/>
          </a:prstGeom>
          <a:solidFill>
            <a:srgbClr val="FFFFFF"/>
          </a:solidFill>
          <a:ln w="12700">
            <a:solidFill>
              <a:srgbClr val="D0DAF0"/>
            </a:solidFill>
            <a:prstDash val="solid"/>
          </a:ln>
        </p:spPr>
        <p:txBody>
          <a:bodyPr/>
          <a:lstStyle/>
          <a:p>
            <a:endParaRPr lang="en-US"/>
          </a:p>
        </p:txBody>
      </p:sp>
      <p:sp>
        <p:nvSpPr>
          <p:cNvPr id="28" name="Shape 26"/>
          <p:cNvSpPr/>
          <p:nvPr/>
        </p:nvSpPr>
        <p:spPr>
          <a:xfrm>
            <a:off x="411480" y="5413248"/>
            <a:ext cx="658368" cy="1261872"/>
          </a:xfrm>
          <a:prstGeom prst="rect">
            <a:avLst/>
          </a:prstGeom>
          <a:solidFill>
            <a:srgbClr val="1A2B5E"/>
          </a:solidFill>
          <a:ln/>
        </p:spPr>
        <p:txBody>
          <a:bodyPr/>
          <a:lstStyle/>
          <a:p>
            <a:endParaRPr lang="en-US"/>
          </a:p>
        </p:txBody>
      </p:sp>
      <p:sp>
        <p:nvSpPr>
          <p:cNvPr id="29" name="Text 27"/>
          <p:cNvSpPr txBox="1"/>
          <p:nvPr/>
        </p:nvSpPr>
        <p:spPr>
          <a:xfrm>
            <a:off x="411480" y="5687568"/>
            <a:ext cx="65836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Q12</a:t>
            </a:r>
            <a:endParaRPr lang="en-US" sz="1200" dirty="0"/>
          </a:p>
        </p:txBody>
      </p:sp>
      <p:sp>
        <p:nvSpPr>
          <p:cNvPr id="30" name="Text 28"/>
          <p:cNvSpPr txBox="1"/>
          <p:nvPr/>
        </p:nvSpPr>
        <p:spPr>
          <a:xfrm>
            <a:off x="1170432" y="5468112"/>
            <a:ext cx="164592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Design reasoning</a:t>
            </a:r>
            <a:endParaRPr lang="en-US" sz="1000" dirty="0"/>
          </a:p>
        </p:txBody>
      </p:sp>
      <p:sp>
        <p:nvSpPr>
          <p:cNvPr id="31" name="Text 29"/>
          <p:cNvSpPr txBox="1"/>
          <p:nvPr/>
        </p:nvSpPr>
        <p:spPr>
          <a:xfrm>
            <a:off x="1170432" y="5687568"/>
            <a:ext cx="4572000" cy="658368"/>
          </a:xfrm>
          <a:prstGeom prst="rect">
            <a:avLst/>
          </a:prstGeom>
          <a:noFill/>
          <a:ln/>
        </p:spPr>
        <p:txBody>
          <a:bodyPr wrap="square" lIns="0" tIns="0" rIns="0" bIns="0" rtlCol="0" anchor="ctr"/>
          <a:lstStyle/>
          <a:p>
            <a:pPr marL="0" indent="0">
              <a:lnSpc>
                <a:spcPct val="130000"/>
              </a:lnSpc>
              <a:buNone/>
            </a:pPr>
            <a:r>
              <a:rPr lang="en-US" sz="1200" b="1" dirty="0">
                <a:solidFill>
                  <a:srgbClr val="1E2A3A"/>
                </a:solidFill>
                <a:latin typeface="Calibri" pitchFamily="34" charset="0"/>
                <a:ea typeface="Calibri" pitchFamily="34" charset="-122"/>
                <a:cs typeface="Calibri" pitchFamily="34" charset="-120"/>
              </a:rPr>
              <a:t>Why did C, C#, and Python all choose static over dynamic scoping?</a:t>
            </a:r>
            <a:endParaRPr lang="en-US" sz="1200" dirty="0"/>
          </a:p>
        </p:txBody>
      </p:sp>
      <p:sp>
        <p:nvSpPr>
          <p:cNvPr id="32" name="Shape 30"/>
          <p:cNvSpPr/>
          <p:nvPr/>
        </p:nvSpPr>
        <p:spPr>
          <a:xfrm>
            <a:off x="5943600" y="5468112"/>
            <a:ext cx="5257800" cy="1152144"/>
          </a:xfrm>
          <a:prstGeom prst="rect">
            <a:avLst/>
          </a:prstGeom>
          <a:solidFill>
            <a:srgbClr val="EAF7EE"/>
          </a:solidFill>
          <a:ln w="12700">
            <a:solidFill>
              <a:srgbClr val="6EE7B7"/>
            </a:solidFill>
            <a:prstDash val="solid"/>
          </a:ln>
        </p:spPr>
        <p:txBody>
          <a:bodyPr/>
          <a:lstStyle/>
          <a:p>
            <a:endParaRPr lang="en-US"/>
          </a:p>
        </p:txBody>
      </p:sp>
      <p:sp>
        <p:nvSpPr>
          <p:cNvPr id="33" name="Text 31"/>
          <p:cNvSpPr txBox="1"/>
          <p:nvPr/>
        </p:nvSpPr>
        <p:spPr>
          <a:xfrm>
            <a:off x="6126480" y="5541264"/>
            <a:ext cx="4919472" cy="969264"/>
          </a:xfrm>
          <a:prstGeom prst="rect">
            <a:avLst/>
          </a:prstGeom>
          <a:noFill/>
          <a:ln/>
        </p:spPr>
        <p:txBody>
          <a:bodyPr wrap="square" lIns="0" tIns="0" rIns="0" bIns="0" rtlCol="0" anchor="ctr"/>
          <a:lstStyle/>
          <a:p>
            <a:pPr marL="0" indent="0">
              <a:lnSpc>
                <a:spcPct val="135000"/>
              </a:lnSpc>
              <a:buNone/>
            </a:pPr>
            <a:r>
              <a:rPr lang="en-US" sz="1150" dirty="0">
                <a:solidFill>
                  <a:srgbClr val="1A7A3C"/>
                </a:solidFill>
                <a:latin typeface="Calibri" pitchFamily="34" charset="0"/>
                <a:ea typeface="Calibri" pitchFamily="34" charset="-122"/>
                <a:cs typeface="Calibri" pitchFamily="34" charset="-120"/>
              </a:rPr>
              <a:t>C: Static scoping makes a name's meaning determinable from source text — making code predictable and enabling compile-time error detection.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5E"/>
          </a:solidFill>
          <a:ln/>
        </p:spPr>
        <p:txBody>
          <a:bodyPr/>
          <a:lstStyle/>
          <a:p>
            <a:endParaRPr lang="en-US"/>
          </a:p>
        </p:txBody>
      </p:sp>
      <p:sp>
        <p:nvSpPr>
          <p:cNvPr id="3" name="Shape 1"/>
          <p:cNvSpPr/>
          <p:nvPr/>
        </p:nvSpPr>
        <p:spPr>
          <a:xfrm>
            <a:off x="8686800" y="3840480"/>
            <a:ext cx="4572000" cy="4572000"/>
          </a:xfrm>
          <a:prstGeom prst="ellipse">
            <a:avLst/>
          </a:prstGeom>
          <a:solidFill>
            <a:srgbClr val="FFFFFF">
              <a:alpha val="7000"/>
            </a:srgbClr>
          </a:solidFill>
          <a:ln w="12700">
            <a:solidFill>
              <a:srgbClr val="FFFFFF">
                <a:alpha val="7000"/>
              </a:srgbClr>
            </a:solidFill>
            <a:prstDash val="solid"/>
          </a:ln>
        </p:spPr>
        <p:txBody>
          <a:bodyPr/>
          <a:lstStyle/>
          <a:p>
            <a:endParaRPr lang="en-US"/>
          </a:p>
        </p:txBody>
      </p:sp>
      <p:sp>
        <p:nvSpPr>
          <p:cNvPr id="4" name="Shape 2"/>
          <p:cNvSpPr/>
          <p:nvPr/>
        </p:nvSpPr>
        <p:spPr>
          <a:xfrm>
            <a:off x="10241280" y="5303520"/>
            <a:ext cx="2743200" cy="2743200"/>
          </a:xfrm>
          <a:prstGeom prst="ellipse">
            <a:avLst/>
          </a:prstGeom>
          <a:solidFill>
            <a:srgbClr val="FFFFFF">
              <a:alpha val="11000"/>
            </a:srgbClr>
          </a:solidFill>
          <a:ln w="12700">
            <a:solidFill>
              <a:srgbClr val="FFFFFF">
                <a:alpha val="11000"/>
              </a:srgbClr>
            </a:solidFill>
            <a:prstDash val="solid"/>
          </a:ln>
        </p:spPr>
        <p:txBody>
          <a:bodyPr/>
          <a:lstStyle/>
          <a:p>
            <a:endParaRPr lang="en-US"/>
          </a:p>
        </p:txBody>
      </p:sp>
      <p:sp>
        <p:nvSpPr>
          <p:cNvPr id="5" name="Text 3"/>
          <p:cNvSpPr txBox="1"/>
          <p:nvPr/>
        </p:nvSpPr>
        <p:spPr>
          <a:xfrm>
            <a:off x="822960" y="342900"/>
            <a:ext cx="9144000" cy="21945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CSBS 315</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Scope Rules &amp; Symbol Tables</a:t>
            </a:r>
            <a:endParaRPr lang="en-US" sz="3600" dirty="0"/>
          </a:p>
        </p:txBody>
      </p:sp>
      <p:sp>
        <p:nvSpPr>
          <p:cNvPr id="6" name="Text 4"/>
          <p:cNvSpPr txBox="1"/>
          <p:nvPr/>
        </p:nvSpPr>
        <p:spPr>
          <a:xfrm>
            <a:off x="640080" y="4114800"/>
            <a:ext cx="8229600" cy="594360"/>
          </a:xfrm>
          <a:prstGeom prst="rect">
            <a:avLst/>
          </a:prstGeom>
          <a:noFill/>
          <a:ln/>
        </p:spPr>
        <p:txBody>
          <a:bodyPr wrap="square" lIns="0" tIns="0" rIns="0" bIns="0" rtlCol="0" anchor="ctr"/>
          <a:lstStyle/>
          <a:p>
            <a:pPr marL="0" indent="0">
              <a:buNone/>
            </a:pPr>
            <a:r>
              <a:rPr lang="en-US" sz="1700" dirty="0">
                <a:solidFill>
                  <a:srgbClr val="B8C8F8"/>
                </a:solidFill>
                <a:latin typeface="Calibri" pitchFamily="34" charset="0"/>
                <a:ea typeface="Calibri" pitchFamily="34" charset="-122"/>
                <a:cs typeface="Calibri" pitchFamily="34" charset="-120"/>
              </a:rPr>
              <a:t>Chapter 4 Complete · Complete the 12-question tutorial quiz before Chapter 5</a:t>
            </a:r>
            <a:endParaRPr lang="en-US" sz="1700" dirty="0"/>
          </a:p>
        </p:txBody>
      </p:sp>
      <p:sp>
        <p:nvSpPr>
          <p:cNvPr id="7" name="Text 5"/>
          <p:cNvSpPr txBox="1"/>
          <p:nvPr/>
        </p:nvSpPr>
        <p:spPr>
          <a:xfrm>
            <a:off x="640080" y="6309360"/>
            <a:ext cx="6400800" cy="32004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4 of 12 · Unit 2</a:t>
            </a:r>
            <a:endParaRPr lang="en-US" sz="1100" dirty="0"/>
          </a:p>
        </p:txBody>
      </p:sp>
      <p:sp>
        <p:nvSpPr>
          <p:cNvPr id="8" name="Text 6"/>
          <p:cNvSpPr txBox="1"/>
          <p:nvPr/>
        </p:nvSpPr>
        <p:spPr>
          <a:xfrm>
            <a:off x="640080" y="5029200"/>
            <a:ext cx="7315200" cy="320040"/>
          </a:xfrm>
          <a:prstGeom prst="rect">
            <a:avLst/>
          </a:prstGeom>
          <a:noFill/>
          <a:ln/>
        </p:spPr>
        <p:txBody>
          <a:bodyPr wrap="square" lIns="0" tIns="0" rIns="0" bIns="0" rtlCol="0" anchor="ctr"/>
          <a:lstStyle/>
          <a:p>
            <a:pPr marL="0" indent="0">
              <a:buNone/>
            </a:pPr>
            <a:r>
              <a:rPr lang="en-US" sz="1300" dirty="0">
                <a:solidFill>
                  <a:srgbClr val="7A90B8"/>
                </a:solidFill>
                <a:latin typeface="Calibri" pitchFamily="34" charset="0"/>
                <a:ea typeface="Calibri" pitchFamily="34" charset="-122"/>
                <a:cs typeface="Calibri" pitchFamily="34" charset="-120"/>
              </a:rPr>
              <a:t>dgill@clark.edu  ·  STEM Building Room 113</a:t>
            </a:r>
            <a:endParaRPr lang="en-US" sz="1300" dirty="0"/>
          </a:p>
        </p:txBody>
      </p:sp>
      <p:sp>
        <p:nvSpPr>
          <p:cNvPr id="9" name="Text 7"/>
          <p:cNvSpPr txBox="1"/>
          <p:nvPr/>
        </p:nvSpPr>
        <p:spPr>
          <a:xfrm>
            <a:off x="640080" y="5394960"/>
            <a:ext cx="8229600" cy="320040"/>
          </a:xfrm>
          <a:prstGeom prst="rect">
            <a:avLst/>
          </a:prstGeom>
          <a:noFill/>
          <a:ln/>
        </p:spPr>
        <p:txBody>
          <a:bodyPr wrap="square" lIns="0" tIns="0" rIns="0" bIns="0" rtlCol="0" anchor="ctr"/>
          <a:lstStyle/>
          <a:p>
            <a:pPr marL="0" indent="0">
              <a:buNone/>
            </a:pPr>
            <a:r>
              <a:rPr lang="en-US" sz="1300" dirty="0">
                <a:solidFill>
                  <a:srgbClr val="B8C8F8"/>
                </a:solidFill>
                <a:latin typeface="Calibri" pitchFamily="34" charset="0"/>
                <a:ea typeface="Calibri" pitchFamily="34" charset="-122"/>
                <a:cs typeface="Calibri" pitchFamily="34" charset="-120"/>
              </a:rPr>
              <a:t>Assignment 2 due next session — trace five variables across C, C#, Python (see Canvas)</a:t>
            </a:r>
            <a:endParaRPr lang="en-US" sz="1300" dirty="0"/>
          </a:p>
        </p:txBody>
      </p:sp>
      <p:sp>
        <p:nvSpPr>
          <p:cNvPr id="10" name="Shape 8"/>
          <p:cNvSpPr/>
          <p:nvPr/>
        </p:nvSpPr>
        <p:spPr>
          <a:xfrm>
            <a:off x="640080" y="2743200"/>
            <a:ext cx="8686800" cy="2011680"/>
          </a:xfrm>
          <a:prstGeom prst="rect">
            <a:avLst/>
          </a:prstGeom>
          <a:solidFill>
            <a:srgbClr val="1A2B5E"/>
          </a:solidFill>
          <a:ln/>
        </p:spPr>
        <p:txBody>
          <a:bodyPr/>
          <a:lstStyle/>
          <a:p>
            <a:endParaRPr lang="en-US"/>
          </a:p>
        </p:txBody>
      </p:sp>
      <p:sp>
        <p:nvSpPr>
          <p:cNvPr id="11" name="Shape 9"/>
          <p:cNvSpPr/>
          <p:nvPr/>
        </p:nvSpPr>
        <p:spPr>
          <a:xfrm>
            <a:off x="640080" y="2743200"/>
            <a:ext cx="8686800" cy="2011680"/>
          </a:xfrm>
          <a:prstGeom prst="rect">
            <a:avLst/>
          </a:prstGeom>
          <a:solidFill>
            <a:srgbClr val="FFFFFF"/>
          </a:solidFill>
          <a:ln/>
        </p:spPr>
        <p:txBody>
          <a:bodyPr/>
          <a:lstStyle/>
          <a:p>
            <a:endParaRPr lang="en-US"/>
          </a:p>
        </p:txBody>
      </p:sp>
      <p:sp>
        <p:nvSpPr>
          <p:cNvPr id="12" name="Shape 10"/>
          <p:cNvSpPr/>
          <p:nvPr/>
        </p:nvSpPr>
        <p:spPr>
          <a:xfrm>
            <a:off x="640080" y="2743200"/>
            <a:ext cx="8686800" cy="2011680"/>
          </a:xfrm>
          <a:prstGeom prst="rect">
            <a:avLst/>
          </a:prstGeom>
          <a:solidFill>
            <a:srgbClr val="1A2B5E"/>
          </a:solidFill>
          <a:ln/>
        </p:spPr>
        <p:txBody>
          <a:bodyPr/>
          <a:lstStyle/>
          <a:p>
            <a:endParaRPr lang="en-US"/>
          </a:p>
        </p:txBody>
      </p:sp>
      <p:sp>
        <p:nvSpPr>
          <p:cNvPr id="13" name="Text 11"/>
          <p:cNvSpPr txBox="1"/>
          <p:nvPr/>
        </p:nvSpPr>
        <p:spPr>
          <a:xfrm>
            <a:off x="822960" y="2834640"/>
            <a:ext cx="8321040" cy="256032"/>
          </a:xfrm>
          <a:prstGeom prst="rect">
            <a:avLst/>
          </a:prstGeom>
          <a:noFill/>
          <a:ln/>
        </p:spPr>
        <p:txBody>
          <a:bodyPr wrap="square" lIns="0" tIns="0" rIns="0" bIns="0" rtlCol="0" anchor="ctr"/>
          <a:lstStyle/>
          <a:p>
            <a:pPr marL="0" indent="0">
              <a:buNone/>
            </a:pPr>
            <a:r>
              <a:rPr lang="en-US" sz="1200" b="1" dirty="0">
                <a:solidFill>
                  <a:srgbClr val="7A90B8"/>
                </a:solidFill>
                <a:latin typeface="DM Mono, Calibri" pitchFamily="34" charset="0"/>
                <a:ea typeface="DM Mono, Calibri" pitchFamily="34" charset="-122"/>
                <a:cs typeface="DM Mono, Calibri" pitchFamily="34" charset="-120"/>
              </a:rPr>
              <a:t>The Big Idea</a:t>
            </a:r>
            <a:endParaRPr lang="en-US" sz="1200" dirty="0"/>
          </a:p>
        </p:txBody>
      </p:sp>
      <p:sp>
        <p:nvSpPr>
          <p:cNvPr id="14" name="Text 12"/>
          <p:cNvSpPr txBox="1"/>
          <p:nvPr/>
        </p:nvSpPr>
        <p:spPr>
          <a:xfrm>
            <a:off x="822960" y="3127248"/>
            <a:ext cx="8321040" cy="1536192"/>
          </a:xfrm>
          <a:prstGeom prst="rect">
            <a:avLst/>
          </a:prstGeom>
          <a:noFill/>
          <a:ln/>
        </p:spPr>
        <p:txBody>
          <a:bodyPr wrap="square" lIns="0" tIns="0" rIns="0" bIns="0" rtlCol="0" anchor="ctr"/>
          <a:lstStyle/>
          <a:p>
            <a:pPr marL="0" indent="0">
              <a:lnSpc>
                <a:spcPct val="150000"/>
              </a:lnSpc>
              <a:buNone/>
            </a:pPr>
            <a:r>
              <a:rPr lang="en-US" sz="1400" dirty="0">
                <a:solidFill>
                  <a:srgbClr val="B8C8F8"/>
                </a:solidFill>
                <a:latin typeface="Calibri" pitchFamily="34" charset="0"/>
                <a:ea typeface="Calibri" pitchFamily="34" charset="-122"/>
                <a:cs typeface="Calibri" pitchFamily="34" charset="-120"/>
              </a:rPr>
              <a:t>Scope rules are language-design rules.</a:t>
            </a:r>
            <a:endParaRPr lang="en-US" sz="1400" dirty="0"/>
          </a:p>
          <a:p>
            <a:pPr marL="0" indent="0">
              <a:lnSpc>
                <a:spcPct val="150000"/>
              </a:lnSpc>
              <a:buNone/>
            </a:pPr>
            <a:r>
              <a:rPr lang="en-US" sz="1400" dirty="0">
                <a:solidFill>
                  <a:srgbClr val="B8C8F8"/>
                </a:solidFill>
                <a:latin typeface="Calibri" pitchFamily="34" charset="0"/>
                <a:ea typeface="Calibri" pitchFamily="34" charset="-122"/>
                <a:cs typeface="Calibri" pitchFamily="34" charset="-120"/>
              </a:rPr>
              <a:t>Symbol tables are one of the key implementation mechanisms that support those rules.</a:t>
            </a:r>
            <a:endParaRPr lang="en-US" sz="1400" dirty="0"/>
          </a:p>
          <a:p>
            <a:pPr marL="0" indent="0">
              <a:lnSpc>
                <a:spcPct val="150000"/>
              </a:lnSpc>
              <a:buNone/>
            </a:pPr>
            <a:r>
              <a:rPr lang="en-US" sz="1400" dirty="0">
                <a:solidFill>
                  <a:srgbClr val="B8C8F8"/>
                </a:solidFill>
                <a:latin typeface="Calibri" pitchFamily="34" charset="0"/>
                <a:ea typeface="Calibri" pitchFamily="34" charset="-122"/>
                <a:cs typeface="Calibri" pitchFamily="34" charset="-120"/>
              </a:rPr>
              <a:t>Understanding both — the design choice and the mechanism — is what it means to study Programming Language Design.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9340</Words>
  <Application>Microsoft Office PowerPoint</Application>
  <PresentationFormat>Widescreen</PresentationFormat>
  <Paragraphs>601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Courier New</vt:lpstr>
      <vt:lpstr>DM Mono, 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Gill, Dimpy</cp:lastModifiedBy>
  <cp:revision>2</cp:revision>
  <dcterms:created xsi:type="dcterms:W3CDTF">2026-09-16T00:52:55Z</dcterms:created>
  <dcterms:modified xsi:type="dcterms:W3CDTF">2026-09-16T01:32:45Z</dcterms:modified>
</cp:coreProperties>
</file>