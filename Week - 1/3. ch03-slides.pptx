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85038" autoAdjust="0"/>
  </p:normalViewPr>
  <p:slideViewPr>
    <p:cSldViewPr snapToGrid="0" snapToObjects="1">
      <p:cViewPr>
        <p:scale>
          <a:sx n="96" d="100"/>
          <a:sy n="96" d="100"/>
        </p:scale>
        <p:origin x="356" y="-340"/>
      </p:cViewPr>
      <p:guideLst/>
    </p:cSldViewPr>
  </p:slideViewPr>
  <p:notesTextViewPr>
    <p:cViewPr>
      <p:scale>
        <a:sx n="1" d="1"/>
        <a:sy n="1" d="1"/>
      </p:scale>
      <p:origin x="0" y="-14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5610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3. Start by asking students to forget what they think they know about variables for a moment.
Say: "You have used variables hundreds of times. You know that 'x = 5' stores the number 5 somewhere. But here is the question this chapter asks: what exactly is happening when a language processes that line? What does 'x' refer to? Does it have a type? When is that decided? How long does it last?"
"Those questions sound philosophical — but the answers are concrete, and C, C#, and Python give genuinely different answers. By the end of this chapter you will be able to explain exactly why Python lets you write 'x = 5' then 'x = hello' on the next line, while C considers that a compile-time error."
This chapter builds on Chapter 2: syntax told us how code is recognised. Now we ask what recognised constructs — especially variable declarations — actually mean and how they behave. Estimated session time: 75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30-second orientation slide. Don't spend time explaining each row — just show students the shape of the chapter.
Say: "Notice we start with a specific question about one line of code, and we gradually expand outward: what is in that line, what concepts explain it, how does each language implement those concepts, and what are the tradeoffs?" 
The chapter builds concepts inductively — you will not need to explain everything up front. Let the examples lead.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15–20 seconds of silence to read the five questions before you speak.
Then say: "These five questions sound almost philosophical. But they have precise technical answers — and for each one, C, Python, and C# give a different answer. By the end of this chapter you will be able to give those answers clearly for all three languages."
Work through quick answers to get students oriented:
① age is a name — a label the programmer chose. In Python, it refers to an object.
② 25 is an integer object in Python. age does not "contain" it in the way a box contains something — it refers to it.
③ In Python, age has no type — the object 25 has a type (int). In C, the programmer declares the type explicitly.
④ Python decides when that line executes — at runtime.
⑤ age exists as long as the scope it lives in is active.
Emphasise: "These are not the same answers you would give for C. That difference is what we are going to understand."
This slide sets up everything that follows. Do not skip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slowly — 30–40 seconds each.
For ① (Name): "The name 'age' is just a label. It is not the data itself. In Python especially, this distinction is crucial — because the same label can be redirected to point at different things."
For ② (Type): "This is where the three languages diverge most. In C, you write the type. In C# with var, the compiler figures it out. In Python, the name has no type at all — the object does. Ask: what are the consequences of each approach for catching errors?"
For ③ (Value): "The value is distinct from the name. 'age' is stable; '25' is what it currently holds. Changing the value doesn't change the name."
For ④ (Storage): "You don't need to know hardware details. The design question is: how much control should the programmer have? C gives you the most. Python gives you the least. Both are valid choices."
For ⑤ (Lifetime): "Critical: lifetime is NOT the same as scope. Scope is WHERE in source code a name is visible. Lifetime is HOW LONG during execution the variable exists. We will separate these carefully."
This slide is a reference — come back to it throughout the chapter.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one of the most important in the chapter — because the var/Python confusion is extremely common.
Walk through C first: "In C, declaration and assignment are separate steps. You can write int age; — that creates the variable with no value yet. Then age = 25 gives it a value. You must always write the type. There is no way around it."
C#: "C# follows the same structure as C, but adds one option: var. When you write var age = 25, the compiler looks at 25 and says 'that's an integer, so age is of type int.' It figures out the type for you — but the type is still fixed at compile time. After that, age is an int forever."
Python: "Python has no declaration step at all. When you write age = 25, that single line creates the name and binds it to the integer object 25. There is no type to specify. The name doesn't have a type — the object does."
The warning box is the most important thing on this slide. Say it out loud: "var in C# is NOT the same as Python's lack of declaration. var means 'figure out the type at compile time.' Python means 'no type is associated with the name.' These look similar but behave completely differently."
Ask: "If var age = 25; is in C#, can I write age = 'hello' on the next line?" Answer: No. Compile-time error. Same as if you had written int age = 25.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3 minutes on this slide. Binding is the central concept of the chapter.
Say: "Binding is a general concept. It means establishing a connection — between a name and what it refers to, between a variable and its type, between an operator symbol and what it does. When we talk about static vs dynamic binding later, this broad definition is what we mean."
Walk through the table rows:
- Row 1 (name ↔ storage): "When you write 'int age', C creates a storage location and connects the name 'age' to it."
- Row 2 (variable ↔ type): "In C, 'int' binds age to the type int. That connection is permanent."
- Row 3 (variable ↔ value): "The value 25 is associated with age. This can change — age = 26 changes the value, but not the type or the storage."
- Row 4 (name ↔ object, Python): "In Python the model is different — the name doesn't connect to a type or a storage slot. It connects to an object. That object has a type. This is why Python allows what C doesn't."
- Row 5 (operator ↔ meaning): "Even the meaning of '+' is a binding — decided by the language designer when they designed the language. That is a binding that was made very early."
The info box is the key message: the WHEN of binding varies — and that variation explains most of the differences between C, C#, and Python.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slides in the chapter. Give it 3–4 minutes.
Point to the C side: "In C, when you write 'int age = 25', you are doing two things at once: creating a storage location AND binding the name 'age' permanently to type int. The compiler records: 'age is an int, always.' The second assignment is rejected because it violates that type binding."
Point to the Python side: "Python works completely differently. When you write 'age = 25', there is no type declaration. The name 'age' is bound to the integer object 25. The object has type int — but the name does not. The name is just a label pointing at an object."
Point to the diagram: "When you write 'age = "twenty-five"', you are not changing the type of age. You are creating a new string object and redirecting the name to point at it instead. The integer object 25 still exists — Python's garbage collector will eventually reclaim it, but it hasn't changed."
Read the warning box aloud: "The precise language matters here. Don't say 'Python variables change type.' That implies the original int became a string. It didn't. Say: a name was rebound to an object of a different type."
Ask the class: "In C#, if you write 'var age = 25' and then 'age = "hello"' — what happens?" Answer: compile-time error. The compiler inferred int from 25, and that binding is permanent. var is not an escape hatch.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rows.
Language-design time: "Some things are decided before any programmer ever writes a line of code — by the person who designed the language. The meaning of '+' for integers is fixed by the language specification. Every C program inherits this binding."
Compile time: "In C, when the compiler processes 'int age', it binds the name 'age' to the type 'int' at that moment. The program hasn't run yet. The binding is established before execution begins."
Load time: "When a C program starts, global variables get their storage locations assigned. This happens between compilation and execution."
Runtime: "In Python, the binding is established when the specific line executes. 'x = 10' doesn't do anything until that line actually runs. This means the binding could be different each time the function is called, depending on inputs."
For the Think activity:
A (int count = 0; in C) — Static. Type int is bound at compile time.
B (var count = 0; in C#) — Static. The compiler infers int at compile time. var is compile-time inference.
C (count = 0 in Python) — Dynamic. The binding to the integer object is established at runtime.
The critical point: C# with var is still static binding, even though you didn't write the type yourself.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the most common conceptual confusion in this chapter. Spend 3 minutes here.
Say: "There are three related but distinct concepts. I am going to say each one and its definition, then contrast them."
Row 1 — Binding time: "This is the most general concept. Every connection in a program has a binding time — when is it established? Could be when the language was designed, when you compiled, when the program loaded, or when a specific line executed. It applies to everything — names, types, values, operator meanings."
Row 2 — Static typing: "This is one specific example of early binding time. Static typing means: type checking happens at compile time, before the program runs. C and C# are statically typed — the compiler catches type errors."
Row 3 — Dynamic typing: "This is the corresponding late binding time for types. Dynamic typing means: type checking happens at runtime. Python discovers type errors only when the relevant code actually runs."
Now say clearly: "Static typing is NOT the same as binding time. Static typing is one specific case of binding time. And dynamic typing does NOT mean Python has no types — it has very strict types, checked at runtime. Dynamic typing just means the checking happens later."
Ask: "Is C# with var statically typed or dynamically typed?" Answer: statically typed — the compiler infers and fixes the type at compile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timeline on the left first — 60 seconds.
"When greet() is called, the variable 'age' is created — storage is allocated and the name is bound to a value. While the function runs, you can read and write it as many times as you like. When the function returns, age ceases to exist. If you tried to access age from outside the function, it wouldn't be there."
Then spend 2 minutes on the scope vs lifetime distinction.
"These two concepts are related but different, and confusing them is a common mistake. I want you to keep very clear definitions in your head."
Scope — point to the blue card: "Scope is WHERE in the source code a name is visible. It is a structural property of the code — you can figure it out by reading the code, without running it. We cover scope in Chapter 4."
Lifetime — point to the green card: "Lifetime is HOW LONG during execution the variable actually exists. It is a runtime property — it depends on what actually happens when the program runs."
"For local variables, these usually correspond — a local variable is both inaccessible outside its function (scope) and doesn't exist outside its function call (lifetime). But they are conceptually separate."
Ask: "Could something be in scope but no longer alive?" This is a subtle question — the answer is yes in some scenarios, which we will see when we discuss Python's name-vs-object lifetime distinction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subtle but important concept that surprises many programmers coming to Python.
Walk through the code carefully: "Inside create_person(), the name 'person' is a local variable that refers to the dictionary. When the function returns, that local name is gone — it no longer exists."
"But notice: we wrote 'return person' and caught the return value in 'p = create_person()'. So now the outer name 'p' refers to the same dictionary object."
"The local name 'person' is gone. But the object it referred to is still alive — because 'p' now refers to it. Python will only reclaim an object when nothing refers to it anymore."
Point to the diagram: "After the function returns, 'person' no longer exists, but the dictionary object persists. 'p' keeps it alive."
Connect to the analogy: "Think of a shared document. One person deletes their shortcut, but the document is still there because others have access. Python's memory model works the same way — objects persist as long as any reference to them exists."
This sets up the garbage collection discussion in the next section: Python uses reference counting to track how many names refer to each object, and reclaims the object when the count reaches zero.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section conceptual — the goal is language design awareness, not systems programming.
Stack and heap: "Think of the stack as the 'temporary workspace' for function calls — it gets cleaned up automatically. The heap is 'long-term storage' — it persists but someone has to manage it."
Three languages: 
C — "The programmer has the most control. You request heap memory with malloc and release it with free. If you forget free, the memory leaks — it stays allocated forever. If you access memory after free, the program may crash. These are among the most common serious bugs in C."
C# — "The runtime's garbage collector handles heap memory. When an object is no longer reachable — when no names point to it — the GC will eventually reclaim it. You don't call free. The tradeoff is some runtime overhead and less precise control over when memory is released."
Python — "All objects go on the heap, and the runtime manages everything. You never call malloc or free. Python uses reference counting — it tracks how many names refer to each object and reclaims it when the count reaches zero. Simplest for programmers, but some runtime overhead."
Read the warn box: "The stack/heap distinction is a conceptual model. Don't treat it as a universal rule about where all variables go. It helps you reason about lifetime and memory management — that's its purpose here."
Connect to earlier material: "Remember the create_person() example — the dictionary object persisted after the function returned. That's because Python keeps all objects on the heap, managed by reference counting. The function's local name was gone, but the heap object remained."
Key takeaway: "The design question is WHO manages memory. C says the programmer. C# and Python say the runtime. That choice has consequences for safety, performance, and programmer workload."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C's approach quickly (30 seconds on declarations) then spend most time on uninitialized variables.
"In C, every declaration requires an explicit type. That type is bound at compile time and cannot change. The programmer is fully responsible for the correctness of every variable."
Uninitialized variables (spend 2 minutes here): "In C, you can write 'int score;' — that creates the variable, reserves memory, but doesn't set a value. If you then read score, you get whatever happened to be in that memory slot from a previous use. It could be 0, it could be 42839, it could be anything. This is undefined behavior."
Point to the C# version: "C# made a different design choice: the compiler refuses to let you read an uninitialized variable. 'Use of unassigned local variable' is a compile-time error. This catches the mistake before the program ever runs."
Read the design lesson: "Three languages, three answers to the same question. C allows it — for flexibility and performance. C# prevents it — for safety. Python cannot even have this problem — because in Python, a name doesn't exist until you have assigned something to it. You cannot declare a name without giving it a value."
Ask: "Is C wrong for allowing uninitialized variables?" No — sometimes you want to declare a variable before you have its initial value. Performance-sensitive code sometimes uses this. C gives you the choice; C# takes it away for safety.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primarily to nail the var misconception.
Walk through both columns quickly: "C# offers two ways to declare a variable. You can write the type explicitly, or you can write 'var' and let the compiler figure it out from the right-hand side."
Then go to the proof: "Here is the crucial demonstration. After 'var age = 25', the compiler sees 25 and infers: this must be int. So age is now typed as int. When we try to assign 'hello' on the next line, we get a compile-time error — just as if we had written 'int age' explicitly."
"If var meant 'dynamically typed', this assignment would work. It doesn't. var is just shorthand for the compiler — it still produces a statically typed variable."
Compare the two cards at the bottom: "C# var — static: the type is determined once, at compile time, and never changes. Python — dynamic: the name has no type at all. It refers to an object, and can be rebound to any object at any time."
Ask: "Are var in C# and not declaring a type in Python doing the same thing?" No — fundamentally different. C# var is compile-time inference producing a static binding. Python's lack of declaration means the name carries no type information at all, with a dynamic binding at runtime.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two related Python concepts. Give it 4 minutes.
Start with the two models: "In C, a variable is like a typed container — it has a fixed type, and you can change what's inside, but you cannot put a different kind of thing in. In Python, variables work differently. A name is not a typed container — it is a label that can be attached to any object."
Walk through the Python diagram: "After 'age = 25', the name age points to the integer object 25. That object has type int. After 'age = hello', the name age is redirected to point at the string object. The integer object 25 is unchanged — it still exists as an int. Only the label moved."
Then aliasing: "Now here is something important. Because names in Python are references, two names can refer to the same object. This is called aliasing, and it behaves differently from copying."
Walk through the first code example: "When we write b = a, we are not copying the list. Both a and b now refer to the SAME list object. When b.append(4) runs, it modifies that shared object. So when we read a, we see [1, 2, 3, 4] — because a also refers to the same object."
Walk through the second: "But a = 10 is DIFFERENT from append. a = 10 is rebinding — it makes the name a point to a new integer. It doesn't modify the object 5. b still refers to 5."
Ask students: "What would print(a) produce after the second example?" Answer: 10. "And print(b)?" Answer: 5.
This distinction — mutation vs rebinding — is one of the most common sources of Python bugs for beginners.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slide — the comparison that makes the chapter's key differences visible together.
Spend 2 minutes on the rebinding examples at the top. Point to each one:
C: "The compiler recorded 'x is int' when it processed 'int x = 10'. The second assignment violates that binding. Compile error."
C#: "The compiler inferred 'x is int' from 25. Same result as C — compile error. var does not help here."
Python: "The name x is redirected to a new string object. Perfectly valid."
Then go to the table quickly: "This table summarises the chapter's main contrasts. You should be able to explain each row." Don't read every row — pick two:
Row 3 (rebinding): "This is the row that explains why Python allows what it does. Names bind to objects, not types. Objects can be of any type. So names can be rebound freely."
Row 5 (uninitialized): "C says 'your problem'. C# says 'prevented'. Python says 'impossible' — because you cannot create a name without assigning it something."
Ask students to cover the C# and Python columns and predict the answers. Then reveal.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"why" behind everything we've discussed. Give it 2–3 minutes.
For each language, read the first advantage and the first cost, then say the design rationale:
C: "Maximum control — necessary for OS kernels, device drivers, real-time systems where you cannot afford GC pauses. The cost is that memory management bugs are your problem, and they are serious."
C#: "Microsoft designed this for large teams building enterprise software. Static typing catches mistakes early. GC removes most memory bugs. The tradeoff is a more complex language and slightly less predictable timing."
Python: "Optimised for rapid development and prototyping. No declarations, no types to write, no memory to manage. The tradeoff is that errors appear at runtime — possibly in code paths that run infrequently."
Read the info box: "There is no best variable model. A pacemaker runs C because it cannot afford GC pauses. A data science notebook runs Python because the fastest idea-to-result time matters most. A banking application runs C# because type safety and team productivity are critical. Each is the right tool for its domain."
Ask: "If you were designing a language for writing financial trading software, which approach would you lean toward — and why?" This generates good discussion about tradeoffs between speed, safety, and control.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class discussion. For each pair, show the myth first and ask: "Who has believed this? Be honest."
Misconception 1 (no type): "The distinction is: the name has no type, but the object does. type(25) returns int — that's the type of the integer object. The name 'x' has no type — it is just a label. So when we say Python is dynamically typed, we mean types are checked on objects at runtime, not that types don't exist."
Misconception 2 (var): "This is the most common misconception in this chapter. var looks like Python's lack of declaration — but it works completely differently. The compiler figures out the type and fixes it. After var age = 25, age is an int. Forever. Assigning a string to it is a compile-time error."
Misconception 3 (box model): "The box model is good for C. In Python, think of names as labels, not containers. Two labels can point to the same object. When you do b = a, both labels point to the same object — not two copies."
Misconception 4 (scope = lifetime): "They often go together for local variables, which is why people confuse them. But they're asking different questions: scope is WHERE, lifetime is HOW LONG. Keep these separate."
Tell students: "The quiz tests all eight misconceptions from the tutorial. Make sure you can articulate the correction for each 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misconception discussion.
Misconception 5 (dynamic vs weak): "This is a terminology issue that trips up many students. Dynamic typing is about WHEN types are checked. Weak typing is about WHETHER the language silently converts between incompatible types. Python is dynamic (runtime checks) but strong (no silent coercion). JavaScript is weak — 'hello' + 5 silently gives you 'hello5' instead of an error."
Misconception 6 (object changed type): "When you write 'x = 25' then 'x = hello', the integer object 25 is UNCHANGED. It is still an integer. It still exists. The name 'x' was simply redirected to point at a different object. The object doesn't change; the name moves."
Misconception 7 (stack): "Stack/heap is a model for thinking about memory management. In Python, all objects go on the heap and the runtime manages them. The conceptually useful question is not 'where in memory' but 'who is responsible for managing it.'"
Misconception 8 (b = a copies): "This is the aliasing confusion. b = a does not copy the object. Both names now refer to the same object. For immutable objects (integers, strings), this rarely causes surprises. For mutable objects (lists, dicts), changes through either name affect the shared object."
After going through both misconception slides: "All eight of these are in the tutorial quiz with detailed explanations. Complete the tutorial before the next session."
Then preview Chapter 4: "Next session we ask: where in the source code can a name be accessed? When two functions use the same variable name, how does the language decide which one each refers to? That's scope — and we've just finished covering the lifetime that scope interacts with."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for class discussion before students complete the full quiz.
For each question, show the question first, take 2–3 answers from the class, then reveal.
Q2: Most students understand by now. The key phrase: "the name has no type — the object does." Make sure they can say this.
Q5: The var trap. "What do you predict?" Students may say it works. When they see it is a compile error, reinforce: "var in C# is compile-time inference. The type is just as fixed as if you had written int."
Q9: This tests the mental model. "What does b = a do?" If students say "copies the value," correct them: "It makes b refer to the same object. Then a = 10 REBINDS a — it points a at a new object. b is unaffected." They should get 5.
Q12: This is the chapter's core question. Students should now be able to give the full answer: "In C, declaring 'int x' binds the name x to type int at compile time — permanently. In Python, there is no type binding on the name at all — the name is bound to an object at runtime, and can be rebound to any object."
Tell students: "Complete the full 12-question quiz in the tutorial before the next session. Each question has a detailed explanation. The explanations teach as much as the questions do."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concepts table as a checklist. Ask students to explain each term in their own words before you move on.
Binding: "What is binding?" — Establishing a connection between a program entity and something associated with it.
Static binding: "Give an example." — int age in C; var age = 25 in C# (compiler infers and fixes at compile time).
Dynamic binding: "Give an example." — age = 25 in Python; the binding is created when that line executes.
Aliasing: "Give an example and a consequence." — b = a in Python for a list; mutations through either name are visible.
Lifetime: "How does it differ from scope?" — Lifetime = how long during execution; scope = where in source code.
Name vs object lifetime: "Give an example." — create_person(): the local name 'person' ends, but the returned dictionary lives on.
Three language summaries — read aloud: "C: explicit, static, programmer-managed. C#: static with inference, GC-managed. Python: names to objects, dynamic binding, fully managed."
Connections: "Chapter 2 told us how languages recognise code through tokens and grammar. This chapter told us what some of those recognised constructs — variable declarations — actually mean and how they behave."
Preview Chapter 4: "Next session: scope. When you write a variable name in Python or C, how does the language know which variable you mean? What happens when a function uses the same name as an outer scope? That's where syntax and runtime behaviour intersect in a new way."
Remind students: complete the 12-question tutorial quiz before next session.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Brief — 30 seconds.
Remind students:
1. Tutorial is in Canvas — work through all 13 sections before Chapter 4.
2. The 12-question quiz at the end has detailed explanations — read them even if you get questions right.
3. Before Chapter 4, think about: "If two functions both use a variable called 'count', are they sharing the same variable or do they each have their own?"
Contact: dgill@clark.edu, STEM Building Room 113.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2B5E"/>
          </a:solidFill>
          <a:ln/>
        </p:spPr>
        <p:txBody>
          <a:bodyPr/>
          <a:lstStyle/>
          <a:p>
            <a:endParaRPr lang="en-US"/>
          </a:p>
        </p:txBody>
      </p:sp>
      <p:sp>
        <p:nvSpPr>
          <p:cNvPr id="3" name="Shape 1"/>
          <p:cNvSpPr/>
          <p:nvPr/>
        </p:nvSpPr>
        <p:spPr>
          <a:xfrm>
            <a:off x="8686800" y="3840480"/>
            <a:ext cx="4572000" cy="4572000"/>
          </a:xfrm>
          <a:prstGeom prst="ellipse">
            <a:avLst/>
          </a:prstGeom>
          <a:solidFill>
            <a:srgbClr val="FFFFFF">
              <a:alpha val="7000"/>
            </a:srgbClr>
          </a:solidFill>
          <a:ln w="12700">
            <a:solidFill>
              <a:srgbClr val="FFFFFF">
                <a:alpha val="7000"/>
              </a:srgbClr>
            </a:solidFill>
            <a:prstDash val="solid"/>
          </a:ln>
        </p:spPr>
        <p:txBody>
          <a:bodyPr/>
          <a:lstStyle/>
          <a:p>
            <a:endParaRPr lang="en-US"/>
          </a:p>
        </p:txBody>
      </p:sp>
      <p:sp>
        <p:nvSpPr>
          <p:cNvPr id="4" name="Shape 2"/>
          <p:cNvSpPr/>
          <p:nvPr/>
        </p:nvSpPr>
        <p:spPr>
          <a:xfrm>
            <a:off x="10241280" y="5303520"/>
            <a:ext cx="2743200" cy="2743200"/>
          </a:xfrm>
          <a:prstGeom prst="ellipse">
            <a:avLst/>
          </a:prstGeom>
          <a:solidFill>
            <a:srgbClr val="FFFFFF">
              <a:alpha val="11000"/>
            </a:srgbClr>
          </a:solidFill>
          <a:ln w="12700">
            <a:solidFill>
              <a:srgbClr val="FFFFFF">
                <a:alpha val="11000"/>
              </a:srgbClr>
            </a:solidFill>
            <a:prstDash val="solid"/>
          </a:ln>
        </p:spPr>
        <p:txBody>
          <a:bodyPr/>
          <a:lstStyle/>
          <a:p>
            <a:endParaRPr lang="en-US"/>
          </a:p>
        </p:txBody>
      </p:sp>
      <p:sp>
        <p:nvSpPr>
          <p:cNvPr id="5" name="Text 3"/>
          <p:cNvSpPr txBox="1"/>
          <p:nvPr/>
        </p:nvSpPr>
        <p:spPr>
          <a:xfrm>
            <a:off x="640080" y="1828800"/>
            <a:ext cx="9144000" cy="21945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Variables, Binding</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&amp; Lifetime</a:t>
            </a:r>
            <a:endParaRPr lang="en-US" sz="3600" dirty="0"/>
          </a:p>
        </p:txBody>
      </p:sp>
      <p:sp>
        <p:nvSpPr>
          <p:cNvPr id="6" name="Text 4"/>
          <p:cNvSpPr txBox="1"/>
          <p:nvPr/>
        </p:nvSpPr>
        <p:spPr>
          <a:xfrm>
            <a:off x="640080" y="4114800"/>
            <a:ext cx="8229600" cy="594360"/>
          </a:xfrm>
          <a:prstGeom prst="rect">
            <a:avLst/>
          </a:prstGeom>
          <a:noFill/>
          <a:ln/>
        </p:spPr>
        <p:txBody>
          <a:bodyPr wrap="square" lIns="0" tIns="0" rIns="0" bIns="0" rtlCol="0" anchor="ctr"/>
          <a:lstStyle/>
          <a:p>
            <a:pPr marL="0" indent="0">
              <a:buNone/>
            </a:pPr>
            <a:r>
              <a:rPr lang="en-US" sz="1700" dirty="0">
                <a:solidFill>
                  <a:srgbClr val="B8C8F8"/>
                </a:solidFill>
                <a:latin typeface="Calibri" pitchFamily="34" charset="0"/>
                <a:ea typeface="Calibri" pitchFamily="34" charset="-122"/>
                <a:cs typeface="Calibri" pitchFamily="34" charset="-120"/>
              </a:rPr>
              <a:t>What does a language actually mean by a variable — and why do C, C#, and Python answer that so differently?</a:t>
            </a:r>
            <a:endParaRPr lang="en-US" sz="1700" dirty="0"/>
          </a:p>
        </p:txBody>
      </p:sp>
      <p:sp>
        <p:nvSpPr>
          <p:cNvPr id="7" name="Text 5"/>
          <p:cNvSpPr txBox="1"/>
          <p:nvPr/>
        </p:nvSpPr>
        <p:spPr>
          <a:xfrm>
            <a:off x="640080" y="6309360"/>
            <a:ext cx="5486400" cy="32004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CSBS 315 · Chapter 3 of 12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Chapter Roadmap — What We Build Toward</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Overview</a:t>
            </a:r>
            <a:endParaRPr lang="en-US" sz="900" dirty="0"/>
          </a:p>
        </p:txBody>
      </p:sp>
      <p:sp>
        <p:nvSpPr>
          <p:cNvPr id="5" name="Shape 3"/>
          <p:cNvSpPr/>
          <p:nvPr/>
        </p:nvSpPr>
        <p:spPr>
          <a:xfrm>
            <a:off x="411480" y="1024128"/>
            <a:ext cx="420624" cy="420624"/>
          </a:xfrm>
          <a:prstGeom prst="rect">
            <a:avLst/>
          </a:prstGeom>
          <a:solidFill>
            <a:srgbClr val="1A2B5E"/>
          </a:solidFill>
          <a:ln/>
        </p:spPr>
        <p:txBody>
          <a:bodyPr/>
          <a:lstStyle/>
          <a:p>
            <a:endParaRPr lang="en-US"/>
          </a:p>
        </p:txBody>
      </p:sp>
      <p:sp>
        <p:nvSpPr>
          <p:cNvPr id="6" name="Text 4"/>
          <p:cNvSpPr txBox="1"/>
          <p:nvPr/>
        </p:nvSpPr>
        <p:spPr>
          <a:xfrm>
            <a:off x="411480" y="1078992"/>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87552" y="1060704"/>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Opening question</a:t>
            </a:r>
            <a:endParaRPr lang="en-US" sz="1200" dirty="0"/>
          </a:p>
        </p:txBody>
      </p:sp>
      <p:sp>
        <p:nvSpPr>
          <p:cNvPr id="8" name="Text 6"/>
          <p:cNvSpPr txBox="1"/>
          <p:nvPr/>
        </p:nvSpPr>
        <p:spPr>
          <a:xfrm>
            <a:off x="3639312" y="1060704"/>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age = 25 — five precise questions that open the chapter</a:t>
            </a:r>
            <a:endParaRPr lang="en-US" sz="1150" dirty="0"/>
          </a:p>
        </p:txBody>
      </p:sp>
      <p:sp>
        <p:nvSpPr>
          <p:cNvPr id="9" name="Shape 7"/>
          <p:cNvSpPr/>
          <p:nvPr/>
        </p:nvSpPr>
        <p:spPr>
          <a:xfrm>
            <a:off x="411480" y="1645920"/>
            <a:ext cx="420624" cy="420624"/>
          </a:xfrm>
          <a:prstGeom prst="rect">
            <a:avLst/>
          </a:prstGeom>
          <a:solidFill>
            <a:srgbClr val="1A2B5E"/>
          </a:solidFill>
          <a:ln/>
        </p:spPr>
        <p:txBody>
          <a:bodyPr/>
          <a:lstStyle/>
          <a:p>
            <a:endParaRPr lang="en-US"/>
          </a:p>
        </p:txBody>
      </p:sp>
      <p:sp>
        <p:nvSpPr>
          <p:cNvPr id="10" name="Text 8"/>
          <p:cNvSpPr txBox="1"/>
          <p:nvPr/>
        </p:nvSpPr>
        <p:spPr>
          <a:xfrm>
            <a:off x="411480" y="1700784"/>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987552" y="1682496"/>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Five questions</a:t>
            </a:r>
            <a:endParaRPr lang="en-US" sz="1200" dirty="0"/>
          </a:p>
        </p:txBody>
      </p:sp>
      <p:sp>
        <p:nvSpPr>
          <p:cNvPr id="12" name="Text 10"/>
          <p:cNvSpPr txBox="1"/>
          <p:nvPr/>
        </p:nvSpPr>
        <p:spPr>
          <a:xfrm>
            <a:off x="3639312" y="1682496"/>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The questions every language designer must answer about variables</a:t>
            </a:r>
            <a:endParaRPr lang="en-US" sz="1150" dirty="0"/>
          </a:p>
        </p:txBody>
      </p:sp>
      <p:sp>
        <p:nvSpPr>
          <p:cNvPr id="13" name="Shape 11"/>
          <p:cNvSpPr/>
          <p:nvPr/>
        </p:nvSpPr>
        <p:spPr>
          <a:xfrm>
            <a:off x="411480" y="2267712"/>
            <a:ext cx="420624" cy="420624"/>
          </a:xfrm>
          <a:prstGeom prst="rect">
            <a:avLst/>
          </a:prstGeom>
          <a:solidFill>
            <a:srgbClr val="1A2B5E"/>
          </a:solidFill>
          <a:ln/>
        </p:spPr>
        <p:txBody>
          <a:bodyPr/>
          <a:lstStyle/>
          <a:p>
            <a:endParaRPr lang="en-US"/>
          </a:p>
        </p:txBody>
      </p:sp>
      <p:sp>
        <p:nvSpPr>
          <p:cNvPr id="14" name="Text 12"/>
          <p:cNvSpPr txBox="1"/>
          <p:nvPr/>
        </p:nvSpPr>
        <p:spPr>
          <a:xfrm>
            <a:off x="411480" y="2322576"/>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987552" y="2304288"/>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Declaration vs assignment</a:t>
            </a:r>
            <a:endParaRPr lang="en-US" sz="1200" dirty="0"/>
          </a:p>
        </p:txBody>
      </p:sp>
      <p:sp>
        <p:nvSpPr>
          <p:cNvPr id="16" name="Text 14"/>
          <p:cNvSpPr txBox="1"/>
          <p:nvPr/>
        </p:nvSpPr>
        <p:spPr>
          <a:xfrm>
            <a:off x="3639312" y="2304288"/>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What each language actually requires you to write — and why</a:t>
            </a:r>
            <a:endParaRPr lang="en-US" sz="1150" dirty="0"/>
          </a:p>
        </p:txBody>
      </p:sp>
      <p:sp>
        <p:nvSpPr>
          <p:cNvPr id="17" name="Shape 15"/>
          <p:cNvSpPr/>
          <p:nvPr/>
        </p:nvSpPr>
        <p:spPr>
          <a:xfrm>
            <a:off x="411480" y="2889504"/>
            <a:ext cx="420624" cy="420624"/>
          </a:xfrm>
          <a:prstGeom prst="rect">
            <a:avLst/>
          </a:prstGeom>
          <a:solidFill>
            <a:srgbClr val="1A2B5E"/>
          </a:solidFill>
          <a:ln/>
        </p:spPr>
        <p:txBody>
          <a:bodyPr/>
          <a:lstStyle/>
          <a:p>
            <a:endParaRPr lang="en-US"/>
          </a:p>
        </p:txBody>
      </p:sp>
      <p:sp>
        <p:nvSpPr>
          <p:cNvPr id="18" name="Text 16"/>
          <p:cNvSpPr txBox="1"/>
          <p:nvPr/>
        </p:nvSpPr>
        <p:spPr>
          <a:xfrm>
            <a:off x="411480" y="2944368"/>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987552" y="2926080"/>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Binding</a:t>
            </a:r>
            <a:endParaRPr lang="en-US" sz="1200" dirty="0"/>
          </a:p>
        </p:txBody>
      </p:sp>
      <p:sp>
        <p:nvSpPr>
          <p:cNvPr id="20" name="Text 18"/>
          <p:cNvSpPr txBox="1"/>
          <p:nvPr/>
        </p:nvSpPr>
        <p:spPr>
          <a:xfrm>
            <a:off x="3639312" y="2926080"/>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The core concept: establishing connections between entities and meanings</a:t>
            </a:r>
            <a:endParaRPr lang="en-US" sz="1150" dirty="0"/>
          </a:p>
        </p:txBody>
      </p:sp>
      <p:sp>
        <p:nvSpPr>
          <p:cNvPr id="21" name="Shape 19"/>
          <p:cNvSpPr/>
          <p:nvPr/>
        </p:nvSpPr>
        <p:spPr>
          <a:xfrm>
            <a:off x="411480" y="3511296"/>
            <a:ext cx="420624" cy="420624"/>
          </a:xfrm>
          <a:prstGeom prst="rect">
            <a:avLst/>
          </a:prstGeom>
          <a:solidFill>
            <a:srgbClr val="1A2B5E"/>
          </a:solidFill>
          <a:ln/>
        </p:spPr>
        <p:txBody>
          <a:bodyPr/>
          <a:lstStyle/>
          <a:p>
            <a:endParaRPr lang="en-US"/>
          </a:p>
        </p:txBody>
      </p:sp>
      <p:sp>
        <p:nvSpPr>
          <p:cNvPr id="22" name="Text 20"/>
          <p:cNvSpPr txBox="1"/>
          <p:nvPr/>
        </p:nvSpPr>
        <p:spPr>
          <a:xfrm>
            <a:off x="411480" y="3566160"/>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txBox="1"/>
          <p:nvPr/>
        </p:nvSpPr>
        <p:spPr>
          <a:xfrm>
            <a:off x="987552" y="3547872"/>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Binding time</a:t>
            </a:r>
            <a:endParaRPr lang="en-US" sz="1200" dirty="0"/>
          </a:p>
        </p:txBody>
      </p:sp>
      <p:sp>
        <p:nvSpPr>
          <p:cNvPr id="24" name="Text 22"/>
          <p:cNvSpPr txBox="1"/>
          <p:nvPr/>
        </p:nvSpPr>
        <p:spPr>
          <a:xfrm>
            <a:off x="3639312" y="3547872"/>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When are those connections established — compile time or runtime?</a:t>
            </a:r>
            <a:endParaRPr lang="en-US" sz="1150" dirty="0"/>
          </a:p>
        </p:txBody>
      </p:sp>
      <p:sp>
        <p:nvSpPr>
          <p:cNvPr id="25" name="Shape 23"/>
          <p:cNvSpPr/>
          <p:nvPr/>
        </p:nvSpPr>
        <p:spPr>
          <a:xfrm>
            <a:off x="411480" y="4133088"/>
            <a:ext cx="420624" cy="420624"/>
          </a:xfrm>
          <a:prstGeom prst="rect">
            <a:avLst/>
          </a:prstGeom>
          <a:solidFill>
            <a:srgbClr val="1A2B5E"/>
          </a:solidFill>
          <a:ln/>
        </p:spPr>
        <p:txBody>
          <a:bodyPr/>
          <a:lstStyle/>
          <a:p>
            <a:endParaRPr lang="en-US"/>
          </a:p>
        </p:txBody>
      </p:sp>
      <p:sp>
        <p:nvSpPr>
          <p:cNvPr id="26" name="Text 24"/>
          <p:cNvSpPr txBox="1"/>
          <p:nvPr/>
        </p:nvSpPr>
        <p:spPr>
          <a:xfrm>
            <a:off x="411480" y="4187952"/>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5"/>
          <p:cNvSpPr txBox="1"/>
          <p:nvPr/>
        </p:nvSpPr>
        <p:spPr>
          <a:xfrm>
            <a:off x="987552" y="4169664"/>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Lifetime</a:t>
            </a:r>
            <a:endParaRPr lang="en-US" sz="1200" dirty="0"/>
          </a:p>
        </p:txBody>
      </p:sp>
      <p:sp>
        <p:nvSpPr>
          <p:cNvPr id="28" name="Text 26"/>
          <p:cNvSpPr txBox="1"/>
          <p:nvPr/>
        </p:nvSpPr>
        <p:spPr>
          <a:xfrm>
            <a:off x="3639312" y="4169664"/>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How long does a variable or object exist during execution?</a:t>
            </a:r>
            <a:endParaRPr lang="en-US" sz="1150" dirty="0"/>
          </a:p>
        </p:txBody>
      </p:sp>
      <p:sp>
        <p:nvSpPr>
          <p:cNvPr id="29" name="Shape 27"/>
          <p:cNvSpPr/>
          <p:nvPr/>
        </p:nvSpPr>
        <p:spPr>
          <a:xfrm>
            <a:off x="411480" y="4754880"/>
            <a:ext cx="420624" cy="420624"/>
          </a:xfrm>
          <a:prstGeom prst="rect">
            <a:avLst/>
          </a:prstGeom>
          <a:solidFill>
            <a:srgbClr val="1A2B5E"/>
          </a:solidFill>
          <a:ln/>
        </p:spPr>
        <p:txBody>
          <a:bodyPr/>
          <a:lstStyle/>
          <a:p>
            <a:endParaRPr lang="en-US"/>
          </a:p>
        </p:txBody>
      </p:sp>
      <p:sp>
        <p:nvSpPr>
          <p:cNvPr id="30" name="Text 28"/>
          <p:cNvSpPr txBox="1"/>
          <p:nvPr/>
        </p:nvSpPr>
        <p:spPr>
          <a:xfrm>
            <a:off x="411480" y="4809744"/>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9"/>
          <p:cNvSpPr txBox="1"/>
          <p:nvPr/>
        </p:nvSpPr>
        <p:spPr>
          <a:xfrm>
            <a:off x="987552" y="4791456"/>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Stack &amp; Heap</a:t>
            </a:r>
            <a:endParaRPr lang="en-US" sz="1200" dirty="0"/>
          </a:p>
        </p:txBody>
      </p:sp>
      <p:sp>
        <p:nvSpPr>
          <p:cNvPr id="32" name="Text 30"/>
          <p:cNvSpPr txBox="1"/>
          <p:nvPr/>
        </p:nvSpPr>
        <p:spPr>
          <a:xfrm>
            <a:off x="3639312" y="4791456"/>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Who manages memory, and what are the tradeoffs?</a:t>
            </a:r>
            <a:endParaRPr lang="en-US" sz="1150" dirty="0"/>
          </a:p>
        </p:txBody>
      </p:sp>
      <p:sp>
        <p:nvSpPr>
          <p:cNvPr id="33" name="Shape 31"/>
          <p:cNvSpPr/>
          <p:nvPr/>
        </p:nvSpPr>
        <p:spPr>
          <a:xfrm>
            <a:off x="411480" y="5376672"/>
            <a:ext cx="420624" cy="420624"/>
          </a:xfrm>
          <a:prstGeom prst="rect">
            <a:avLst/>
          </a:prstGeom>
          <a:solidFill>
            <a:srgbClr val="1A2B5E"/>
          </a:solidFill>
          <a:ln/>
        </p:spPr>
        <p:txBody>
          <a:bodyPr/>
          <a:lstStyle/>
          <a:p>
            <a:endParaRPr lang="en-US"/>
          </a:p>
        </p:txBody>
      </p:sp>
      <p:sp>
        <p:nvSpPr>
          <p:cNvPr id="34" name="Text 32"/>
          <p:cNvSpPr txBox="1"/>
          <p:nvPr/>
        </p:nvSpPr>
        <p:spPr>
          <a:xfrm>
            <a:off x="411480" y="5431536"/>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5" name="Text 33"/>
          <p:cNvSpPr txBox="1"/>
          <p:nvPr/>
        </p:nvSpPr>
        <p:spPr>
          <a:xfrm>
            <a:off x="987552" y="5413248"/>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 / C# / Python deep dives</a:t>
            </a:r>
            <a:endParaRPr lang="en-US" sz="1200" dirty="0"/>
          </a:p>
        </p:txBody>
      </p:sp>
      <p:sp>
        <p:nvSpPr>
          <p:cNvPr id="36" name="Text 34"/>
          <p:cNvSpPr txBox="1"/>
          <p:nvPr/>
        </p:nvSpPr>
        <p:spPr>
          <a:xfrm>
            <a:off x="3639312" y="5413248"/>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Each language's variable model in detail</a:t>
            </a:r>
            <a:endParaRPr lang="en-US" sz="1150" dirty="0"/>
          </a:p>
        </p:txBody>
      </p:sp>
      <p:sp>
        <p:nvSpPr>
          <p:cNvPr id="37" name="Shape 35"/>
          <p:cNvSpPr/>
          <p:nvPr/>
        </p:nvSpPr>
        <p:spPr>
          <a:xfrm>
            <a:off x="411480" y="5998464"/>
            <a:ext cx="420624" cy="420624"/>
          </a:xfrm>
          <a:prstGeom prst="rect">
            <a:avLst/>
          </a:prstGeom>
          <a:solidFill>
            <a:srgbClr val="1A2B5E"/>
          </a:solidFill>
          <a:ln/>
        </p:spPr>
        <p:txBody>
          <a:bodyPr/>
          <a:lstStyle/>
          <a:p>
            <a:endParaRPr lang="en-US"/>
          </a:p>
        </p:txBody>
      </p:sp>
      <p:sp>
        <p:nvSpPr>
          <p:cNvPr id="38" name="Text 36"/>
          <p:cNvSpPr txBox="1"/>
          <p:nvPr/>
        </p:nvSpPr>
        <p:spPr>
          <a:xfrm>
            <a:off x="411480" y="6053328"/>
            <a:ext cx="42062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9" name="Text 37"/>
          <p:cNvSpPr txBox="1"/>
          <p:nvPr/>
        </p:nvSpPr>
        <p:spPr>
          <a:xfrm>
            <a:off x="987552" y="6035040"/>
            <a:ext cx="25603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Comparison + tradeoffs</a:t>
            </a:r>
            <a:endParaRPr lang="en-US" sz="1200" dirty="0"/>
          </a:p>
        </p:txBody>
      </p:sp>
      <p:sp>
        <p:nvSpPr>
          <p:cNvPr id="40" name="Text 38"/>
          <p:cNvSpPr txBox="1"/>
          <p:nvPr/>
        </p:nvSpPr>
        <p:spPr>
          <a:xfrm>
            <a:off x="3639312" y="6035040"/>
            <a:ext cx="8321040" cy="475488"/>
          </a:xfrm>
          <a:prstGeom prst="rect">
            <a:avLst/>
          </a:prstGeom>
          <a:noFill/>
          <a:ln/>
        </p:spPr>
        <p:txBody>
          <a:bodyPr wrap="square" lIns="0" tIns="0" rIns="0" bIns="0" rtlCol="0" anchor="ctr"/>
          <a:lstStyle/>
          <a:p>
            <a:pPr marL="0" indent="0">
              <a:lnSpc>
                <a:spcPct val="120000"/>
              </a:lnSpc>
              <a:buNone/>
            </a:pPr>
            <a:r>
              <a:rPr lang="en-US" sz="1150" dirty="0">
                <a:solidFill>
                  <a:srgbClr val="5A6A82"/>
                </a:solidFill>
                <a:latin typeface="Calibri" pitchFamily="34" charset="0"/>
                <a:ea typeface="Calibri" pitchFamily="34" charset="-122"/>
                <a:cs typeface="Calibri" pitchFamily="34" charset="-120"/>
              </a:rPr>
              <a:t>Side-by-side analysis and the design reasoning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0</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Opening</a:t>
            </a:r>
            <a:endParaRPr lang="en-US" sz="2000" dirty="0"/>
          </a:p>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Question</a:t>
            </a:r>
            <a:endParaRPr lang="en-US" sz="2000" dirty="0"/>
          </a:p>
        </p:txBody>
      </p:sp>
      <p:sp>
        <p:nvSpPr>
          <p:cNvPr id="6" name="Text 4"/>
          <p:cNvSpPr txBox="1"/>
          <p:nvPr/>
        </p:nvSpPr>
        <p:spPr>
          <a:xfrm>
            <a:off x="4206240" y="2651760"/>
            <a:ext cx="7680960" cy="1371600"/>
          </a:xfrm>
          <a:prstGeom prst="rect">
            <a:avLst/>
          </a:prstGeom>
          <a:noFill/>
          <a:ln/>
        </p:spPr>
        <p:txBody>
          <a:bodyPr wrap="square" lIns="0" tIns="0" rIns="0" bIns="0" rtlCol="0" anchor="ctr"/>
          <a:lstStyle/>
          <a:p>
            <a:pPr marL="0" indent="0">
              <a:lnSpc>
                <a:spcPct val="135000"/>
              </a:lnSpc>
              <a:buNone/>
            </a:pPr>
            <a:endParaRPr lang="en-US" sz="1500" dirty="0"/>
          </a:p>
        </p:txBody>
      </p:sp>
      <p:sp>
        <p:nvSpPr>
          <p:cNvPr id="7" name="Text 5"/>
          <p:cNvSpPr txBox="1"/>
          <p:nvPr/>
        </p:nvSpPr>
        <p:spPr>
          <a:xfrm>
            <a:off x="4206240" y="1353312"/>
            <a:ext cx="7680960" cy="310896"/>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You have written this hundreds of times. Now let's slow down.</a:t>
            </a:r>
            <a:endParaRPr lang="en-US" sz="1300" dirty="0"/>
          </a:p>
        </p:txBody>
      </p:sp>
      <p:sp>
        <p:nvSpPr>
          <p:cNvPr id="8" name="Shape 6"/>
          <p:cNvSpPr/>
          <p:nvPr/>
        </p:nvSpPr>
        <p:spPr>
          <a:xfrm>
            <a:off x="4206240" y="1719072"/>
            <a:ext cx="7680960" cy="502920"/>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4334256" y="1810512"/>
            <a:ext cx="7479792" cy="33832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25</a:t>
            </a:r>
            <a:endParaRPr lang="en-US" sz="1100" dirty="0"/>
          </a:p>
        </p:txBody>
      </p:sp>
      <p:sp>
        <p:nvSpPr>
          <p:cNvPr id="10" name="Text 8"/>
          <p:cNvSpPr txBox="1"/>
          <p:nvPr/>
        </p:nvSpPr>
        <p:spPr>
          <a:xfrm>
            <a:off x="4206240" y="2359152"/>
            <a:ext cx="7680960" cy="512064"/>
          </a:xfrm>
          <a:prstGeom prst="rect">
            <a:avLst/>
          </a:prstGeom>
          <a:noFill/>
          <a:ln/>
        </p:spPr>
        <p:txBody>
          <a:bodyPr wrap="square" lIns="0" tIns="0" rIns="0" bIns="0" rtlCol="0" anchor="ctr"/>
          <a:lstStyle/>
          <a:p>
            <a:pPr marL="0" indent="0">
              <a:lnSpc>
                <a:spcPct val="120000"/>
              </a:lnSpc>
              <a:buNone/>
            </a:pPr>
            <a:r>
              <a:rPr lang="en-US" sz="1250" dirty="0">
                <a:solidFill>
                  <a:srgbClr val="1E2A3A"/>
                </a:solidFill>
                <a:latin typeface="Calibri" pitchFamily="34" charset="0"/>
                <a:ea typeface="Calibri" pitchFamily="34" charset="-122"/>
                <a:cs typeface="Calibri" pitchFamily="34" charset="-120"/>
              </a:rPr>
              <a:t>① What is  age ? Just a label? A memory location? Something else?</a:t>
            </a:r>
            <a:endParaRPr lang="en-US" sz="1250" dirty="0"/>
          </a:p>
        </p:txBody>
      </p:sp>
      <p:sp>
        <p:nvSpPr>
          <p:cNvPr id="11" name="Text 9"/>
          <p:cNvSpPr txBox="1"/>
          <p:nvPr/>
        </p:nvSpPr>
        <p:spPr>
          <a:xfrm>
            <a:off x="4233672" y="3080070"/>
            <a:ext cx="7680960" cy="512064"/>
          </a:xfrm>
          <a:prstGeom prst="rect">
            <a:avLst/>
          </a:prstGeom>
          <a:noFill/>
          <a:ln/>
        </p:spPr>
        <p:txBody>
          <a:bodyPr wrap="square" lIns="0" tIns="0" rIns="0" bIns="0" rtlCol="0" anchor="ctr"/>
          <a:lstStyle/>
          <a:p>
            <a:pPr marL="0" indent="0">
              <a:lnSpc>
                <a:spcPct val="120000"/>
              </a:lnSpc>
              <a:buNone/>
            </a:pPr>
            <a:r>
              <a:rPr lang="en-US" sz="1250" dirty="0">
                <a:solidFill>
                  <a:srgbClr val="1E2A3A"/>
                </a:solidFill>
                <a:latin typeface="Calibri" pitchFamily="34" charset="0"/>
                <a:ea typeface="Calibri" pitchFamily="34" charset="-122"/>
                <a:cs typeface="Calibri" pitchFamily="34" charset="-120"/>
              </a:rPr>
              <a:t>② Where is  25 ? In what sense does age "contain" it?</a:t>
            </a:r>
          </a:p>
          <a:p>
            <a:pPr marL="0" indent="0">
              <a:lnSpc>
                <a:spcPct val="120000"/>
              </a:lnSpc>
              <a:buNone/>
            </a:pPr>
            <a:endParaRPr lang="en-US" sz="1250" dirty="0"/>
          </a:p>
        </p:txBody>
      </p:sp>
      <p:sp>
        <p:nvSpPr>
          <p:cNvPr id="12" name="Text 10"/>
          <p:cNvSpPr txBox="1"/>
          <p:nvPr/>
        </p:nvSpPr>
        <p:spPr>
          <a:xfrm>
            <a:off x="4206240" y="3602736"/>
            <a:ext cx="7680960" cy="512064"/>
          </a:xfrm>
          <a:prstGeom prst="rect">
            <a:avLst/>
          </a:prstGeom>
          <a:noFill/>
          <a:ln/>
        </p:spPr>
        <p:txBody>
          <a:bodyPr wrap="square" lIns="0" tIns="0" rIns="0" bIns="0" rtlCol="0" anchor="ctr"/>
          <a:lstStyle/>
          <a:p>
            <a:pPr marL="0" indent="0">
              <a:lnSpc>
                <a:spcPct val="120000"/>
              </a:lnSpc>
              <a:buNone/>
            </a:pPr>
            <a:r>
              <a:rPr lang="en-US" sz="1250" dirty="0">
                <a:solidFill>
                  <a:srgbClr val="1E2A3A"/>
                </a:solidFill>
                <a:latin typeface="Calibri" pitchFamily="34" charset="0"/>
                <a:ea typeface="Calibri" pitchFamily="34" charset="-122"/>
                <a:cs typeface="Calibri" pitchFamily="34" charset="-120"/>
              </a:rPr>
              <a:t>③ Does  age  have a type? Who decided that, and when?</a:t>
            </a:r>
            <a:endParaRPr lang="en-US" sz="1250" dirty="0"/>
          </a:p>
        </p:txBody>
      </p:sp>
      <p:sp>
        <p:nvSpPr>
          <p:cNvPr id="13" name="Text 11"/>
          <p:cNvSpPr txBox="1"/>
          <p:nvPr/>
        </p:nvSpPr>
        <p:spPr>
          <a:xfrm>
            <a:off x="4206240" y="4224528"/>
            <a:ext cx="7680960" cy="512064"/>
          </a:xfrm>
          <a:prstGeom prst="rect">
            <a:avLst/>
          </a:prstGeom>
          <a:noFill/>
          <a:ln/>
        </p:spPr>
        <p:txBody>
          <a:bodyPr wrap="square" lIns="0" tIns="0" rIns="0" bIns="0" rtlCol="0" anchor="ctr"/>
          <a:lstStyle/>
          <a:p>
            <a:pPr marL="0" indent="0">
              <a:lnSpc>
                <a:spcPct val="120000"/>
              </a:lnSpc>
              <a:buNone/>
            </a:pPr>
            <a:r>
              <a:rPr lang="en-US" sz="1250" dirty="0">
                <a:solidFill>
                  <a:srgbClr val="1E2A3A"/>
                </a:solidFill>
                <a:latin typeface="Calibri" pitchFamily="34" charset="0"/>
                <a:ea typeface="Calibri" pitchFamily="34" charset="-122"/>
                <a:cs typeface="Calibri" pitchFamily="34" charset="-120"/>
              </a:rPr>
              <a:t>④ When does Python decide what  age  refers to?</a:t>
            </a:r>
            <a:endParaRPr lang="en-US" sz="1250" dirty="0"/>
          </a:p>
        </p:txBody>
      </p:sp>
      <p:sp>
        <p:nvSpPr>
          <p:cNvPr id="14" name="Text 12"/>
          <p:cNvSpPr txBox="1"/>
          <p:nvPr/>
        </p:nvSpPr>
        <p:spPr>
          <a:xfrm>
            <a:off x="4206240" y="4846320"/>
            <a:ext cx="7680960" cy="512064"/>
          </a:xfrm>
          <a:prstGeom prst="rect">
            <a:avLst/>
          </a:prstGeom>
          <a:noFill/>
          <a:ln/>
        </p:spPr>
        <p:txBody>
          <a:bodyPr wrap="square" lIns="0" tIns="0" rIns="0" bIns="0" rtlCol="0" anchor="ctr"/>
          <a:lstStyle/>
          <a:p>
            <a:pPr marL="0" indent="0">
              <a:lnSpc>
                <a:spcPct val="120000"/>
              </a:lnSpc>
              <a:buNone/>
            </a:pPr>
            <a:r>
              <a:rPr lang="en-US" sz="1250" dirty="0">
                <a:solidFill>
                  <a:srgbClr val="1E2A3A"/>
                </a:solidFill>
                <a:latin typeface="Calibri" pitchFamily="34" charset="0"/>
                <a:ea typeface="Calibri" pitchFamily="34" charset="-122"/>
                <a:cs typeface="Calibri" pitchFamily="34" charset="-120"/>
              </a:rPr>
              <a:t>⑤ How long does  age  exist?</a:t>
            </a:r>
            <a:endParaRPr lang="en-US" sz="1250" dirty="0"/>
          </a:p>
        </p:txBody>
      </p:sp>
      <p:sp>
        <p:nvSpPr>
          <p:cNvPr id="15" name="Shape 13"/>
          <p:cNvSpPr/>
          <p:nvPr/>
        </p:nvSpPr>
        <p:spPr>
          <a:xfrm>
            <a:off x="4206240" y="5532120"/>
            <a:ext cx="54864" cy="804672"/>
          </a:xfrm>
          <a:prstGeom prst="rect">
            <a:avLst/>
          </a:prstGeom>
          <a:solidFill>
            <a:srgbClr val="2E5BFF"/>
          </a:solidFill>
          <a:ln/>
        </p:spPr>
        <p:txBody>
          <a:bodyPr/>
          <a:lstStyle/>
          <a:p>
            <a:endParaRPr lang="en-US"/>
          </a:p>
        </p:txBody>
      </p:sp>
      <p:sp>
        <p:nvSpPr>
          <p:cNvPr id="16" name="Shape 14"/>
          <p:cNvSpPr/>
          <p:nvPr/>
        </p:nvSpPr>
        <p:spPr>
          <a:xfrm>
            <a:off x="4261104" y="5532120"/>
            <a:ext cx="7626096" cy="804672"/>
          </a:xfrm>
          <a:prstGeom prst="rect">
            <a:avLst/>
          </a:prstGeom>
          <a:solidFill>
            <a:srgbClr val="EFF6FF"/>
          </a:solidFill>
          <a:ln w="12700">
            <a:solidFill>
              <a:srgbClr val="BFDBFE"/>
            </a:solidFill>
            <a:prstDash val="solid"/>
          </a:ln>
        </p:spPr>
        <p:txBody>
          <a:bodyPr/>
          <a:lstStyle/>
          <a:p>
            <a:endParaRPr lang="en-US"/>
          </a:p>
        </p:txBody>
      </p:sp>
      <p:sp>
        <p:nvSpPr>
          <p:cNvPr id="17" name="Text 15"/>
          <p:cNvSpPr txBox="1"/>
          <p:nvPr/>
        </p:nvSpPr>
        <p:spPr>
          <a:xfrm>
            <a:off x="4389120" y="5623560"/>
            <a:ext cx="7406640" cy="621792"/>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Every programming language must answer these five questions. C, C#, and Python give different answers — and that is the point of this chapter.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Five Questions Every Language Designer Must Answer</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Rather than listing attributes, ask the questions that every language designer had to resolve:</a:t>
            </a:r>
            <a:endParaRPr lang="en-US" sz="1300" dirty="0"/>
          </a:p>
        </p:txBody>
      </p:sp>
      <p:sp>
        <p:nvSpPr>
          <p:cNvPr id="6" name="Shape 4"/>
          <p:cNvSpPr/>
          <p:nvPr/>
        </p:nvSpPr>
        <p:spPr>
          <a:xfrm>
            <a:off x="411480" y="1353312"/>
            <a:ext cx="475488" cy="475488"/>
          </a:xfrm>
          <a:prstGeom prst="rect">
            <a:avLst/>
          </a:prstGeom>
          <a:solidFill>
            <a:srgbClr val="1A2B5E"/>
          </a:solidFill>
          <a:ln/>
        </p:spPr>
        <p:txBody>
          <a:bodyPr/>
          <a:lstStyle/>
          <a:p>
            <a:endParaRPr lang="en-US"/>
          </a:p>
        </p:txBody>
      </p:sp>
      <p:sp>
        <p:nvSpPr>
          <p:cNvPr id="7" name="Text 5"/>
          <p:cNvSpPr txBox="1"/>
          <p:nvPr/>
        </p:nvSpPr>
        <p:spPr>
          <a:xfrm>
            <a:off x="411480" y="1444752"/>
            <a:ext cx="47548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①</a:t>
            </a:r>
            <a:endParaRPr lang="en-US" sz="1400" dirty="0"/>
          </a:p>
        </p:txBody>
      </p:sp>
      <p:sp>
        <p:nvSpPr>
          <p:cNvPr id="8" name="Text 6"/>
          <p:cNvSpPr txBox="1"/>
          <p:nvPr/>
        </p:nvSpPr>
        <p:spPr>
          <a:xfrm>
            <a:off x="987552" y="1389888"/>
            <a:ext cx="1645920" cy="274320"/>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Name</a:t>
            </a:r>
            <a:endParaRPr lang="en-US" sz="1400" dirty="0"/>
          </a:p>
        </p:txBody>
      </p:sp>
      <p:sp>
        <p:nvSpPr>
          <p:cNvPr id="9" name="Text 7"/>
          <p:cNvSpPr txBox="1"/>
          <p:nvPr/>
        </p:nvSpPr>
        <p:spPr>
          <a:xfrm>
            <a:off x="2724912" y="1389888"/>
            <a:ext cx="3840480" cy="274320"/>
          </a:xfrm>
          <a:prstGeom prst="rect">
            <a:avLst/>
          </a:prstGeom>
          <a:noFill/>
          <a:ln/>
        </p:spPr>
        <p:txBody>
          <a:bodyPr wrap="square" lIns="0" tIns="0" rIns="0" bIns="0" rtlCol="0" anchor="ctr"/>
          <a:lstStyle/>
          <a:p>
            <a:pPr marL="0" indent="0">
              <a:buNone/>
            </a:pPr>
            <a:r>
              <a:rPr lang="en-US" sz="1200" i="1" dirty="0">
                <a:solidFill>
                  <a:srgbClr val="1E2A3A"/>
                </a:solidFill>
                <a:latin typeface="Calibri" pitchFamily="34" charset="0"/>
                <a:ea typeface="Calibri" pitchFamily="34" charset="-122"/>
                <a:cs typeface="Calibri" pitchFamily="34" charset="-120"/>
              </a:rPr>
              <a:t>How does the programmer refer to it?</a:t>
            </a:r>
            <a:endParaRPr lang="en-US" sz="1200" dirty="0"/>
          </a:p>
        </p:txBody>
      </p:sp>
      <p:sp>
        <p:nvSpPr>
          <p:cNvPr id="10" name="Text 8"/>
          <p:cNvSpPr txBox="1"/>
          <p:nvPr/>
        </p:nvSpPr>
        <p:spPr>
          <a:xfrm>
            <a:off x="6675120" y="1389888"/>
            <a:ext cx="5349240" cy="896112"/>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It is a label — not the same as the value, type, or storage. In Python, names can be redirected to point at different objects.</a:t>
            </a:r>
            <a:endParaRPr lang="en-US" sz="1150" dirty="0"/>
          </a:p>
        </p:txBody>
      </p:sp>
      <p:sp>
        <p:nvSpPr>
          <p:cNvPr id="11" name="Shape 9"/>
          <p:cNvSpPr/>
          <p:nvPr/>
        </p:nvSpPr>
        <p:spPr>
          <a:xfrm>
            <a:off x="411480" y="2432304"/>
            <a:ext cx="475488" cy="475488"/>
          </a:xfrm>
          <a:prstGeom prst="rect">
            <a:avLst/>
          </a:prstGeom>
          <a:solidFill>
            <a:srgbClr val="1A2B5E"/>
          </a:solidFill>
          <a:ln/>
        </p:spPr>
        <p:txBody>
          <a:bodyPr/>
          <a:lstStyle/>
          <a:p>
            <a:endParaRPr lang="en-US"/>
          </a:p>
        </p:txBody>
      </p:sp>
      <p:sp>
        <p:nvSpPr>
          <p:cNvPr id="12" name="Text 10"/>
          <p:cNvSpPr txBox="1"/>
          <p:nvPr/>
        </p:nvSpPr>
        <p:spPr>
          <a:xfrm>
            <a:off x="411480" y="2523744"/>
            <a:ext cx="47548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②</a:t>
            </a:r>
            <a:endParaRPr lang="en-US" sz="1400" dirty="0"/>
          </a:p>
        </p:txBody>
      </p:sp>
      <p:sp>
        <p:nvSpPr>
          <p:cNvPr id="13" name="Text 11"/>
          <p:cNvSpPr txBox="1"/>
          <p:nvPr/>
        </p:nvSpPr>
        <p:spPr>
          <a:xfrm>
            <a:off x="987552" y="2468880"/>
            <a:ext cx="1645920" cy="274320"/>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Type</a:t>
            </a:r>
            <a:endParaRPr lang="en-US" sz="1400" dirty="0"/>
          </a:p>
        </p:txBody>
      </p:sp>
      <p:sp>
        <p:nvSpPr>
          <p:cNvPr id="14" name="Text 12"/>
          <p:cNvSpPr txBox="1"/>
          <p:nvPr/>
        </p:nvSpPr>
        <p:spPr>
          <a:xfrm>
            <a:off x="2724912" y="2468880"/>
            <a:ext cx="3840480" cy="274320"/>
          </a:xfrm>
          <a:prstGeom prst="rect">
            <a:avLst/>
          </a:prstGeom>
          <a:noFill/>
          <a:ln/>
        </p:spPr>
        <p:txBody>
          <a:bodyPr wrap="square" lIns="0" tIns="0" rIns="0" bIns="0" rtlCol="0" anchor="ctr"/>
          <a:lstStyle/>
          <a:p>
            <a:pPr marL="0" indent="0">
              <a:buNone/>
            </a:pPr>
            <a:r>
              <a:rPr lang="en-US" sz="1200" i="1" dirty="0">
                <a:solidFill>
                  <a:srgbClr val="1E2A3A"/>
                </a:solidFill>
                <a:latin typeface="Calibri" pitchFamily="34" charset="0"/>
                <a:ea typeface="Calibri" pitchFamily="34" charset="-122"/>
                <a:cs typeface="Calibri" pitchFamily="34" charset="-120"/>
              </a:rPr>
              <a:t>Who decides the type, and when?</a:t>
            </a:r>
            <a:endParaRPr lang="en-US" sz="1200" dirty="0"/>
          </a:p>
        </p:txBody>
      </p:sp>
      <p:sp>
        <p:nvSpPr>
          <p:cNvPr id="15" name="Text 13"/>
          <p:cNvSpPr txBox="1"/>
          <p:nvPr/>
        </p:nvSpPr>
        <p:spPr>
          <a:xfrm>
            <a:off x="6675120" y="2468880"/>
            <a:ext cx="5349240" cy="896112"/>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Programmer (C), compiler (C# inference), or runtime (Python). This determines when type errors can be caught.</a:t>
            </a:r>
            <a:endParaRPr lang="en-US" sz="1150" dirty="0"/>
          </a:p>
        </p:txBody>
      </p:sp>
      <p:sp>
        <p:nvSpPr>
          <p:cNvPr id="16" name="Shape 14"/>
          <p:cNvSpPr/>
          <p:nvPr/>
        </p:nvSpPr>
        <p:spPr>
          <a:xfrm>
            <a:off x="411480" y="3511296"/>
            <a:ext cx="475488" cy="475488"/>
          </a:xfrm>
          <a:prstGeom prst="rect">
            <a:avLst/>
          </a:prstGeom>
          <a:solidFill>
            <a:srgbClr val="1A2B5E"/>
          </a:solidFill>
          <a:ln/>
        </p:spPr>
        <p:txBody>
          <a:bodyPr/>
          <a:lstStyle/>
          <a:p>
            <a:endParaRPr lang="en-US"/>
          </a:p>
        </p:txBody>
      </p:sp>
      <p:sp>
        <p:nvSpPr>
          <p:cNvPr id="17" name="Text 15"/>
          <p:cNvSpPr txBox="1"/>
          <p:nvPr/>
        </p:nvSpPr>
        <p:spPr>
          <a:xfrm>
            <a:off x="411480" y="3602736"/>
            <a:ext cx="47548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③</a:t>
            </a:r>
            <a:endParaRPr lang="en-US" sz="1400" dirty="0"/>
          </a:p>
        </p:txBody>
      </p:sp>
      <p:sp>
        <p:nvSpPr>
          <p:cNvPr id="18" name="Text 16"/>
          <p:cNvSpPr txBox="1"/>
          <p:nvPr/>
        </p:nvSpPr>
        <p:spPr>
          <a:xfrm>
            <a:off x="987552" y="3547872"/>
            <a:ext cx="1645920" cy="274320"/>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Value</a:t>
            </a:r>
            <a:endParaRPr lang="en-US" sz="1400" dirty="0"/>
          </a:p>
        </p:txBody>
      </p:sp>
      <p:sp>
        <p:nvSpPr>
          <p:cNvPr id="19" name="Text 17"/>
          <p:cNvSpPr txBox="1"/>
          <p:nvPr/>
        </p:nvSpPr>
        <p:spPr>
          <a:xfrm>
            <a:off x="2724912" y="3547872"/>
            <a:ext cx="3840480" cy="274320"/>
          </a:xfrm>
          <a:prstGeom prst="rect">
            <a:avLst/>
          </a:prstGeom>
          <a:noFill/>
          <a:ln/>
        </p:spPr>
        <p:txBody>
          <a:bodyPr wrap="square" lIns="0" tIns="0" rIns="0" bIns="0" rtlCol="0" anchor="ctr"/>
          <a:lstStyle/>
          <a:p>
            <a:pPr marL="0" indent="0">
              <a:buNone/>
            </a:pPr>
            <a:r>
              <a:rPr lang="en-US" sz="1200" i="1" dirty="0">
                <a:solidFill>
                  <a:srgbClr val="1E2A3A"/>
                </a:solidFill>
                <a:latin typeface="Calibri" pitchFamily="34" charset="0"/>
                <a:ea typeface="Calibri" pitchFamily="34" charset="-122"/>
                <a:cs typeface="Calibri" pitchFamily="34" charset="-120"/>
              </a:rPr>
              <a:t>What does it currently represent?</a:t>
            </a:r>
            <a:endParaRPr lang="en-US" sz="1200" dirty="0"/>
          </a:p>
        </p:txBody>
      </p:sp>
      <p:sp>
        <p:nvSpPr>
          <p:cNvPr id="20" name="Text 18"/>
          <p:cNvSpPr txBox="1"/>
          <p:nvPr/>
        </p:nvSpPr>
        <p:spPr>
          <a:xfrm>
            <a:off x="6675120" y="3547872"/>
            <a:ext cx="5349240" cy="896112"/>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Distinct from the name — age = 25 creates a name and a value separately. The value can change; the name is the stable label.</a:t>
            </a:r>
            <a:endParaRPr lang="en-US" sz="1150" dirty="0"/>
          </a:p>
        </p:txBody>
      </p:sp>
      <p:sp>
        <p:nvSpPr>
          <p:cNvPr id="21" name="Shape 19"/>
          <p:cNvSpPr/>
          <p:nvPr/>
        </p:nvSpPr>
        <p:spPr>
          <a:xfrm>
            <a:off x="411480" y="4590288"/>
            <a:ext cx="475488" cy="475488"/>
          </a:xfrm>
          <a:prstGeom prst="rect">
            <a:avLst/>
          </a:prstGeom>
          <a:solidFill>
            <a:srgbClr val="1A2B5E"/>
          </a:solidFill>
          <a:ln/>
        </p:spPr>
        <p:txBody>
          <a:bodyPr/>
          <a:lstStyle/>
          <a:p>
            <a:endParaRPr lang="en-US"/>
          </a:p>
        </p:txBody>
      </p:sp>
      <p:sp>
        <p:nvSpPr>
          <p:cNvPr id="22" name="Text 20"/>
          <p:cNvSpPr txBox="1"/>
          <p:nvPr/>
        </p:nvSpPr>
        <p:spPr>
          <a:xfrm>
            <a:off x="411480" y="4681728"/>
            <a:ext cx="47548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④</a:t>
            </a:r>
            <a:endParaRPr lang="en-US" sz="1400" dirty="0"/>
          </a:p>
        </p:txBody>
      </p:sp>
      <p:sp>
        <p:nvSpPr>
          <p:cNvPr id="23" name="Text 21"/>
          <p:cNvSpPr txBox="1"/>
          <p:nvPr/>
        </p:nvSpPr>
        <p:spPr>
          <a:xfrm>
            <a:off x="987552" y="4626864"/>
            <a:ext cx="1645920" cy="274320"/>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Storage</a:t>
            </a:r>
            <a:endParaRPr lang="en-US" sz="1400" dirty="0"/>
          </a:p>
        </p:txBody>
      </p:sp>
      <p:sp>
        <p:nvSpPr>
          <p:cNvPr id="24" name="Text 22"/>
          <p:cNvSpPr txBox="1"/>
          <p:nvPr/>
        </p:nvSpPr>
        <p:spPr>
          <a:xfrm>
            <a:off x="2724912" y="4626864"/>
            <a:ext cx="3840480" cy="274320"/>
          </a:xfrm>
          <a:prstGeom prst="rect">
            <a:avLst/>
          </a:prstGeom>
          <a:noFill/>
          <a:ln/>
        </p:spPr>
        <p:txBody>
          <a:bodyPr wrap="square" lIns="0" tIns="0" rIns="0" bIns="0" rtlCol="0" anchor="ctr"/>
          <a:lstStyle/>
          <a:p>
            <a:pPr marL="0" indent="0">
              <a:buNone/>
            </a:pPr>
            <a:r>
              <a:rPr lang="en-US" sz="1200" i="1" dirty="0">
                <a:solidFill>
                  <a:srgbClr val="1E2A3A"/>
                </a:solidFill>
                <a:latin typeface="Calibri" pitchFamily="34" charset="0"/>
                <a:ea typeface="Calibri" pitchFamily="34" charset="-122"/>
                <a:cs typeface="Calibri" pitchFamily="34" charset="-120"/>
              </a:rPr>
              <a:t>How does the runtime find the data?</a:t>
            </a:r>
            <a:endParaRPr lang="en-US" sz="1200" dirty="0"/>
          </a:p>
        </p:txBody>
      </p:sp>
      <p:sp>
        <p:nvSpPr>
          <p:cNvPr id="25" name="Text 23"/>
          <p:cNvSpPr txBox="1"/>
          <p:nvPr/>
        </p:nvSpPr>
        <p:spPr>
          <a:xfrm>
            <a:off x="6675120" y="4626864"/>
            <a:ext cx="5349240" cy="896112"/>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Ranges from direct memory addresses (C) to fully managed references (Python). Design question: how much control should programmers have?</a:t>
            </a:r>
            <a:endParaRPr lang="en-US" sz="1150" dirty="0"/>
          </a:p>
        </p:txBody>
      </p:sp>
      <p:sp>
        <p:nvSpPr>
          <p:cNvPr id="26" name="Shape 24"/>
          <p:cNvSpPr/>
          <p:nvPr/>
        </p:nvSpPr>
        <p:spPr>
          <a:xfrm>
            <a:off x="411480" y="5669280"/>
            <a:ext cx="475488" cy="475488"/>
          </a:xfrm>
          <a:prstGeom prst="rect">
            <a:avLst/>
          </a:prstGeom>
          <a:solidFill>
            <a:srgbClr val="1A2B5E"/>
          </a:solidFill>
          <a:ln/>
        </p:spPr>
        <p:txBody>
          <a:bodyPr/>
          <a:lstStyle/>
          <a:p>
            <a:endParaRPr lang="en-US"/>
          </a:p>
        </p:txBody>
      </p:sp>
      <p:sp>
        <p:nvSpPr>
          <p:cNvPr id="27" name="Text 25"/>
          <p:cNvSpPr txBox="1"/>
          <p:nvPr/>
        </p:nvSpPr>
        <p:spPr>
          <a:xfrm>
            <a:off x="411480" y="5760720"/>
            <a:ext cx="47548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⑤</a:t>
            </a:r>
            <a:endParaRPr lang="en-US" sz="1400" dirty="0"/>
          </a:p>
        </p:txBody>
      </p:sp>
      <p:sp>
        <p:nvSpPr>
          <p:cNvPr id="28" name="Text 26"/>
          <p:cNvSpPr txBox="1"/>
          <p:nvPr/>
        </p:nvSpPr>
        <p:spPr>
          <a:xfrm>
            <a:off x="987552" y="5705856"/>
            <a:ext cx="1645920" cy="274320"/>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Lifetime</a:t>
            </a:r>
            <a:endParaRPr lang="en-US" sz="1400" dirty="0"/>
          </a:p>
        </p:txBody>
      </p:sp>
      <p:sp>
        <p:nvSpPr>
          <p:cNvPr id="29" name="Text 27"/>
          <p:cNvSpPr txBox="1"/>
          <p:nvPr/>
        </p:nvSpPr>
        <p:spPr>
          <a:xfrm>
            <a:off x="2724912" y="5705856"/>
            <a:ext cx="3840480" cy="274320"/>
          </a:xfrm>
          <a:prstGeom prst="rect">
            <a:avLst/>
          </a:prstGeom>
          <a:noFill/>
          <a:ln/>
        </p:spPr>
        <p:txBody>
          <a:bodyPr wrap="square" lIns="0" tIns="0" rIns="0" bIns="0" rtlCol="0" anchor="ctr"/>
          <a:lstStyle/>
          <a:p>
            <a:pPr marL="0" indent="0">
              <a:buNone/>
            </a:pPr>
            <a:r>
              <a:rPr lang="en-US" sz="1200" i="1" dirty="0">
                <a:solidFill>
                  <a:srgbClr val="1E2A3A"/>
                </a:solidFill>
                <a:latin typeface="Calibri" pitchFamily="34" charset="0"/>
                <a:ea typeface="Calibri" pitchFamily="34" charset="-122"/>
                <a:cs typeface="Calibri" pitchFamily="34" charset="-120"/>
              </a:rPr>
              <a:t>How long does it exist during execution?</a:t>
            </a:r>
            <a:endParaRPr lang="en-US" sz="1200" dirty="0"/>
          </a:p>
        </p:txBody>
      </p:sp>
      <p:sp>
        <p:nvSpPr>
          <p:cNvPr id="30" name="Text 28"/>
          <p:cNvSpPr txBox="1"/>
          <p:nvPr/>
        </p:nvSpPr>
        <p:spPr>
          <a:xfrm>
            <a:off x="6675120" y="5705856"/>
            <a:ext cx="5349240" cy="896112"/>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From creation (declaration/assignment) to destruction (function returns, program ends). NOT the same as scope.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Declaration vs Assignment — What Does Each Language Require?</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1b</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Two concepts that look similar but are conceptually separate — and differently handled in each language.</a:t>
            </a:r>
            <a:endParaRPr lang="en-US" sz="1300" dirty="0"/>
          </a:p>
        </p:txBody>
      </p:sp>
      <p:sp>
        <p:nvSpPr>
          <p:cNvPr id="6" name="Shape 4"/>
          <p:cNvSpPr/>
          <p:nvPr/>
        </p:nvSpPr>
        <p:spPr>
          <a:xfrm>
            <a:off x="411480" y="1325880"/>
            <a:ext cx="5349240" cy="914400"/>
          </a:xfrm>
          <a:prstGeom prst="rect">
            <a:avLst/>
          </a:prstGeom>
          <a:solidFill>
            <a:srgbClr val="FFFFFF"/>
          </a:solidFill>
          <a:ln w="12700">
            <a:solidFill>
              <a:srgbClr val="D0DAF0"/>
            </a:solidFill>
            <a:prstDash val="solid"/>
          </a:ln>
        </p:spPr>
        <p:txBody>
          <a:bodyPr/>
          <a:lstStyle/>
          <a:p>
            <a:endParaRPr lang="en-US"/>
          </a:p>
        </p:txBody>
      </p:sp>
      <p:sp>
        <p:nvSpPr>
          <p:cNvPr id="7" name="Text 5"/>
          <p:cNvSpPr txBox="1"/>
          <p:nvPr/>
        </p:nvSpPr>
        <p:spPr>
          <a:xfrm>
            <a:off x="594360" y="1408176"/>
            <a:ext cx="49377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Declaration</a:t>
            </a:r>
            <a:endParaRPr lang="en-US" sz="1300" dirty="0"/>
          </a:p>
        </p:txBody>
      </p:sp>
      <p:sp>
        <p:nvSpPr>
          <p:cNvPr id="8" name="Text 6"/>
          <p:cNvSpPr txBox="1"/>
          <p:nvPr/>
        </p:nvSpPr>
        <p:spPr>
          <a:xfrm>
            <a:off x="594360" y="1682496"/>
            <a:ext cx="4937760" cy="475488"/>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Telling the language that a variable exists, and often what type it holds. In C you must declare before you use.</a:t>
            </a:r>
            <a:endParaRPr lang="en-US" sz="1200" dirty="0"/>
          </a:p>
        </p:txBody>
      </p:sp>
      <p:sp>
        <p:nvSpPr>
          <p:cNvPr id="9" name="Shape 7"/>
          <p:cNvSpPr/>
          <p:nvPr/>
        </p:nvSpPr>
        <p:spPr>
          <a:xfrm>
            <a:off x="6355080" y="1325880"/>
            <a:ext cx="5349240" cy="914400"/>
          </a:xfrm>
          <a:prstGeom prst="rect">
            <a:avLst/>
          </a:prstGeom>
          <a:solidFill>
            <a:srgbClr val="FFFFFF"/>
          </a:solidFill>
          <a:ln w="12700">
            <a:solidFill>
              <a:srgbClr val="D0DAF0"/>
            </a:solidFill>
            <a:prstDash val="solid"/>
          </a:ln>
        </p:spPr>
        <p:txBody>
          <a:bodyPr/>
          <a:lstStyle/>
          <a:p>
            <a:endParaRPr lang="en-US"/>
          </a:p>
        </p:txBody>
      </p:sp>
      <p:sp>
        <p:nvSpPr>
          <p:cNvPr id="10" name="Text 8"/>
          <p:cNvSpPr txBox="1"/>
          <p:nvPr/>
        </p:nvSpPr>
        <p:spPr>
          <a:xfrm>
            <a:off x="6537960" y="1408176"/>
            <a:ext cx="49377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Assignment</a:t>
            </a:r>
            <a:endParaRPr lang="en-US" sz="1300" dirty="0"/>
          </a:p>
        </p:txBody>
      </p:sp>
      <p:sp>
        <p:nvSpPr>
          <p:cNvPr id="11" name="Text 9"/>
          <p:cNvSpPr txBox="1"/>
          <p:nvPr/>
        </p:nvSpPr>
        <p:spPr>
          <a:xfrm>
            <a:off x="6537960" y="1682496"/>
            <a:ext cx="4937760" cy="475488"/>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Giving a variable its value. Can happen at declaration time or separately later.</a:t>
            </a:r>
            <a:endParaRPr lang="en-US" sz="1200" dirty="0"/>
          </a:p>
        </p:txBody>
      </p:sp>
      <p:sp>
        <p:nvSpPr>
          <p:cNvPr id="12" name="Shape 10"/>
          <p:cNvSpPr/>
          <p:nvPr/>
        </p:nvSpPr>
        <p:spPr>
          <a:xfrm>
            <a:off x="411480" y="2487168"/>
            <a:ext cx="749808" cy="256032"/>
          </a:xfrm>
          <a:prstGeom prst="roundRect">
            <a:avLst>
              <a:gd name="adj" fmla="val 25000"/>
            </a:avLst>
          </a:prstGeom>
          <a:solidFill>
            <a:srgbClr val="E8F0FE"/>
          </a:solidFill>
          <a:ln w="12700">
            <a:solidFill>
              <a:srgbClr val="E8F0FE"/>
            </a:solidFill>
            <a:prstDash val="solid"/>
          </a:ln>
        </p:spPr>
        <p:txBody>
          <a:bodyPr/>
          <a:lstStyle/>
          <a:p>
            <a:endParaRPr lang="en-US"/>
          </a:p>
        </p:txBody>
      </p:sp>
      <p:sp>
        <p:nvSpPr>
          <p:cNvPr id="13" name="Text 11"/>
          <p:cNvSpPr txBox="1"/>
          <p:nvPr/>
        </p:nvSpPr>
        <p:spPr>
          <a:xfrm>
            <a:off x="448056" y="2514600"/>
            <a:ext cx="676656"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14" name="Shape 12"/>
          <p:cNvSpPr/>
          <p:nvPr/>
        </p:nvSpPr>
        <p:spPr>
          <a:xfrm>
            <a:off x="1298448" y="2450592"/>
            <a:ext cx="3474720" cy="1005840"/>
          </a:xfrm>
          <a:prstGeom prst="rect">
            <a:avLst/>
          </a:prstGeom>
          <a:solidFill>
            <a:srgbClr val="EEF1FA"/>
          </a:solidFill>
          <a:ln w="12700">
            <a:solidFill>
              <a:srgbClr val="D0DAF0"/>
            </a:solidFill>
            <a:prstDash val="solid"/>
          </a:ln>
        </p:spPr>
        <p:txBody>
          <a:bodyPr/>
          <a:lstStyle/>
          <a:p>
            <a:endParaRPr lang="en-US"/>
          </a:p>
        </p:txBody>
      </p:sp>
      <p:sp>
        <p:nvSpPr>
          <p:cNvPr id="15" name="Text 13"/>
          <p:cNvSpPr txBox="1"/>
          <p:nvPr/>
        </p:nvSpPr>
        <p:spPr>
          <a:xfrm>
            <a:off x="1426464" y="2542032"/>
            <a:ext cx="3273552" cy="84124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declaration</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25;   // assignment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or combined:</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25;</a:t>
            </a:r>
            <a:endParaRPr lang="en-US" sz="1100" dirty="0"/>
          </a:p>
        </p:txBody>
      </p:sp>
      <p:sp>
        <p:nvSpPr>
          <p:cNvPr id="16" name="Text 14"/>
          <p:cNvSpPr txBox="1"/>
          <p:nvPr/>
        </p:nvSpPr>
        <p:spPr>
          <a:xfrm>
            <a:off x="4983480" y="2487168"/>
            <a:ext cx="1783080" cy="987552"/>
          </a:xfrm>
          <a:prstGeom prst="rect">
            <a:avLst/>
          </a:prstGeom>
          <a:noFill/>
          <a:ln/>
        </p:spPr>
        <p:txBody>
          <a:bodyPr wrap="square" lIns="0" tIns="0" rIns="0" bIns="0" rtlCol="0" anchor="ctr"/>
          <a:lstStyle/>
          <a:p>
            <a:pPr marL="0" indent="0">
              <a:lnSpc>
                <a:spcPct val="130000"/>
              </a:lnSpc>
              <a:buNone/>
            </a:pPr>
            <a:r>
              <a:rPr lang="en-US" sz="1100" dirty="0">
                <a:solidFill>
                  <a:srgbClr val="1E2A3A"/>
                </a:solidFill>
                <a:latin typeface="Calibri" pitchFamily="34" charset="0"/>
                <a:ea typeface="Calibri" pitchFamily="34" charset="-122"/>
                <a:cs typeface="Calibri" pitchFamily="34" charset="-120"/>
              </a:rPr>
              <a:t>Type always part of declaration. Programmer must write it. No way to create a variable without stating its type.</a:t>
            </a:r>
            <a:endParaRPr lang="en-US" sz="1100" dirty="0"/>
          </a:p>
        </p:txBody>
      </p:sp>
      <p:sp>
        <p:nvSpPr>
          <p:cNvPr id="17" name="Shape 15"/>
          <p:cNvSpPr/>
          <p:nvPr/>
        </p:nvSpPr>
        <p:spPr>
          <a:xfrm>
            <a:off x="411480" y="3621024"/>
            <a:ext cx="749808" cy="256032"/>
          </a:xfrm>
          <a:prstGeom prst="roundRect">
            <a:avLst>
              <a:gd name="adj" fmla="val 25000"/>
            </a:avLst>
          </a:prstGeom>
          <a:solidFill>
            <a:srgbClr val="F3E8FE"/>
          </a:solidFill>
          <a:ln w="12700">
            <a:solidFill>
              <a:srgbClr val="F3E8FE"/>
            </a:solidFill>
            <a:prstDash val="solid"/>
          </a:ln>
        </p:spPr>
        <p:txBody>
          <a:bodyPr/>
          <a:lstStyle/>
          <a:p>
            <a:endParaRPr lang="en-US"/>
          </a:p>
        </p:txBody>
      </p:sp>
      <p:sp>
        <p:nvSpPr>
          <p:cNvPr id="18" name="Text 16"/>
          <p:cNvSpPr txBox="1"/>
          <p:nvPr/>
        </p:nvSpPr>
        <p:spPr>
          <a:xfrm>
            <a:off x="448056" y="3648456"/>
            <a:ext cx="676656"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19" name="Shape 17"/>
          <p:cNvSpPr/>
          <p:nvPr/>
        </p:nvSpPr>
        <p:spPr>
          <a:xfrm>
            <a:off x="1298448" y="3584448"/>
            <a:ext cx="3474720" cy="914400"/>
          </a:xfrm>
          <a:prstGeom prst="rect">
            <a:avLst/>
          </a:prstGeom>
          <a:solidFill>
            <a:srgbClr val="EEF1FA"/>
          </a:solidFill>
          <a:ln w="12700">
            <a:solidFill>
              <a:srgbClr val="D0DAF0"/>
            </a:solidFill>
            <a:prstDash val="solid"/>
          </a:ln>
        </p:spPr>
        <p:txBody>
          <a:bodyPr/>
          <a:lstStyle/>
          <a:p>
            <a:endParaRPr lang="en-US"/>
          </a:p>
        </p:txBody>
      </p:sp>
      <p:sp>
        <p:nvSpPr>
          <p:cNvPr id="20" name="Text 18"/>
          <p:cNvSpPr txBox="1"/>
          <p:nvPr/>
        </p:nvSpPr>
        <p:spPr>
          <a:xfrm>
            <a:off x="1426464" y="3675888"/>
            <a:ext cx="3273552" cy="7498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25;   // explicit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var age = 25;   // inferred</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compiler decides: int</a:t>
            </a:r>
            <a:endParaRPr lang="en-US" sz="1100" dirty="0"/>
          </a:p>
        </p:txBody>
      </p:sp>
      <p:sp>
        <p:nvSpPr>
          <p:cNvPr id="21" name="Text 19"/>
          <p:cNvSpPr txBox="1"/>
          <p:nvPr/>
        </p:nvSpPr>
        <p:spPr>
          <a:xfrm>
            <a:off x="4983480" y="3621024"/>
            <a:ext cx="1783080" cy="896112"/>
          </a:xfrm>
          <a:prstGeom prst="rect">
            <a:avLst/>
          </a:prstGeom>
          <a:noFill/>
          <a:ln/>
        </p:spPr>
        <p:txBody>
          <a:bodyPr wrap="square" lIns="0" tIns="0" rIns="0" bIns="0" rtlCol="0" anchor="ctr"/>
          <a:lstStyle/>
          <a:p>
            <a:pPr marL="0" indent="0">
              <a:lnSpc>
                <a:spcPct val="130000"/>
              </a:lnSpc>
              <a:buNone/>
            </a:pPr>
            <a:r>
              <a:rPr lang="en-US" sz="1100" dirty="0">
                <a:solidFill>
                  <a:srgbClr val="1E2A3A"/>
                </a:solidFill>
                <a:latin typeface="Calibri" pitchFamily="34" charset="0"/>
                <a:ea typeface="Calibri" pitchFamily="34" charset="-122"/>
                <a:cs typeface="Calibri" pitchFamily="34" charset="-120"/>
              </a:rPr>
              <a:t>var = compile-time inference. NOT dynamic typing. Type is just as fixed after inference as if you wrote int.</a:t>
            </a:r>
            <a:endParaRPr lang="en-US" sz="1100" dirty="0"/>
          </a:p>
        </p:txBody>
      </p:sp>
      <p:sp>
        <p:nvSpPr>
          <p:cNvPr id="22" name="Shape 20"/>
          <p:cNvSpPr/>
          <p:nvPr/>
        </p:nvSpPr>
        <p:spPr>
          <a:xfrm>
            <a:off x="411480" y="4663440"/>
            <a:ext cx="749808" cy="256032"/>
          </a:xfrm>
          <a:prstGeom prst="roundRect">
            <a:avLst>
              <a:gd name="adj" fmla="val 25000"/>
            </a:avLst>
          </a:prstGeom>
          <a:solidFill>
            <a:srgbClr val="FEF3E8"/>
          </a:solidFill>
          <a:ln w="12700">
            <a:solidFill>
              <a:srgbClr val="FEF3E8"/>
            </a:solidFill>
            <a:prstDash val="solid"/>
          </a:ln>
        </p:spPr>
        <p:txBody>
          <a:bodyPr/>
          <a:lstStyle/>
          <a:p>
            <a:endParaRPr lang="en-US"/>
          </a:p>
        </p:txBody>
      </p:sp>
      <p:sp>
        <p:nvSpPr>
          <p:cNvPr id="23" name="Text 21"/>
          <p:cNvSpPr txBox="1"/>
          <p:nvPr/>
        </p:nvSpPr>
        <p:spPr>
          <a:xfrm>
            <a:off x="448056" y="4690872"/>
            <a:ext cx="676656"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24" name="Shape 22"/>
          <p:cNvSpPr/>
          <p:nvPr/>
        </p:nvSpPr>
        <p:spPr>
          <a:xfrm>
            <a:off x="1298448" y="4626864"/>
            <a:ext cx="3474720" cy="804672"/>
          </a:xfrm>
          <a:prstGeom prst="rect">
            <a:avLst/>
          </a:prstGeom>
          <a:solidFill>
            <a:srgbClr val="EEF1FA"/>
          </a:solidFill>
          <a:ln w="12700">
            <a:solidFill>
              <a:srgbClr val="D0DAF0"/>
            </a:solidFill>
            <a:prstDash val="solid"/>
          </a:ln>
        </p:spPr>
        <p:txBody>
          <a:bodyPr/>
          <a:lstStyle/>
          <a:p>
            <a:endParaRPr lang="en-US"/>
          </a:p>
        </p:txBody>
      </p:sp>
      <p:sp>
        <p:nvSpPr>
          <p:cNvPr id="25" name="Text 23"/>
          <p:cNvSpPr txBox="1"/>
          <p:nvPr/>
        </p:nvSpPr>
        <p:spPr>
          <a:xfrm>
            <a:off x="1426464" y="4718304"/>
            <a:ext cx="3273552" cy="64008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25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no declaration step</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assignment creates name</a:t>
            </a:r>
            <a:endParaRPr lang="en-US" sz="1100" dirty="0"/>
          </a:p>
        </p:txBody>
      </p:sp>
      <p:sp>
        <p:nvSpPr>
          <p:cNvPr id="26" name="Text 24"/>
          <p:cNvSpPr txBox="1"/>
          <p:nvPr/>
        </p:nvSpPr>
        <p:spPr>
          <a:xfrm>
            <a:off x="4983480" y="4663440"/>
            <a:ext cx="1783080" cy="786384"/>
          </a:xfrm>
          <a:prstGeom prst="rect">
            <a:avLst/>
          </a:prstGeom>
          <a:noFill/>
          <a:ln/>
        </p:spPr>
        <p:txBody>
          <a:bodyPr wrap="square" lIns="0" tIns="0" rIns="0" bIns="0" rtlCol="0" anchor="ctr"/>
          <a:lstStyle/>
          <a:p>
            <a:pPr marL="0" indent="0">
              <a:lnSpc>
                <a:spcPct val="130000"/>
              </a:lnSpc>
              <a:buNone/>
            </a:pPr>
            <a:r>
              <a:rPr lang="en-US" sz="1100" dirty="0">
                <a:solidFill>
                  <a:srgbClr val="1E2A3A"/>
                </a:solidFill>
                <a:latin typeface="Calibri" pitchFamily="34" charset="0"/>
                <a:ea typeface="Calibri" pitchFamily="34" charset="-122"/>
                <a:cs typeface="Calibri" pitchFamily="34" charset="-120"/>
              </a:rPr>
              <a:t>No declaration syntax. Assignment IS what creates the name. Name is bound to an object — no type stated.</a:t>
            </a:r>
            <a:endParaRPr lang="en-US" sz="1100" dirty="0"/>
          </a:p>
        </p:txBody>
      </p:sp>
      <p:sp>
        <p:nvSpPr>
          <p:cNvPr id="27" name="Shape 25"/>
          <p:cNvSpPr/>
          <p:nvPr/>
        </p:nvSpPr>
        <p:spPr>
          <a:xfrm>
            <a:off x="411480" y="5577840"/>
            <a:ext cx="54864" cy="804672"/>
          </a:xfrm>
          <a:prstGeom prst="rect">
            <a:avLst/>
          </a:prstGeom>
          <a:solidFill>
            <a:srgbClr val="F59E0B"/>
          </a:solidFill>
          <a:ln/>
        </p:spPr>
        <p:txBody>
          <a:bodyPr/>
          <a:lstStyle/>
          <a:p>
            <a:endParaRPr lang="en-US"/>
          </a:p>
        </p:txBody>
      </p:sp>
      <p:sp>
        <p:nvSpPr>
          <p:cNvPr id="28" name="Shape 26"/>
          <p:cNvSpPr/>
          <p:nvPr/>
        </p:nvSpPr>
        <p:spPr>
          <a:xfrm>
            <a:off x="466344" y="5577840"/>
            <a:ext cx="11283696" cy="804672"/>
          </a:xfrm>
          <a:prstGeom prst="rect">
            <a:avLst/>
          </a:prstGeom>
          <a:solidFill>
            <a:srgbClr val="FFFBEB"/>
          </a:solidFill>
          <a:ln w="12700">
            <a:solidFill>
              <a:srgbClr val="FCD34D"/>
            </a:solidFill>
            <a:prstDash val="solid"/>
          </a:ln>
        </p:spPr>
        <p:txBody>
          <a:bodyPr/>
          <a:lstStyle/>
          <a:p>
            <a:endParaRPr lang="en-US"/>
          </a:p>
        </p:txBody>
      </p:sp>
      <p:sp>
        <p:nvSpPr>
          <p:cNvPr id="29" name="Text 27"/>
          <p:cNvSpPr txBox="1"/>
          <p:nvPr/>
        </p:nvSpPr>
        <p:spPr>
          <a:xfrm>
            <a:off x="594360" y="5669280"/>
            <a:ext cx="11064240" cy="621792"/>
          </a:xfrm>
          <a:prstGeom prst="rect">
            <a:avLst/>
          </a:prstGeom>
          <a:noFill/>
          <a:ln/>
        </p:spPr>
        <p:txBody>
          <a:bodyPr wrap="square" lIns="0" tIns="0" rIns="0" bIns="0" rtlCol="0" anchor="ctr"/>
          <a:lstStyle/>
          <a:p>
            <a:pPr marL="0" indent="0">
              <a:lnSpc>
                <a:spcPct val="135000"/>
              </a:lnSpc>
              <a:buNone/>
            </a:pPr>
            <a:r>
              <a:rPr lang="en-US" sz="1200" dirty="0">
                <a:solidFill>
                  <a:srgbClr val="92400E"/>
                </a:solidFill>
                <a:latin typeface="Calibri" pitchFamily="34" charset="0"/>
                <a:ea typeface="Calibri" pitchFamily="34" charset="-122"/>
                <a:cs typeface="Calibri" pitchFamily="34" charset="-120"/>
              </a:rPr>
              <a:t>⚠  var in C# ≠ dynamic typing. The compiler infers int from 25 at COMPILE TIME. After that, the type is fixed — you cannot assign a string to 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2</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Binding</a:t>
            </a:r>
            <a:endParaRPr lang="en-US" sz="2000" dirty="0"/>
          </a:p>
        </p:txBody>
      </p:sp>
      <p:sp>
        <p:nvSpPr>
          <p:cNvPr id="6" name="Text 4"/>
          <p:cNvSpPr txBox="1"/>
          <p:nvPr/>
        </p:nvSpPr>
        <p:spPr>
          <a:xfrm>
            <a:off x="4206240" y="2651760"/>
            <a:ext cx="7680960" cy="1371600"/>
          </a:xfrm>
          <a:prstGeom prst="rect">
            <a:avLst/>
          </a:prstGeom>
          <a:noFill/>
          <a:ln/>
        </p:spPr>
        <p:txBody>
          <a:bodyPr wrap="square" lIns="0" tIns="0" rIns="0" bIns="0" rtlCol="0" anchor="ctr"/>
          <a:lstStyle/>
          <a:p>
            <a:pPr marL="0" indent="0">
              <a:lnSpc>
                <a:spcPct val="135000"/>
              </a:lnSpc>
              <a:buNone/>
            </a:pPr>
            <a:r>
              <a:rPr lang="en-US" sz="1500" dirty="0">
                <a:solidFill>
                  <a:srgbClr val="1E2A3A"/>
                </a:solidFill>
                <a:latin typeface="Calibri" pitchFamily="34" charset="0"/>
                <a:ea typeface="Calibri" pitchFamily="34" charset="-122"/>
                <a:cs typeface="Calibri" pitchFamily="34" charset="-120"/>
              </a:rPr>
              <a:t>Establishing a connection between a program entity and something associated with it.</a:t>
            </a:r>
            <a:endParaRPr lang="en-US" sz="1500" dirty="0"/>
          </a:p>
        </p:txBody>
      </p:sp>
      <p:sp>
        <p:nvSpPr>
          <p:cNvPr id="7" name="Text 5"/>
          <p:cNvSpPr txBox="1"/>
          <p:nvPr/>
        </p:nvSpPr>
        <p:spPr>
          <a:xfrm>
            <a:off x="4206240" y="1371600"/>
            <a:ext cx="7680960" cy="292608"/>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A program has many entities that need to be connected to things:</a:t>
            </a:r>
            <a:endParaRPr lang="en-US" sz="1300" dirty="0"/>
          </a:p>
        </p:txBody>
      </p:sp>
      <p:sp>
        <p:nvSpPr>
          <p:cNvPr id="8" name="Shape 6"/>
          <p:cNvSpPr/>
          <p:nvPr/>
        </p:nvSpPr>
        <p:spPr>
          <a:xfrm>
            <a:off x="4206240" y="1737360"/>
            <a:ext cx="7680960" cy="310896"/>
          </a:xfrm>
          <a:prstGeom prst="rect">
            <a:avLst/>
          </a:prstGeom>
          <a:solidFill>
            <a:srgbClr val="1A2B5E"/>
          </a:solidFill>
          <a:ln/>
        </p:spPr>
        <p:txBody>
          <a:bodyPr/>
          <a:lstStyle/>
          <a:p>
            <a:endParaRPr lang="en-US"/>
          </a:p>
        </p:txBody>
      </p:sp>
      <p:sp>
        <p:nvSpPr>
          <p:cNvPr id="9" name="Text 7"/>
          <p:cNvSpPr txBox="1"/>
          <p:nvPr/>
        </p:nvSpPr>
        <p:spPr>
          <a:xfrm>
            <a:off x="4343400" y="1801368"/>
            <a:ext cx="1719072" cy="2011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Entity</a:t>
            </a:r>
            <a:endParaRPr lang="en-US" sz="1050" dirty="0"/>
          </a:p>
        </p:txBody>
      </p:sp>
      <p:sp>
        <p:nvSpPr>
          <p:cNvPr id="10" name="Text 8"/>
          <p:cNvSpPr txBox="1"/>
          <p:nvPr/>
        </p:nvSpPr>
        <p:spPr>
          <a:xfrm>
            <a:off x="6172200" y="1801368"/>
            <a:ext cx="2304288" cy="2011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Connected to</a:t>
            </a:r>
            <a:endParaRPr lang="en-US" sz="1050" dirty="0"/>
          </a:p>
        </p:txBody>
      </p:sp>
      <p:sp>
        <p:nvSpPr>
          <p:cNvPr id="11" name="Text 9"/>
          <p:cNvSpPr txBox="1"/>
          <p:nvPr/>
        </p:nvSpPr>
        <p:spPr>
          <a:xfrm>
            <a:off x="8549640" y="1801368"/>
            <a:ext cx="3291840" cy="2011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Example</a:t>
            </a:r>
            <a:endParaRPr lang="en-US" sz="1050" dirty="0"/>
          </a:p>
        </p:txBody>
      </p:sp>
      <p:sp>
        <p:nvSpPr>
          <p:cNvPr id="12" name="Shape 10"/>
          <p:cNvSpPr/>
          <p:nvPr/>
        </p:nvSpPr>
        <p:spPr>
          <a:xfrm>
            <a:off x="4206240" y="2103120"/>
            <a:ext cx="7680960" cy="713232"/>
          </a:xfrm>
          <a:prstGeom prst="rect">
            <a:avLst/>
          </a:prstGeom>
          <a:solidFill>
            <a:srgbClr val="F4F6FC"/>
          </a:solidFill>
          <a:ln w="12700">
            <a:solidFill>
              <a:srgbClr val="D0DAF0"/>
            </a:solidFill>
            <a:prstDash val="solid"/>
          </a:ln>
        </p:spPr>
        <p:txBody>
          <a:bodyPr/>
          <a:lstStyle/>
          <a:p>
            <a:endParaRPr lang="en-US"/>
          </a:p>
        </p:txBody>
      </p:sp>
      <p:sp>
        <p:nvSpPr>
          <p:cNvPr id="13" name="Text 11"/>
          <p:cNvSpPr txBox="1"/>
          <p:nvPr/>
        </p:nvSpPr>
        <p:spPr>
          <a:xfrm>
            <a:off x="4343400" y="2212848"/>
            <a:ext cx="1719072" cy="493776"/>
          </a:xfrm>
          <a:prstGeom prst="rect">
            <a:avLst/>
          </a:prstGeom>
          <a:noFill/>
          <a:ln/>
        </p:spPr>
        <p:txBody>
          <a:bodyPr wrap="square" lIns="0" tIns="0" rIns="0" bIns="0" rtlCol="0" anchor="ctr"/>
          <a:lstStyle/>
          <a:p>
            <a:pPr marL="0" indent="0">
              <a:lnSpc>
                <a:spcPct val="120000"/>
              </a:lnSpc>
              <a:buNone/>
            </a:pPr>
            <a:r>
              <a:rPr lang="en-US" sz="1150" b="1" dirty="0">
                <a:solidFill>
                  <a:srgbClr val="1A2B5E"/>
                </a:solidFill>
                <a:latin typeface="Calibri" pitchFamily="34" charset="0"/>
                <a:ea typeface="Calibri" pitchFamily="34" charset="-122"/>
                <a:cs typeface="Calibri" pitchFamily="34" charset="-120"/>
              </a:rPr>
              <a:t>A name</a:t>
            </a:r>
            <a:endParaRPr lang="en-US" sz="1150" dirty="0"/>
          </a:p>
        </p:txBody>
      </p:sp>
      <p:sp>
        <p:nvSpPr>
          <p:cNvPr id="14" name="Text 12"/>
          <p:cNvSpPr txBox="1"/>
          <p:nvPr/>
        </p:nvSpPr>
        <p:spPr>
          <a:xfrm>
            <a:off x="6172200" y="2212848"/>
            <a:ext cx="2304288" cy="493776"/>
          </a:xfrm>
          <a:prstGeom prst="rect">
            <a:avLst/>
          </a:prstGeom>
          <a:noFill/>
          <a:ln/>
        </p:spPr>
        <p:txBody>
          <a:bodyPr wrap="square" lIns="0" tIns="0" rIns="0" bIns="0" rtlCol="0" anchor="ctr"/>
          <a:lstStyle/>
          <a:p>
            <a:pPr marL="0" indent="0">
              <a:lnSpc>
                <a:spcPct val="120000"/>
              </a:lnSpc>
              <a:buNone/>
            </a:pPr>
            <a:r>
              <a:rPr lang="en-US" sz="1150" dirty="0">
                <a:solidFill>
                  <a:srgbClr val="1E2A3A"/>
                </a:solidFill>
                <a:latin typeface="Calibri" pitchFamily="34" charset="0"/>
                <a:ea typeface="Calibri" pitchFamily="34" charset="-122"/>
                <a:cs typeface="Calibri" pitchFamily="34" charset="-120"/>
              </a:rPr>
              <a:t>A variable or storage location</a:t>
            </a:r>
            <a:endParaRPr lang="en-US" sz="1150" dirty="0"/>
          </a:p>
        </p:txBody>
      </p:sp>
      <p:sp>
        <p:nvSpPr>
          <p:cNvPr id="15" name="Text 13"/>
          <p:cNvSpPr txBox="1"/>
          <p:nvPr/>
        </p:nvSpPr>
        <p:spPr>
          <a:xfrm>
            <a:off x="8549640" y="2212848"/>
            <a:ext cx="3246120" cy="493776"/>
          </a:xfrm>
          <a:prstGeom prst="rect">
            <a:avLst/>
          </a:prstGeom>
          <a:noFill/>
          <a:ln/>
        </p:spPr>
        <p:txBody>
          <a:bodyPr wrap="square" lIns="0" tIns="0" rIns="0" bIns="0" rtlCol="0" anchor="ctr"/>
          <a:lstStyle/>
          <a:p>
            <a:pPr marL="0" indent="0">
              <a:lnSpc>
                <a:spcPct val="120000"/>
              </a:lnSpc>
              <a:buNone/>
            </a:pPr>
            <a:r>
              <a:rPr lang="en-US" sz="1100" dirty="0">
                <a:solidFill>
                  <a:srgbClr val="5A6A82"/>
                </a:solidFill>
                <a:latin typeface="Calibri" pitchFamily="34" charset="0"/>
                <a:ea typeface="Calibri" pitchFamily="34" charset="-122"/>
                <a:cs typeface="Calibri" pitchFamily="34" charset="-120"/>
              </a:rPr>
              <a:t>age refers to a particular place in memory</a:t>
            </a:r>
            <a:endParaRPr lang="en-US" sz="1100" dirty="0"/>
          </a:p>
        </p:txBody>
      </p:sp>
      <p:sp>
        <p:nvSpPr>
          <p:cNvPr id="16" name="Shape 14"/>
          <p:cNvSpPr/>
          <p:nvPr/>
        </p:nvSpPr>
        <p:spPr>
          <a:xfrm>
            <a:off x="4206240" y="2852928"/>
            <a:ext cx="7680960" cy="713232"/>
          </a:xfrm>
          <a:prstGeom prst="rect">
            <a:avLst/>
          </a:prstGeom>
          <a:solidFill>
            <a:srgbClr val="FFFFFF"/>
          </a:solidFill>
          <a:ln w="12700">
            <a:solidFill>
              <a:srgbClr val="D0DAF0"/>
            </a:solidFill>
            <a:prstDash val="solid"/>
          </a:ln>
        </p:spPr>
        <p:txBody>
          <a:bodyPr/>
          <a:lstStyle/>
          <a:p>
            <a:endParaRPr lang="en-US"/>
          </a:p>
        </p:txBody>
      </p:sp>
      <p:sp>
        <p:nvSpPr>
          <p:cNvPr id="17" name="Text 15"/>
          <p:cNvSpPr txBox="1"/>
          <p:nvPr/>
        </p:nvSpPr>
        <p:spPr>
          <a:xfrm>
            <a:off x="4343400" y="2962656"/>
            <a:ext cx="1719072" cy="493776"/>
          </a:xfrm>
          <a:prstGeom prst="rect">
            <a:avLst/>
          </a:prstGeom>
          <a:noFill/>
          <a:ln/>
        </p:spPr>
        <p:txBody>
          <a:bodyPr wrap="square" lIns="0" tIns="0" rIns="0" bIns="0" rtlCol="0" anchor="ctr"/>
          <a:lstStyle/>
          <a:p>
            <a:pPr marL="0" indent="0">
              <a:lnSpc>
                <a:spcPct val="120000"/>
              </a:lnSpc>
              <a:buNone/>
            </a:pPr>
            <a:r>
              <a:rPr lang="en-US" sz="1150" b="1" dirty="0">
                <a:solidFill>
                  <a:srgbClr val="1A2B5E"/>
                </a:solidFill>
                <a:latin typeface="Calibri" pitchFamily="34" charset="0"/>
                <a:ea typeface="Calibri" pitchFamily="34" charset="-122"/>
                <a:cs typeface="Calibri" pitchFamily="34" charset="-120"/>
              </a:rPr>
              <a:t>A variable</a:t>
            </a:r>
            <a:endParaRPr lang="en-US" sz="1150" dirty="0"/>
          </a:p>
        </p:txBody>
      </p:sp>
      <p:sp>
        <p:nvSpPr>
          <p:cNvPr id="18" name="Text 16"/>
          <p:cNvSpPr txBox="1"/>
          <p:nvPr/>
        </p:nvSpPr>
        <p:spPr>
          <a:xfrm>
            <a:off x="6172200" y="2962656"/>
            <a:ext cx="2304288" cy="493776"/>
          </a:xfrm>
          <a:prstGeom prst="rect">
            <a:avLst/>
          </a:prstGeom>
          <a:noFill/>
          <a:ln/>
        </p:spPr>
        <p:txBody>
          <a:bodyPr wrap="square" lIns="0" tIns="0" rIns="0" bIns="0" rtlCol="0" anchor="ctr"/>
          <a:lstStyle/>
          <a:p>
            <a:pPr marL="0" indent="0">
              <a:lnSpc>
                <a:spcPct val="120000"/>
              </a:lnSpc>
              <a:buNone/>
            </a:pPr>
            <a:r>
              <a:rPr lang="en-US" sz="1150" dirty="0">
                <a:solidFill>
                  <a:srgbClr val="1E2A3A"/>
                </a:solidFill>
                <a:latin typeface="Calibri" pitchFamily="34" charset="0"/>
                <a:ea typeface="Calibri" pitchFamily="34" charset="-122"/>
                <a:cs typeface="Calibri" pitchFamily="34" charset="-120"/>
              </a:rPr>
              <a:t>A type</a:t>
            </a:r>
            <a:endParaRPr lang="en-US" sz="1150" dirty="0"/>
          </a:p>
        </p:txBody>
      </p:sp>
      <p:sp>
        <p:nvSpPr>
          <p:cNvPr id="19" name="Text 17"/>
          <p:cNvSpPr txBox="1"/>
          <p:nvPr/>
        </p:nvSpPr>
        <p:spPr>
          <a:xfrm>
            <a:off x="8549640" y="2962656"/>
            <a:ext cx="3246120" cy="493776"/>
          </a:xfrm>
          <a:prstGeom prst="rect">
            <a:avLst/>
          </a:prstGeom>
          <a:noFill/>
          <a:ln/>
        </p:spPr>
        <p:txBody>
          <a:bodyPr wrap="square" lIns="0" tIns="0" rIns="0" bIns="0" rtlCol="0" anchor="ctr"/>
          <a:lstStyle/>
          <a:p>
            <a:pPr marL="0" indent="0">
              <a:lnSpc>
                <a:spcPct val="120000"/>
              </a:lnSpc>
              <a:buNone/>
            </a:pPr>
            <a:r>
              <a:rPr lang="en-US" sz="1100" dirty="0">
                <a:solidFill>
                  <a:srgbClr val="5A6A82"/>
                </a:solidFill>
                <a:latin typeface="Calibri" pitchFamily="34" charset="0"/>
                <a:ea typeface="Calibri" pitchFamily="34" charset="-122"/>
                <a:cs typeface="Calibri" pitchFamily="34" charset="-120"/>
              </a:rPr>
              <a:t>age is declared as int in C</a:t>
            </a:r>
            <a:endParaRPr lang="en-US" sz="1100" dirty="0"/>
          </a:p>
        </p:txBody>
      </p:sp>
      <p:sp>
        <p:nvSpPr>
          <p:cNvPr id="20" name="Shape 18"/>
          <p:cNvSpPr/>
          <p:nvPr/>
        </p:nvSpPr>
        <p:spPr>
          <a:xfrm>
            <a:off x="4206240" y="3602736"/>
            <a:ext cx="7680960" cy="713232"/>
          </a:xfrm>
          <a:prstGeom prst="rect">
            <a:avLst/>
          </a:prstGeom>
          <a:solidFill>
            <a:srgbClr val="F4F6FC"/>
          </a:solidFill>
          <a:ln w="12700">
            <a:solidFill>
              <a:srgbClr val="D0DAF0"/>
            </a:solidFill>
            <a:prstDash val="solid"/>
          </a:ln>
        </p:spPr>
        <p:txBody>
          <a:bodyPr/>
          <a:lstStyle/>
          <a:p>
            <a:endParaRPr lang="en-US"/>
          </a:p>
        </p:txBody>
      </p:sp>
      <p:sp>
        <p:nvSpPr>
          <p:cNvPr id="21" name="Text 19"/>
          <p:cNvSpPr txBox="1"/>
          <p:nvPr/>
        </p:nvSpPr>
        <p:spPr>
          <a:xfrm>
            <a:off x="4343400" y="3712464"/>
            <a:ext cx="1719072" cy="493776"/>
          </a:xfrm>
          <a:prstGeom prst="rect">
            <a:avLst/>
          </a:prstGeom>
          <a:noFill/>
          <a:ln/>
        </p:spPr>
        <p:txBody>
          <a:bodyPr wrap="square" lIns="0" tIns="0" rIns="0" bIns="0" rtlCol="0" anchor="ctr"/>
          <a:lstStyle/>
          <a:p>
            <a:pPr marL="0" indent="0">
              <a:lnSpc>
                <a:spcPct val="120000"/>
              </a:lnSpc>
              <a:buNone/>
            </a:pPr>
            <a:r>
              <a:rPr lang="en-US" sz="1150" b="1" dirty="0">
                <a:solidFill>
                  <a:srgbClr val="1A2B5E"/>
                </a:solidFill>
                <a:latin typeface="Calibri" pitchFamily="34" charset="0"/>
                <a:ea typeface="Calibri" pitchFamily="34" charset="-122"/>
                <a:cs typeface="Calibri" pitchFamily="34" charset="-120"/>
              </a:rPr>
              <a:t>A variable</a:t>
            </a:r>
            <a:endParaRPr lang="en-US" sz="1150" dirty="0"/>
          </a:p>
        </p:txBody>
      </p:sp>
      <p:sp>
        <p:nvSpPr>
          <p:cNvPr id="22" name="Text 20"/>
          <p:cNvSpPr txBox="1"/>
          <p:nvPr/>
        </p:nvSpPr>
        <p:spPr>
          <a:xfrm>
            <a:off x="6172200" y="3712464"/>
            <a:ext cx="2304288" cy="493776"/>
          </a:xfrm>
          <a:prstGeom prst="rect">
            <a:avLst/>
          </a:prstGeom>
          <a:noFill/>
          <a:ln/>
        </p:spPr>
        <p:txBody>
          <a:bodyPr wrap="square" lIns="0" tIns="0" rIns="0" bIns="0" rtlCol="0" anchor="ctr"/>
          <a:lstStyle/>
          <a:p>
            <a:pPr marL="0" indent="0">
              <a:lnSpc>
                <a:spcPct val="120000"/>
              </a:lnSpc>
              <a:buNone/>
            </a:pPr>
            <a:r>
              <a:rPr lang="en-US" sz="1150" dirty="0">
                <a:solidFill>
                  <a:srgbClr val="1E2A3A"/>
                </a:solidFill>
                <a:latin typeface="Calibri" pitchFamily="34" charset="0"/>
                <a:ea typeface="Calibri" pitchFamily="34" charset="-122"/>
                <a:cs typeface="Calibri" pitchFamily="34" charset="-120"/>
              </a:rPr>
              <a:t>A value</a:t>
            </a:r>
            <a:endParaRPr lang="en-US" sz="1150" dirty="0"/>
          </a:p>
        </p:txBody>
      </p:sp>
      <p:sp>
        <p:nvSpPr>
          <p:cNvPr id="23" name="Text 21"/>
          <p:cNvSpPr txBox="1"/>
          <p:nvPr/>
        </p:nvSpPr>
        <p:spPr>
          <a:xfrm>
            <a:off x="8549640" y="3712464"/>
            <a:ext cx="3246120" cy="493776"/>
          </a:xfrm>
          <a:prstGeom prst="rect">
            <a:avLst/>
          </a:prstGeom>
          <a:noFill/>
          <a:ln/>
        </p:spPr>
        <p:txBody>
          <a:bodyPr wrap="square" lIns="0" tIns="0" rIns="0" bIns="0" rtlCol="0" anchor="ctr"/>
          <a:lstStyle/>
          <a:p>
            <a:pPr marL="0" indent="0">
              <a:lnSpc>
                <a:spcPct val="120000"/>
              </a:lnSpc>
              <a:buNone/>
            </a:pPr>
            <a:r>
              <a:rPr lang="en-US" sz="1100" dirty="0">
                <a:solidFill>
                  <a:srgbClr val="5A6A82"/>
                </a:solidFill>
                <a:latin typeface="Calibri" pitchFamily="34" charset="0"/>
                <a:ea typeface="Calibri" pitchFamily="34" charset="-122"/>
                <a:cs typeface="Calibri" pitchFamily="34" charset="-120"/>
              </a:rPr>
              <a:t>age currently holds 25</a:t>
            </a:r>
            <a:endParaRPr lang="en-US" sz="1100" dirty="0"/>
          </a:p>
        </p:txBody>
      </p:sp>
      <p:sp>
        <p:nvSpPr>
          <p:cNvPr id="24" name="Shape 22"/>
          <p:cNvSpPr/>
          <p:nvPr/>
        </p:nvSpPr>
        <p:spPr>
          <a:xfrm>
            <a:off x="4206240" y="4352544"/>
            <a:ext cx="7680960" cy="713232"/>
          </a:xfrm>
          <a:prstGeom prst="rect">
            <a:avLst/>
          </a:prstGeom>
          <a:solidFill>
            <a:srgbClr val="FFFFFF"/>
          </a:solidFill>
          <a:ln w="12700">
            <a:solidFill>
              <a:srgbClr val="D0DAF0"/>
            </a:solidFill>
            <a:prstDash val="solid"/>
          </a:ln>
        </p:spPr>
        <p:txBody>
          <a:bodyPr/>
          <a:lstStyle/>
          <a:p>
            <a:endParaRPr lang="en-US"/>
          </a:p>
        </p:txBody>
      </p:sp>
      <p:sp>
        <p:nvSpPr>
          <p:cNvPr id="25" name="Text 23"/>
          <p:cNvSpPr txBox="1"/>
          <p:nvPr/>
        </p:nvSpPr>
        <p:spPr>
          <a:xfrm>
            <a:off x="4343400" y="4462272"/>
            <a:ext cx="1719072" cy="493776"/>
          </a:xfrm>
          <a:prstGeom prst="rect">
            <a:avLst/>
          </a:prstGeom>
          <a:noFill/>
          <a:ln/>
        </p:spPr>
        <p:txBody>
          <a:bodyPr wrap="square" lIns="0" tIns="0" rIns="0" bIns="0" rtlCol="0" anchor="ctr"/>
          <a:lstStyle/>
          <a:p>
            <a:pPr marL="0" indent="0">
              <a:lnSpc>
                <a:spcPct val="120000"/>
              </a:lnSpc>
              <a:buNone/>
            </a:pPr>
            <a:r>
              <a:rPr lang="en-US" sz="1150" b="1" dirty="0">
                <a:solidFill>
                  <a:srgbClr val="1A2B5E"/>
                </a:solidFill>
                <a:latin typeface="Calibri" pitchFamily="34" charset="0"/>
                <a:ea typeface="Calibri" pitchFamily="34" charset="-122"/>
                <a:cs typeface="Calibri" pitchFamily="34" charset="-120"/>
              </a:rPr>
              <a:t>A name (Python)</a:t>
            </a:r>
            <a:endParaRPr lang="en-US" sz="1150" dirty="0"/>
          </a:p>
        </p:txBody>
      </p:sp>
      <p:sp>
        <p:nvSpPr>
          <p:cNvPr id="26" name="Text 24"/>
          <p:cNvSpPr txBox="1"/>
          <p:nvPr/>
        </p:nvSpPr>
        <p:spPr>
          <a:xfrm>
            <a:off x="6172200" y="4462272"/>
            <a:ext cx="2304288" cy="493776"/>
          </a:xfrm>
          <a:prstGeom prst="rect">
            <a:avLst/>
          </a:prstGeom>
          <a:noFill/>
          <a:ln/>
        </p:spPr>
        <p:txBody>
          <a:bodyPr wrap="square" lIns="0" tIns="0" rIns="0" bIns="0" rtlCol="0" anchor="ctr"/>
          <a:lstStyle/>
          <a:p>
            <a:pPr marL="0" indent="0">
              <a:lnSpc>
                <a:spcPct val="120000"/>
              </a:lnSpc>
              <a:buNone/>
            </a:pPr>
            <a:r>
              <a:rPr lang="en-US" sz="1150" dirty="0">
                <a:solidFill>
                  <a:srgbClr val="1E2A3A"/>
                </a:solidFill>
                <a:latin typeface="Calibri" pitchFamily="34" charset="0"/>
                <a:ea typeface="Calibri" pitchFamily="34" charset="-122"/>
                <a:cs typeface="Calibri" pitchFamily="34" charset="-120"/>
              </a:rPr>
              <a:t>An object</a:t>
            </a:r>
            <a:endParaRPr lang="en-US" sz="1150" dirty="0"/>
          </a:p>
        </p:txBody>
      </p:sp>
      <p:sp>
        <p:nvSpPr>
          <p:cNvPr id="27" name="Text 25"/>
          <p:cNvSpPr txBox="1"/>
          <p:nvPr/>
        </p:nvSpPr>
        <p:spPr>
          <a:xfrm>
            <a:off x="8549640" y="4462272"/>
            <a:ext cx="3246120" cy="493776"/>
          </a:xfrm>
          <a:prstGeom prst="rect">
            <a:avLst/>
          </a:prstGeom>
          <a:noFill/>
          <a:ln/>
        </p:spPr>
        <p:txBody>
          <a:bodyPr wrap="square" lIns="0" tIns="0" rIns="0" bIns="0" rtlCol="0" anchor="ctr"/>
          <a:lstStyle/>
          <a:p>
            <a:pPr marL="0" indent="0">
              <a:lnSpc>
                <a:spcPct val="120000"/>
              </a:lnSpc>
              <a:buNone/>
            </a:pPr>
            <a:r>
              <a:rPr lang="en-US" sz="1100" dirty="0">
                <a:solidFill>
                  <a:srgbClr val="5A6A82"/>
                </a:solidFill>
                <a:latin typeface="Calibri" pitchFamily="34" charset="0"/>
                <a:ea typeface="Calibri" pitchFamily="34" charset="-122"/>
                <a:cs typeface="Calibri" pitchFamily="34" charset="-120"/>
              </a:rPr>
              <a:t>age refers to the integer object 25</a:t>
            </a:r>
            <a:endParaRPr lang="en-US" sz="1100" dirty="0"/>
          </a:p>
        </p:txBody>
      </p:sp>
      <p:sp>
        <p:nvSpPr>
          <p:cNvPr id="28" name="Shape 26"/>
          <p:cNvSpPr/>
          <p:nvPr/>
        </p:nvSpPr>
        <p:spPr>
          <a:xfrm>
            <a:off x="4206240" y="5102352"/>
            <a:ext cx="7680960" cy="713232"/>
          </a:xfrm>
          <a:prstGeom prst="rect">
            <a:avLst/>
          </a:prstGeom>
          <a:solidFill>
            <a:srgbClr val="F4F6FC"/>
          </a:solidFill>
          <a:ln w="12700">
            <a:solidFill>
              <a:srgbClr val="D0DAF0"/>
            </a:solidFill>
            <a:prstDash val="solid"/>
          </a:ln>
        </p:spPr>
        <p:txBody>
          <a:bodyPr/>
          <a:lstStyle/>
          <a:p>
            <a:endParaRPr lang="en-US"/>
          </a:p>
        </p:txBody>
      </p:sp>
      <p:sp>
        <p:nvSpPr>
          <p:cNvPr id="29" name="Text 27"/>
          <p:cNvSpPr txBox="1"/>
          <p:nvPr/>
        </p:nvSpPr>
        <p:spPr>
          <a:xfrm>
            <a:off x="4343400" y="5212080"/>
            <a:ext cx="1719072" cy="493776"/>
          </a:xfrm>
          <a:prstGeom prst="rect">
            <a:avLst/>
          </a:prstGeom>
          <a:noFill/>
          <a:ln/>
        </p:spPr>
        <p:txBody>
          <a:bodyPr wrap="square" lIns="0" tIns="0" rIns="0" bIns="0" rtlCol="0" anchor="ctr"/>
          <a:lstStyle/>
          <a:p>
            <a:pPr marL="0" indent="0">
              <a:lnSpc>
                <a:spcPct val="120000"/>
              </a:lnSpc>
              <a:buNone/>
            </a:pPr>
            <a:r>
              <a:rPr lang="en-US" sz="1150" b="1" dirty="0">
                <a:solidFill>
                  <a:srgbClr val="1A2B5E"/>
                </a:solidFill>
                <a:latin typeface="Calibri" pitchFamily="34" charset="0"/>
                <a:ea typeface="Calibri" pitchFamily="34" charset="-122"/>
                <a:cs typeface="Calibri" pitchFamily="34" charset="-120"/>
              </a:rPr>
              <a:t>An operator symbol</a:t>
            </a:r>
            <a:endParaRPr lang="en-US" sz="1150" dirty="0"/>
          </a:p>
        </p:txBody>
      </p:sp>
      <p:sp>
        <p:nvSpPr>
          <p:cNvPr id="30" name="Text 28"/>
          <p:cNvSpPr txBox="1"/>
          <p:nvPr/>
        </p:nvSpPr>
        <p:spPr>
          <a:xfrm>
            <a:off x="6172200" y="5212080"/>
            <a:ext cx="2304288" cy="493776"/>
          </a:xfrm>
          <a:prstGeom prst="rect">
            <a:avLst/>
          </a:prstGeom>
          <a:noFill/>
          <a:ln/>
        </p:spPr>
        <p:txBody>
          <a:bodyPr wrap="square" lIns="0" tIns="0" rIns="0" bIns="0" rtlCol="0" anchor="ctr"/>
          <a:lstStyle/>
          <a:p>
            <a:pPr marL="0" indent="0">
              <a:lnSpc>
                <a:spcPct val="120000"/>
              </a:lnSpc>
              <a:buNone/>
            </a:pPr>
            <a:r>
              <a:rPr lang="en-US" sz="1150" dirty="0">
                <a:solidFill>
                  <a:srgbClr val="1E2A3A"/>
                </a:solidFill>
                <a:latin typeface="Calibri" pitchFamily="34" charset="0"/>
                <a:ea typeface="Calibri" pitchFamily="34" charset="-122"/>
                <a:cs typeface="Calibri" pitchFamily="34" charset="-120"/>
              </a:rPr>
              <a:t>Its meaning</a:t>
            </a:r>
            <a:endParaRPr lang="en-US" sz="1150" dirty="0"/>
          </a:p>
        </p:txBody>
      </p:sp>
      <p:sp>
        <p:nvSpPr>
          <p:cNvPr id="31" name="Text 29"/>
          <p:cNvSpPr txBox="1"/>
          <p:nvPr/>
        </p:nvSpPr>
        <p:spPr>
          <a:xfrm>
            <a:off x="8549640" y="5212080"/>
            <a:ext cx="3246120" cy="493776"/>
          </a:xfrm>
          <a:prstGeom prst="rect">
            <a:avLst/>
          </a:prstGeom>
          <a:noFill/>
          <a:ln/>
        </p:spPr>
        <p:txBody>
          <a:bodyPr wrap="square" lIns="0" tIns="0" rIns="0" bIns="0" rtlCol="0" anchor="ctr"/>
          <a:lstStyle/>
          <a:p>
            <a:pPr marL="0" indent="0">
              <a:lnSpc>
                <a:spcPct val="120000"/>
              </a:lnSpc>
              <a:buNone/>
            </a:pPr>
            <a:r>
              <a:rPr lang="en-US" sz="1100" dirty="0">
                <a:solidFill>
                  <a:srgbClr val="5A6A82"/>
                </a:solidFill>
                <a:latin typeface="Calibri" pitchFamily="34" charset="0"/>
                <a:ea typeface="Calibri" pitchFamily="34" charset="-122"/>
                <a:cs typeface="Calibri" pitchFamily="34" charset="-120"/>
              </a:rPr>
              <a:t>"+" means addition when used with integers — decided by the language designer</a:t>
            </a:r>
            <a:endParaRPr lang="en-US" sz="1100" dirty="0"/>
          </a:p>
        </p:txBody>
      </p:sp>
      <p:sp>
        <p:nvSpPr>
          <p:cNvPr id="32" name="Shape 30"/>
          <p:cNvSpPr/>
          <p:nvPr/>
        </p:nvSpPr>
        <p:spPr>
          <a:xfrm>
            <a:off x="4206240" y="5925312"/>
            <a:ext cx="54864" cy="713232"/>
          </a:xfrm>
          <a:prstGeom prst="rect">
            <a:avLst/>
          </a:prstGeom>
          <a:solidFill>
            <a:srgbClr val="2E5BFF"/>
          </a:solidFill>
          <a:ln/>
        </p:spPr>
        <p:txBody>
          <a:bodyPr/>
          <a:lstStyle/>
          <a:p>
            <a:endParaRPr lang="en-US"/>
          </a:p>
        </p:txBody>
      </p:sp>
      <p:sp>
        <p:nvSpPr>
          <p:cNvPr id="33" name="Shape 31"/>
          <p:cNvSpPr/>
          <p:nvPr/>
        </p:nvSpPr>
        <p:spPr>
          <a:xfrm>
            <a:off x="4261104" y="5925312"/>
            <a:ext cx="7626096" cy="713232"/>
          </a:xfrm>
          <a:prstGeom prst="rect">
            <a:avLst/>
          </a:prstGeom>
          <a:solidFill>
            <a:srgbClr val="EFF6FF"/>
          </a:solidFill>
          <a:ln w="12700">
            <a:solidFill>
              <a:srgbClr val="BFDBFE"/>
            </a:solidFill>
            <a:prstDash val="solid"/>
          </a:ln>
        </p:spPr>
        <p:txBody>
          <a:bodyPr/>
          <a:lstStyle/>
          <a:p>
            <a:endParaRPr lang="en-US"/>
          </a:p>
        </p:txBody>
      </p:sp>
      <p:sp>
        <p:nvSpPr>
          <p:cNvPr id="34" name="Text 32"/>
          <p:cNvSpPr txBox="1"/>
          <p:nvPr/>
        </p:nvSpPr>
        <p:spPr>
          <a:xfrm>
            <a:off x="4389120" y="6016752"/>
            <a:ext cx="7406640" cy="530352"/>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Key insight: different languages establish these connections at different times — some before you run the program, some as it runs. That "when" has big consequences for programmers.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Python Can Do What C Cannot</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2 · Binding</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Same task: rebind a name to a different type. One language allows it. One does not. Why?</a:t>
            </a:r>
            <a:endParaRPr lang="en-US" sz="1300" dirty="0"/>
          </a:p>
        </p:txBody>
      </p:sp>
      <p:sp>
        <p:nvSpPr>
          <p:cNvPr id="6" name="Shape 4"/>
          <p:cNvSpPr/>
          <p:nvPr/>
        </p:nvSpPr>
        <p:spPr>
          <a:xfrm>
            <a:off x="411480" y="1325880"/>
            <a:ext cx="5349240" cy="3794760"/>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594360" y="1417320"/>
            <a:ext cx="749808" cy="256032"/>
          </a:xfrm>
          <a:prstGeom prst="roundRect">
            <a:avLst>
              <a:gd name="adj" fmla="val 25000"/>
            </a:avLst>
          </a:prstGeom>
          <a:solidFill>
            <a:srgbClr val="E8F0FE"/>
          </a:solidFill>
          <a:ln w="12700">
            <a:solidFill>
              <a:srgbClr val="E8F0FE"/>
            </a:solidFill>
            <a:prstDash val="solid"/>
          </a:ln>
        </p:spPr>
        <p:txBody>
          <a:bodyPr/>
          <a:lstStyle/>
          <a:p>
            <a:endParaRPr lang="en-US"/>
          </a:p>
        </p:txBody>
      </p:sp>
      <p:sp>
        <p:nvSpPr>
          <p:cNvPr id="8" name="Text 6"/>
          <p:cNvSpPr txBox="1"/>
          <p:nvPr/>
        </p:nvSpPr>
        <p:spPr>
          <a:xfrm>
            <a:off x="630936" y="1444752"/>
            <a:ext cx="676656"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9" name="Shape 7"/>
          <p:cNvSpPr/>
          <p:nvPr/>
        </p:nvSpPr>
        <p:spPr>
          <a:xfrm>
            <a:off x="594360" y="1737360"/>
            <a:ext cx="4937760" cy="1078992"/>
          </a:xfrm>
          <a:prstGeom prst="rect">
            <a:avLst/>
          </a:prstGeom>
          <a:solidFill>
            <a:srgbClr val="EEF1FA"/>
          </a:solidFill>
          <a:ln w="12700">
            <a:solidFill>
              <a:srgbClr val="D0DAF0"/>
            </a:solidFill>
            <a:prstDash val="solid"/>
          </a:ln>
        </p:spPr>
        <p:txBody>
          <a:bodyPr/>
          <a:lstStyle/>
          <a:p>
            <a:endParaRPr lang="en-US"/>
          </a:p>
        </p:txBody>
      </p:sp>
      <p:sp>
        <p:nvSpPr>
          <p:cNvPr id="10" name="Text 8"/>
          <p:cNvSpPr txBox="1"/>
          <p:nvPr/>
        </p:nvSpPr>
        <p:spPr>
          <a:xfrm>
            <a:off x="722376" y="1828800"/>
            <a:ext cx="4736592" cy="91440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25;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"twenty-five";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COMPILE ERROR: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incompatible types</a:t>
            </a:r>
            <a:endParaRPr lang="en-US" sz="1100" dirty="0"/>
          </a:p>
        </p:txBody>
      </p:sp>
      <p:sp>
        <p:nvSpPr>
          <p:cNvPr id="11" name="Text 9"/>
          <p:cNvSpPr txBox="1"/>
          <p:nvPr/>
        </p:nvSpPr>
        <p:spPr>
          <a:xfrm>
            <a:off x="594360" y="2907792"/>
            <a:ext cx="4937760" cy="237744"/>
          </a:xfrm>
          <a:prstGeom prst="rect">
            <a:avLst/>
          </a:prstGeom>
          <a:noFill/>
          <a:ln/>
        </p:spPr>
        <p:txBody>
          <a:bodyPr wrap="square" lIns="0" tIns="0" rIns="0" bIns="0" rtlCol="0" anchor="ctr"/>
          <a:lstStyle/>
          <a:p>
            <a:pPr marL="0" indent="0">
              <a:buNone/>
            </a:pPr>
            <a:r>
              <a:rPr lang="en-US" sz="1200" b="1" dirty="0">
                <a:solidFill>
                  <a:srgbClr val="2E5BFF"/>
                </a:solidFill>
                <a:latin typeface="Calibri" pitchFamily="34" charset="0"/>
                <a:ea typeface="Calibri" pitchFamily="34" charset="-122"/>
                <a:cs typeface="Calibri" pitchFamily="34" charset="-120"/>
              </a:rPr>
              <a:t>In C:</a:t>
            </a:r>
            <a:endParaRPr lang="en-US" sz="1200" dirty="0"/>
          </a:p>
        </p:txBody>
      </p:sp>
      <p:sp>
        <p:nvSpPr>
          <p:cNvPr id="12" name="Text 10"/>
          <p:cNvSpPr txBox="1"/>
          <p:nvPr/>
        </p:nvSpPr>
        <p:spPr>
          <a:xfrm>
            <a:off x="594360" y="3163824"/>
            <a:ext cx="4937760" cy="914400"/>
          </a:xfrm>
          <a:prstGeom prst="rect">
            <a:avLst/>
          </a:prstGeom>
          <a:noFill/>
          <a:ln/>
        </p:spPr>
        <p:txBody>
          <a:bodyPr wrap="square" lIns="0" tIns="0" rIns="0" bIns="0" rtlCol="0" anchor="ctr"/>
          <a:lstStyle/>
          <a:p>
            <a:pPr marL="0" indent="0">
              <a:lnSpc>
                <a:spcPct val="135000"/>
              </a:lnSpc>
              <a:buNone/>
            </a:pPr>
            <a:r>
              <a:rPr lang="en-US" sz="1200" dirty="0">
                <a:solidFill>
                  <a:srgbClr val="1E2A3A"/>
                </a:solidFill>
                <a:latin typeface="Calibri" pitchFamily="34" charset="0"/>
                <a:ea typeface="Calibri" pitchFamily="34" charset="-122"/>
                <a:cs typeface="Calibri" pitchFamily="34" charset="-120"/>
              </a:rPr>
              <a:t>The name age is bound to type int at declaration time. That binding is permanent. Assigning a string to an int variable violates the type binding — the compiler refuses.</a:t>
            </a:r>
            <a:endParaRPr lang="en-US" sz="1200" dirty="0"/>
          </a:p>
        </p:txBody>
      </p:sp>
      <p:sp>
        <p:nvSpPr>
          <p:cNvPr id="13" name="Shape 11"/>
          <p:cNvSpPr/>
          <p:nvPr/>
        </p:nvSpPr>
        <p:spPr>
          <a:xfrm>
            <a:off x="6355080" y="1325880"/>
            <a:ext cx="5349240" cy="3794760"/>
          </a:xfrm>
          <a:prstGeom prst="rect">
            <a:avLst/>
          </a:prstGeom>
          <a:solidFill>
            <a:srgbClr val="FFFFFF"/>
          </a:solidFill>
          <a:ln w="12700">
            <a:solidFill>
              <a:srgbClr val="D0DAF0"/>
            </a:solidFill>
            <a:prstDash val="solid"/>
          </a:ln>
        </p:spPr>
        <p:txBody>
          <a:bodyPr/>
          <a:lstStyle/>
          <a:p>
            <a:endParaRPr lang="en-US"/>
          </a:p>
        </p:txBody>
      </p:sp>
      <p:sp>
        <p:nvSpPr>
          <p:cNvPr id="14" name="Shape 12"/>
          <p:cNvSpPr/>
          <p:nvPr/>
        </p:nvSpPr>
        <p:spPr>
          <a:xfrm>
            <a:off x="6537960" y="1417320"/>
            <a:ext cx="749808" cy="256032"/>
          </a:xfrm>
          <a:prstGeom prst="roundRect">
            <a:avLst>
              <a:gd name="adj" fmla="val 25000"/>
            </a:avLst>
          </a:prstGeom>
          <a:solidFill>
            <a:srgbClr val="FEF3E8"/>
          </a:solidFill>
          <a:ln w="12700">
            <a:solidFill>
              <a:srgbClr val="FEF3E8"/>
            </a:solidFill>
            <a:prstDash val="solid"/>
          </a:ln>
        </p:spPr>
        <p:txBody>
          <a:bodyPr/>
          <a:lstStyle/>
          <a:p>
            <a:endParaRPr lang="en-US"/>
          </a:p>
        </p:txBody>
      </p:sp>
      <p:sp>
        <p:nvSpPr>
          <p:cNvPr id="15" name="Text 13"/>
          <p:cNvSpPr txBox="1"/>
          <p:nvPr/>
        </p:nvSpPr>
        <p:spPr>
          <a:xfrm>
            <a:off x="6574536" y="1444752"/>
            <a:ext cx="676656"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16" name="Shape 14"/>
          <p:cNvSpPr/>
          <p:nvPr/>
        </p:nvSpPr>
        <p:spPr>
          <a:xfrm>
            <a:off x="6537960" y="1737360"/>
            <a:ext cx="4937760" cy="914400"/>
          </a:xfrm>
          <a:prstGeom prst="rect">
            <a:avLst/>
          </a:prstGeom>
          <a:solidFill>
            <a:srgbClr val="EEF1FA"/>
          </a:solidFill>
          <a:ln w="12700">
            <a:solidFill>
              <a:srgbClr val="D0DAF0"/>
            </a:solidFill>
            <a:prstDash val="solid"/>
          </a:ln>
        </p:spPr>
        <p:txBody>
          <a:bodyPr/>
          <a:lstStyle/>
          <a:p>
            <a:endParaRPr lang="en-US"/>
          </a:p>
        </p:txBody>
      </p:sp>
      <p:sp>
        <p:nvSpPr>
          <p:cNvPr id="17" name="Text 15"/>
          <p:cNvSpPr txBox="1"/>
          <p:nvPr/>
        </p:nvSpPr>
        <p:spPr>
          <a:xfrm>
            <a:off x="6665976" y="1828800"/>
            <a:ext cx="4736592" cy="7498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25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"twenty-five"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perfectly valid</a:t>
            </a:r>
            <a:endParaRPr lang="en-US" sz="1100" dirty="0"/>
          </a:p>
        </p:txBody>
      </p:sp>
      <p:sp>
        <p:nvSpPr>
          <p:cNvPr id="18" name="Text 16"/>
          <p:cNvSpPr txBox="1"/>
          <p:nvPr/>
        </p:nvSpPr>
        <p:spPr>
          <a:xfrm>
            <a:off x="6537960" y="2743200"/>
            <a:ext cx="4937760" cy="237744"/>
          </a:xfrm>
          <a:prstGeom prst="rect">
            <a:avLst/>
          </a:prstGeom>
          <a:noFill/>
          <a:ln/>
        </p:spPr>
        <p:txBody>
          <a:bodyPr wrap="square" lIns="0" tIns="0" rIns="0" bIns="0" rtlCol="0" anchor="ctr"/>
          <a:lstStyle/>
          <a:p>
            <a:pPr marL="0" indent="0">
              <a:buNone/>
            </a:pPr>
            <a:r>
              <a:rPr lang="en-US" sz="1200" b="1" dirty="0">
                <a:solidFill>
                  <a:srgbClr val="C05E00"/>
                </a:solidFill>
                <a:latin typeface="Calibri" pitchFamily="34" charset="0"/>
                <a:ea typeface="Calibri" pitchFamily="34" charset="-122"/>
                <a:cs typeface="Calibri" pitchFamily="34" charset="-120"/>
              </a:rPr>
              <a:t>In Python:</a:t>
            </a:r>
            <a:endParaRPr lang="en-US" sz="1200" dirty="0"/>
          </a:p>
        </p:txBody>
      </p:sp>
      <p:sp>
        <p:nvSpPr>
          <p:cNvPr id="19" name="Text 17"/>
          <p:cNvSpPr txBox="1"/>
          <p:nvPr/>
        </p:nvSpPr>
        <p:spPr>
          <a:xfrm>
            <a:off x="6537960" y="2999232"/>
            <a:ext cx="4937760" cy="914400"/>
          </a:xfrm>
          <a:prstGeom prst="rect">
            <a:avLst/>
          </a:prstGeom>
          <a:noFill/>
          <a:ln/>
        </p:spPr>
        <p:txBody>
          <a:bodyPr wrap="square" lIns="0" tIns="0" rIns="0" bIns="0" rtlCol="0" anchor="ctr"/>
          <a:lstStyle/>
          <a:p>
            <a:pPr marL="0" indent="0">
              <a:lnSpc>
                <a:spcPct val="135000"/>
              </a:lnSpc>
              <a:buNone/>
            </a:pPr>
            <a:r>
              <a:rPr lang="en-US" sz="1200" dirty="0">
                <a:solidFill>
                  <a:srgbClr val="1E2A3A"/>
                </a:solidFill>
                <a:latin typeface="Calibri" pitchFamily="34" charset="0"/>
                <a:ea typeface="Calibri" pitchFamily="34" charset="-122"/>
                <a:cs typeface="Calibri" pitchFamily="34" charset="-120"/>
              </a:rPr>
              <a:t>The name age is NOT bound to a type. It is bound to an object. Objects have types. When you write age = "twenty-five", you redirect the name to a new string object. The name carries no type constraint.</a:t>
            </a:r>
            <a:endParaRPr lang="en-US" sz="1200" dirty="0"/>
          </a:p>
        </p:txBody>
      </p:sp>
      <p:sp>
        <p:nvSpPr>
          <p:cNvPr id="20" name="Shape 18"/>
          <p:cNvSpPr/>
          <p:nvPr/>
        </p:nvSpPr>
        <p:spPr>
          <a:xfrm>
            <a:off x="6537960" y="3931920"/>
            <a:ext cx="4937760" cy="960120"/>
          </a:xfrm>
          <a:prstGeom prst="rect">
            <a:avLst/>
          </a:prstGeom>
          <a:solidFill>
            <a:srgbClr val="EEF1FA"/>
          </a:solidFill>
          <a:ln w="12700">
            <a:solidFill>
              <a:srgbClr val="D0DAF0"/>
            </a:solidFill>
            <a:prstDash val="solid"/>
          </a:ln>
        </p:spPr>
        <p:txBody>
          <a:bodyPr/>
          <a:lstStyle/>
          <a:p>
            <a:endParaRPr lang="en-US"/>
          </a:p>
        </p:txBody>
      </p:sp>
      <p:sp>
        <p:nvSpPr>
          <p:cNvPr id="21" name="Text 19"/>
          <p:cNvSpPr txBox="1"/>
          <p:nvPr/>
        </p:nvSpPr>
        <p:spPr>
          <a:xfrm>
            <a:off x="6675120" y="4005072"/>
            <a:ext cx="4663440" cy="256032"/>
          </a:xfrm>
          <a:prstGeom prst="rect">
            <a:avLst/>
          </a:prstGeom>
          <a:noFill/>
          <a:ln/>
        </p:spPr>
        <p:txBody>
          <a:bodyPr wrap="square" lIns="0" tIns="0" rIns="0" bIns="0" rtlCol="0" anchor="ctr"/>
          <a:lstStyle/>
          <a:p>
            <a:pPr marL="0" indent="0">
              <a:buNone/>
            </a:pPr>
            <a:r>
              <a:rPr lang="en-US" sz="1100" dirty="0">
                <a:solidFill>
                  <a:srgbClr val="1A2B5E"/>
                </a:solidFill>
                <a:latin typeface="Courier New" pitchFamily="34" charset="0"/>
                <a:ea typeface="Courier New" pitchFamily="34" charset="-122"/>
                <a:cs typeface="Courier New" pitchFamily="34" charset="-120"/>
              </a:rPr>
              <a:t>age  ────→  25         [int object]</a:t>
            </a:r>
            <a:endParaRPr lang="en-US" sz="1100" dirty="0"/>
          </a:p>
        </p:txBody>
      </p:sp>
      <p:sp>
        <p:nvSpPr>
          <p:cNvPr id="22" name="Text 20"/>
          <p:cNvSpPr txBox="1"/>
          <p:nvPr/>
        </p:nvSpPr>
        <p:spPr>
          <a:xfrm>
            <a:off x="6675120" y="4279392"/>
            <a:ext cx="4663440" cy="256032"/>
          </a:xfrm>
          <a:prstGeom prst="rect">
            <a:avLst/>
          </a:prstGeom>
          <a:noFill/>
          <a:ln/>
        </p:spPr>
        <p:txBody>
          <a:bodyPr wrap="square" lIns="0" tIns="0" rIns="0" bIns="0" rtlCol="0" anchor="ctr"/>
          <a:lstStyle/>
          <a:p>
            <a:pPr marL="0" indent="0">
              <a:buNone/>
            </a:pPr>
            <a:r>
              <a:rPr lang="en-US" sz="1100" dirty="0">
                <a:solidFill>
                  <a:srgbClr val="1A2B5E"/>
                </a:solidFill>
                <a:latin typeface="Courier New" pitchFamily="34" charset="0"/>
                <a:ea typeface="Courier New" pitchFamily="34" charset="-122"/>
                <a:cs typeface="Courier New" pitchFamily="34" charset="-120"/>
              </a:rPr>
              <a:t>age  ────→  "twenty-five"  [str object]</a:t>
            </a:r>
            <a:endParaRPr lang="en-US" sz="1100" dirty="0"/>
          </a:p>
        </p:txBody>
      </p:sp>
      <p:sp>
        <p:nvSpPr>
          <p:cNvPr id="23" name="Text 21"/>
          <p:cNvSpPr txBox="1"/>
          <p:nvPr/>
        </p:nvSpPr>
        <p:spPr>
          <a:xfrm>
            <a:off x="6675120" y="4553712"/>
            <a:ext cx="4663440" cy="237744"/>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The name is redirected. The integer object 25 is unchanged.</a:t>
            </a:r>
            <a:endParaRPr lang="en-US" sz="1000" dirty="0"/>
          </a:p>
        </p:txBody>
      </p:sp>
      <p:sp>
        <p:nvSpPr>
          <p:cNvPr id="24" name="Shape 22"/>
          <p:cNvSpPr/>
          <p:nvPr/>
        </p:nvSpPr>
        <p:spPr>
          <a:xfrm>
            <a:off x="411480" y="5230368"/>
            <a:ext cx="54864" cy="804672"/>
          </a:xfrm>
          <a:prstGeom prst="rect">
            <a:avLst/>
          </a:prstGeom>
          <a:solidFill>
            <a:srgbClr val="F59E0B"/>
          </a:solidFill>
          <a:ln/>
        </p:spPr>
        <p:txBody>
          <a:bodyPr/>
          <a:lstStyle/>
          <a:p>
            <a:endParaRPr lang="en-US"/>
          </a:p>
        </p:txBody>
      </p:sp>
      <p:sp>
        <p:nvSpPr>
          <p:cNvPr id="25" name="Shape 23"/>
          <p:cNvSpPr/>
          <p:nvPr/>
        </p:nvSpPr>
        <p:spPr>
          <a:xfrm>
            <a:off x="466344" y="5230368"/>
            <a:ext cx="11283696" cy="804672"/>
          </a:xfrm>
          <a:prstGeom prst="rect">
            <a:avLst/>
          </a:prstGeom>
          <a:solidFill>
            <a:srgbClr val="FFFBEB"/>
          </a:solidFill>
          <a:ln w="12700">
            <a:solidFill>
              <a:srgbClr val="FCD34D"/>
            </a:solidFill>
            <a:prstDash val="solid"/>
          </a:ln>
        </p:spPr>
        <p:txBody>
          <a:bodyPr/>
          <a:lstStyle/>
          <a:p>
            <a:endParaRPr lang="en-US"/>
          </a:p>
        </p:txBody>
      </p:sp>
      <p:sp>
        <p:nvSpPr>
          <p:cNvPr id="26" name="Text 24"/>
          <p:cNvSpPr txBox="1"/>
          <p:nvPr/>
        </p:nvSpPr>
        <p:spPr>
          <a:xfrm>
            <a:off x="594360" y="5321808"/>
            <a:ext cx="11064240" cy="621792"/>
          </a:xfrm>
          <a:prstGeom prst="rect">
            <a:avLst/>
          </a:prstGeom>
          <a:noFill/>
          <a:ln/>
        </p:spPr>
        <p:txBody>
          <a:bodyPr wrap="square" lIns="0" tIns="0" rIns="0" bIns="0" rtlCol="0" anchor="ctr"/>
          <a:lstStyle/>
          <a:p>
            <a:pPr marL="0" indent="0">
              <a:lnSpc>
                <a:spcPct val="135000"/>
              </a:lnSpc>
              <a:buNone/>
            </a:pPr>
            <a:r>
              <a:rPr lang="en-US" sz="1200" dirty="0">
                <a:solidFill>
                  <a:srgbClr val="92400E"/>
                </a:solidFill>
                <a:latin typeface="Calibri" pitchFamily="34" charset="0"/>
                <a:ea typeface="Calibri" pitchFamily="34" charset="-122"/>
                <a:cs typeface="Calibri" pitchFamily="34" charset="-120"/>
              </a:rPr>
              <a:t>Do NOT say "Python variables change type." Say: "a name can be rebound to an object of a different type." The object doesn't change. The name is redirected.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Binding Time: When Is the Connection Established?</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3</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Not all connections are made at the same time. Binding time answers: When is a relationship determined?</a:t>
            </a:r>
            <a:endParaRPr lang="en-US" sz="1300" dirty="0"/>
          </a:p>
        </p:txBody>
      </p:sp>
      <p:sp>
        <p:nvSpPr>
          <p:cNvPr id="6" name="Shape 4"/>
          <p:cNvSpPr/>
          <p:nvPr/>
        </p:nvSpPr>
        <p:spPr>
          <a:xfrm>
            <a:off x="411480" y="1325880"/>
            <a:ext cx="11338560" cy="347472"/>
          </a:xfrm>
          <a:prstGeom prst="rect">
            <a:avLst/>
          </a:prstGeom>
          <a:solidFill>
            <a:srgbClr val="1A2B5E"/>
          </a:solidFill>
          <a:ln/>
        </p:spPr>
        <p:txBody>
          <a:bodyPr/>
          <a:lstStyle/>
          <a:p>
            <a:endParaRPr lang="en-US"/>
          </a:p>
        </p:txBody>
      </p:sp>
      <p:sp>
        <p:nvSpPr>
          <p:cNvPr id="7" name="Text 5"/>
          <p:cNvSpPr txBox="1"/>
          <p:nvPr/>
        </p:nvSpPr>
        <p:spPr>
          <a:xfrm>
            <a:off x="548640" y="1389888"/>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When binding occurs</a:t>
            </a:r>
            <a:endParaRPr lang="en-US" sz="1100" dirty="0"/>
          </a:p>
        </p:txBody>
      </p:sp>
      <p:sp>
        <p:nvSpPr>
          <p:cNvPr id="8" name="Text 6"/>
          <p:cNvSpPr txBox="1"/>
          <p:nvPr/>
        </p:nvSpPr>
        <p:spPr>
          <a:xfrm>
            <a:off x="3017520" y="1389888"/>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Called</a:t>
            </a:r>
            <a:endParaRPr lang="en-US" sz="1100" dirty="0"/>
          </a:p>
        </p:txBody>
      </p:sp>
      <p:sp>
        <p:nvSpPr>
          <p:cNvPr id="9" name="Text 7"/>
          <p:cNvSpPr txBox="1"/>
          <p:nvPr/>
        </p:nvSpPr>
        <p:spPr>
          <a:xfrm>
            <a:off x="4937760" y="1389888"/>
            <a:ext cx="658368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0" name="Shape 8"/>
          <p:cNvSpPr/>
          <p:nvPr/>
        </p:nvSpPr>
        <p:spPr>
          <a:xfrm>
            <a:off x="411480" y="1719072"/>
            <a:ext cx="11338560" cy="950976"/>
          </a:xfrm>
          <a:prstGeom prst="rect">
            <a:avLst/>
          </a:prstGeom>
          <a:solidFill>
            <a:srgbClr val="F4F6FC"/>
          </a:solidFill>
          <a:ln w="12700">
            <a:solidFill>
              <a:srgbClr val="D0DAF0"/>
            </a:solidFill>
            <a:prstDash val="solid"/>
          </a:ln>
        </p:spPr>
        <p:txBody>
          <a:bodyPr/>
          <a:lstStyle/>
          <a:p>
            <a:endParaRPr lang="en-US"/>
          </a:p>
        </p:txBody>
      </p:sp>
      <p:sp>
        <p:nvSpPr>
          <p:cNvPr id="11" name="Text 9"/>
          <p:cNvSpPr txBox="1"/>
          <p:nvPr/>
        </p:nvSpPr>
        <p:spPr>
          <a:xfrm>
            <a:off x="548640" y="1828800"/>
            <a:ext cx="2395728" cy="7315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Language is designed</a:t>
            </a:r>
            <a:endParaRPr lang="en-US" sz="1200" dirty="0"/>
          </a:p>
        </p:txBody>
      </p:sp>
      <p:sp>
        <p:nvSpPr>
          <p:cNvPr id="12" name="Text 10"/>
          <p:cNvSpPr txBox="1"/>
          <p:nvPr/>
        </p:nvSpPr>
        <p:spPr>
          <a:xfrm>
            <a:off x="3035808" y="1828800"/>
            <a:ext cx="182880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Language-design time</a:t>
            </a:r>
            <a:endParaRPr lang="en-US" sz="1200" dirty="0"/>
          </a:p>
        </p:txBody>
      </p:sp>
      <p:sp>
        <p:nvSpPr>
          <p:cNvPr id="13" name="Text 11"/>
          <p:cNvSpPr txBox="1"/>
          <p:nvPr/>
        </p:nvSpPr>
        <p:spPr>
          <a:xfrm>
            <a:off x="4956048" y="1828800"/>
            <a:ext cx="6583680" cy="731520"/>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The meaning of + for integers is fixed by the language designer</a:t>
            </a:r>
            <a:endParaRPr lang="en-US" sz="1150" dirty="0"/>
          </a:p>
        </p:txBody>
      </p:sp>
      <p:sp>
        <p:nvSpPr>
          <p:cNvPr id="14" name="Shape 12"/>
          <p:cNvSpPr/>
          <p:nvPr/>
        </p:nvSpPr>
        <p:spPr>
          <a:xfrm>
            <a:off x="411480" y="2706624"/>
            <a:ext cx="11338560" cy="950976"/>
          </a:xfrm>
          <a:prstGeom prst="rect">
            <a:avLst/>
          </a:prstGeom>
          <a:solidFill>
            <a:srgbClr val="FFFFFF"/>
          </a:solidFill>
          <a:ln w="12700">
            <a:solidFill>
              <a:srgbClr val="D0DAF0"/>
            </a:solidFill>
            <a:prstDash val="solid"/>
          </a:ln>
        </p:spPr>
        <p:txBody>
          <a:bodyPr/>
          <a:lstStyle/>
          <a:p>
            <a:endParaRPr lang="en-US"/>
          </a:p>
        </p:txBody>
      </p:sp>
      <p:sp>
        <p:nvSpPr>
          <p:cNvPr id="15" name="Text 13"/>
          <p:cNvSpPr txBox="1"/>
          <p:nvPr/>
        </p:nvSpPr>
        <p:spPr>
          <a:xfrm>
            <a:off x="548640" y="2816352"/>
            <a:ext cx="2395728" cy="7315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Program is compiled</a:t>
            </a:r>
            <a:endParaRPr lang="en-US" sz="1200" dirty="0"/>
          </a:p>
        </p:txBody>
      </p:sp>
      <p:sp>
        <p:nvSpPr>
          <p:cNvPr id="16" name="Text 14"/>
          <p:cNvSpPr txBox="1"/>
          <p:nvPr/>
        </p:nvSpPr>
        <p:spPr>
          <a:xfrm>
            <a:off x="3035808" y="2816352"/>
            <a:ext cx="182880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Compile time</a:t>
            </a:r>
            <a:endParaRPr lang="en-US" sz="1200" dirty="0"/>
          </a:p>
        </p:txBody>
      </p:sp>
      <p:sp>
        <p:nvSpPr>
          <p:cNvPr id="17" name="Text 15"/>
          <p:cNvSpPr txBox="1"/>
          <p:nvPr/>
        </p:nvSpPr>
        <p:spPr>
          <a:xfrm>
            <a:off x="4956048" y="2816352"/>
            <a:ext cx="6583680" cy="731520"/>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In C,  int age  binds name to type int before the program ever runs</a:t>
            </a:r>
            <a:endParaRPr lang="en-US" sz="1150" dirty="0"/>
          </a:p>
        </p:txBody>
      </p:sp>
      <p:sp>
        <p:nvSpPr>
          <p:cNvPr id="18" name="Shape 16"/>
          <p:cNvSpPr/>
          <p:nvPr/>
        </p:nvSpPr>
        <p:spPr>
          <a:xfrm>
            <a:off x="411480" y="3694176"/>
            <a:ext cx="11338560" cy="950976"/>
          </a:xfrm>
          <a:prstGeom prst="rect">
            <a:avLst/>
          </a:prstGeom>
          <a:solidFill>
            <a:srgbClr val="F4F6FC"/>
          </a:solidFill>
          <a:ln w="12700">
            <a:solidFill>
              <a:srgbClr val="D0DAF0"/>
            </a:solidFill>
            <a:prstDash val="solid"/>
          </a:ln>
        </p:spPr>
        <p:txBody>
          <a:bodyPr/>
          <a:lstStyle/>
          <a:p>
            <a:endParaRPr lang="en-US"/>
          </a:p>
        </p:txBody>
      </p:sp>
      <p:sp>
        <p:nvSpPr>
          <p:cNvPr id="19" name="Text 17"/>
          <p:cNvSpPr txBox="1"/>
          <p:nvPr/>
        </p:nvSpPr>
        <p:spPr>
          <a:xfrm>
            <a:off x="548640" y="3803904"/>
            <a:ext cx="2395728" cy="7315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Program starts</a:t>
            </a:r>
            <a:endParaRPr lang="en-US" sz="1200" dirty="0"/>
          </a:p>
        </p:txBody>
      </p:sp>
      <p:sp>
        <p:nvSpPr>
          <p:cNvPr id="20" name="Text 18"/>
          <p:cNvSpPr txBox="1"/>
          <p:nvPr/>
        </p:nvSpPr>
        <p:spPr>
          <a:xfrm>
            <a:off x="3035808" y="3803904"/>
            <a:ext cx="182880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Load / link time</a:t>
            </a:r>
            <a:endParaRPr lang="en-US" sz="1200" dirty="0"/>
          </a:p>
        </p:txBody>
      </p:sp>
      <p:sp>
        <p:nvSpPr>
          <p:cNvPr id="21" name="Text 19"/>
          <p:cNvSpPr txBox="1"/>
          <p:nvPr/>
        </p:nvSpPr>
        <p:spPr>
          <a:xfrm>
            <a:off x="4956048" y="3803904"/>
            <a:ext cx="6583680" cy="731520"/>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Global variables in C get storage when the program loads</a:t>
            </a:r>
            <a:endParaRPr lang="en-US" sz="1150" dirty="0"/>
          </a:p>
        </p:txBody>
      </p:sp>
      <p:sp>
        <p:nvSpPr>
          <p:cNvPr id="22" name="Shape 20"/>
          <p:cNvSpPr/>
          <p:nvPr/>
        </p:nvSpPr>
        <p:spPr>
          <a:xfrm>
            <a:off x="411480" y="4681728"/>
            <a:ext cx="11338560" cy="950976"/>
          </a:xfrm>
          <a:prstGeom prst="rect">
            <a:avLst/>
          </a:prstGeom>
          <a:solidFill>
            <a:srgbClr val="FFFFFF"/>
          </a:solidFill>
          <a:ln w="12700">
            <a:solidFill>
              <a:srgbClr val="D0DAF0"/>
            </a:solidFill>
            <a:prstDash val="solid"/>
          </a:ln>
        </p:spPr>
        <p:txBody>
          <a:bodyPr/>
          <a:lstStyle/>
          <a:p>
            <a:endParaRPr lang="en-US"/>
          </a:p>
        </p:txBody>
      </p:sp>
      <p:sp>
        <p:nvSpPr>
          <p:cNvPr id="23" name="Text 21"/>
          <p:cNvSpPr txBox="1"/>
          <p:nvPr/>
        </p:nvSpPr>
        <p:spPr>
          <a:xfrm>
            <a:off x="548640" y="4791456"/>
            <a:ext cx="2395728" cy="7315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 specific line executes</a:t>
            </a:r>
            <a:endParaRPr lang="en-US" sz="1200" dirty="0"/>
          </a:p>
        </p:txBody>
      </p:sp>
      <p:sp>
        <p:nvSpPr>
          <p:cNvPr id="24" name="Text 22"/>
          <p:cNvSpPr txBox="1"/>
          <p:nvPr/>
        </p:nvSpPr>
        <p:spPr>
          <a:xfrm>
            <a:off x="3035808" y="4791456"/>
            <a:ext cx="182880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Runtime</a:t>
            </a:r>
            <a:endParaRPr lang="en-US" sz="1200" dirty="0"/>
          </a:p>
        </p:txBody>
      </p:sp>
      <p:sp>
        <p:nvSpPr>
          <p:cNvPr id="25" name="Text 23"/>
          <p:cNvSpPr txBox="1"/>
          <p:nvPr/>
        </p:nvSpPr>
        <p:spPr>
          <a:xfrm>
            <a:off x="4956048" y="4791456"/>
            <a:ext cx="6583680" cy="731520"/>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In Python,  x = 10  creates the binding when that line runs</a:t>
            </a:r>
            <a:endParaRPr lang="en-US" sz="1150" dirty="0"/>
          </a:p>
        </p:txBody>
      </p:sp>
      <p:sp>
        <p:nvSpPr>
          <p:cNvPr id="26" name="Shape 24"/>
          <p:cNvSpPr/>
          <p:nvPr/>
        </p:nvSpPr>
        <p:spPr>
          <a:xfrm>
            <a:off x="411480" y="5650992"/>
            <a:ext cx="54864" cy="822960"/>
          </a:xfrm>
          <a:prstGeom prst="rect">
            <a:avLst/>
          </a:prstGeom>
          <a:solidFill>
            <a:srgbClr val="6D28D9"/>
          </a:solidFill>
          <a:ln/>
        </p:spPr>
        <p:txBody>
          <a:bodyPr/>
          <a:lstStyle/>
          <a:p>
            <a:endParaRPr lang="en-US"/>
          </a:p>
        </p:txBody>
      </p:sp>
      <p:sp>
        <p:nvSpPr>
          <p:cNvPr id="27" name="Shape 25"/>
          <p:cNvSpPr/>
          <p:nvPr/>
        </p:nvSpPr>
        <p:spPr>
          <a:xfrm>
            <a:off x="466344" y="5650992"/>
            <a:ext cx="11283696" cy="822960"/>
          </a:xfrm>
          <a:prstGeom prst="rect">
            <a:avLst/>
          </a:prstGeom>
          <a:solidFill>
            <a:srgbClr val="F5F3FF"/>
          </a:solidFill>
          <a:ln w="12700">
            <a:solidFill>
              <a:srgbClr val="C4B5FD"/>
            </a:solidFill>
            <a:prstDash val="solid"/>
          </a:ln>
        </p:spPr>
        <p:txBody>
          <a:bodyPr/>
          <a:lstStyle/>
          <a:p>
            <a:endParaRPr lang="en-US"/>
          </a:p>
        </p:txBody>
      </p:sp>
      <p:sp>
        <p:nvSpPr>
          <p:cNvPr id="28" name="Text 26"/>
          <p:cNvSpPr txBox="1"/>
          <p:nvPr/>
        </p:nvSpPr>
        <p:spPr>
          <a:xfrm>
            <a:off x="594360" y="5724144"/>
            <a:ext cx="11064240" cy="219456"/>
          </a:xfrm>
          <a:prstGeom prst="rect">
            <a:avLst/>
          </a:prstGeom>
          <a:noFill/>
          <a:ln/>
        </p:spPr>
        <p:txBody>
          <a:bodyPr wrap="square" lIns="0" tIns="0" rIns="0" bIns="0" rtlCol="0" anchor="ctr"/>
          <a:lstStyle/>
          <a:p>
            <a:pPr marL="0" indent="0">
              <a:buNone/>
            </a:pPr>
            <a:r>
              <a:rPr lang="en-US" sz="1000" b="1" dirty="0">
                <a:solidFill>
                  <a:srgbClr val="6D28D9"/>
                </a:solidFill>
                <a:latin typeface="Calibri" pitchFamily="34" charset="0"/>
                <a:ea typeface="Calibri" pitchFamily="34" charset="-122"/>
                <a:cs typeface="Calibri" pitchFamily="34" charset="-120"/>
              </a:rPr>
              <a:t>🤔  THINK</a:t>
            </a:r>
            <a:endParaRPr lang="en-US" sz="1000" dirty="0"/>
          </a:p>
        </p:txBody>
      </p:sp>
      <p:sp>
        <p:nvSpPr>
          <p:cNvPr id="29" name="Text 27"/>
          <p:cNvSpPr txBox="1"/>
          <p:nvPr/>
        </p:nvSpPr>
        <p:spPr>
          <a:xfrm>
            <a:off x="594360" y="5971032"/>
            <a:ext cx="11064240" cy="411480"/>
          </a:xfrm>
          <a:prstGeom prst="rect">
            <a:avLst/>
          </a:prstGeom>
          <a:noFill/>
          <a:ln/>
        </p:spPr>
        <p:txBody>
          <a:bodyPr wrap="square" lIns="0" tIns="0" rIns="0" bIns="0" rtlCol="0" anchor="ctr"/>
          <a:lstStyle/>
          <a:p>
            <a:pPr marL="0" indent="0">
              <a:lnSpc>
                <a:spcPct val="135000"/>
              </a:lnSpc>
              <a:buNone/>
            </a:pPr>
            <a:r>
              <a:rPr lang="en-US" sz="1200" dirty="0">
                <a:solidFill>
                  <a:srgbClr val="4C1D95"/>
                </a:solidFill>
                <a:latin typeface="Calibri" pitchFamily="34" charset="0"/>
                <a:ea typeface="Calibri" pitchFamily="34" charset="-122"/>
                <a:cs typeface="Calibri" pitchFamily="34" charset="-120"/>
              </a:rPr>
              <a:t>For each of these, is the type binding static or dynamic?</a:t>
            </a:r>
            <a:endParaRPr lang="en-US" sz="1200" dirty="0"/>
          </a:p>
          <a:p>
            <a:pPr marL="0" indent="0">
              <a:lnSpc>
                <a:spcPct val="135000"/>
              </a:lnSpc>
              <a:buNone/>
            </a:pPr>
            <a:r>
              <a:rPr lang="en-US" sz="1200" dirty="0">
                <a:solidFill>
                  <a:srgbClr val="4C1D95"/>
                </a:solidFill>
                <a:latin typeface="Calibri" pitchFamily="34" charset="0"/>
                <a:ea typeface="Calibri" pitchFamily="34" charset="-122"/>
                <a:cs typeface="Calibri" pitchFamily="34" charset="-120"/>
              </a:rPr>
              <a:t>A: int count = 0;  (C)     B: var count = 0;  (C#)     C: count = 0  (Python)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Static vs Dynamic — Three Concepts, Not Two</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3 · Binding Time</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Students mix these up constantly. Keep them separate.</a:t>
            </a:r>
            <a:endParaRPr lang="en-US" sz="1300" dirty="0"/>
          </a:p>
        </p:txBody>
      </p:sp>
      <p:sp>
        <p:nvSpPr>
          <p:cNvPr id="6" name="Shape 4"/>
          <p:cNvSpPr/>
          <p:nvPr/>
        </p:nvSpPr>
        <p:spPr>
          <a:xfrm>
            <a:off x="411480" y="1325880"/>
            <a:ext cx="11338560" cy="347472"/>
          </a:xfrm>
          <a:prstGeom prst="rect">
            <a:avLst/>
          </a:prstGeom>
          <a:solidFill>
            <a:srgbClr val="1A2B5E"/>
          </a:solidFill>
          <a:ln/>
        </p:spPr>
        <p:txBody>
          <a:bodyPr/>
          <a:lstStyle/>
          <a:p>
            <a:endParaRPr lang="en-US"/>
          </a:p>
        </p:txBody>
      </p:sp>
      <p:sp>
        <p:nvSpPr>
          <p:cNvPr id="7" name="Text 5"/>
          <p:cNvSpPr txBox="1"/>
          <p:nvPr/>
        </p:nvSpPr>
        <p:spPr>
          <a:xfrm>
            <a:off x="548640" y="1389888"/>
            <a:ext cx="16002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8" name="Text 6"/>
          <p:cNvSpPr txBox="1"/>
          <p:nvPr/>
        </p:nvSpPr>
        <p:spPr>
          <a:xfrm>
            <a:off x="2194560" y="1389888"/>
            <a:ext cx="2852928"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Main question</a:t>
            </a:r>
            <a:endParaRPr lang="en-US" sz="1100" dirty="0"/>
          </a:p>
        </p:txBody>
      </p:sp>
      <p:sp>
        <p:nvSpPr>
          <p:cNvPr id="9" name="Text 7"/>
          <p:cNvSpPr txBox="1"/>
          <p:nvPr/>
        </p:nvSpPr>
        <p:spPr>
          <a:xfrm>
            <a:off x="5120640" y="1389888"/>
            <a:ext cx="36576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Example language</a:t>
            </a:r>
            <a:endParaRPr lang="en-US" sz="1100" dirty="0"/>
          </a:p>
        </p:txBody>
      </p:sp>
      <p:sp>
        <p:nvSpPr>
          <p:cNvPr id="10" name="Text 8"/>
          <p:cNvSpPr txBox="1"/>
          <p:nvPr/>
        </p:nvSpPr>
        <p:spPr>
          <a:xfrm>
            <a:off x="8869680" y="1389888"/>
            <a:ext cx="310896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Important note</a:t>
            </a:r>
            <a:endParaRPr lang="en-US" sz="1100" dirty="0"/>
          </a:p>
        </p:txBody>
      </p:sp>
      <p:sp>
        <p:nvSpPr>
          <p:cNvPr id="11" name="Shape 9"/>
          <p:cNvSpPr/>
          <p:nvPr/>
        </p:nvSpPr>
        <p:spPr>
          <a:xfrm>
            <a:off x="411480" y="1719072"/>
            <a:ext cx="11338560" cy="1426464"/>
          </a:xfrm>
          <a:prstGeom prst="rect">
            <a:avLst/>
          </a:prstGeom>
          <a:solidFill>
            <a:srgbClr val="F4F6FC"/>
          </a:solidFill>
          <a:ln w="12700">
            <a:solidFill>
              <a:srgbClr val="D0DAF0"/>
            </a:solidFill>
            <a:prstDash val="solid"/>
          </a:ln>
        </p:spPr>
        <p:txBody>
          <a:bodyPr/>
          <a:lstStyle/>
          <a:p>
            <a:endParaRPr lang="en-US"/>
          </a:p>
        </p:txBody>
      </p:sp>
      <p:sp>
        <p:nvSpPr>
          <p:cNvPr id="12" name="Text 10"/>
          <p:cNvSpPr txBox="1"/>
          <p:nvPr/>
        </p:nvSpPr>
        <p:spPr>
          <a:xfrm>
            <a:off x="548640" y="1883664"/>
            <a:ext cx="1600200" cy="1097280"/>
          </a:xfrm>
          <a:prstGeom prst="rect">
            <a:avLst/>
          </a:prstGeom>
          <a:noFill/>
          <a:ln/>
        </p:spPr>
        <p:txBody>
          <a:bodyPr wrap="square" lIns="0" tIns="0" rIns="0" bIns="0" rtlCol="0" anchor="ctr"/>
          <a:lstStyle/>
          <a:p>
            <a:pPr marL="0" indent="0">
              <a:lnSpc>
                <a:spcPct val="120000"/>
              </a:lnSpc>
              <a:buNone/>
            </a:pPr>
            <a:r>
              <a:rPr lang="en-US" sz="1300" b="1" dirty="0">
                <a:solidFill>
                  <a:srgbClr val="1A2B5E"/>
                </a:solidFill>
                <a:latin typeface="Calibri" pitchFamily="34" charset="0"/>
                <a:ea typeface="Calibri" pitchFamily="34" charset="-122"/>
                <a:cs typeface="Calibri" pitchFamily="34" charset="-120"/>
              </a:rPr>
              <a:t>Binding time</a:t>
            </a:r>
            <a:endParaRPr lang="en-US" sz="1300" dirty="0"/>
          </a:p>
        </p:txBody>
      </p:sp>
      <p:sp>
        <p:nvSpPr>
          <p:cNvPr id="13" name="Text 11"/>
          <p:cNvSpPr txBox="1"/>
          <p:nvPr/>
        </p:nvSpPr>
        <p:spPr>
          <a:xfrm>
            <a:off x="2194560" y="1883664"/>
            <a:ext cx="2852928" cy="109728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When is any particular relationship established?</a:t>
            </a:r>
            <a:endParaRPr lang="en-US" sz="1200" dirty="0"/>
          </a:p>
        </p:txBody>
      </p:sp>
      <p:sp>
        <p:nvSpPr>
          <p:cNvPr id="14" name="Text 12"/>
          <p:cNvSpPr txBox="1"/>
          <p:nvPr/>
        </p:nvSpPr>
        <p:spPr>
          <a:xfrm>
            <a:off x="5120640" y="1883664"/>
            <a:ext cx="3675888" cy="1097280"/>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C binds name to type at compile time; Python binds name to object at runtime</a:t>
            </a:r>
            <a:endParaRPr lang="en-US" sz="1150" dirty="0"/>
          </a:p>
        </p:txBody>
      </p:sp>
      <p:sp>
        <p:nvSpPr>
          <p:cNvPr id="15" name="Text 13"/>
          <p:cNvSpPr txBox="1"/>
          <p:nvPr/>
        </p:nvSpPr>
        <p:spPr>
          <a:xfrm>
            <a:off x="8887968" y="1883664"/>
            <a:ext cx="2755392" cy="1097280"/>
          </a:xfrm>
          <a:prstGeom prst="rect">
            <a:avLst/>
          </a:prstGeom>
          <a:noFill/>
          <a:ln/>
        </p:spPr>
        <p:txBody>
          <a:bodyPr wrap="square" lIns="0" tIns="0" rIns="0" bIns="0" rtlCol="0" anchor="ctr"/>
          <a:lstStyle/>
          <a:p>
            <a:pPr marL="0" indent="0">
              <a:lnSpc>
                <a:spcPct val="130000"/>
              </a:lnSpc>
              <a:buNone/>
            </a:pPr>
            <a:r>
              <a:rPr lang="en-US" sz="1100" dirty="0">
                <a:solidFill>
                  <a:srgbClr val="6D28D9"/>
                </a:solidFill>
                <a:latin typeface="Calibri" pitchFamily="34" charset="0"/>
                <a:ea typeface="Calibri" pitchFamily="34" charset="-122"/>
                <a:cs typeface="Calibri" pitchFamily="34" charset="-120"/>
              </a:rPr>
              <a:t>General concept — applies to names, types, storage, values, operator meanings</a:t>
            </a:r>
            <a:endParaRPr lang="en-US" sz="1100" dirty="0"/>
          </a:p>
        </p:txBody>
      </p:sp>
      <p:sp>
        <p:nvSpPr>
          <p:cNvPr id="16" name="Shape 14"/>
          <p:cNvSpPr/>
          <p:nvPr/>
        </p:nvSpPr>
        <p:spPr>
          <a:xfrm>
            <a:off x="411480" y="3200400"/>
            <a:ext cx="11338560" cy="1426464"/>
          </a:xfrm>
          <a:prstGeom prst="rect">
            <a:avLst/>
          </a:prstGeom>
          <a:solidFill>
            <a:srgbClr val="FFFFFF"/>
          </a:solidFill>
          <a:ln w="12700">
            <a:solidFill>
              <a:srgbClr val="D0DAF0"/>
            </a:solidFill>
            <a:prstDash val="solid"/>
          </a:ln>
        </p:spPr>
        <p:txBody>
          <a:bodyPr/>
          <a:lstStyle/>
          <a:p>
            <a:endParaRPr lang="en-US"/>
          </a:p>
        </p:txBody>
      </p:sp>
      <p:sp>
        <p:nvSpPr>
          <p:cNvPr id="17" name="Text 15"/>
          <p:cNvSpPr txBox="1"/>
          <p:nvPr/>
        </p:nvSpPr>
        <p:spPr>
          <a:xfrm>
            <a:off x="548640" y="3364992"/>
            <a:ext cx="1600200" cy="1097280"/>
          </a:xfrm>
          <a:prstGeom prst="rect">
            <a:avLst/>
          </a:prstGeom>
          <a:noFill/>
          <a:ln/>
        </p:spPr>
        <p:txBody>
          <a:bodyPr wrap="square" lIns="0" tIns="0" rIns="0" bIns="0" rtlCol="0" anchor="ctr"/>
          <a:lstStyle/>
          <a:p>
            <a:pPr marL="0" indent="0">
              <a:lnSpc>
                <a:spcPct val="120000"/>
              </a:lnSpc>
              <a:buNone/>
            </a:pPr>
            <a:r>
              <a:rPr lang="en-US" sz="1300" b="1" dirty="0">
                <a:solidFill>
                  <a:srgbClr val="1A2B5E"/>
                </a:solidFill>
                <a:latin typeface="Calibri" pitchFamily="34" charset="0"/>
                <a:ea typeface="Calibri" pitchFamily="34" charset="-122"/>
                <a:cs typeface="Calibri" pitchFamily="34" charset="-120"/>
              </a:rPr>
              <a:t>Static typing</a:t>
            </a:r>
            <a:endParaRPr lang="en-US" sz="1300" dirty="0"/>
          </a:p>
        </p:txBody>
      </p:sp>
      <p:sp>
        <p:nvSpPr>
          <p:cNvPr id="18" name="Text 16"/>
          <p:cNvSpPr txBox="1"/>
          <p:nvPr/>
        </p:nvSpPr>
        <p:spPr>
          <a:xfrm>
            <a:off x="2194560" y="3364992"/>
            <a:ext cx="2852928" cy="109728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When are type rules checked?</a:t>
            </a:r>
            <a:endParaRPr lang="en-US" sz="1200" dirty="0"/>
          </a:p>
        </p:txBody>
      </p:sp>
      <p:sp>
        <p:nvSpPr>
          <p:cNvPr id="19" name="Text 17"/>
          <p:cNvSpPr txBox="1"/>
          <p:nvPr/>
        </p:nvSpPr>
        <p:spPr>
          <a:xfrm>
            <a:off x="5120640" y="3364992"/>
            <a:ext cx="3675888" cy="1097280"/>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C and C# check types at compile time — before the program runs</a:t>
            </a:r>
            <a:endParaRPr lang="en-US" sz="1150" dirty="0"/>
          </a:p>
        </p:txBody>
      </p:sp>
      <p:sp>
        <p:nvSpPr>
          <p:cNvPr id="20" name="Text 18"/>
          <p:cNvSpPr txBox="1"/>
          <p:nvPr/>
        </p:nvSpPr>
        <p:spPr>
          <a:xfrm>
            <a:off x="8887968" y="3364992"/>
            <a:ext cx="3108960" cy="1097280"/>
          </a:xfrm>
          <a:prstGeom prst="rect">
            <a:avLst/>
          </a:prstGeom>
          <a:noFill/>
          <a:ln/>
        </p:spPr>
        <p:txBody>
          <a:bodyPr wrap="square" lIns="0" tIns="0" rIns="0" bIns="0" rtlCol="0" anchor="ctr"/>
          <a:lstStyle/>
          <a:p>
            <a:pPr marL="0" indent="0">
              <a:lnSpc>
                <a:spcPct val="130000"/>
              </a:lnSpc>
              <a:buNone/>
            </a:pPr>
            <a:r>
              <a:rPr lang="en-US" sz="1100" dirty="0">
                <a:solidFill>
                  <a:srgbClr val="6D28D9"/>
                </a:solidFill>
                <a:latin typeface="Calibri" pitchFamily="34" charset="0"/>
                <a:ea typeface="Calibri" pitchFamily="34" charset="-122"/>
                <a:cs typeface="Calibri" pitchFamily="34" charset="-120"/>
              </a:rPr>
              <a:t>Specific dimension of binding time — about type checking only</a:t>
            </a:r>
            <a:endParaRPr lang="en-US" sz="1100" dirty="0"/>
          </a:p>
        </p:txBody>
      </p:sp>
      <p:sp>
        <p:nvSpPr>
          <p:cNvPr id="21" name="Shape 19"/>
          <p:cNvSpPr/>
          <p:nvPr/>
        </p:nvSpPr>
        <p:spPr>
          <a:xfrm>
            <a:off x="411480" y="4681728"/>
            <a:ext cx="11338560" cy="1426464"/>
          </a:xfrm>
          <a:prstGeom prst="rect">
            <a:avLst/>
          </a:prstGeom>
          <a:solidFill>
            <a:srgbClr val="F4F6FC"/>
          </a:solidFill>
          <a:ln w="12700">
            <a:solidFill>
              <a:srgbClr val="D0DAF0"/>
            </a:solidFill>
            <a:prstDash val="solid"/>
          </a:ln>
        </p:spPr>
        <p:txBody>
          <a:bodyPr/>
          <a:lstStyle/>
          <a:p>
            <a:endParaRPr lang="en-US"/>
          </a:p>
        </p:txBody>
      </p:sp>
      <p:sp>
        <p:nvSpPr>
          <p:cNvPr id="22" name="Text 20"/>
          <p:cNvSpPr txBox="1"/>
          <p:nvPr/>
        </p:nvSpPr>
        <p:spPr>
          <a:xfrm>
            <a:off x="548640" y="4846320"/>
            <a:ext cx="1600200" cy="1097280"/>
          </a:xfrm>
          <a:prstGeom prst="rect">
            <a:avLst/>
          </a:prstGeom>
          <a:noFill/>
          <a:ln/>
        </p:spPr>
        <p:txBody>
          <a:bodyPr wrap="square" lIns="0" tIns="0" rIns="0" bIns="0" rtlCol="0" anchor="ctr"/>
          <a:lstStyle/>
          <a:p>
            <a:pPr marL="0" indent="0">
              <a:lnSpc>
                <a:spcPct val="120000"/>
              </a:lnSpc>
              <a:buNone/>
            </a:pPr>
            <a:r>
              <a:rPr lang="en-US" sz="1300" b="1" dirty="0">
                <a:solidFill>
                  <a:srgbClr val="1A2B5E"/>
                </a:solidFill>
                <a:latin typeface="Calibri" pitchFamily="34" charset="0"/>
                <a:ea typeface="Calibri" pitchFamily="34" charset="-122"/>
                <a:cs typeface="Calibri" pitchFamily="34" charset="-120"/>
              </a:rPr>
              <a:t>Dynamic typing</a:t>
            </a:r>
            <a:endParaRPr lang="en-US" sz="1300" dirty="0"/>
          </a:p>
        </p:txBody>
      </p:sp>
      <p:sp>
        <p:nvSpPr>
          <p:cNvPr id="23" name="Text 21"/>
          <p:cNvSpPr txBox="1"/>
          <p:nvPr/>
        </p:nvSpPr>
        <p:spPr>
          <a:xfrm>
            <a:off x="2194560" y="4846320"/>
            <a:ext cx="2852928" cy="109728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Are type checks deferred?</a:t>
            </a:r>
            <a:endParaRPr lang="en-US" sz="1200" dirty="0"/>
          </a:p>
        </p:txBody>
      </p:sp>
      <p:sp>
        <p:nvSpPr>
          <p:cNvPr id="24" name="Text 22"/>
          <p:cNvSpPr txBox="1"/>
          <p:nvPr/>
        </p:nvSpPr>
        <p:spPr>
          <a:xfrm>
            <a:off x="5120640" y="4846320"/>
            <a:ext cx="3675888" cy="1097280"/>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Python checks types at runtime — when code actually executes</a:t>
            </a:r>
            <a:endParaRPr lang="en-US" sz="1150" dirty="0"/>
          </a:p>
        </p:txBody>
      </p:sp>
      <p:sp>
        <p:nvSpPr>
          <p:cNvPr id="25" name="Text 23"/>
          <p:cNvSpPr txBox="1"/>
          <p:nvPr/>
        </p:nvSpPr>
        <p:spPr>
          <a:xfrm>
            <a:off x="8887968" y="4846320"/>
            <a:ext cx="2755392" cy="1024128"/>
          </a:xfrm>
          <a:prstGeom prst="rect">
            <a:avLst/>
          </a:prstGeom>
          <a:noFill/>
          <a:ln/>
        </p:spPr>
        <p:txBody>
          <a:bodyPr wrap="square" lIns="0" tIns="0" rIns="0" bIns="0" rtlCol="0" anchor="ctr"/>
          <a:lstStyle/>
          <a:p>
            <a:pPr marL="0" indent="0">
              <a:lnSpc>
                <a:spcPct val="130000"/>
              </a:lnSpc>
              <a:buNone/>
            </a:pPr>
            <a:r>
              <a:rPr lang="en-US" sz="1100" dirty="0">
                <a:solidFill>
                  <a:srgbClr val="6D28D9"/>
                </a:solidFill>
                <a:latin typeface="Calibri" pitchFamily="34" charset="0"/>
                <a:ea typeface="Calibri" pitchFamily="34" charset="-122"/>
                <a:cs typeface="Calibri" pitchFamily="34" charset="-120"/>
              </a:rPr>
              <a:t>Not the same as "no types" — Python is strongly typed at runtime</a:t>
            </a:r>
            <a:endParaRPr lang="en-US" sz="1100" dirty="0"/>
          </a:p>
        </p:txBody>
      </p:sp>
      <p:sp>
        <p:nvSpPr>
          <p:cNvPr id="26" name="Shape 24"/>
          <p:cNvSpPr/>
          <p:nvPr/>
        </p:nvSpPr>
        <p:spPr>
          <a:xfrm>
            <a:off x="411480" y="6419088"/>
            <a:ext cx="54864" cy="347472"/>
          </a:xfrm>
          <a:prstGeom prst="rect">
            <a:avLst/>
          </a:prstGeom>
          <a:solidFill>
            <a:srgbClr val="2E5BFF"/>
          </a:solidFill>
          <a:ln/>
        </p:spPr>
        <p:txBody>
          <a:bodyPr/>
          <a:lstStyle/>
          <a:p>
            <a:endParaRPr lang="en-US"/>
          </a:p>
        </p:txBody>
      </p:sp>
      <p:sp>
        <p:nvSpPr>
          <p:cNvPr id="27" name="Shape 25"/>
          <p:cNvSpPr/>
          <p:nvPr/>
        </p:nvSpPr>
        <p:spPr>
          <a:xfrm>
            <a:off x="466344" y="6419088"/>
            <a:ext cx="11283696" cy="347472"/>
          </a:xfrm>
          <a:prstGeom prst="rect">
            <a:avLst/>
          </a:prstGeom>
          <a:solidFill>
            <a:srgbClr val="EFF6FF"/>
          </a:solidFill>
          <a:ln w="12700">
            <a:solidFill>
              <a:srgbClr val="BFDBFE"/>
            </a:solidFill>
            <a:prstDash val="solid"/>
          </a:ln>
        </p:spPr>
        <p:txBody>
          <a:bodyPr/>
          <a:lstStyle/>
          <a:p>
            <a:endParaRPr lang="en-US"/>
          </a:p>
        </p:txBody>
      </p:sp>
      <p:sp>
        <p:nvSpPr>
          <p:cNvPr id="28" name="Text 26"/>
          <p:cNvSpPr txBox="1"/>
          <p:nvPr/>
        </p:nvSpPr>
        <p:spPr>
          <a:xfrm>
            <a:off x="594360" y="6510528"/>
            <a:ext cx="11064240" cy="164592"/>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Typing (static vs dynamic) is a specific case of binding time — when type-related checks are performed. Binding time is broader: it covers all connections, not just types.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Variable Lifetime: How Long Does It Exist?</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4</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The lifetime of a variable is the period during program execution when the variable exists and can be used.</a:t>
            </a:r>
            <a:endParaRPr lang="en-US" sz="1300" dirty="0"/>
          </a:p>
        </p:txBody>
      </p:sp>
      <p:sp>
        <p:nvSpPr>
          <p:cNvPr id="6" name="Shape 4"/>
          <p:cNvSpPr/>
          <p:nvPr/>
        </p:nvSpPr>
        <p:spPr>
          <a:xfrm>
            <a:off x="411480" y="1499616"/>
            <a:ext cx="164592" cy="164592"/>
          </a:xfrm>
          <a:prstGeom prst="rect">
            <a:avLst/>
          </a:prstGeom>
          <a:solidFill>
            <a:srgbClr val="2E5BFF"/>
          </a:solidFill>
          <a:ln/>
        </p:spPr>
        <p:txBody>
          <a:bodyPr/>
          <a:lstStyle/>
          <a:p>
            <a:endParaRPr lang="en-US"/>
          </a:p>
        </p:txBody>
      </p:sp>
      <p:sp>
        <p:nvSpPr>
          <p:cNvPr id="7" name="Shape 5"/>
          <p:cNvSpPr/>
          <p:nvPr/>
        </p:nvSpPr>
        <p:spPr>
          <a:xfrm>
            <a:off x="466344" y="1664208"/>
            <a:ext cx="54864" cy="804672"/>
          </a:xfrm>
          <a:prstGeom prst="rect">
            <a:avLst/>
          </a:prstGeom>
          <a:solidFill>
            <a:srgbClr val="D0DAF0"/>
          </a:solidFill>
          <a:ln/>
        </p:spPr>
        <p:txBody>
          <a:bodyPr/>
          <a:lstStyle/>
          <a:p>
            <a:endParaRPr lang="en-US"/>
          </a:p>
        </p:txBody>
      </p:sp>
      <p:sp>
        <p:nvSpPr>
          <p:cNvPr id="8" name="Text 6"/>
          <p:cNvSpPr txBox="1"/>
          <p:nvPr/>
        </p:nvSpPr>
        <p:spPr>
          <a:xfrm>
            <a:off x="713232" y="1444752"/>
            <a:ext cx="228600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Function is called</a:t>
            </a:r>
            <a:endParaRPr lang="en-US" sz="1300" dirty="0"/>
          </a:p>
        </p:txBody>
      </p:sp>
      <p:sp>
        <p:nvSpPr>
          <p:cNvPr id="9" name="Text 7"/>
          <p:cNvSpPr txBox="1"/>
          <p:nvPr/>
        </p:nvSpPr>
        <p:spPr>
          <a:xfrm>
            <a:off x="713232" y="1719072"/>
            <a:ext cx="3200400" cy="594360"/>
          </a:xfrm>
          <a:prstGeom prst="rect">
            <a:avLst/>
          </a:prstGeom>
          <a:noFill/>
          <a:ln/>
        </p:spPr>
        <p:txBody>
          <a:bodyPr wrap="square" lIns="0" tIns="0" rIns="0" bIns="0" rtlCol="0" anchor="ctr"/>
          <a:lstStyle/>
          <a:p>
            <a:pPr marL="0" indent="0">
              <a:lnSpc>
                <a:spcPct val="130000"/>
              </a:lnSpc>
              <a:buNone/>
            </a:pPr>
            <a:r>
              <a:rPr lang="en-US" sz="1200" dirty="0">
                <a:solidFill>
                  <a:srgbClr val="5A6A82"/>
                </a:solidFill>
                <a:latin typeface="Calibri" pitchFamily="34" charset="0"/>
                <a:ea typeface="Calibri" pitchFamily="34" charset="-122"/>
                <a:cs typeface="Calibri" pitchFamily="34" charset="-120"/>
              </a:rPr>
              <a:t>Execution enters greet()</a:t>
            </a:r>
            <a:endParaRPr lang="en-US" sz="1200" dirty="0"/>
          </a:p>
        </p:txBody>
      </p:sp>
      <p:sp>
        <p:nvSpPr>
          <p:cNvPr id="10" name="Shape 8"/>
          <p:cNvSpPr/>
          <p:nvPr/>
        </p:nvSpPr>
        <p:spPr>
          <a:xfrm>
            <a:off x="411480" y="2578608"/>
            <a:ext cx="164592" cy="164592"/>
          </a:xfrm>
          <a:prstGeom prst="rect">
            <a:avLst/>
          </a:prstGeom>
          <a:solidFill>
            <a:srgbClr val="1A7A3C"/>
          </a:solidFill>
          <a:ln/>
        </p:spPr>
        <p:txBody>
          <a:bodyPr/>
          <a:lstStyle/>
          <a:p>
            <a:endParaRPr lang="en-US"/>
          </a:p>
        </p:txBody>
      </p:sp>
      <p:sp>
        <p:nvSpPr>
          <p:cNvPr id="11" name="Shape 9"/>
          <p:cNvSpPr/>
          <p:nvPr/>
        </p:nvSpPr>
        <p:spPr>
          <a:xfrm>
            <a:off x="466344" y="2743200"/>
            <a:ext cx="54864" cy="804672"/>
          </a:xfrm>
          <a:prstGeom prst="rect">
            <a:avLst/>
          </a:prstGeom>
          <a:solidFill>
            <a:srgbClr val="D0DAF0"/>
          </a:solidFill>
          <a:ln/>
        </p:spPr>
        <p:txBody>
          <a:bodyPr/>
          <a:lstStyle/>
          <a:p>
            <a:endParaRPr lang="en-US"/>
          </a:p>
        </p:txBody>
      </p:sp>
      <p:sp>
        <p:nvSpPr>
          <p:cNvPr id="12" name="Text 10"/>
          <p:cNvSpPr txBox="1"/>
          <p:nvPr/>
        </p:nvSpPr>
        <p:spPr>
          <a:xfrm>
            <a:off x="713232" y="2523744"/>
            <a:ext cx="228600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Variable is created</a:t>
            </a:r>
            <a:endParaRPr lang="en-US" sz="1300" dirty="0"/>
          </a:p>
        </p:txBody>
      </p:sp>
      <p:sp>
        <p:nvSpPr>
          <p:cNvPr id="13" name="Text 11"/>
          <p:cNvSpPr txBox="1"/>
          <p:nvPr/>
        </p:nvSpPr>
        <p:spPr>
          <a:xfrm>
            <a:off x="713232" y="2798064"/>
            <a:ext cx="3200400" cy="594360"/>
          </a:xfrm>
          <a:prstGeom prst="rect">
            <a:avLst/>
          </a:prstGeom>
          <a:noFill/>
          <a:ln/>
        </p:spPr>
        <p:txBody>
          <a:bodyPr wrap="square" lIns="0" tIns="0" rIns="0" bIns="0" rtlCol="0" anchor="ctr"/>
          <a:lstStyle/>
          <a:p>
            <a:pPr marL="0" indent="0">
              <a:lnSpc>
                <a:spcPct val="130000"/>
              </a:lnSpc>
              <a:buNone/>
            </a:pPr>
            <a:r>
              <a:rPr lang="en-US" sz="1200" dirty="0">
                <a:solidFill>
                  <a:srgbClr val="5A6A82"/>
                </a:solidFill>
                <a:latin typeface="Calibri" pitchFamily="34" charset="0"/>
                <a:ea typeface="Calibri" pitchFamily="34" charset="-122"/>
                <a:cs typeface="Calibri" pitchFamily="34" charset="-120"/>
              </a:rPr>
              <a:t>age comes into existence — storage allocated, binding established</a:t>
            </a:r>
            <a:endParaRPr lang="en-US" sz="1200" dirty="0"/>
          </a:p>
        </p:txBody>
      </p:sp>
      <p:sp>
        <p:nvSpPr>
          <p:cNvPr id="14" name="Shape 12"/>
          <p:cNvSpPr/>
          <p:nvPr/>
        </p:nvSpPr>
        <p:spPr>
          <a:xfrm>
            <a:off x="411480" y="3657600"/>
            <a:ext cx="164592" cy="164592"/>
          </a:xfrm>
          <a:prstGeom prst="rect">
            <a:avLst/>
          </a:prstGeom>
          <a:solidFill>
            <a:srgbClr val="2E5BFF"/>
          </a:solidFill>
          <a:ln/>
        </p:spPr>
        <p:txBody>
          <a:bodyPr/>
          <a:lstStyle/>
          <a:p>
            <a:endParaRPr lang="en-US"/>
          </a:p>
        </p:txBody>
      </p:sp>
      <p:sp>
        <p:nvSpPr>
          <p:cNvPr id="15" name="Shape 13"/>
          <p:cNvSpPr/>
          <p:nvPr/>
        </p:nvSpPr>
        <p:spPr>
          <a:xfrm>
            <a:off x="466344" y="3822192"/>
            <a:ext cx="54864" cy="804672"/>
          </a:xfrm>
          <a:prstGeom prst="rect">
            <a:avLst/>
          </a:prstGeom>
          <a:solidFill>
            <a:srgbClr val="D0DAF0"/>
          </a:solidFill>
          <a:ln/>
        </p:spPr>
        <p:txBody>
          <a:bodyPr/>
          <a:lstStyle/>
          <a:p>
            <a:endParaRPr lang="en-US"/>
          </a:p>
        </p:txBody>
      </p:sp>
      <p:sp>
        <p:nvSpPr>
          <p:cNvPr id="16" name="Text 14"/>
          <p:cNvSpPr txBox="1"/>
          <p:nvPr/>
        </p:nvSpPr>
        <p:spPr>
          <a:xfrm>
            <a:off x="713232" y="3602736"/>
            <a:ext cx="228600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Variable is used</a:t>
            </a:r>
            <a:endParaRPr lang="en-US" sz="1300" dirty="0"/>
          </a:p>
        </p:txBody>
      </p:sp>
      <p:sp>
        <p:nvSpPr>
          <p:cNvPr id="17" name="Text 15"/>
          <p:cNvSpPr txBox="1"/>
          <p:nvPr/>
        </p:nvSpPr>
        <p:spPr>
          <a:xfrm>
            <a:off x="713232" y="3877056"/>
            <a:ext cx="3200400" cy="594360"/>
          </a:xfrm>
          <a:prstGeom prst="rect">
            <a:avLst/>
          </a:prstGeom>
          <a:noFill/>
          <a:ln/>
        </p:spPr>
        <p:txBody>
          <a:bodyPr wrap="square" lIns="0" tIns="0" rIns="0" bIns="0" rtlCol="0" anchor="ctr"/>
          <a:lstStyle/>
          <a:p>
            <a:pPr marL="0" indent="0">
              <a:lnSpc>
                <a:spcPct val="130000"/>
              </a:lnSpc>
              <a:buNone/>
            </a:pPr>
            <a:r>
              <a:rPr lang="en-US" sz="1200" dirty="0">
                <a:solidFill>
                  <a:srgbClr val="5A6A82"/>
                </a:solidFill>
                <a:latin typeface="Calibri" pitchFamily="34" charset="0"/>
                <a:ea typeface="Calibri" pitchFamily="34" charset="-122"/>
                <a:cs typeface="Calibri" pitchFamily="34" charset="-120"/>
              </a:rPr>
              <a:t>age is read, printed, or modified — can happen many times</a:t>
            </a:r>
            <a:endParaRPr lang="en-US" sz="1200" dirty="0"/>
          </a:p>
        </p:txBody>
      </p:sp>
      <p:sp>
        <p:nvSpPr>
          <p:cNvPr id="18" name="Shape 16"/>
          <p:cNvSpPr/>
          <p:nvPr/>
        </p:nvSpPr>
        <p:spPr>
          <a:xfrm>
            <a:off x="411480" y="4736592"/>
            <a:ext cx="164592" cy="164592"/>
          </a:xfrm>
          <a:prstGeom prst="rect">
            <a:avLst/>
          </a:prstGeom>
          <a:solidFill>
            <a:srgbClr val="9B1C1C"/>
          </a:solidFill>
          <a:ln/>
        </p:spPr>
        <p:txBody>
          <a:bodyPr/>
          <a:lstStyle/>
          <a:p>
            <a:endParaRPr lang="en-US"/>
          </a:p>
        </p:txBody>
      </p:sp>
      <p:sp>
        <p:nvSpPr>
          <p:cNvPr id="19" name="Text 17"/>
          <p:cNvSpPr txBox="1"/>
          <p:nvPr/>
        </p:nvSpPr>
        <p:spPr>
          <a:xfrm>
            <a:off x="713232" y="4681728"/>
            <a:ext cx="228600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Function returns</a:t>
            </a:r>
            <a:endParaRPr lang="en-US" sz="1300" dirty="0"/>
          </a:p>
        </p:txBody>
      </p:sp>
      <p:sp>
        <p:nvSpPr>
          <p:cNvPr id="20" name="Text 18"/>
          <p:cNvSpPr txBox="1"/>
          <p:nvPr/>
        </p:nvSpPr>
        <p:spPr>
          <a:xfrm>
            <a:off x="713232" y="4956048"/>
            <a:ext cx="3200400" cy="594360"/>
          </a:xfrm>
          <a:prstGeom prst="rect">
            <a:avLst/>
          </a:prstGeom>
          <a:noFill/>
          <a:ln/>
        </p:spPr>
        <p:txBody>
          <a:bodyPr wrap="square" lIns="0" tIns="0" rIns="0" bIns="0" rtlCol="0" anchor="ctr"/>
          <a:lstStyle/>
          <a:p>
            <a:pPr marL="0" indent="0">
              <a:lnSpc>
                <a:spcPct val="130000"/>
              </a:lnSpc>
              <a:buNone/>
            </a:pPr>
            <a:r>
              <a:rPr lang="en-US" sz="1200" dirty="0">
                <a:solidFill>
                  <a:srgbClr val="5A6A82"/>
                </a:solidFill>
                <a:latin typeface="Calibri" pitchFamily="34" charset="0"/>
                <a:ea typeface="Calibri" pitchFamily="34" charset="-122"/>
                <a:cs typeface="Calibri" pitchFamily="34" charset="-120"/>
              </a:rPr>
              <a:t>age ceases to exist. Access after this point is an error.</a:t>
            </a:r>
            <a:endParaRPr lang="en-US" sz="1200" dirty="0"/>
          </a:p>
        </p:txBody>
      </p:sp>
      <p:sp>
        <p:nvSpPr>
          <p:cNvPr id="21" name="Shape 19"/>
          <p:cNvSpPr/>
          <p:nvPr/>
        </p:nvSpPr>
        <p:spPr>
          <a:xfrm>
            <a:off x="4480560" y="1389888"/>
            <a:ext cx="7269480" cy="5120640"/>
          </a:xfrm>
          <a:prstGeom prst="rect">
            <a:avLst/>
          </a:prstGeom>
          <a:solidFill>
            <a:srgbClr val="FFFFFF"/>
          </a:solidFill>
          <a:ln w="12700">
            <a:solidFill>
              <a:srgbClr val="D0DAF0"/>
            </a:solidFill>
            <a:prstDash val="solid"/>
          </a:ln>
        </p:spPr>
        <p:txBody>
          <a:bodyPr/>
          <a:lstStyle/>
          <a:p>
            <a:endParaRPr lang="en-US"/>
          </a:p>
        </p:txBody>
      </p:sp>
      <p:sp>
        <p:nvSpPr>
          <p:cNvPr id="22" name="Text 20"/>
          <p:cNvSpPr txBox="1"/>
          <p:nvPr/>
        </p:nvSpPr>
        <p:spPr>
          <a:xfrm>
            <a:off x="4663440" y="1463040"/>
            <a:ext cx="690372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Scope vs Lifetime — keep these separate</a:t>
            </a:r>
            <a:endParaRPr lang="en-US" sz="1300" dirty="0"/>
          </a:p>
        </p:txBody>
      </p:sp>
      <p:sp>
        <p:nvSpPr>
          <p:cNvPr id="23" name="Shape 21"/>
          <p:cNvSpPr/>
          <p:nvPr/>
        </p:nvSpPr>
        <p:spPr>
          <a:xfrm>
            <a:off x="4663440" y="1810512"/>
            <a:ext cx="6903720" cy="2048256"/>
          </a:xfrm>
          <a:prstGeom prst="rect">
            <a:avLst/>
          </a:prstGeom>
          <a:solidFill>
            <a:srgbClr val="EFF6FF"/>
          </a:solidFill>
          <a:ln w="12700">
            <a:solidFill>
              <a:srgbClr val="BFDBFE"/>
            </a:solidFill>
            <a:prstDash val="solid"/>
          </a:ln>
        </p:spPr>
        <p:txBody>
          <a:bodyPr/>
          <a:lstStyle/>
          <a:p>
            <a:endParaRPr lang="en-US"/>
          </a:p>
        </p:txBody>
      </p:sp>
      <p:sp>
        <p:nvSpPr>
          <p:cNvPr id="24" name="Text 22"/>
          <p:cNvSpPr txBox="1"/>
          <p:nvPr/>
        </p:nvSpPr>
        <p:spPr>
          <a:xfrm>
            <a:off x="4828032" y="1901952"/>
            <a:ext cx="6583680" cy="274320"/>
          </a:xfrm>
          <a:prstGeom prst="rect">
            <a:avLst/>
          </a:prstGeom>
          <a:noFill/>
          <a:ln/>
        </p:spPr>
        <p:txBody>
          <a:bodyPr wrap="square" lIns="0" tIns="0" rIns="0" bIns="0" rtlCol="0" anchor="ctr"/>
          <a:lstStyle/>
          <a:p>
            <a:pPr marL="0" indent="0">
              <a:buNone/>
            </a:pPr>
            <a:r>
              <a:rPr lang="en-US" sz="1400" b="1" dirty="0">
                <a:solidFill>
                  <a:srgbClr val="1E40AF"/>
                </a:solidFill>
                <a:latin typeface="Calibri" pitchFamily="34" charset="0"/>
                <a:ea typeface="Calibri" pitchFamily="34" charset="-122"/>
                <a:cs typeface="Calibri" pitchFamily="34" charset="-120"/>
              </a:rPr>
              <a:t>Scope</a:t>
            </a:r>
            <a:endParaRPr lang="en-US" sz="1400" dirty="0"/>
          </a:p>
        </p:txBody>
      </p:sp>
      <p:sp>
        <p:nvSpPr>
          <p:cNvPr id="25" name="Text 23"/>
          <p:cNvSpPr txBox="1"/>
          <p:nvPr/>
        </p:nvSpPr>
        <p:spPr>
          <a:xfrm>
            <a:off x="4828032" y="2194560"/>
            <a:ext cx="6583680" cy="329184"/>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WHERE in source code a name can be accessed</a:t>
            </a:r>
            <a:endParaRPr lang="en-US" sz="1200" dirty="0"/>
          </a:p>
        </p:txBody>
      </p:sp>
      <p:sp>
        <p:nvSpPr>
          <p:cNvPr id="26" name="Text 24"/>
          <p:cNvSpPr txBox="1"/>
          <p:nvPr/>
        </p:nvSpPr>
        <p:spPr>
          <a:xfrm>
            <a:off x="4828032" y="2542032"/>
            <a:ext cx="6583680" cy="594360"/>
          </a:xfrm>
          <a:prstGeom prst="rect">
            <a:avLst/>
          </a:prstGeom>
          <a:noFill/>
          <a:ln/>
        </p:spPr>
        <p:txBody>
          <a:bodyPr wrap="square" lIns="0" tIns="0" rIns="0" bIns="0" rtlCol="0" anchor="ctr"/>
          <a:lstStyle/>
          <a:p>
            <a:pPr marL="0" indent="0">
              <a:lnSpc>
                <a:spcPct val="130000"/>
              </a:lnSpc>
              <a:buNone/>
            </a:pPr>
            <a:r>
              <a:rPr lang="en-US" sz="1200" dirty="0">
                <a:solidFill>
                  <a:srgbClr val="5A6A82"/>
                </a:solidFill>
                <a:latin typeface="Calibri" pitchFamily="34" charset="0"/>
                <a:ea typeface="Calibri" pitchFamily="34" charset="-122"/>
                <a:cs typeface="Calibri" pitchFamily="34" charset="-120"/>
              </a:rPr>
              <a:t>A static, textual property — determinable by reading code, before running it</a:t>
            </a:r>
            <a:endParaRPr lang="en-US" sz="1200" dirty="0"/>
          </a:p>
        </p:txBody>
      </p:sp>
      <p:sp>
        <p:nvSpPr>
          <p:cNvPr id="27" name="Text 25"/>
          <p:cNvSpPr txBox="1"/>
          <p:nvPr/>
        </p:nvSpPr>
        <p:spPr>
          <a:xfrm>
            <a:off x="4828032" y="3474720"/>
            <a:ext cx="2286000" cy="256032"/>
          </a:xfrm>
          <a:prstGeom prst="rect">
            <a:avLst/>
          </a:prstGeom>
          <a:noFill/>
          <a:ln/>
        </p:spPr>
        <p:txBody>
          <a:bodyPr wrap="square" lIns="0" tIns="0" rIns="0" bIns="0" rtlCol="0" anchor="ctr"/>
          <a:lstStyle/>
          <a:p>
            <a:pPr marL="0" indent="0">
              <a:buNone/>
            </a:pPr>
            <a:r>
              <a:rPr lang="en-US" sz="1100" b="1" dirty="0">
                <a:solidFill>
                  <a:srgbClr val="1E40AF"/>
                </a:solidFill>
                <a:latin typeface="Calibri" pitchFamily="34" charset="0"/>
                <a:ea typeface="Calibri" pitchFamily="34" charset="-122"/>
                <a:cs typeface="Calibri" pitchFamily="34" charset="-120"/>
              </a:rPr>
              <a:t>→ Chapter 4</a:t>
            </a:r>
            <a:endParaRPr lang="en-US" sz="1100" dirty="0"/>
          </a:p>
        </p:txBody>
      </p:sp>
      <p:sp>
        <p:nvSpPr>
          <p:cNvPr id="28" name="Shape 26"/>
          <p:cNvSpPr/>
          <p:nvPr/>
        </p:nvSpPr>
        <p:spPr>
          <a:xfrm>
            <a:off x="4663440" y="4078224"/>
            <a:ext cx="6903720" cy="2048256"/>
          </a:xfrm>
          <a:prstGeom prst="rect">
            <a:avLst/>
          </a:prstGeom>
          <a:solidFill>
            <a:srgbClr val="F0FDF4"/>
          </a:solidFill>
          <a:ln w="12700">
            <a:solidFill>
              <a:srgbClr val="BBF7D0"/>
            </a:solidFill>
            <a:prstDash val="solid"/>
          </a:ln>
        </p:spPr>
        <p:txBody>
          <a:bodyPr/>
          <a:lstStyle/>
          <a:p>
            <a:endParaRPr lang="en-US"/>
          </a:p>
        </p:txBody>
      </p:sp>
      <p:sp>
        <p:nvSpPr>
          <p:cNvPr id="29" name="Text 27"/>
          <p:cNvSpPr txBox="1"/>
          <p:nvPr/>
        </p:nvSpPr>
        <p:spPr>
          <a:xfrm>
            <a:off x="4828032" y="4169664"/>
            <a:ext cx="6583680" cy="274320"/>
          </a:xfrm>
          <a:prstGeom prst="rect">
            <a:avLst/>
          </a:prstGeom>
          <a:noFill/>
          <a:ln/>
        </p:spPr>
        <p:txBody>
          <a:bodyPr wrap="square" lIns="0" tIns="0" rIns="0" bIns="0" rtlCol="0" anchor="ctr"/>
          <a:lstStyle/>
          <a:p>
            <a:pPr marL="0" indent="0">
              <a:buNone/>
            </a:pPr>
            <a:r>
              <a:rPr lang="en-US" sz="1400" b="1" dirty="0">
                <a:solidFill>
                  <a:srgbClr val="1A7A3C"/>
                </a:solidFill>
                <a:latin typeface="Calibri" pitchFamily="34" charset="0"/>
                <a:ea typeface="Calibri" pitchFamily="34" charset="-122"/>
                <a:cs typeface="Calibri" pitchFamily="34" charset="-120"/>
              </a:rPr>
              <a:t>Lifetime</a:t>
            </a:r>
            <a:endParaRPr lang="en-US" sz="1400" dirty="0"/>
          </a:p>
        </p:txBody>
      </p:sp>
      <p:sp>
        <p:nvSpPr>
          <p:cNvPr id="30" name="Text 28"/>
          <p:cNvSpPr txBox="1"/>
          <p:nvPr/>
        </p:nvSpPr>
        <p:spPr>
          <a:xfrm>
            <a:off x="4828032" y="4462272"/>
            <a:ext cx="6583680" cy="329184"/>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HOW LONG during execution the variable exists</a:t>
            </a:r>
            <a:endParaRPr lang="en-US" sz="1200" dirty="0"/>
          </a:p>
        </p:txBody>
      </p:sp>
      <p:sp>
        <p:nvSpPr>
          <p:cNvPr id="31" name="Text 29"/>
          <p:cNvSpPr txBox="1"/>
          <p:nvPr/>
        </p:nvSpPr>
        <p:spPr>
          <a:xfrm>
            <a:off x="4828032" y="4809744"/>
            <a:ext cx="6583680" cy="594360"/>
          </a:xfrm>
          <a:prstGeom prst="rect">
            <a:avLst/>
          </a:prstGeom>
          <a:noFill/>
          <a:ln/>
        </p:spPr>
        <p:txBody>
          <a:bodyPr wrap="square" lIns="0" tIns="0" rIns="0" bIns="0" rtlCol="0" anchor="ctr"/>
          <a:lstStyle/>
          <a:p>
            <a:pPr marL="0" indent="0">
              <a:lnSpc>
                <a:spcPct val="130000"/>
              </a:lnSpc>
              <a:buNone/>
            </a:pPr>
            <a:r>
              <a:rPr lang="en-US" sz="1200" dirty="0">
                <a:solidFill>
                  <a:srgbClr val="5A6A82"/>
                </a:solidFill>
                <a:latin typeface="Calibri" pitchFamily="34" charset="0"/>
                <a:ea typeface="Calibri" pitchFamily="34" charset="-122"/>
                <a:cs typeface="Calibri" pitchFamily="34" charset="-120"/>
              </a:rPr>
              <a:t>A dynamic, runtime property — depends on what happens when the program runs</a:t>
            </a:r>
            <a:endParaRPr lang="en-US" sz="1200" dirty="0"/>
          </a:p>
        </p:txBody>
      </p:sp>
      <p:sp>
        <p:nvSpPr>
          <p:cNvPr id="32" name="Text 30"/>
          <p:cNvSpPr txBox="1"/>
          <p:nvPr/>
        </p:nvSpPr>
        <p:spPr>
          <a:xfrm>
            <a:off x="4828032" y="5742432"/>
            <a:ext cx="2286000" cy="256032"/>
          </a:xfrm>
          <a:prstGeom prst="rect">
            <a:avLst/>
          </a:prstGeom>
          <a:noFill/>
          <a:ln/>
        </p:spPr>
        <p:txBody>
          <a:bodyPr wrap="square" lIns="0" tIns="0" rIns="0" bIns="0" rtlCol="0" anchor="ctr"/>
          <a:lstStyle/>
          <a:p>
            <a:pPr marL="0" indent="0">
              <a:buNone/>
            </a:pPr>
            <a:r>
              <a:rPr lang="en-US" sz="1100" b="1" dirty="0">
                <a:solidFill>
                  <a:srgbClr val="1A7A3C"/>
                </a:solidFill>
                <a:latin typeface="Calibri" pitchFamily="34" charset="0"/>
                <a:ea typeface="Calibri" pitchFamily="34" charset="-122"/>
                <a:cs typeface="Calibri" pitchFamily="34" charset="-120"/>
              </a:rPr>
              <a:t>→ This chapter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Python: A Name's Lifetime ≠ An Object's Lifetime</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4 · Lifetime</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In Python especially: the name that refers to an object can disappear while the object continues to exist.</a:t>
            </a:r>
            <a:endParaRPr lang="en-US" sz="1300" dirty="0"/>
          </a:p>
        </p:txBody>
      </p:sp>
      <p:sp>
        <p:nvSpPr>
          <p:cNvPr id="6" name="Shape 4"/>
          <p:cNvSpPr/>
          <p:nvPr/>
        </p:nvSpPr>
        <p:spPr>
          <a:xfrm>
            <a:off x="411480" y="1325880"/>
            <a:ext cx="5029200" cy="1508760"/>
          </a:xfrm>
          <a:prstGeom prst="rect">
            <a:avLst/>
          </a:prstGeom>
          <a:solidFill>
            <a:srgbClr val="EEF1FA"/>
          </a:solidFill>
          <a:ln w="12700">
            <a:solidFill>
              <a:srgbClr val="D0DAF0"/>
            </a:solidFill>
            <a:prstDash val="solid"/>
          </a:ln>
        </p:spPr>
        <p:txBody>
          <a:bodyPr/>
          <a:lstStyle/>
          <a:p>
            <a:endParaRPr lang="en-US"/>
          </a:p>
        </p:txBody>
      </p:sp>
      <p:sp>
        <p:nvSpPr>
          <p:cNvPr id="7" name="Text 5"/>
          <p:cNvSpPr txBox="1"/>
          <p:nvPr/>
        </p:nvSpPr>
        <p:spPr>
          <a:xfrm>
            <a:off x="539496" y="1417320"/>
            <a:ext cx="4828032" cy="134416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def create_person():</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person = {"name": "Dee"}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return person</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p = create_person()</a:t>
            </a:r>
            <a:endParaRPr lang="en-US" sz="1100" dirty="0"/>
          </a:p>
        </p:txBody>
      </p:sp>
      <p:sp>
        <p:nvSpPr>
          <p:cNvPr id="8" name="Text 6"/>
          <p:cNvSpPr txBox="1"/>
          <p:nvPr/>
        </p:nvSpPr>
        <p:spPr>
          <a:xfrm>
            <a:off x="5669280" y="1353312"/>
            <a:ext cx="63093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What happens step by step:</a:t>
            </a:r>
            <a:endParaRPr lang="en-US" sz="1300" dirty="0"/>
          </a:p>
        </p:txBody>
      </p:sp>
      <p:sp>
        <p:nvSpPr>
          <p:cNvPr id="9" name="Shape 7"/>
          <p:cNvSpPr/>
          <p:nvPr/>
        </p:nvSpPr>
        <p:spPr>
          <a:xfrm>
            <a:off x="5669280" y="1810512"/>
            <a:ext cx="146304" cy="146304"/>
          </a:xfrm>
          <a:prstGeom prst="rect">
            <a:avLst/>
          </a:prstGeom>
          <a:solidFill>
            <a:srgbClr val="2E5BFF"/>
          </a:solidFill>
          <a:ln/>
        </p:spPr>
        <p:txBody>
          <a:bodyPr/>
          <a:lstStyle/>
          <a:p>
            <a:endParaRPr lang="en-US"/>
          </a:p>
        </p:txBody>
      </p:sp>
      <p:sp>
        <p:nvSpPr>
          <p:cNvPr id="10" name="Text 8"/>
          <p:cNvSpPr txBox="1"/>
          <p:nvPr/>
        </p:nvSpPr>
        <p:spPr>
          <a:xfrm>
            <a:off x="5961888" y="1773936"/>
            <a:ext cx="5989320" cy="694944"/>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Inside create_person(), the name "person" refers to the dictionary object {"name": "Dee"}.</a:t>
            </a:r>
            <a:endParaRPr lang="en-US" sz="1200" dirty="0"/>
          </a:p>
        </p:txBody>
      </p:sp>
      <p:sp>
        <p:nvSpPr>
          <p:cNvPr id="11" name="Shape 9"/>
          <p:cNvSpPr/>
          <p:nvPr/>
        </p:nvSpPr>
        <p:spPr>
          <a:xfrm>
            <a:off x="5669280" y="2615184"/>
            <a:ext cx="146304" cy="146304"/>
          </a:xfrm>
          <a:prstGeom prst="rect">
            <a:avLst/>
          </a:prstGeom>
          <a:solidFill>
            <a:srgbClr val="9B1C1C"/>
          </a:solidFill>
          <a:ln/>
        </p:spPr>
        <p:txBody>
          <a:bodyPr/>
          <a:lstStyle/>
          <a:p>
            <a:endParaRPr lang="en-US"/>
          </a:p>
        </p:txBody>
      </p:sp>
      <p:sp>
        <p:nvSpPr>
          <p:cNvPr id="12" name="Text 10"/>
          <p:cNvSpPr txBox="1"/>
          <p:nvPr/>
        </p:nvSpPr>
        <p:spPr>
          <a:xfrm>
            <a:off x="5961888" y="2578608"/>
            <a:ext cx="5989320" cy="694944"/>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When the function returns, the local name "person" ceases to exist — it is no longer accessible.</a:t>
            </a:r>
            <a:endParaRPr lang="en-US" sz="1200" dirty="0"/>
          </a:p>
        </p:txBody>
      </p:sp>
      <p:sp>
        <p:nvSpPr>
          <p:cNvPr id="13" name="Shape 11"/>
          <p:cNvSpPr/>
          <p:nvPr/>
        </p:nvSpPr>
        <p:spPr>
          <a:xfrm>
            <a:off x="5669280" y="3419856"/>
            <a:ext cx="146304" cy="146304"/>
          </a:xfrm>
          <a:prstGeom prst="rect">
            <a:avLst/>
          </a:prstGeom>
          <a:solidFill>
            <a:srgbClr val="1A7A3C"/>
          </a:solidFill>
          <a:ln/>
        </p:spPr>
        <p:txBody>
          <a:bodyPr/>
          <a:lstStyle/>
          <a:p>
            <a:endParaRPr lang="en-US"/>
          </a:p>
        </p:txBody>
      </p:sp>
      <p:sp>
        <p:nvSpPr>
          <p:cNvPr id="14" name="Text 12"/>
          <p:cNvSpPr txBox="1"/>
          <p:nvPr/>
        </p:nvSpPr>
        <p:spPr>
          <a:xfrm>
            <a:off x="5961888" y="3383280"/>
            <a:ext cx="5989320" cy="694944"/>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But the dictionary object is NOT destroyed. It continues to exist because "p" in the outer scope now refers to it.</a:t>
            </a:r>
            <a:endParaRPr lang="en-US" sz="1200" dirty="0"/>
          </a:p>
        </p:txBody>
      </p:sp>
      <p:sp>
        <p:nvSpPr>
          <p:cNvPr id="15" name="Shape 13"/>
          <p:cNvSpPr/>
          <p:nvPr/>
        </p:nvSpPr>
        <p:spPr>
          <a:xfrm>
            <a:off x="5669280" y="4224528"/>
            <a:ext cx="146304" cy="146304"/>
          </a:xfrm>
          <a:prstGeom prst="rect">
            <a:avLst/>
          </a:prstGeom>
          <a:solidFill>
            <a:srgbClr val="1A7A3C"/>
          </a:solidFill>
          <a:ln/>
        </p:spPr>
        <p:txBody>
          <a:bodyPr/>
          <a:lstStyle/>
          <a:p>
            <a:endParaRPr lang="en-US"/>
          </a:p>
        </p:txBody>
      </p:sp>
      <p:sp>
        <p:nvSpPr>
          <p:cNvPr id="16" name="Text 14"/>
          <p:cNvSpPr txBox="1"/>
          <p:nvPr/>
        </p:nvSpPr>
        <p:spPr>
          <a:xfrm>
            <a:off x="5961888" y="4187952"/>
            <a:ext cx="5989320" cy="694944"/>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Python keeps an object alive as long as at least one name refers to it.</a:t>
            </a:r>
            <a:endParaRPr lang="en-US" sz="1200" dirty="0"/>
          </a:p>
        </p:txBody>
      </p:sp>
      <p:sp>
        <p:nvSpPr>
          <p:cNvPr id="17" name="Shape 15"/>
          <p:cNvSpPr/>
          <p:nvPr/>
        </p:nvSpPr>
        <p:spPr>
          <a:xfrm>
            <a:off x="411480" y="2926080"/>
            <a:ext cx="5029200" cy="2103120"/>
          </a:xfrm>
          <a:prstGeom prst="rect">
            <a:avLst/>
          </a:prstGeom>
          <a:solidFill>
            <a:srgbClr val="EEF1FA"/>
          </a:solidFill>
          <a:ln w="12700">
            <a:solidFill>
              <a:srgbClr val="D0DAF0"/>
            </a:solidFill>
            <a:prstDash val="solid"/>
          </a:ln>
        </p:spPr>
        <p:txBody>
          <a:bodyPr/>
          <a:lstStyle/>
          <a:p>
            <a:endParaRPr lang="en-US"/>
          </a:p>
        </p:txBody>
      </p:sp>
      <p:sp>
        <p:nvSpPr>
          <p:cNvPr id="18" name="Text 16"/>
          <p:cNvSpPr txBox="1"/>
          <p:nvPr/>
        </p:nvSpPr>
        <p:spPr>
          <a:xfrm>
            <a:off x="566928" y="3035808"/>
            <a:ext cx="4709160" cy="1828800"/>
          </a:xfrm>
          <a:prstGeom prst="rect">
            <a:avLst/>
          </a:prstGeom>
          <a:noFill/>
          <a:ln/>
        </p:spPr>
        <p:txBody>
          <a:bodyPr wrap="square" lIns="0" tIns="0" rIns="0" bIns="0" rtlCol="0" anchor="ctr"/>
          <a:lstStyle/>
          <a:p>
            <a:pPr marL="0" indent="0">
              <a:lnSpc>
                <a:spcPct val="165000"/>
              </a:lnSpc>
              <a:buNone/>
            </a:pPr>
            <a:r>
              <a:rPr lang="en-US" sz="1100" dirty="0">
                <a:solidFill>
                  <a:srgbClr val="1A2B5E"/>
                </a:solidFill>
                <a:latin typeface="Courier New" pitchFamily="34" charset="0"/>
                <a:ea typeface="Courier New" pitchFamily="34" charset="-122"/>
                <a:cs typeface="Courier New" pitchFamily="34" charset="-120"/>
              </a:rPr>
              <a:t>During create_person():</a:t>
            </a:r>
            <a:endParaRPr lang="en-US" sz="1100" dirty="0"/>
          </a:p>
          <a:p>
            <a:pPr marL="0" indent="0">
              <a:lnSpc>
                <a:spcPct val="165000"/>
              </a:lnSpc>
              <a:buNone/>
            </a:pPr>
            <a:r>
              <a:rPr lang="en-US" sz="1100" dirty="0">
                <a:solidFill>
                  <a:srgbClr val="1A2B5E"/>
                </a:solidFill>
                <a:latin typeface="Courier New" pitchFamily="34" charset="0"/>
                <a:ea typeface="Courier New" pitchFamily="34" charset="-122"/>
                <a:cs typeface="Courier New" pitchFamily="34" charset="-120"/>
              </a:rPr>
              <a:t>person  ────→  {"name": "Dee"}</a:t>
            </a:r>
            <a:endParaRPr lang="en-US" sz="1100" dirty="0"/>
          </a:p>
          <a:p>
            <a:pPr marL="0" indent="0">
              <a:lnSpc>
                <a:spcPct val="165000"/>
              </a:lnSpc>
              <a:buNone/>
            </a:pPr>
            <a:endParaRPr lang="en-US" sz="1100" dirty="0"/>
          </a:p>
          <a:p>
            <a:pPr marL="0" indent="0">
              <a:lnSpc>
                <a:spcPct val="165000"/>
              </a:lnSpc>
              <a:buNone/>
            </a:pPr>
            <a:r>
              <a:rPr lang="en-US" sz="1100" dirty="0">
                <a:solidFill>
                  <a:srgbClr val="1A2B5E"/>
                </a:solidFill>
                <a:latin typeface="Courier New" pitchFamily="34" charset="0"/>
                <a:ea typeface="Courier New" pitchFamily="34" charset="-122"/>
                <a:cs typeface="Courier New" pitchFamily="34" charset="-120"/>
              </a:rPr>
              <a:t>After function returns:</a:t>
            </a:r>
            <a:endParaRPr lang="en-US" sz="1100" dirty="0"/>
          </a:p>
          <a:p>
            <a:pPr marL="0" indent="0">
              <a:lnSpc>
                <a:spcPct val="165000"/>
              </a:lnSpc>
              <a:buNone/>
            </a:pPr>
            <a:r>
              <a:rPr lang="en-US" sz="1100" dirty="0">
                <a:solidFill>
                  <a:srgbClr val="1A2B5E"/>
                </a:solidFill>
                <a:latin typeface="Courier New" pitchFamily="34" charset="0"/>
                <a:ea typeface="Courier New" pitchFamily="34" charset="-122"/>
                <a:cs typeface="Courier New" pitchFamily="34" charset="-120"/>
              </a:rPr>
              <a:t>person  ✗  (name gone)</a:t>
            </a:r>
            <a:endParaRPr lang="en-US" sz="1100" dirty="0"/>
          </a:p>
          <a:p>
            <a:pPr marL="0" indent="0">
              <a:lnSpc>
                <a:spcPct val="165000"/>
              </a:lnSpc>
              <a:buNone/>
            </a:pPr>
            <a:r>
              <a:rPr lang="en-US" sz="1100" dirty="0">
                <a:solidFill>
                  <a:srgbClr val="1A2B5E"/>
                </a:solidFill>
                <a:latin typeface="Courier New" pitchFamily="34" charset="0"/>
                <a:ea typeface="Courier New" pitchFamily="34" charset="-122"/>
                <a:cs typeface="Courier New" pitchFamily="34" charset="-120"/>
              </a:rPr>
              <a:t>p       ────→  {"name": "Dee"}  (object lives on)</a:t>
            </a:r>
            <a:endParaRPr lang="en-US" sz="1100" dirty="0"/>
          </a:p>
        </p:txBody>
      </p:sp>
      <p:sp>
        <p:nvSpPr>
          <p:cNvPr id="19" name="Shape 17"/>
          <p:cNvSpPr/>
          <p:nvPr/>
        </p:nvSpPr>
        <p:spPr>
          <a:xfrm>
            <a:off x="411480" y="5138928"/>
            <a:ext cx="54864" cy="749808"/>
          </a:xfrm>
          <a:prstGeom prst="rect">
            <a:avLst/>
          </a:prstGeom>
          <a:solidFill>
            <a:srgbClr val="2E5BFF"/>
          </a:solidFill>
          <a:ln/>
        </p:spPr>
        <p:txBody>
          <a:bodyPr/>
          <a:lstStyle/>
          <a:p>
            <a:endParaRPr lang="en-US"/>
          </a:p>
        </p:txBody>
      </p:sp>
      <p:sp>
        <p:nvSpPr>
          <p:cNvPr id="20" name="Shape 18"/>
          <p:cNvSpPr/>
          <p:nvPr/>
        </p:nvSpPr>
        <p:spPr>
          <a:xfrm>
            <a:off x="466344" y="5138928"/>
            <a:ext cx="11283696" cy="749808"/>
          </a:xfrm>
          <a:prstGeom prst="rect">
            <a:avLst/>
          </a:prstGeom>
          <a:solidFill>
            <a:srgbClr val="EFF6FF"/>
          </a:solidFill>
          <a:ln w="12700">
            <a:solidFill>
              <a:srgbClr val="BFDBFE"/>
            </a:solidFill>
            <a:prstDash val="solid"/>
          </a:ln>
        </p:spPr>
        <p:txBody>
          <a:bodyPr/>
          <a:lstStyle/>
          <a:p>
            <a:endParaRPr lang="en-US"/>
          </a:p>
        </p:txBody>
      </p:sp>
      <p:sp>
        <p:nvSpPr>
          <p:cNvPr id="21" name="Text 19"/>
          <p:cNvSpPr txBox="1"/>
          <p:nvPr/>
        </p:nvSpPr>
        <p:spPr>
          <a:xfrm>
            <a:off x="594360" y="5230368"/>
            <a:ext cx="11064240" cy="566928"/>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Key lesson: In Python, the lifetime of a name and the lifetime of the object it refers to are not necessarily the same. A name can disappear while the object lives on — as long as another name still refers to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Stack &amp; Heap: Who Manages Memory?</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5</a:t>
            </a:r>
            <a:endParaRPr lang="en-US" sz="900" dirty="0"/>
          </a:p>
        </p:txBody>
      </p:sp>
      <p:sp>
        <p:nvSpPr>
          <p:cNvPr id="5" name="Text 3"/>
          <p:cNvSpPr txBox="1"/>
          <p:nvPr/>
        </p:nvSpPr>
        <p:spPr>
          <a:xfrm>
            <a:off x="411480" y="987552"/>
            <a:ext cx="11338560" cy="347472"/>
          </a:xfrm>
          <a:prstGeom prst="rect">
            <a:avLst/>
          </a:prstGeom>
          <a:noFill/>
          <a:ln/>
        </p:spPr>
        <p:txBody>
          <a:bodyPr wrap="square" lIns="0" tIns="0" rIns="0" bIns="0" rtlCol="0" anchor="ctr"/>
          <a:lstStyle/>
          <a:p>
            <a:pPr marL="0" indent="0">
              <a:lnSpc>
                <a:spcPct val="130000"/>
              </a:lnSpc>
              <a:buNone/>
            </a:pPr>
            <a:r>
              <a:rPr lang="en-US" sz="1300" dirty="0">
                <a:solidFill>
                  <a:srgbClr val="5A6A82"/>
                </a:solidFill>
                <a:latin typeface="Calibri" pitchFamily="34" charset="0"/>
                <a:ea typeface="Calibri" pitchFamily="34" charset="-122"/>
                <a:cs typeface="Calibri" pitchFamily="34" charset="-120"/>
              </a:rPr>
              <a:t>Two useful conceptual regions — but the key design question is: who manages memory, and how much control does the programmer have?</a:t>
            </a:r>
            <a:endParaRPr lang="en-US" sz="1300" dirty="0"/>
          </a:p>
        </p:txBody>
      </p:sp>
      <p:sp>
        <p:nvSpPr>
          <p:cNvPr id="6" name="Shape 4"/>
          <p:cNvSpPr/>
          <p:nvPr/>
        </p:nvSpPr>
        <p:spPr>
          <a:xfrm>
            <a:off x="411480" y="1417320"/>
            <a:ext cx="5349240" cy="2103120"/>
          </a:xfrm>
          <a:prstGeom prst="rect">
            <a:avLst/>
          </a:prstGeom>
          <a:solidFill>
            <a:srgbClr val="FFFFFF"/>
          </a:solidFill>
          <a:ln w="12700">
            <a:solidFill>
              <a:srgbClr val="D0DAF0"/>
            </a:solidFill>
            <a:prstDash val="solid"/>
          </a:ln>
        </p:spPr>
        <p:txBody>
          <a:bodyPr/>
          <a:lstStyle/>
          <a:p>
            <a:endParaRPr lang="en-US"/>
          </a:p>
        </p:txBody>
      </p:sp>
      <p:sp>
        <p:nvSpPr>
          <p:cNvPr id="7" name="Text 5"/>
          <p:cNvSpPr txBox="1"/>
          <p:nvPr/>
        </p:nvSpPr>
        <p:spPr>
          <a:xfrm>
            <a:off x="594360" y="1499616"/>
            <a:ext cx="4937760" cy="274320"/>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The Stack</a:t>
            </a:r>
            <a:endParaRPr lang="en-US" sz="1400" dirty="0"/>
          </a:p>
        </p:txBody>
      </p:sp>
      <p:sp>
        <p:nvSpPr>
          <p:cNvPr id="8" name="Text 6"/>
          <p:cNvSpPr txBox="1"/>
          <p:nvPr/>
        </p:nvSpPr>
        <p:spPr>
          <a:xfrm>
            <a:off x="594360" y="1810512"/>
            <a:ext cx="4937760" cy="822960"/>
          </a:xfrm>
          <a:prstGeom prst="rect">
            <a:avLst/>
          </a:prstGeom>
          <a:noFill/>
          <a:ln/>
        </p:spPr>
        <p:txBody>
          <a:bodyPr wrap="square" lIns="0" tIns="0" rIns="0" bIns="0" rtlCol="0" anchor="ctr"/>
          <a:lstStyle/>
          <a:p>
            <a:pPr marL="0" indent="0">
              <a:lnSpc>
                <a:spcPct val="135000"/>
              </a:lnSpc>
              <a:buNone/>
            </a:pPr>
            <a:r>
              <a:rPr lang="en-US" sz="1200" dirty="0">
                <a:solidFill>
                  <a:srgbClr val="1E2A3A"/>
                </a:solidFill>
                <a:latin typeface="Calibri" pitchFamily="34" charset="0"/>
                <a:ea typeface="Calibri" pitchFamily="34" charset="-122"/>
                <a:cs typeface="Calibri" pitchFamily="34" charset="-120"/>
              </a:rPr>
              <a:t>Typically associated with function calls. Space is allocated when a function is called; freed when it returns. The lifetime of stack-allocated data is tied to the function call.</a:t>
            </a:r>
            <a:endParaRPr lang="en-US" sz="1200" dirty="0"/>
          </a:p>
        </p:txBody>
      </p:sp>
      <p:sp>
        <p:nvSpPr>
          <p:cNvPr id="9" name="Shape 7"/>
          <p:cNvSpPr/>
          <p:nvPr/>
        </p:nvSpPr>
        <p:spPr>
          <a:xfrm>
            <a:off x="594360" y="2724912"/>
            <a:ext cx="4937760" cy="402336"/>
          </a:xfrm>
          <a:prstGeom prst="rect">
            <a:avLst/>
          </a:prstGeom>
          <a:solidFill>
            <a:srgbClr val="EAF7EE"/>
          </a:solidFill>
          <a:ln w="12700">
            <a:solidFill>
              <a:srgbClr val="6EE7B7"/>
            </a:solidFill>
            <a:prstDash val="solid"/>
          </a:ln>
        </p:spPr>
        <p:txBody>
          <a:bodyPr/>
          <a:lstStyle/>
          <a:p>
            <a:endParaRPr lang="en-US"/>
          </a:p>
        </p:txBody>
      </p:sp>
      <p:sp>
        <p:nvSpPr>
          <p:cNvPr id="10" name="Text 8"/>
          <p:cNvSpPr txBox="1"/>
          <p:nvPr/>
        </p:nvSpPr>
        <p:spPr>
          <a:xfrm>
            <a:off x="685800" y="2779776"/>
            <a:ext cx="4800600"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Fast and automatic — no programmer action needed</a:t>
            </a:r>
            <a:endParaRPr lang="en-US" sz="1100" dirty="0"/>
          </a:p>
        </p:txBody>
      </p:sp>
      <p:sp>
        <p:nvSpPr>
          <p:cNvPr id="11" name="Shape 9"/>
          <p:cNvSpPr/>
          <p:nvPr/>
        </p:nvSpPr>
        <p:spPr>
          <a:xfrm>
            <a:off x="594360" y="3163824"/>
            <a:ext cx="4937760" cy="402336"/>
          </a:xfrm>
          <a:prstGeom prst="rect">
            <a:avLst/>
          </a:prstGeom>
          <a:solidFill>
            <a:srgbClr val="FEF2F2"/>
          </a:solidFill>
          <a:ln w="12700">
            <a:solidFill>
              <a:srgbClr val="FCA5A5"/>
            </a:solidFill>
            <a:prstDash val="solid"/>
          </a:ln>
        </p:spPr>
        <p:txBody>
          <a:bodyPr/>
          <a:lstStyle/>
          <a:p>
            <a:endParaRPr lang="en-US"/>
          </a:p>
        </p:txBody>
      </p:sp>
      <p:sp>
        <p:nvSpPr>
          <p:cNvPr id="12" name="Text 10"/>
          <p:cNvSpPr txBox="1"/>
          <p:nvPr/>
        </p:nvSpPr>
        <p:spPr>
          <a:xfrm>
            <a:off x="685800" y="3218688"/>
            <a:ext cx="4800600"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Data cannot outlive the function call</a:t>
            </a:r>
            <a:endParaRPr lang="en-US" sz="1100" dirty="0"/>
          </a:p>
        </p:txBody>
      </p:sp>
      <p:sp>
        <p:nvSpPr>
          <p:cNvPr id="13" name="Shape 11"/>
          <p:cNvSpPr/>
          <p:nvPr/>
        </p:nvSpPr>
        <p:spPr>
          <a:xfrm>
            <a:off x="6355080" y="1417320"/>
            <a:ext cx="5349240" cy="2103120"/>
          </a:xfrm>
          <a:prstGeom prst="rect">
            <a:avLst/>
          </a:prstGeom>
          <a:solidFill>
            <a:srgbClr val="FFFFFF"/>
          </a:solidFill>
          <a:ln w="12700">
            <a:solidFill>
              <a:srgbClr val="D0DAF0"/>
            </a:solidFill>
            <a:prstDash val="solid"/>
          </a:ln>
        </p:spPr>
        <p:txBody>
          <a:bodyPr/>
          <a:lstStyle/>
          <a:p>
            <a:endParaRPr lang="en-US"/>
          </a:p>
        </p:txBody>
      </p:sp>
      <p:sp>
        <p:nvSpPr>
          <p:cNvPr id="14" name="Text 12"/>
          <p:cNvSpPr txBox="1"/>
          <p:nvPr/>
        </p:nvSpPr>
        <p:spPr>
          <a:xfrm>
            <a:off x="6537960" y="1499616"/>
            <a:ext cx="4937760" cy="274320"/>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The Heap</a:t>
            </a:r>
            <a:endParaRPr lang="en-US" sz="1400" dirty="0"/>
          </a:p>
        </p:txBody>
      </p:sp>
      <p:sp>
        <p:nvSpPr>
          <p:cNvPr id="15" name="Text 13"/>
          <p:cNvSpPr txBox="1"/>
          <p:nvPr/>
        </p:nvSpPr>
        <p:spPr>
          <a:xfrm>
            <a:off x="6537960" y="1810512"/>
            <a:ext cx="4937760" cy="822960"/>
          </a:xfrm>
          <a:prstGeom prst="rect">
            <a:avLst/>
          </a:prstGeom>
          <a:noFill/>
          <a:ln/>
        </p:spPr>
        <p:txBody>
          <a:bodyPr wrap="square" lIns="0" tIns="0" rIns="0" bIns="0" rtlCol="0" anchor="ctr"/>
          <a:lstStyle/>
          <a:p>
            <a:pPr marL="0" indent="0">
              <a:lnSpc>
                <a:spcPct val="135000"/>
              </a:lnSpc>
              <a:buNone/>
            </a:pPr>
            <a:r>
              <a:rPr lang="en-US" sz="1200" dirty="0">
                <a:solidFill>
                  <a:srgbClr val="1E2A3A"/>
                </a:solidFill>
                <a:latin typeface="Calibri" pitchFamily="34" charset="0"/>
                <a:ea typeface="Calibri" pitchFamily="34" charset="-122"/>
                <a:cs typeface="Calibri" pitchFamily="34" charset="-120"/>
              </a:rPr>
              <a:t>Used for data that needs to outlive a function call. Explicitly requested (C: malloc) or managed automatically (Python/C# runtimes). Flexible lifetime — as long as needed.</a:t>
            </a:r>
            <a:endParaRPr lang="en-US" sz="1200" dirty="0"/>
          </a:p>
        </p:txBody>
      </p:sp>
      <p:sp>
        <p:nvSpPr>
          <p:cNvPr id="16" name="Shape 14"/>
          <p:cNvSpPr/>
          <p:nvPr/>
        </p:nvSpPr>
        <p:spPr>
          <a:xfrm>
            <a:off x="6537960" y="2724912"/>
            <a:ext cx="4937760" cy="402336"/>
          </a:xfrm>
          <a:prstGeom prst="rect">
            <a:avLst/>
          </a:prstGeom>
          <a:solidFill>
            <a:srgbClr val="EAF7EE"/>
          </a:solidFill>
          <a:ln w="12700">
            <a:solidFill>
              <a:srgbClr val="6EE7B7"/>
            </a:solidFill>
            <a:prstDash val="solid"/>
          </a:ln>
        </p:spPr>
        <p:txBody>
          <a:bodyPr/>
          <a:lstStyle/>
          <a:p>
            <a:endParaRPr lang="en-US"/>
          </a:p>
        </p:txBody>
      </p:sp>
      <p:sp>
        <p:nvSpPr>
          <p:cNvPr id="17" name="Text 15"/>
          <p:cNvSpPr txBox="1"/>
          <p:nvPr/>
        </p:nvSpPr>
        <p:spPr>
          <a:xfrm>
            <a:off x="6629400" y="2779776"/>
            <a:ext cx="4800600"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Flexible — data can exist as long as needed</a:t>
            </a:r>
            <a:endParaRPr lang="en-US" sz="1100" dirty="0"/>
          </a:p>
        </p:txBody>
      </p:sp>
      <p:sp>
        <p:nvSpPr>
          <p:cNvPr id="18" name="Shape 16"/>
          <p:cNvSpPr/>
          <p:nvPr/>
        </p:nvSpPr>
        <p:spPr>
          <a:xfrm>
            <a:off x="6537960" y="3163824"/>
            <a:ext cx="4937760" cy="402336"/>
          </a:xfrm>
          <a:prstGeom prst="rect">
            <a:avLst/>
          </a:prstGeom>
          <a:solidFill>
            <a:srgbClr val="FEF2F2"/>
          </a:solidFill>
          <a:ln w="12700">
            <a:solidFill>
              <a:srgbClr val="FCA5A5"/>
            </a:solidFill>
            <a:prstDash val="solid"/>
          </a:ln>
        </p:spPr>
        <p:txBody>
          <a:bodyPr/>
          <a:lstStyle/>
          <a:p>
            <a:endParaRPr lang="en-US"/>
          </a:p>
        </p:txBody>
      </p:sp>
      <p:sp>
        <p:nvSpPr>
          <p:cNvPr id="19" name="Text 17"/>
          <p:cNvSpPr txBox="1"/>
          <p:nvPr/>
        </p:nvSpPr>
        <p:spPr>
          <a:xfrm>
            <a:off x="6629400" y="3218688"/>
            <a:ext cx="4800600"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Someone must manage it — programmer or runtime</a:t>
            </a:r>
            <a:endParaRPr lang="en-US" sz="1100" dirty="0"/>
          </a:p>
        </p:txBody>
      </p:sp>
      <p:sp>
        <p:nvSpPr>
          <p:cNvPr id="20" name="Shape 18"/>
          <p:cNvSpPr/>
          <p:nvPr/>
        </p:nvSpPr>
        <p:spPr>
          <a:xfrm>
            <a:off x="411480" y="3712464"/>
            <a:ext cx="3730752" cy="2103120"/>
          </a:xfrm>
          <a:prstGeom prst="rect">
            <a:avLst/>
          </a:prstGeom>
          <a:solidFill>
            <a:srgbClr val="E8F0FE"/>
          </a:solidFill>
          <a:ln w="12700">
            <a:solidFill>
              <a:srgbClr val="E8F0FE"/>
            </a:solidFill>
            <a:prstDash val="solid"/>
          </a:ln>
        </p:spPr>
        <p:txBody>
          <a:bodyPr/>
          <a:lstStyle/>
          <a:p>
            <a:endParaRPr lang="en-US"/>
          </a:p>
        </p:txBody>
      </p:sp>
      <p:sp>
        <p:nvSpPr>
          <p:cNvPr id="21" name="Shape 19"/>
          <p:cNvSpPr/>
          <p:nvPr/>
        </p:nvSpPr>
        <p:spPr>
          <a:xfrm>
            <a:off x="539496" y="3785616"/>
            <a:ext cx="749808" cy="256032"/>
          </a:xfrm>
          <a:prstGeom prst="roundRect">
            <a:avLst>
              <a:gd name="adj" fmla="val 25000"/>
            </a:avLst>
          </a:prstGeom>
          <a:solidFill>
            <a:srgbClr val="E8F0FE"/>
          </a:solidFill>
          <a:ln w="12700">
            <a:solidFill>
              <a:srgbClr val="E8F0FE"/>
            </a:solidFill>
            <a:prstDash val="solid"/>
          </a:ln>
        </p:spPr>
        <p:txBody>
          <a:bodyPr/>
          <a:lstStyle/>
          <a:p>
            <a:endParaRPr lang="en-US"/>
          </a:p>
        </p:txBody>
      </p:sp>
      <p:sp>
        <p:nvSpPr>
          <p:cNvPr id="22" name="Text 20"/>
          <p:cNvSpPr txBox="1"/>
          <p:nvPr/>
        </p:nvSpPr>
        <p:spPr>
          <a:xfrm>
            <a:off x="576072" y="3813048"/>
            <a:ext cx="676656"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23" name="Text 21"/>
          <p:cNvSpPr txBox="1"/>
          <p:nvPr/>
        </p:nvSpPr>
        <p:spPr>
          <a:xfrm>
            <a:off x="539496" y="4114800"/>
            <a:ext cx="3493008" cy="1664208"/>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Programmer controls. malloc/free for heap data. Missed free = leak. Access after free = crash.</a:t>
            </a:r>
            <a:endParaRPr lang="en-US" sz="1200" dirty="0"/>
          </a:p>
        </p:txBody>
      </p:sp>
      <p:sp>
        <p:nvSpPr>
          <p:cNvPr id="24" name="Shape 22"/>
          <p:cNvSpPr/>
          <p:nvPr/>
        </p:nvSpPr>
        <p:spPr>
          <a:xfrm>
            <a:off x="4325112" y="3712464"/>
            <a:ext cx="3730752" cy="2103120"/>
          </a:xfrm>
          <a:prstGeom prst="rect">
            <a:avLst/>
          </a:prstGeom>
          <a:solidFill>
            <a:srgbClr val="F3E8FE"/>
          </a:solidFill>
          <a:ln w="12700">
            <a:solidFill>
              <a:srgbClr val="F3E8FE"/>
            </a:solidFill>
            <a:prstDash val="solid"/>
          </a:ln>
        </p:spPr>
        <p:txBody>
          <a:bodyPr/>
          <a:lstStyle/>
          <a:p>
            <a:endParaRPr lang="en-US"/>
          </a:p>
        </p:txBody>
      </p:sp>
      <p:sp>
        <p:nvSpPr>
          <p:cNvPr id="25" name="Shape 23"/>
          <p:cNvSpPr/>
          <p:nvPr/>
        </p:nvSpPr>
        <p:spPr>
          <a:xfrm>
            <a:off x="4453128" y="3785616"/>
            <a:ext cx="749808" cy="256032"/>
          </a:xfrm>
          <a:prstGeom prst="roundRect">
            <a:avLst>
              <a:gd name="adj" fmla="val 25000"/>
            </a:avLst>
          </a:prstGeom>
          <a:solidFill>
            <a:srgbClr val="F3E8FE"/>
          </a:solidFill>
          <a:ln w="12700">
            <a:solidFill>
              <a:srgbClr val="F3E8FE"/>
            </a:solidFill>
            <a:prstDash val="solid"/>
          </a:ln>
        </p:spPr>
        <p:txBody>
          <a:bodyPr/>
          <a:lstStyle/>
          <a:p>
            <a:endParaRPr lang="en-US"/>
          </a:p>
        </p:txBody>
      </p:sp>
      <p:sp>
        <p:nvSpPr>
          <p:cNvPr id="26" name="Text 24"/>
          <p:cNvSpPr txBox="1"/>
          <p:nvPr/>
        </p:nvSpPr>
        <p:spPr>
          <a:xfrm>
            <a:off x="4489704" y="3813048"/>
            <a:ext cx="676656"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27" name="Text 25"/>
          <p:cNvSpPr txBox="1"/>
          <p:nvPr/>
        </p:nvSpPr>
        <p:spPr>
          <a:xfrm>
            <a:off x="4453128" y="4114800"/>
            <a:ext cx="3493008" cy="1664208"/>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Runtime manages. GC reclaims heap objects when no longer reachable. No free needed. Less control.</a:t>
            </a:r>
            <a:endParaRPr lang="en-US" sz="1200" dirty="0"/>
          </a:p>
        </p:txBody>
      </p:sp>
      <p:sp>
        <p:nvSpPr>
          <p:cNvPr id="28" name="Shape 26"/>
          <p:cNvSpPr/>
          <p:nvPr/>
        </p:nvSpPr>
        <p:spPr>
          <a:xfrm>
            <a:off x="8238744" y="3712464"/>
            <a:ext cx="3730752" cy="2103120"/>
          </a:xfrm>
          <a:prstGeom prst="rect">
            <a:avLst/>
          </a:prstGeom>
          <a:solidFill>
            <a:srgbClr val="FEF3E8"/>
          </a:solidFill>
          <a:ln w="12700">
            <a:solidFill>
              <a:srgbClr val="FEF3E8"/>
            </a:solidFill>
            <a:prstDash val="solid"/>
          </a:ln>
        </p:spPr>
        <p:txBody>
          <a:bodyPr/>
          <a:lstStyle/>
          <a:p>
            <a:endParaRPr lang="en-US"/>
          </a:p>
        </p:txBody>
      </p:sp>
      <p:sp>
        <p:nvSpPr>
          <p:cNvPr id="29" name="Shape 27"/>
          <p:cNvSpPr/>
          <p:nvPr/>
        </p:nvSpPr>
        <p:spPr>
          <a:xfrm>
            <a:off x="8366760" y="3785616"/>
            <a:ext cx="749808" cy="256032"/>
          </a:xfrm>
          <a:prstGeom prst="roundRect">
            <a:avLst>
              <a:gd name="adj" fmla="val 25000"/>
            </a:avLst>
          </a:prstGeom>
          <a:solidFill>
            <a:srgbClr val="FEF3E8"/>
          </a:solidFill>
          <a:ln w="12700">
            <a:solidFill>
              <a:srgbClr val="FEF3E8"/>
            </a:solidFill>
            <a:prstDash val="solid"/>
          </a:ln>
        </p:spPr>
        <p:txBody>
          <a:bodyPr/>
          <a:lstStyle/>
          <a:p>
            <a:endParaRPr lang="en-US"/>
          </a:p>
        </p:txBody>
      </p:sp>
      <p:sp>
        <p:nvSpPr>
          <p:cNvPr id="30" name="Text 28"/>
          <p:cNvSpPr txBox="1"/>
          <p:nvPr/>
        </p:nvSpPr>
        <p:spPr>
          <a:xfrm>
            <a:off x="8403336" y="3813048"/>
            <a:ext cx="676656"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31" name="Text 29"/>
          <p:cNvSpPr txBox="1"/>
          <p:nvPr/>
        </p:nvSpPr>
        <p:spPr>
          <a:xfrm>
            <a:off x="8366760" y="4114800"/>
            <a:ext cx="3493008" cy="1664208"/>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All objects on heap, fully managed. Reference counting + GC. No malloc or free. Simplest for programmer.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 Explicit Control Over Every Attribute</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6</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C gives the programmer maximum visibility and control — with corresponding responsibility.</a:t>
            </a:r>
            <a:endParaRPr lang="en-US" sz="1300" dirty="0"/>
          </a:p>
        </p:txBody>
      </p:sp>
      <p:sp>
        <p:nvSpPr>
          <p:cNvPr id="6" name="Text 4"/>
          <p:cNvSpPr txBox="1"/>
          <p:nvPr/>
        </p:nvSpPr>
        <p:spPr>
          <a:xfrm>
            <a:off x="411480" y="1097280"/>
            <a:ext cx="6766560" cy="201168"/>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C — basic declarations</a:t>
            </a:r>
            <a:endParaRPr lang="en-US" sz="1000" dirty="0"/>
          </a:p>
        </p:txBody>
      </p:sp>
      <p:sp>
        <p:nvSpPr>
          <p:cNvPr id="7" name="Shape 5"/>
          <p:cNvSpPr/>
          <p:nvPr/>
        </p:nvSpPr>
        <p:spPr>
          <a:xfrm>
            <a:off x="411480" y="1325880"/>
            <a:ext cx="6766560" cy="1051560"/>
          </a:xfrm>
          <a:prstGeom prst="rect">
            <a:avLst/>
          </a:prstGeom>
          <a:solidFill>
            <a:srgbClr val="EEF1FA"/>
          </a:solidFill>
          <a:ln w="12700">
            <a:solidFill>
              <a:srgbClr val="D0DAF0"/>
            </a:solidFill>
            <a:prstDash val="solid"/>
          </a:ln>
        </p:spPr>
        <p:txBody>
          <a:bodyPr/>
          <a:lstStyle/>
          <a:p>
            <a:endParaRPr lang="en-US"/>
          </a:p>
        </p:txBody>
      </p:sp>
      <p:sp>
        <p:nvSpPr>
          <p:cNvPr id="8" name="Text 6"/>
          <p:cNvSpPr txBox="1"/>
          <p:nvPr/>
        </p:nvSpPr>
        <p:spPr>
          <a:xfrm>
            <a:off x="539496" y="1417320"/>
            <a:ext cx="6565392" cy="88696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25;    // integer, 4 bytes, name bound to type int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float gpa   = 3.8;   // floating point, 4 bytes</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char  grade = 'A';   // single character, 1 byte</a:t>
            </a:r>
            <a:endParaRPr lang="en-US" sz="1100" dirty="0"/>
          </a:p>
        </p:txBody>
      </p:sp>
      <p:sp>
        <p:nvSpPr>
          <p:cNvPr id="9" name="Shape 7"/>
          <p:cNvSpPr/>
          <p:nvPr/>
        </p:nvSpPr>
        <p:spPr>
          <a:xfrm>
            <a:off x="411480" y="2487168"/>
            <a:ext cx="11338560" cy="2240280"/>
          </a:xfrm>
          <a:prstGeom prst="rect">
            <a:avLst/>
          </a:prstGeom>
          <a:solidFill>
            <a:srgbClr val="FFFFFF"/>
          </a:solidFill>
          <a:ln w="12700">
            <a:solidFill>
              <a:srgbClr val="D0DAF0"/>
            </a:solidFill>
            <a:prstDash val="solid"/>
          </a:ln>
        </p:spPr>
        <p:txBody>
          <a:bodyPr/>
          <a:lstStyle/>
          <a:p>
            <a:endParaRPr lang="en-US"/>
          </a:p>
        </p:txBody>
      </p:sp>
      <p:sp>
        <p:nvSpPr>
          <p:cNvPr id="10" name="Text 8"/>
          <p:cNvSpPr txBox="1"/>
          <p:nvPr/>
        </p:nvSpPr>
        <p:spPr>
          <a:xfrm>
            <a:off x="594360" y="2560320"/>
            <a:ext cx="10789920" cy="256032"/>
          </a:xfrm>
          <a:prstGeom prst="rect">
            <a:avLst/>
          </a:prstGeom>
          <a:noFill/>
          <a:ln/>
        </p:spPr>
        <p:txBody>
          <a:bodyPr wrap="square" lIns="0" tIns="0" rIns="0" bIns="0" rtlCol="0" anchor="ctr"/>
          <a:lstStyle/>
          <a:p>
            <a:pPr marL="0" indent="0">
              <a:buNone/>
            </a:pPr>
            <a:r>
              <a:rPr lang="en-US" sz="1300" b="1" dirty="0">
                <a:solidFill>
                  <a:srgbClr val="9B1C1C"/>
                </a:solidFill>
                <a:latin typeface="Calibri" pitchFamily="34" charset="0"/>
                <a:ea typeface="Calibri" pitchFamily="34" charset="-122"/>
                <a:cs typeface="Calibri" pitchFamily="34" charset="-120"/>
              </a:rPr>
              <a:t>Uninitialized variables — a C-specific risk</a:t>
            </a:r>
            <a:endParaRPr lang="en-US" sz="1300" dirty="0"/>
          </a:p>
        </p:txBody>
      </p:sp>
      <p:sp>
        <p:nvSpPr>
          <p:cNvPr id="11" name="Shape 9"/>
          <p:cNvSpPr/>
          <p:nvPr/>
        </p:nvSpPr>
        <p:spPr>
          <a:xfrm>
            <a:off x="594360" y="2852928"/>
            <a:ext cx="4983480" cy="914400"/>
          </a:xfrm>
          <a:prstGeom prst="rect">
            <a:avLst/>
          </a:prstGeom>
          <a:solidFill>
            <a:srgbClr val="EEF1FA"/>
          </a:solidFill>
          <a:ln w="12700">
            <a:solidFill>
              <a:srgbClr val="D0DAF0"/>
            </a:solidFill>
            <a:prstDash val="solid"/>
          </a:ln>
        </p:spPr>
        <p:txBody>
          <a:bodyPr/>
          <a:lstStyle/>
          <a:p>
            <a:endParaRPr lang="en-US"/>
          </a:p>
        </p:txBody>
      </p:sp>
      <p:sp>
        <p:nvSpPr>
          <p:cNvPr id="12" name="Text 10"/>
          <p:cNvSpPr txBox="1"/>
          <p:nvPr/>
        </p:nvSpPr>
        <p:spPr>
          <a:xfrm>
            <a:off x="722376" y="2944368"/>
            <a:ext cx="4782312" cy="7498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score;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score exists — but contains whatever was in that memory slot.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Could be 0, could be 42839. Undefined behavior if you read it.</a:t>
            </a:r>
            <a:endParaRPr lang="en-US" sz="1100" dirty="0"/>
          </a:p>
        </p:txBody>
      </p:sp>
      <p:sp>
        <p:nvSpPr>
          <p:cNvPr id="13" name="Shape 11"/>
          <p:cNvSpPr/>
          <p:nvPr/>
        </p:nvSpPr>
        <p:spPr>
          <a:xfrm>
            <a:off x="5760720" y="2852928"/>
            <a:ext cx="5394960" cy="914400"/>
          </a:xfrm>
          <a:prstGeom prst="rect">
            <a:avLst/>
          </a:prstGeom>
          <a:solidFill>
            <a:srgbClr val="EEF1FA"/>
          </a:solidFill>
          <a:ln w="12700">
            <a:solidFill>
              <a:srgbClr val="D0DAF0"/>
            </a:solidFill>
            <a:prstDash val="solid"/>
          </a:ln>
        </p:spPr>
        <p:txBody>
          <a:bodyPr/>
          <a:lstStyle/>
          <a:p>
            <a:endParaRPr lang="en-US"/>
          </a:p>
        </p:txBody>
      </p:sp>
      <p:sp>
        <p:nvSpPr>
          <p:cNvPr id="14" name="Text 12"/>
          <p:cNvSpPr txBox="1"/>
          <p:nvPr/>
        </p:nvSpPr>
        <p:spPr>
          <a:xfrm>
            <a:off x="5888736" y="2944368"/>
            <a:ext cx="5193792" cy="7498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score;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 compiler error: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"Use of unassigned local variable 'score'"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Prevents this bug at compile time.</a:t>
            </a:r>
            <a:endParaRPr lang="en-US" sz="1100" dirty="0"/>
          </a:p>
        </p:txBody>
      </p:sp>
      <p:sp>
        <p:nvSpPr>
          <p:cNvPr id="15" name="Shape 13"/>
          <p:cNvSpPr/>
          <p:nvPr/>
        </p:nvSpPr>
        <p:spPr>
          <a:xfrm>
            <a:off x="594360" y="2816352"/>
            <a:ext cx="749808" cy="256032"/>
          </a:xfrm>
          <a:prstGeom prst="roundRect">
            <a:avLst>
              <a:gd name="adj" fmla="val 25000"/>
            </a:avLst>
          </a:prstGeom>
          <a:solidFill>
            <a:srgbClr val="E8F0FE"/>
          </a:solidFill>
          <a:ln w="12700">
            <a:solidFill>
              <a:srgbClr val="E8F0FE"/>
            </a:solidFill>
            <a:prstDash val="solid"/>
          </a:ln>
        </p:spPr>
        <p:txBody>
          <a:bodyPr/>
          <a:lstStyle/>
          <a:p>
            <a:endParaRPr lang="en-US"/>
          </a:p>
        </p:txBody>
      </p:sp>
      <p:sp>
        <p:nvSpPr>
          <p:cNvPr id="16" name="Text 14"/>
          <p:cNvSpPr txBox="1"/>
          <p:nvPr/>
        </p:nvSpPr>
        <p:spPr>
          <a:xfrm>
            <a:off x="630936" y="2843784"/>
            <a:ext cx="676656"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17" name="Shape 15"/>
          <p:cNvSpPr/>
          <p:nvPr/>
        </p:nvSpPr>
        <p:spPr>
          <a:xfrm>
            <a:off x="5760720" y="2816352"/>
            <a:ext cx="749808" cy="256032"/>
          </a:xfrm>
          <a:prstGeom prst="roundRect">
            <a:avLst>
              <a:gd name="adj" fmla="val 25000"/>
            </a:avLst>
          </a:prstGeom>
          <a:solidFill>
            <a:srgbClr val="F3E8FE"/>
          </a:solidFill>
          <a:ln w="12700">
            <a:solidFill>
              <a:srgbClr val="F3E8FE"/>
            </a:solidFill>
            <a:prstDash val="solid"/>
          </a:ln>
        </p:spPr>
        <p:txBody>
          <a:bodyPr/>
          <a:lstStyle/>
          <a:p>
            <a:endParaRPr lang="en-US"/>
          </a:p>
        </p:txBody>
      </p:sp>
      <p:sp>
        <p:nvSpPr>
          <p:cNvPr id="18" name="Text 16"/>
          <p:cNvSpPr txBox="1"/>
          <p:nvPr/>
        </p:nvSpPr>
        <p:spPr>
          <a:xfrm>
            <a:off x="5797296" y="2843784"/>
            <a:ext cx="676656"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19" name="Shape 17"/>
          <p:cNvSpPr/>
          <p:nvPr/>
        </p:nvSpPr>
        <p:spPr>
          <a:xfrm>
            <a:off x="411480" y="4828032"/>
            <a:ext cx="11338560" cy="384048"/>
          </a:xfrm>
          <a:prstGeom prst="rect">
            <a:avLst/>
          </a:prstGeom>
          <a:solidFill>
            <a:srgbClr val="EEF1FA"/>
          </a:solidFill>
          <a:ln w="12700">
            <a:solidFill>
              <a:srgbClr val="D0DAF0"/>
            </a:solidFill>
            <a:prstDash val="solid"/>
          </a:ln>
        </p:spPr>
        <p:txBody>
          <a:bodyPr/>
          <a:lstStyle/>
          <a:p>
            <a:endParaRPr lang="en-US"/>
          </a:p>
        </p:txBody>
      </p:sp>
      <p:sp>
        <p:nvSpPr>
          <p:cNvPr id="20" name="Text 18"/>
          <p:cNvSpPr txBox="1"/>
          <p:nvPr/>
        </p:nvSpPr>
        <p:spPr>
          <a:xfrm>
            <a:off x="566928" y="4901184"/>
            <a:ext cx="10972800" cy="256032"/>
          </a:xfrm>
          <a:prstGeom prst="rect">
            <a:avLst/>
          </a:prstGeom>
          <a:noFill/>
          <a:ln/>
        </p:spPr>
        <p:txBody>
          <a:bodyPr wrap="square" lIns="0" tIns="0" rIns="0" bIns="0" rtlCol="0" anchor="ctr"/>
          <a:lstStyle/>
          <a:p>
            <a:pPr marL="0" indent="0">
              <a:buNone/>
            </a:pPr>
            <a:r>
              <a:rPr lang="en-US" sz="1200" dirty="0">
                <a:solidFill>
                  <a:srgbClr val="1A2B5E"/>
                </a:solidFill>
                <a:latin typeface="Calibri" pitchFamily="34" charset="0"/>
                <a:ea typeface="Calibri" pitchFamily="34" charset="-122"/>
                <a:cs typeface="Calibri" pitchFamily="34" charset="-120"/>
              </a:rPr>
              <a:t>Design lesson: C allows uninitialized variables → flexibility. C# prevents them → safety. Python cannot have this problem → names don't exist until assigned.</a:t>
            </a:r>
            <a:endParaRPr lang="en-US" sz="1200" dirty="0"/>
          </a:p>
        </p:txBody>
      </p:sp>
      <p:sp>
        <p:nvSpPr>
          <p:cNvPr id="21" name="Text 19"/>
          <p:cNvSpPr txBox="1"/>
          <p:nvPr/>
        </p:nvSpPr>
        <p:spPr>
          <a:xfrm>
            <a:off x="411480" y="5321808"/>
            <a:ext cx="5349240" cy="256032"/>
          </a:xfrm>
          <a:prstGeom prst="rect">
            <a:avLst/>
          </a:prstGeom>
          <a:noFill/>
          <a:ln/>
        </p:spPr>
        <p:txBody>
          <a:bodyPr wrap="square" lIns="0" tIns="0" rIns="0" bIns="0" rtlCol="0" anchor="ctr"/>
          <a:lstStyle/>
          <a:p>
            <a:pPr marL="0" indent="0">
              <a:buNone/>
            </a:pPr>
            <a:r>
              <a:rPr lang="en-US" sz="1200" b="1" dirty="0">
                <a:solidFill>
                  <a:srgbClr val="1A7A3C"/>
                </a:solidFill>
                <a:latin typeface="Calibri" pitchFamily="34" charset="0"/>
                <a:ea typeface="Calibri" pitchFamily="34" charset="-122"/>
                <a:cs typeface="Calibri" pitchFamily="34" charset="-120"/>
              </a:rPr>
              <a:t>✓  What C's control makes possible:</a:t>
            </a:r>
            <a:endParaRPr lang="en-US" sz="1200" dirty="0"/>
          </a:p>
        </p:txBody>
      </p:sp>
      <p:sp>
        <p:nvSpPr>
          <p:cNvPr id="22" name="Text 20"/>
          <p:cNvSpPr txBox="1"/>
          <p:nvPr/>
        </p:nvSpPr>
        <p:spPr>
          <a:xfrm>
            <a:off x="411480" y="5596128"/>
            <a:ext cx="5349240" cy="749808"/>
          </a:xfrm>
          <a:prstGeom prst="rect">
            <a:avLst/>
          </a:prstGeom>
          <a:noFill/>
          <a:ln/>
        </p:spPr>
        <p:txBody>
          <a:bodyPr wrap="square" lIns="0" tIns="0" rIns="0" bIns="0" rtlCol="0" anchor="ctr"/>
          <a:lstStyle/>
          <a:p>
            <a:pPr marL="0" indent="0">
              <a:lnSpc>
                <a:spcPct val="130000"/>
              </a:lnSpc>
              <a:buNone/>
            </a:pPr>
            <a:r>
              <a:rPr lang="en-US" sz="1200" dirty="0">
                <a:solidFill>
                  <a:srgbClr val="1A7A3C"/>
                </a:solidFill>
                <a:latin typeface="Calibri" pitchFamily="34" charset="0"/>
                <a:ea typeface="Calibri" pitchFamily="34" charset="-122"/>
                <a:cs typeface="Calibri" pitchFamily="34" charset="-120"/>
              </a:rPr>
              <a:t>Precise control over memory. Predictable performance — no GC pauses. Write operating systems, device drivers, real-time software.</a:t>
            </a:r>
            <a:endParaRPr lang="en-US" sz="1200" dirty="0"/>
          </a:p>
        </p:txBody>
      </p:sp>
      <p:sp>
        <p:nvSpPr>
          <p:cNvPr id="23" name="Text 21"/>
          <p:cNvSpPr txBox="1"/>
          <p:nvPr/>
        </p:nvSpPr>
        <p:spPr>
          <a:xfrm>
            <a:off x="6400800" y="5321808"/>
            <a:ext cx="5349240" cy="256032"/>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  What risks C introduces:</a:t>
            </a:r>
            <a:endParaRPr lang="en-US" sz="1200" dirty="0"/>
          </a:p>
        </p:txBody>
      </p:sp>
      <p:sp>
        <p:nvSpPr>
          <p:cNvPr id="24" name="Text 22"/>
          <p:cNvSpPr txBox="1"/>
          <p:nvPr/>
        </p:nvSpPr>
        <p:spPr>
          <a:xfrm>
            <a:off x="6400800" y="5596128"/>
            <a:ext cx="5349240" cy="749808"/>
          </a:xfrm>
          <a:prstGeom prst="rect">
            <a:avLst/>
          </a:prstGeom>
          <a:noFill/>
          <a:ln/>
        </p:spPr>
        <p:txBody>
          <a:bodyPr wrap="square" lIns="0" tIns="0" rIns="0" bIns="0" rtlCol="0" anchor="ctr"/>
          <a:lstStyle/>
          <a:p>
            <a:pPr marL="0" indent="0">
              <a:lnSpc>
                <a:spcPct val="130000"/>
              </a:lnSpc>
              <a:buNone/>
            </a:pPr>
            <a:r>
              <a:rPr lang="en-US" sz="1200" dirty="0">
                <a:solidFill>
                  <a:srgbClr val="9B1C1C"/>
                </a:solidFill>
                <a:latin typeface="Calibri" pitchFamily="34" charset="0"/>
                <a:ea typeface="Calibri" pitchFamily="34" charset="-122"/>
                <a:cs typeface="Calibri" pitchFamily="34" charset="-120"/>
              </a:rPr>
              <a:t>Memory leaks. Use-after-free crashes. Buffer overflows. Uninitialized variables. Many are impossible in C# and Python — by design.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 Static Types with Convenience and Safety</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7</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C# keeps static typing but adds type inference and automatic memory management.</a:t>
            </a:r>
            <a:endParaRPr lang="en-US" sz="1300" dirty="0"/>
          </a:p>
        </p:txBody>
      </p:sp>
      <p:sp>
        <p:nvSpPr>
          <p:cNvPr id="6" name="Shape 4"/>
          <p:cNvSpPr/>
          <p:nvPr/>
        </p:nvSpPr>
        <p:spPr>
          <a:xfrm>
            <a:off x="411480" y="1325880"/>
            <a:ext cx="5349240" cy="2286000"/>
          </a:xfrm>
          <a:prstGeom prst="rect">
            <a:avLst/>
          </a:prstGeom>
          <a:solidFill>
            <a:srgbClr val="FFFFFF"/>
          </a:solidFill>
          <a:ln w="12700">
            <a:solidFill>
              <a:srgbClr val="D0DAF0"/>
            </a:solidFill>
            <a:prstDash val="solid"/>
          </a:ln>
        </p:spPr>
        <p:txBody>
          <a:bodyPr/>
          <a:lstStyle/>
          <a:p>
            <a:endParaRPr lang="en-US"/>
          </a:p>
        </p:txBody>
      </p:sp>
      <p:sp>
        <p:nvSpPr>
          <p:cNvPr id="7" name="Text 5"/>
          <p:cNvSpPr txBox="1"/>
          <p:nvPr/>
        </p:nvSpPr>
        <p:spPr>
          <a:xfrm>
            <a:off x="594360" y="1408176"/>
            <a:ext cx="49377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Explicit type declaration</a:t>
            </a:r>
            <a:endParaRPr lang="en-US" sz="1300" dirty="0"/>
          </a:p>
        </p:txBody>
      </p:sp>
      <p:sp>
        <p:nvSpPr>
          <p:cNvPr id="8" name="Shape 6"/>
          <p:cNvSpPr/>
          <p:nvPr/>
        </p:nvSpPr>
        <p:spPr>
          <a:xfrm>
            <a:off x="594360" y="1700784"/>
            <a:ext cx="4937760" cy="896112"/>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722376" y="1792224"/>
            <a:ext cx="4736592" cy="73152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25;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string name = "Alice";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Programmer writes the type</a:t>
            </a:r>
            <a:endParaRPr lang="en-US" sz="1100" dirty="0"/>
          </a:p>
        </p:txBody>
      </p:sp>
      <p:sp>
        <p:nvSpPr>
          <p:cNvPr id="10" name="Shape 8"/>
          <p:cNvSpPr/>
          <p:nvPr/>
        </p:nvSpPr>
        <p:spPr>
          <a:xfrm>
            <a:off x="6355080" y="1325880"/>
            <a:ext cx="5349240" cy="2286000"/>
          </a:xfrm>
          <a:prstGeom prst="rect">
            <a:avLst/>
          </a:prstGeom>
          <a:solidFill>
            <a:srgbClr val="FFFFFF"/>
          </a:solidFill>
          <a:ln w="12700">
            <a:solidFill>
              <a:srgbClr val="D0DAF0"/>
            </a:solidFill>
            <a:prstDash val="solid"/>
          </a:ln>
        </p:spPr>
        <p:txBody>
          <a:bodyPr/>
          <a:lstStyle/>
          <a:p>
            <a:endParaRPr lang="en-US"/>
          </a:p>
        </p:txBody>
      </p:sp>
      <p:sp>
        <p:nvSpPr>
          <p:cNvPr id="11" name="Text 9"/>
          <p:cNvSpPr txBox="1"/>
          <p:nvPr/>
        </p:nvSpPr>
        <p:spPr>
          <a:xfrm>
            <a:off x="6537960" y="1408176"/>
            <a:ext cx="49377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Type inference — var</a:t>
            </a:r>
            <a:endParaRPr lang="en-US" sz="1300" dirty="0"/>
          </a:p>
        </p:txBody>
      </p:sp>
      <p:sp>
        <p:nvSpPr>
          <p:cNvPr id="12" name="Shape 10"/>
          <p:cNvSpPr/>
          <p:nvPr/>
        </p:nvSpPr>
        <p:spPr>
          <a:xfrm>
            <a:off x="6537960" y="1700784"/>
            <a:ext cx="4937760" cy="896112"/>
          </a:xfrm>
          <a:prstGeom prst="rect">
            <a:avLst/>
          </a:prstGeom>
          <a:solidFill>
            <a:srgbClr val="EEF1FA"/>
          </a:solidFill>
          <a:ln w="12700">
            <a:solidFill>
              <a:srgbClr val="D0DAF0"/>
            </a:solidFill>
            <a:prstDash val="solid"/>
          </a:ln>
        </p:spPr>
        <p:txBody>
          <a:bodyPr/>
          <a:lstStyle/>
          <a:p>
            <a:endParaRPr lang="en-US"/>
          </a:p>
        </p:txBody>
      </p:sp>
      <p:sp>
        <p:nvSpPr>
          <p:cNvPr id="13" name="Text 11"/>
          <p:cNvSpPr txBox="1"/>
          <p:nvPr/>
        </p:nvSpPr>
        <p:spPr>
          <a:xfrm>
            <a:off x="6665976" y="1792224"/>
            <a:ext cx="4736592" cy="73152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var age = 25;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var name = "Alice";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Compiler infers: int, string</a:t>
            </a:r>
            <a:endParaRPr lang="en-US" sz="1100" dirty="0"/>
          </a:p>
        </p:txBody>
      </p:sp>
      <p:sp>
        <p:nvSpPr>
          <p:cNvPr id="14" name="Shape 12"/>
          <p:cNvSpPr/>
          <p:nvPr/>
        </p:nvSpPr>
        <p:spPr>
          <a:xfrm>
            <a:off x="411480" y="3703320"/>
            <a:ext cx="11338560" cy="1847088"/>
          </a:xfrm>
          <a:prstGeom prst="rect">
            <a:avLst/>
          </a:prstGeom>
          <a:solidFill>
            <a:srgbClr val="EEF1FA"/>
          </a:solidFill>
          <a:ln w="12700">
            <a:solidFill>
              <a:srgbClr val="D0DAF0"/>
            </a:solidFill>
            <a:prstDash val="solid"/>
          </a:ln>
        </p:spPr>
        <p:txBody>
          <a:bodyPr/>
          <a:lstStyle/>
          <a:p>
            <a:endParaRPr lang="en-US"/>
          </a:p>
        </p:txBody>
      </p:sp>
      <p:sp>
        <p:nvSpPr>
          <p:cNvPr id="15" name="Text 13"/>
          <p:cNvSpPr txBox="1"/>
          <p:nvPr/>
        </p:nvSpPr>
        <p:spPr>
          <a:xfrm>
            <a:off x="594360" y="3776472"/>
            <a:ext cx="1051560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The proof that var is statically typed:</a:t>
            </a:r>
            <a:endParaRPr lang="en-US" sz="1300" dirty="0"/>
          </a:p>
        </p:txBody>
      </p:sp>
      <p:sp>
        <p:nvSpPr>
          <p:cNvPr id="16" name="Shape 14"/>
          <p:cNvSpPr/>
          <p:nvPr/>
        </p:nvSpPr>
        <p:spPr>
          <a:xfrm>
            <a:off x="594360" y="4078224"/>
            <a:ext cx="10607040" cy="1371600"/>
          </a:xfrm>
          <a:prstGeom prst="rect">
            <a:avLst/>
          </a:prstGeom>
          <a:solidFill>
            <a:srgbClr val="EEF1FA"/>
          </a:solidFill>
          <a:ln w="12700">
            <a:solidFill>
              <a:srgbClr val="D0DAF0"/>
            </a:solidFill>
            <a:prstDash val="solid"/>
          </a:ln>
        </p:spPr>
        <p:txBody>
          <a:bodyPr/>
          <a:lstStyle/>
          <a:p>
            <a:endParaRPr lang="en-US"/>
          </a:p>
        </p:txBody>
      </p:sp>
      <p:sp>
        <p:nvSpPr>
          <p:cNvPr id="17" name="Text 15"/>
          <p:cNvSpPr txBox="1"/>
          <p:nvPr/>
        </p:nvSpPr>
        <p:spPr>
          <a:xfrm>
            <a:off x="722376" y="4169664"/>
            <a:ext cx="10405872" cy="12070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var age = 25;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30;          // ✓ valid — still int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age = "hello";  // ✗ COMPILE ERROR — cannot convert string to int</a:t>
            </a:r>
            <a:endParaRPr lang="en-US" sz="1100" dirty="0"/>
          </a:p>
        </p:txBody>
      </p:sp>
      <p:sp>
        <p:nvSpPr>
          <p:cNvPr id="18" name="Shape 16"/>
          <p:cNvSpPr/>
          <p:nvPr/>
        </p:nvSpPr>
        <p:spPr>
          <a:xfrm>
            <a:off x="411480" y="5669280"/>
            <a:ext cx="5349240" cy="969264"/>
          </a:xfrm>
          <a:prstGeom prst="rect">
            <a:avLst/>
          </a:prstGeom>
          <a:solidFill>
            <a:srgbClr val="F3E8FE"/>
          </a:solidFill>
          <a:ln w="12700">
            <a:solidFill>
              <a:srgbClr val="D8B8F8"/>
            </a:solidFill>
            <a:prstDash val="solid"/>
          </a:ln>
        </p:spPr>
        <p:txBody>
          <a:bodyPr/>
          <a:lstStyle/>
          <a:p>
            <a:endParaRPr lang="en-US"/>
          </a:p>
        </p:txBody>
      </p:sp>
      <p:sp>
        <p:nvSpPr>
          <p:cNvPr id="19" name="Text 17"/>
          <p:cNvSpPr txBox="1"/>
          <p:nvPr/>
        </p:nvSpPr>
        <p:spPr>
          <a:xfrm>
            <a:off x="594360" y="5742432"/>
            <a:ext cx="4937760" cy="256032"/>
          </a:xfrm>
          <a:prstGeom prst="rect">
            <a:avLst/>
          </a:prstGeom>
          <a:noFill/>
          <a:ln/>
        </p:spPr>
        <p:txBody>
          <a:bodyPr wrap="square" lIns="0" tIns="0" rIns="0" bIns="0" rtlCol="0" anchor="ctr"/>
          <a:lstStyle/>
          <a:p>
            <a:pPr marL="0" indent="0">
              <a:buNone/>
            </a:pPr>
            <a:r>
              <a:rPr lang="en-US" sz="1200" b="1" dirty="0">
                <a:solidFill>
                  <a:srgbClr val="7B2FBE"/>
                </a:solidFill>
                <a:latin typeface="Calibri" pitchFamily="34" charset="0"/>
                <a:ea typeface="Calibri" pitchFamily="34" charset="-122"/>
                <a:cs typeface="Calibri" pitchFamily="34" charset="-120"/>
              </a:rPr>
              <a:t>C# var — static</a:t>
            </a:r>
            <a:endParaRPr lang="en-US" sz="1200" dirty="0"/>
          </a:p>
        </p:txBody>
      </p:sp>
      <p:sp>
        <p:nvSpPr>
          <p:cNvPr id="20" name="Text 18"/>
          <p:cNvSpPr txBox="1"/>
          <p:nvPr/>
        </p:nvSpPr>
        <p:spPr>
          <a:xfrm>
            <a:off x="594360" y="6016752"/>
            <a:ext cx="4937760" cy="5029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Compiler infers type at compile time. Type is fixed. Cannot be rebound to different type.</a:t>
            </a:r>
            <a:endParaRPr lang="en-US" sz="1200" dirty="0"/>
          </a:p>
        </p:txBody>
      </p:sp>
      <p:sp>
        <p:nvSpPr>
          <p:cNvPr id="21" name="Shape 19"/>
          <p:cNvSpPr/>
          <p:nvPr/>
        </p:nvSpPr>
        <p:spPr>
          <a:xfrm>
            <a:off x="6355080" y="5669280"/>
            <a:ext cx="5349240" cy="969264"/>
          </a:xfrm>
          <a:prstGeom prst="rect">
            <a:avLst/>
          </a:prstGeom>
          <a:solidFill>
            <a:srgbClr val="FEF3E8"/>
          </a:solidFill>
          <a:ln w="12700">
            <a:solidFill>
              <a:srgbClr val="F8D8B8"/>
            </a:solidFill>
            <a:prstDash val="solid"/>
          </a:ln>
        </p:spPr>
        <p:txBody>
          <a:bodyPr/>
          <a:lstStyle/>
          <a:p>
            <a:endParaRPr lang="en-US"/>
          </a:p>
        </p:txBody>
      </p:sp>
      <p:sp>
        <p:nvSpPr>
          <p:cNvPr id="22" name="Text 20"/>
          <p:cNvSpPr txBox="1"/>
          <p:nvPr/>
        </p:nvSpPr>
        <p:spPr>
          <a:xfrm>
            <a:off x="6537960" y="5742432"/>
            <a:ext cx="4937760" cy="256032"/>
          </a:xfrm>
          <a:prstGeom prst="rect">
            <a:avLst/>
          </a:prstGeom>
          <a:noFill/>
          <a:ln/>
        </p:spPr>
        <p:txBody>
          <a:bodyPr wrap="square" lIns="0" tIns="0" rIns="0" bIns="0" rtlCol="0" anchor="ctr"/>
          <a:lstStyle/>
          <a:p>
            <a:pPr marL="0" indent="0">
              <a:buNone/>
            </a:pPr>
            <a:r>
              <a:rPr lang="en-US" sz="1200" b="1" dirty="0">
                <a:solidFill>
                  <a:srgbClr val="C05E00"/>
                </a:solidFill>
                <a:latin typeface="Calibri" pitchFamily="34" charset="0"/>
                <a:ea typeface="Calibri" pitchFamily="34" charset="-122"/>
                <a:cs typeface="Calibri" pitchFamily="34" charset="-120"/>
              </a:rPr>
              <a:t>Python — dynamic</a:t>
            </a:r>
            <a:endParaRPr lang="en-US" sz="1200" dirty="0"/>
          </a:p>
        </p:txBody>
      </p:sp>
      <p:sp>
        <p:nvSpPr>
          <p:cNvPr id="23" name="Text 21"/>
          <p:cNvSpPr txBox="1"/>
          <p:nvPr/>
        </p:nvSpPr>
        <p:spPr>
          <a:xfrm>
            <a:off x="6537960" y="6016752"/>
            <a:ext cx="4937760" cy="5029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No type at all on the name. Name bound to object at runtime. Can be rebound to any object.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Python's Variable Model: Names and Objects</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8</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The "box" mental model works for C. Python needs a different model entirely.</a:t>
            </a:r>
            <a:endParaRPr lang="en-US" sz="1300" dirty="0"/>
          </a:p>
        </p:txBody>
      </p:sp>
      <p:sp>
        <p:nvSpPr>
          <p:cNvPr id="6" name="Shape 4"/>
          <p:cNvSpPr/>
          <p:nvPr/>
        </p:nvSpPr>
        <p:spPr>
          <a:xfrm>
            <a:off x="411480" y="1325880"/>
            <a:ext cx="5349240" cy="2423160"/>
          </a:xfrm>
          <a:prstGeom prst="rect">
            <a:avLst/>
          </a:prstGeom>
          <a:solidFill>
            <a:srgbClr val="FFFFFF"/>
          </a:solidFill>
          <a:ln w="12700">
            <a:solidFill>
              <a:srgbClr val="D0DAF0"/>
            </a:solidFill>
            <a:prstDash val="solid"/>
          </a:ln>
        </p:spPr>
        <p:txBody>
          <a:bodyPr/>
          <a:lstStyle/>
          <a:p>
            <a:endParaRPr lang="en-US"/>
          </a:p>
        </p:txBody>
      </p:sp>
      <p:sp>
        <p:nvSpPr>
          <p:cNvPr id="7" name="Text 5"/>
          <p:cNvSpPr txBox="1"/>
          <p:nvPr/>
        </p:nvSpPr>
        <p:spPr>
          <a:xfrm>
            <a:off x="594360" y="1408176"/>
            <a:ext cx="49377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The typed box (C / C# mental model)</a:t>
            </a:r>
            <a:endParaRPr lang="en-US" sz="1300" dirty="0"/>
          </a:p>
        </p:txBody>
      </p:sp>
      <p:sp>
        <p:nvSpPr>
          <p:cNvPr id="8" name="Shape 6"/>
          <p:cNvSpPr/>
          <p:nvPr/>
        </p:nvSpPr>
        <p:spPr>
          <a:xfrm>
            <a:off x="594360" y="1737360"/>
            <a:ext cx="4937760" cy="1417320"/>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749808" y="1810512"/>
            <a:ext cx="4626864" cy="1261872"/>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age   [type: int]       │← 25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The box is typed. You can change the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number, but not put a string in an int box.</a:t>
            </a:r>
            <a:endParaRPr lang="en-US" sz="1100" dirty="0"/>
          </a:p>
        </p:txBody>
      </p:sp>
      <p:sp>
        <p:nvSpPr>
          <p:cNvPr id="10" name="Shape 8"/>
          <p:cNvSpPr/>
          <p:nvPr/>
        </p:nvSpPr>
        <p:spPr>
          <a:xfrm>
            <a:off x="6355080" y="1325880"/>
            <a:ext cx="5349240" cy="2423160"/>
          </a:xfrm>
          <a:prstGeom prst="rect">
            <a:avLst/>
          </a:prstGeom>
          <a:solidFill>
            <a:srgbClr val="FFFFFF"/>
          </a:solidFill>
          <a:ln w="12700">
            <a:solidFill>
              <a:srgbClr val="D0DAF0"/>
            </a:solidFill>
            <a:prstDash val="solid"/>
          </a:ln>
        </p:spPr>
        <p:txBody>
          <a:bodyPr/>
          <a:lstStyle/>
          <a:p>
            <a:endParaRPr lang="en-US"/>
          </a:p>
        </p:txBody>
      </p:sp>
      <p:sp>
        <p:nvSpPr>
          <p:cNvPr id="11" name="Text 9"/>
          <p:cNvSpPr txBox="1"/>
          <p:nvPr/>
        </p:nvSpPr>
        <p:spPr>
          <a:xfrm>
            <a:off x="6537960" y="1408176"/>
            <a:ext cx="4937760" cy="256032"/>
          </a:xfrm>
          <a:prstGeom prst="rect">
            <a:avLst/>
          </a:prstGeom>
          <a:noFill/>
          <a:ln/>
        </p:spPr>
        <p:txBody>
          <a:bodyPr wrap="square" lIns="0" tIns="0" rIns="0" bIns="0" rtlCol="0" anchor="ctr"/>
          <a:lstStyle/>
          <a:p>
            <a:pPr marL="0" indent="0">
              <a:buNone/>
            </a:pPr>
            <a:r>
              <a:rPr lang="en-US" sz="1300" b="1" dirty="0">
                <a:solidFill>
                  <a:srgbClr val="C05E00"/>
                </a:solidFill>
                <a:latin typeface="Calibri" pitchFamily="34" charset="0"/>
                <a:ea typeface="Calibri" pitchFamily="34" charset="-122"/>
                <a:cs typeface="Calibri" pitchFamily="34" charset="-120"/>
              </a:rPr>
              <a:t>Names refer to objects (Python model)</a:t>
            </a:r>
            <a:endParaRPr lang="en-US" sz="1300" dirty="0"/>
          </a:p>
        </p:txBody>
      </p:sp>
      <p:sp>
        <p:nvSpPr>
          <p:cNvPr id="12" name="Shape 10"/>
          <p:cNvSpPr/>
          <p:nvPr/>
        </p:nvSpPr>
        <p:spPr>
          <a:xfrm>
            <a:off x="6537960" y="1737359"/>
            <a:ext cx="4937760" cy="1417321"/>
          </a:xfrm>
          <a:prstGeom prst="rect">
            <a:avLst/>
          </a:prstGeom>
          <a:solidFill>
            <a:srgbClr val="EEF1FA"/>
          </a:solidFill>
          <a:ln w="12700">
            <a:solidFill>
              <a:srgbClr val="D0DAF0"/>
            </a:solidFill>
            <a:prstDash val="solid"/>
          </a:ln>
        </p:spPr>
        <p:txBody>
          <a:bodyPr/>
          <a:lstStyle/>
          <a:p>
            <a:endParaRPr lang="en-US"/>
          </a:p>
        </p:txBody>
      </p:sp>
      <p:sp>
        <p:nvSpPr>
          <p:cNvPr id="13" name="Text 11"/>
          <p:cNvSpPr txBox="1"/>
          <p:nvPr/>
        </p:nvSpPr>
        <p:spPr>
          <a:xfrm>
            <a:off x="6693408" y="1810512"/>
            <a:ext cx="4626864" cy="1261872"/>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25  [object, type: int]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(after age = "hello")</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"hello"  [object, type: str]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Labels can point to any object.</a:t>
            </a:r>
            <a:endParaRPr lang="en-US" sz="1100" dirty="0"/>
          </a:p>
        </p:txBody>
      </p:sp>
      <p:sp>
        <p:nvSpPr>
          <p:cNvPr id="14" name="Shape 12"/>
          <p:cNvSpPr/>
          <p:nvPr/>
        </p:nvSpPr>
        <p:spPr>
          <a:xfrm>
            <a:off x="411480" y="3858768"/>
            <a:ext cx="11338560" cy="310896"/>
          </a:xfrm>
          <a:prstGeom prst="rect">
            <a:avLst/>
          </a:prstGeom>
          <a:solidFill>
            <a:srgbClr val="1A2B5E"/>
          </a:solidFill>
          <a:ln/>
        </p:spPr>
        <p:txBody>
          <a:bodyPr/>
          <a:lstStyle/>
          <a:p>
            <a:endParaRPr lang="en-US"/>
          </a:p>
        </p:txBody>
      </p:sp>
      <p:sp>
        <p:nvSpPr>
          <p:cNvPr id="15" name="Text 13"/>
          <p:cNvSpPr txBox="1"/>
          <p:nvPr/>
        </p:nvSpPr>
        <p:spPr>
          <a:xfrm>
            <a:off x="594360" y="3931920"/>
            <a:ext cx="10789920" cy="20116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Aliasing — when two names refer to the same object</a:t>
            </a:r>
            <a:endParaRPr lang="en-US" sz="1200" dirty="0"/>
          </a:p>
        </p:txBody>
      </p:sp>
      <p:sp>
        <p:nvSpPr>
          <p:cNvPr id="16" name="Shape 14"/>
          <p:cNvSpPr/>
          <p:nvPr/>
        </p:nvSpPr>
        <p:spPr>
          <a:xfrm>
            <a:off x="411480" y="4315968"/>
            <a:ext cx="5349240" cy="1243584"/>
          </a:xfrm>
          <a:prstGeom prst="rect">
            <a:avLst/>
          </a:prstGeom>
          <a:solidFill>
            <a:srgbClr val="EEF1FA"/>
          </a:solidFill>
          <a:ln w="12700">
            <a:solidFill>
              <a:srgbClr val="D0DAF0"/>
            </a:solidFill>
            <a:prstDash val="solid"/>
          </a:ln>
        </p:spPr>
        <p:txBody>
          <a:bodyPr/>
          <a:lstStyle/>
          <a:p>
            <a:endParaRPr lang="en-US"/>
          </a:p>
        </p:txBody>
      </p:sp>
      <p:sp>
        <p:nvSpPr>
          <p:cNvPr id="17" name="Text 15"/>
          <p:cNvSpPr txBox="1"/>
          <p:nvPr/>
        </p:nvSpPr>
        <p:spPr>
          <a:xfrm>
            <a:off x="539496" y="4407408"/>
            <a:ext cx="5148072" cy="1078992"/>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 = [1, 2, 3]</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b = a           // b → SAME list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b.append(4)     // mutates shared obj</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print(a)        // [1, 2, 3, 4]</a:t>
            </a:r>
            <a:endParaRPr lang="en-US" sz="1100" dirty="0"/>
          </a:p>
        </p:txBody>
      </p:sp>
      <p:sp>
        <p:nvSpPr>
          <p:cNvPr id="18" name="Shape 16"/>
          <p:cNvSpPr/>
          <p:nvPr/>
        </p:nvSpPr>
        <p:spPr>
          <a:xfrm>
            <a:off x="6355080" y="4315968"/>
            <a:ext cx="5349240" cy="1243584"/>
          </a:xfrm>
          <a:prstGeom prst="rect">
            <a:avLst/>
          </a:prstGeom>
          <a:solidFill>
            <a:srgbClr val="EEF1FA"/>
          </a:solidFill>
          <a:ln w="12700">
            <a:solidFill>
              <a:srgbClr val="D0DAF0"/>
            </a:solidFill>
            <a:prstDash val="solid"/>
          </a:ln>
        </p:spPr>
        <p:txBody>
          <a:bodyPr/>
          <a:lstStyle/>
          <a:p>
            <a:endParaRPr lang="en-US"/>
          </a:p>
        </p:txBody>
      </p:sp>
      <p:sp>
        <p:nvSpPr>
          <p:cNvPr id="19" name="Text 17"/>
          <p:cNvSpPr txBox="1"/>
          <p:nvPr/>
        </p:nvSpPr>
        <p:spPr>
          <a:xfrm>
            <a:off x="6483096" y="4407408"/>
            <a:ext cx="5148072" cy="1078992"/>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 = 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b = a         // both → 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 = 10        // rebinds a; b unaffected</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print(b)      // 5</a:t>
            </a:r>
            <a:endParaRPr lang="en-US" sz="1100" dirty="0"/>
          </a:p>
        </p:txBody>
      </p:sp>
      <p:sp>
        <p:nvSpPr>
          <p:cNvPr id="20" name="Text 18"/>
          <p:cNvSpPr txBox="1"/>
          <p:nvPr/>
        </p:nvSpPr>
        <p:spPr>
          <a:xfrm>
            <a:off x="411480" y="5614416"/>
            <a:ext cx="11338560" cy="41148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Key: b.append() mutates the shared object — both names see the change. But a = 10 is rebinding — it redirects a, not modify the object. b is unaffected.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Side-by-Side: The Same Question, Three Answers</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9</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The key difference: rebinding to a different type</a:t>
            </a:r>
            <a:endParaRPr lang="en-US" sz="1300" dirty="0"/>
          </a:p>
        </p:txBody>
      </p:sp>
      <p:sp>
        <p:nvSpPr>
          <p:cNvPr id="6" name="Shape 4"/>
          <p:cNvSpPr/>
          <p:nvPr/>
        </p:nvSpPr>
        <p:spPr>
          <a:xfrm>
            <a:off x="411480" y="1325880"/>
            <a:ext cx="3730752" cy="2971800"/>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539496" y="1408176"/>
            <a:ext cx="749808" cy="256032"/>
          </a:xfrm>
          <a:prstGeom prst="roundRect">
            <a:avLst>
              <a:gd name="adj" fmla="val 25000"/>
            </a:avLst>
          </a:prstGeom>
          <a:solidFill>
            <a:srgbClr val="E8F0FE"/>
          </a:solidFill>
          <a:ln w="12700">
            <a:solidFill>
              <a:srgbClr val="E8F0FE"/>
            </a:solidFill>
            <a:prstDash val="solid"/>
          </a:ln>
        </p:spPr>
        <p:txBody>
          <a:bodyPr/>
          <a:lstStyle/>
          <a:p>
            <a:endParaRPr lang="en-US"/>
          </a:p>
        </p:txBody>
      </p:sp>
      <p:sp>
        <p:nvSpPr>
          <p:cNvPr id="8" name="Text 6"/>
          <p:cNvSpPr txBox="1"/>
          <p:nvPr/>
        </p:nvSpPr>
        <p:spPr>
          <a:xfrm>
            <a:off x="576072" y="1435608"/>
            <a:ext cx="676656"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9" name="Shape 7"/>
          <p:cNvSpPr/>
          <p:nvPr/>
        </p:nvSpPr>
        <p:spPr>
          <a:xfrm>
            <a:off x="539496" y="1719072"/>
            <a:ext cx="3493008" cy="1901952"/>
          </a:xfrm>
          <a:prstGeom prst="rect">
            <a:avLst/>
          </a:prstGeom>
          <a:solidFill>
            <a:srgbClr val="EEF1FA"/>
          </a:solidFill>
          <a:ln w="12700">
            <a:solidFill>
              <a:srgbClr val="D0DAF0"/>
            </a:solidFill>
            <a:prstDash val="solid"/>
          </a:ln>
        </p:spPr>
        <p:txBody>
          <a:bodyPr/>
          <a:lstStyle/>
          <a:p>
            <a:endParaRPr lang="en-US"/>
          </a:p>
        </p:txBody>
      </p:sp>
      <p:sp>
        <p:nvSpPr>
          <p:cNvPr id="10" name="Text 8"/>
          <p:cNvSpPr txBox="1"/>
          <p:nvPr/>
        </p:nvSpPr>
        <p:spPr>
          <a:xfrm>
            <a:off x="667512" y="1810512"/>
            <a:ext cx="3291840" cy="173736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x = 10;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x = "hello";</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COMPILE ERROR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incompatible types */</a:t>
            </a:r>
            <a:endParaRPr lang="en-US" sz="1100" dirty="0"/>
          </a:p>
        </p:txBody>
      </p:sp>
      <p:sp>
        <p:nvSpPr>
          <p:cNvPr id="11" name="Text 9"/>
          <p:cNvSpPr txBox="1"/>
          <p:nvPr/>
        </p:nvSpPr>
        <p:spPr>
          <a:xfrm>
            <a:off x="539496" y="3675888"/>
            <a:ext cx="3493008" cy="512064"/>
          </a:xfrm>
          <a:prstGeom prst="rect">
            <a:avLst/>
          </a:prstGeom>
          <a:noFill/>
          <a:ln/>
        </p:spPr>
        <p:txBody>
          <a:bodyPr wrap="square" lIns="0" tIns="0" rIns="0" bIns="0" rtlCol="0" anchor="ctr"/>
          <a:lstStyle/>
          <a:p>
            <a:pPr marL="0" indent="0">
              <a:lnSpc>
                <a:spcPct val="130000"/>
              </a:lnSpc>
              <a:buNone/>
            </a:pPr>
            <a:r>
              <a:rPr lang="en-US" sz="1150" b="1" dirty="0">
                <a:solidFill>
                  <a:srgbClr val="9B1C1C"/>
                </a:solidFill>
                <a:latin typeface="Calibri" pitchFamily="34" charset="0"/>
                <a:ea typeface="Calibri" pitchFamily="34" charset="-122"/>
                <a:cs typeface="Calibri" pitchFamily="34" charset="-120"/>
              </a:rPr>
              <a:t>❌ Type bound at compile time</a:t>
            </a:r>
            <a:endParaRPr lang="en-US" sz="1150" dirty="0"/>
          </a:p>
          <a:p>
            <a:pPr marL="0" indent="0">
              <a:lnSpc>
                <a:spcPct val="130000"/>
              </a:lnSpc>
              <a:buNone/>
            </a:pPr>
            <a:r>
              <a:rPr lang="en-US" sz="1150" b="1" dirty="0">
                <a:solidFill>
                  <a:srgbClr val="9B1C1C"/>
                </a:solidFill>
                <a:latin typeface="Calibri" pitchFamily="34" charset="0"/>
                <a:ea typeface="Calibri" pitchFamily="34" charset="-122"/>
                <a:cs typeface="Calibri" pitchFamily="34" charset="-120"/>
              </a:rPr>
              <a:t>— permanently.</a:t>
            </a:r>
            <a:endParaRPr lang="en-US" sz="1150" dirty="0"/>
          </a:p>
        </p:txBody>
      </p:sp>
      <p:sp>
        <p:nvSpPr>
          <p:cNvPr id="12" name="Shape 10"/>
          <p:cNvSpPr/>
          <p:nvPr/>
        </p:nvSpPr>
        <p:spPr>
          <a:xfrm>
            <a:off x="4325112" y="1325880"/>
            <a:ext cx="3730752" cy="2971800"/>
          </a:xfrm>
          <a:prstGeom prst="rect">
            <a:avLst/>
          </a:prstGeom>
          <a:solidFill>
            <a:srgbClr val="FFFFFF"/>
          </a:solidFill>
          <a:ln w="12700">
            <a:solidFill>
              <a:srgbClr val="D0DAF0"/>
            </a:solidFill>
            <a:prstDash val="solid"/>
          </a:ln>
        </p:spPr>
        <p:txBody>
          <a:bodyPr/>
          <a:lstStyle/>
          <a:p>
            <a:endParaRPr lang="en-US"/>
          </a:p>
        </p:txBody>
      </p:sp>
      <p:sp>
        <p:nvSpPr>
          <p:cNvPr id="13" name="Shape 11"/>
          <p:cNvSpPr/>
          <p:nvPr/>
        </p:nvSpPr>
        <p:spPr>
          <a:xfrm>
            <a:off x="4453128" y="1408176"/>
            <a:ext cx="749808" cy="256032"/>
          </a:xfrm>
          <a:prstGeom prst="roundRect">
            <a:avLst>
              <a:gd name="adj" fmla="val 25000"/>
            </a:avLst>
          </a:prstGeom>
          <a:solidFill>
            <a:srgbClr val="F3E8FE"/>
          </a:solidFill>
          <a:ln w="12700">
            <a:solidFill>
              <a:srgbClr val="F3E8FE"/>
            </a:solidFill>
            <a:prstDash val="solid"/>
          </a:ln>
        </p:spPr>
        <p:txBody>
          <a:bodyPr/>
          <a:lstStyle/>
          <a:p>
            <a:endParaRPr lang="en-US"/>
          </a:p>
        </p:txBody>
      </p:sp>
      <p:sp>
        <p:nvSpPr>
          <p:cNvPr id="14" name="Text 12"/>
          <p:cNvSpPr txBox="1"/>
          <p:nvPr/>
        </p:nvSpPr>
        <p:spPr>
          <a:xfrm>
            <a:off x="4489704" y="1435608"/>
            <a:ext cx="676656"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15" name="Shape 13"/>
          <p:cNvSpPr/>
          <p:nvPr/>
        </p:nvSpPr>
        <p:spPr>
          <a:xfrm>
            <a:off x="4453128" y="1719072"/>
            <a:ext cx="3493008" cy="1901952"/>
          </a:xfrm>
          <a:prstGeom prst="rect">
            <a:avLst/>
          </a:prstGeom>
          <a:solidFill>
            <a:srgbClr val="EEF1FA"/>
          </a:solidFill>
          <a:ln w="12700">
            <a:solidFill>
              <a:srgbClr val="D0DAF0"/>
            </a:solidFill>
            <a:prstDash val="solid"/>
          </a:ln>
        </p:spPr>
        <p:txBody>
          <a:bodyPr/>
          <a:lstStyle/>
          <a:p>
            <a:endParaRPr lang="en-US"/>
          </a:p>
        </p:txBody>
      </p:sp>
      <p:sp>
        <p:nvSpPr>
          <p:cNvPr id="16" name="Text 14"/>
          <p:cNvSpPr txBox="1"/>
          <p:nvPr/>
        </p:nvSpPr>
        <p:spPr>
          <a:xfrm>
            <a:off x="4581144" y="1810512"/>
            <a:ext cx="3291840" cy="173736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var x = 10;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x = "hello";</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COMPILE ERROR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Cannot convert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string to int</a:t>
            </a:r>
            <a:endParaRPr lang="en-US" sz="1100" dirty="0"/>
          </a:p>
        </p:txBody>
      </p:sp>
      <p:sp>
        <p:nvSpPr>
          <p:cNvPr id="17" name="Text 15"/>
          <p:cNvSpPr txBox="1"/>
          <p:nvPr/>
        </p:nvSpPr>
        <p:spPr>
          <a:xfrm>
            <a:off x="4453128" y="3675888"/>
            <a:ext cx="3493008" cy="512064"/>
          </a:xfrm>
          <a:prstGeom prst="rect">
            <a:avLst/>
          </a:prstGeom>
          <a:noFill/>
          <a:ln/>
        </p:spPr>
        <p:txBody>
          <a:bodyPr wrap="square" lIns="0" tIns="0" rIns="0" bIns="0" rtlCol="0" anchor="ctr"/>
          <a:lstStyle/>
          <a:p>
            <a:pPr marL="0" indent="0">
              <a:lnSpc>
                <a:spcPct val="130000"/>
              </a:lnSpc>
              <a:buNone/>
            </a:pPr>
            <a:r>
              <a:rPr lang="en-US" sz="1150" b="1" dirty="0">
                <a:solidFill>
                  <a:srgbClr val="9B1C1C"/>
                </a:solidFill>
                <a:latin typeface="Calibri" pitchFamily="34" charset="0"/>
                <a:ea typeface="Calibri" pitchFamily="34" charset="-122"/>
                <a:cs typeface="Calibri" pitchFamily="34" charset="-120"/>
              </a:rPr>
              <a:t>❌ var still statically typed</a:t>
            </a:r>
            <a:endParaRPr lang="en-US" sz="1150" dirty="0"/>
          </a:p>
          <a:p>
            <a:pPr marL="0" indent="0">
              <a:lnSpc>
                <a:spcPct val="130000"/>
              </a:lnSpc>
              <a:buNone/>
            </a:pPr>
            <a:r>
              <a:rPr lang="en-US" sz="1150" b="1" dirty="0">
                <a:solidFill>
                  <a:srgbClr val="9B1C1C"/>
                </a:solidFill>
                <a:latin typeface="Calibri" pitchFamily="34" charset="0"/>
                <a:ea typeface="Calibri" pitchFamily="34" charset="-122"/>
                <a:cs typeface="Calibri" pitchFamily="34" charset="-120"/>
              </a:rPr>
              <a:t>— type fixed at compile time.</a:t>
            </a:r>
            <a:endParaRPr lang="en-US" sz="1150" dirty="0"/>
          </a:p>
        </p:txBody>
      </p:sp>
      <p:sp>
        <p:nvSpPr>
          <p:cNvPr id="18" name="Shape 16"/>
          <p:cNvSpPr/>
          <p:nvPr/>
        </p:nvSpPr>
        <p:spPr>
          <a:xfrm>
            <a:off x="8238744" y="1325880"/>
            <a:ext cx="3730752" cy="2971800"/>
          </a:xfrm>
          <a:prstGeom prst="rect">
            <a:avLst/>
          </a:prstGeom>
          <a:solidFill>
            <a:srgbClr val="FFFFFF"/>
          </a:solidFill>
          <a:ln w="12700">
            <a:solidFill>
              <a:srgbClr val="D0DAF0"/>
            </a:solidFill>
            <a:prstDash val="solid"/>
          </a:ln>
        </p:spPr>
        <p:txBody>
          <a:bodyPr/>
          <a:lstStyle/>
          <a:p>
            <a:endParaRPr lang="en-US"/>
          </a:p>
        </p:txBody>
      </p:sp>
      <p:sp>
        <p:nvSpPr>
          <p:cNvPr id="19" name="Shape 17"/>
          <p:cNvSpPr/>
          <p:nvPr/>
        </p:nvSpPr>
        <p:spPr>
          <a:xfrm>
            <a:off x="8366760" y="1408176"/>
            <a:ext cx="749808" cy="256032"/>
          </a:xfrm>
          <a:prstGeom prst="roundRect">
            <a:avLst>
              <a:gd name="adj" fmla="val 25000"/>
            </a:avLst>
          </a:prstGeom>
          <a:solidFill>
            <a:srgbClr val="FEF3E8"/>
          </a:solidFill>
          <a:ln w="12700">
            <a:solidFill>
              <a:srgbClr val="FEF3E8"/>
            </a:solidFill>
            <a:prstDash val="solid"/>
          </a:ln>
        </p:spPr>
        <p:txBody>
          <a:bodyPr/>
          <a:lstStyle/>
          <a:p>
            <a:endParaRPr lang="en-US"/>
          </a:p>
        </p:txBody>
      </p:sp>
      <p:sp>
        <p:nvSpPr>
          <p:cNvPr id="20" name="Text 18"/>
          <p:cNvSpPr txBox="1"/>
          <p:nvPr/>
        </p:nvSpPr>
        <p:spPr>
          <a:xfrm>
            <a:off x="8403336" y="1435608"/>
            <a:ext cx="676656"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21" name="Shape 19"/>
          <p:cNvSpPr/>
          <p:nvPr/>
        </p:nvSpPr>
        <p:spPr>
          <a:xfrm>
            <a:off x="8366760" y="1719072"/>
            <a:ext cx="3493008" cy="1901952"/>
          </a:xfrm>
          <a:prstGeom prst="rect">
            <a:avLst/>
          </a:prstGeom>
          <a:solidFill>
            <a:srgbClr val="EEF1FA"/>
          </a:solidFill>
          <a:ln w="12700">
            <a:solidFill>
              <a:srgbClr val="D0DAF0"/>
            </a:solidFill>
            <a:prstDash val="solid"/>
          </a:ln>
        </p:spPr>
        <p:txBody>
          <a:bodyPr/>
          <a:lstStyle/>
          <a:p>
            <a:endParaRPr lang="en-US"/>
          </a:p>
        </p:txBody>
      </p:sp>
      <p:sp>
        <p:nvSpPr>
          <p:cNvPr id="22" name="Text 20"/>
          <p:cNvSpPr txBox="1"/>
          <p:nvPr/>
        </p:nvSpPr>
        <p:spPr>
          <a:xfrm>
            <a:off x="8494776" y="1810512"/>
            <a:ext cx="3291840" cy="173736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x = 10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x = "hello"  # ✓ valid</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print(x)</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Output: hello</a:t>
            </a:r>
            <a:endParaRPr lang="en-US" sz="1100" dirty="0"/>
          </a:p>
        </p:txBody>
      </p:sp>
      <p:sp>
        <p:nvSpPr>
          <p:cNvPr id="23" name="Text 21"/>
          <p:cNvSpPr txBox="1"/>
          <p:nvPr/>
        </p:nvSpPr>
        <p:spPr>
          <a:xfrm>
            <a:off x="8366760" y="3675888"/>
            <a:ext cx="3493008" cy="512064"/>
          </a:xfrm>
          <a:prstGeom prst="rect">
            <a:avLst/>
          </a:prstGeom>
          <a:noFill/>
          <a:ln/>
        </p:spPr>
        <p:txBody>
          <a:bodyPr wrap="square" lIns="0" tIns="0" rIns="0" bIns="0" rtlCol="0" anchor="ctr"/>
          <a:lstStyle/>
          <a:p>
            <a:pPr marL="0" indent="0">
              <a:lnSpc>
                <a:spcPct val="130000"/>
              </a:lnSpc>
              <a:buNone/>
            </a:pPr>
            <a:r>
              <a:rPr lang="en-US" sz="1150" b="1" dirty="0">
                <a:solidFill>
                  <a:srgbClr val="1A7A3C"/>
                </a:solidFill>
                <a:latin typeface="Calibri" pitchFamily="34" charset="0"/>
                <a:ea typeface="Calibri" pitchFamily="34" charset="-122"/>
                <a:cs typeface="Calibri" pitchFamily="34" charset="-120"/>
              </a:rPr>
              <a:t>✓ Name rebound to new</a:t>
            </a:r>
            <a:endParaRPr lang="en-US" sz="1150" dirty="0"/>
          </a:p>
          <a:p>
            <a:pPr marL="0" indent="0">
              <a:lnSpc>
                <a:spcPct val="130000"/>
              </a:lnSpc>
              <a:buNone/>
            </a:pPr>
            <a:r>
              <a:rPr lang="en-US" sz="1150" b="1" dirty="0">
                <a:solidFill>
                  <a:srgbClr val="1A7A3C"/>
                </a:solidFill>
                <a:latin typeface="Calibri" pitchFamily="34" charset="0"/>
                <a:ea typeface="Calibri" pitchFamily="34" charset="-122"/>
                <a:cs typeface="Calibri" pitchFamily="34" charset="-120"/>
              </a:rPr>
              <a:t>object — fully valid.</a:t>
            </a:r>
            <a:endParaRPr lang="en-US" sz="1150" dirty="0"/>
          </a:p>
        </p:txBody>
      </p:sp>
      <p:sp>
        <p:nvSpPr>
          <p:cNvPr id="24" name="Text 22"/>
          <p:cNvSpPr txBox="1"/>
          <p:nvPr/>
        </p:nvSpPr>
        <p:spPr>
          <a:xfrm>
            <a:off x="411480" y="4407408"/>
            <a:ext cx="113385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Summary: six design questions, three answers each</a:t>
            </a:r>
            <a:endParaRPr lang="en-US" sz="1300" dirty="0"/>
          </a:p>
        </p:txBody>
      </p:sp>
      <p:sp>
        <p:nvSpPr>
          <p:cNvPr id="25" name="Shape 23"/>
          <p:cNvSpPr/>
          <p:nvPr/>
        </p:nvSpPr>
        <p:spPr>
          <a:xfrm>
            <a:off x="411480" y="4709160"/>
            <a:ext cx="11338560" cy="310896"/>
          </a:xfrm>
          <a:prstGeom prst="rect">
            <a:avLst/>
          </a:prstGeom>
          <a:solidFill>
            <a:srgbClr val="1A2B5E"/>
          </a:solidFill>
          <a:ln/>
        </p:spPr>
        <p:txBody>
          <a:bodyPr/>
          <a:lstStyle/>
          <a:p>
            <a:endParaRPr lang="en-US"/>
          </a:p>
        </p:txBody>
      </p:sp>
      <p:sp>
        <p:nvSpPr>
          <p:cNvPr id="26" name="Text 24"/>
          <p:cNvSpPr txBox="1"/>
          <p:nvPr/>
        </p:nvSpPr>
        <p:spPr>
          <a:xfrm>
            <a:off x="548640" y="4782312"/>
            <a:ext cx="3657600" cy="2011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Design question</a:t>
            </a:r>
            <a:endParaRPr lang="en-US" sz="1050" dirty="0"/>
          </a:p>
        </p:txBody>
      </p:sp>
      <p:sp>
        <p:nvSpPr>
          <p:cNvPr id="27" name="Text 25"/>
          <p:cNvSpPr txBox="1"/>
          <p:nvPr/>
        </p:nvSpPr>
        <p:spPr>
          <a:xfrm>
            <a:off x="4297680" y="4782312"/>
            <a:ext cx="2240280" cy="2011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t>
            </a:r>
            <a:endParaRPr lang="en-US" sz="1050" dirty="0"/>
          </a:p>
        </p:txBody>
      </p:sp>
      <p:sp>
        <p:nvSpPr>
          <p:cNvPr id="28" name="Text 26"/>
          <p:cNvSpPr txBox="1"/>
          <p:nvPr/>
        </p:nvSpPr>
        <p:spPr>
          <a:xfrm>
            <a:off x="6629400" y="4782312"/>
            <a:ext cx="2240280" cy="2011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t>
            </a:r>
            <a:endParaRPr lang="en-US" sz="1050" dirty="0"/>
          </a:p>
        </p:txBody>
      </p:sp>
      <p:sp>
        <p:nvSpPr>
          <p:cNvPr id="29" name="Text 27"/>
          <p:cNvSpPr txBox="1"/>
          <p:nvPr/>
        </p:nvSpPr>
        <p:spPr>
          <a:xfrm>
            <a:off x="8961120" y="4782312"/>
            <a:ext cx="3017520" cy="2011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Python</a:t>
            </a:r>
            <a:endParaRPr lang="en-US" sz="1050" dirty="0"/>
          </a:p>
        </p:txBody>
      </p:sp>
      <p:sp>
        <p:nvSpPr>
          <p:cNvPr id="30" name="Shape 28"/>
          <p:cNvSpPr/>
          <p:nvPr/>
        </p:nvSpPr>
        <p:spPr>
          <a:xfrm>
            <a:off x="411480" y="5056632"/>
            <a:ext cx="11338560" cy="310896"/>
          </a:xfrm>
          <a:prstGeom prst="rect">
            <a:avLst/>
          </a:prstGeom>
          <a:solidFill>
            <a:srgbClr val="F4F6FC"/>
          </a:solidFill>
          <a:ln w="12700">
            <a:solidFill>
              <a:srgbClr val="D0DAF0"/>
            </a:solidFill>
            <a:prstDash val="solid"/>
          </a:ln>
        </p:spPr>
        <p:txBody>
          <a:bodyPr/>
          <a:lstStyle/>
          <a:p>
            <a:endParaRPr lang="en-US"/>
          </a:p>
        </p:txBody>
      </p:sp>
      <p:sp>
        <p:nvSpPr>
          <p:cNvPr id="31" name="Text 29"/>
          <p:cNvSpPr txBox="1"/>
          <p:nvPr/>
        </p:nvSpPr>
        <p:spPr>
          <a:xfrm>
            <a:off x="548640" y="5102352"/>
            <a:ext cx="3657600" cy="23774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Type declaration required?</a:t>
            </a:r>
            <a:endParaRPr lang="en-US" sz="1050" dirty="0"/>
          </a:p>
        </p:txBody>
      </p:sp>
      <p:sp>
        <p:nvSpPr>
          <p:cNvPr id="32" name="Text 30"/>
          <p:cNvSpPr txBox="1"/>
          <p:nvPr/>
        </p:nvSpPr>
        <p:spPr>
          <a:xfrm>
            <a:off x="4297680" y="5102352"/>
            <a:ext cx="2240280" cy="23774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Yes — always</a:t>
            </a:r>
            <a:endParaRPr lang="en-US" sz="1050" dirty="0"/>
          </a:p>
        </p:txBody>
      </p:sp>
      <p:sp>
        <p:nvSpPr>
          <p:cNvPr id="33" name="Text 31"/>
          <p:cNvSpPr txBox="1"/>
          <p:nvPr/>
        </p:nvSpPr>
        <p:spPr>
          <a:xfrm>
            <a:off x="6629400" y="5102352"/>
            <a:ext cx="2240280" cy="23774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Yes, or use var</a:t>
            </a:r>
            <a:endParaRPr lang="en-US" sz="1050" dirty="0"/>
          </a:p>
        </p:txBody>
      </p:sp>
      <p:sp>
        <p:nvSpPr>
          <p:cNvPr id="34" name="Text 32"/>
          <p:cNvSpPr txBox="1"/>
          <p:nvPr/>
        </p:nvSpPr>
        <p:spPr>
          <a:xfrm>
            <a:off x="8961120" y="5102352"/>
            <a:ext cx="3017520" cy="23774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No — just assign</a:t>
            </a:r>
            <a:endParaRPr lang="en-US" sz="1050" dirty="0"/>
          </a:p>
        </p:txBody>
      </p:sp>
      <p:sp>
        <p:nvSpPr>
          <p:cNvPr id="35" name="Shape 33"/>
          <p:cNvSpPr/>
          <p:nvPr/>
        </p:nvSpPr>
        <p:spPr>
          <a:xfrm>
            <a:off x="411480" y="5385816"/>
            <a:ext cx="11338560" cy="310896"/>
          </a:xfrm>
          <a:prstGeom prst="rect">
            <a:avLst/>
          </a:prstGeom>
          <a:solidFill>
            <a:srgbClr val="FFFFFF"/>
          </a:solidFill>
          <a:ln w="12700">
            <a:solidFill>
              <a:srgbClr val="D0DAF0"/>
            </a:solidFill>
            <a:prstDash val="solid"/>
          </a:ln>
        </p:spPr>
        <p:txBody>
          <a:bodyPr/>
          <a:lstStyle/>
          <a:p>
            <a:endParaRPr lang="en-US"/>
          </a:p>
        </p:txBody>
      </p:sp>
      <p:sp>
        <p:nvSpPr>
          <p:cNvPr id="36" name="Text 34"/>
          <p:cNvSpPr txBox="1"/>
          <p:nvPr/>
        </p:nvSpPr>
        <p:spPr>
          <a:xfrm>
            <a:off x="548640" y="5431536"/>
            <a:ext cx="3657600" cy="23774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When is type determined?</a:t>
            </a:r>
            <a:endParaRPr lang="en-US" sz="1050" dirty="0"/>
          </a:p>
        </p:txBody>
      </p:sp>
      <p:sp>
        <p:nvSpPr>
          <p:cNvPr id="37" name="Text 35"/>
          <p:cNvSpPr txBox="1"/>
          <p:nvPr/>
        </p:nvSpPr>
        <p:spPr>
          <a:xfrm>
            <a:off x="4297680" y="5431536"/>
            <a:ext cx="2240280" cy="23774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Compile time</a:t>
            </a:r>
            <a:endParaRPr lang="en-US" sz="1050" dirty="0"/>
          </a:p>
        </p:txBody>
      </p:sp>
      <p:sp>
        <p:nvSpPr>
          <p:cNvPr id="38" name="Text 36"/>
          <p:cNvSpPr txBox="1"/>
          <p:nvPr/>
        </p:nvSpPr>
        <p:spPr>
          <a:xfrm>
            <a:off x="6629400" y="5431536"/>
            <a:ext cx="2240280" cy="23774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Compile time (even with var)</a:t>
            </a:r>
            <a:endParaRPr lang="en-US" sz="1050" dirty="0"/>
          </a:p>
        </p:txBody>
      </p:sp>
      <p:sp>
        <p:nvSpPr>
          <p:cNvPr id="39" name="Text 37"/>
          <p:cNvSpPr txBox="1"/>
          <p:nvPr/>
        </p:nvSpPr>
        <p:spPr>
          <a:xfrm>
            <a:off x="8961120" y="5431536"/>
            <a:ext cx="3017520" cy="23774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Runtime, per object</a:t>
            </a:r>
            <a:endParaRPr lang="en-US" sz="1050" dirty="0"/>
          </a:p>
        </p:txBody>
      </p:sp>
      <p:sp>
        <p:nvSpPr>
          <p:cNvPr id="40" name="Shape 38"/>
          <p:cNvSpPr/>
          <p:nvPr/>
        </p:nvSpPr>
        <p:spPr>
          <a:xfrm>
            <a:off x="411480" y="5715000"/>
            <a:ext cx="11338560" cy="310896"/>
          </a:xfrm>
          <a:prstGeom prst="rect">
            <a:avLst/>
          </a:prstGeom>
          <a:solidFill>
            <a:srgbClr val="F4F6FC"/>
          </a:solidFill>
          <a:ln w="12700">
            <a:solidFill>
              <a:srgbClr val="D0DAF0"/>
            </a:solidFill>
            <a:prstDash val="solid"/>
          </a:ln>
        </p:spPr>
        <p:txBody>
          <a:bodyPr/>
          <a:lstStyle/>
          <a:p>
            <a:endParaRPr lang="en-US"/>
          </a:p>
        </p:txBody>
      </p:sp>
      <p:sp>
        <p:nvSpPr>
          <p:cNvPr id="41" name="Text 39"/>
          <p:cNvSpPr txBox="1"/>
          <p:nvPr/>
        </p:nvSpPr>
        <p:spPr>
          <a:xfrm>
            <a:off x="548640" y="5760720"/>
            <a:ext cx="3657600" cy="23774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Can name rebind to diff type?</a:t>
            </a:r>
            <a:endParaRPr lang="en-US" sz="1050" dirty="0"/>
          </a:p>
        </p:txBody>
      </p:sp>
      <p:sp>
        <p:nvSpPr>
          <p:cNvPr id="42" name="Text 40"/>
          <p:cNvSpPr txBox="1"/>
          <p:nvPr/>
        </p:nvSpPr>
        <p:spPr>
          <a:xfrm>
            <a:off x="4297680" y="5760720"/>
            <a:ext cx="2240280" cy="23774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No — permanent</a:t>
            </a:r>
            <a:endParaRPr lang="en-US" sz="1050" dirty="0"/>
          </a:p>
        </p:txBody>
      </p:sp>
      <p:sp>
        <p:nvSpPr>
          <p:cNvPr id="43" name="Text 41"/>
          <p:cNvSpPr txBox="1"/>
          <p:nvPr/>
        </p:nvSpPr>
        <p:spPr>
          <a:xfrm>
            <a:off x="6629400" y="5760720"/>
            <a:ext cx="2240280" cy="23774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No — fixed at compile time</a:t>
            </a:r>
            <a:endParaRPr lang="en-US" sz="1050" dirty="0"/>
          </a:p>
        </p:txBody>
      </p:sp>
      <p:sp>
        <p:nvSpPr>
          <p:cNvPr id="44" name="Text 42"/>
          <p:cNvSpPr txBox="1"/>
          <p:nvPr/>
        </p:nvSpPr>
        <p:spPr>
          <a:xfrm>
            <a:off x="8961120" y="5760720"/>
            <a:ext cx="3017520" cy="23774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Yes — names rebind freely</a:t>
            </a:r>
            <a:endParaRPr lang="en-US" sz="1050" dirty="0"/>
          </a:p>
        </p:txBody>
      </p:sp>
      <p:sp>
        <p:nvSpPr>
          <p:cNvPr id="45" name="Shape 43"/>
          <p:cNvSpPr/>
          <p:nvPr/>
        </p:nvSpPr>
        <p:spPr>
          <a:xfrm>
            <a:off x="411480" y="6044184"/>
            <a:ext cx="11338560" cy="310896"/>
          </a:xfrm>
          <a:prstGeom prst="rect">
            <a:avLst/>
          </a:prstGeom>
          <a:solidFill>
            <a:srgbClr val="FFFFFF"/>
          </a:solidFill>
          <a:ln w="12700">
            <a:solidFill>
              <a:srgbClr val="D0DAF0"/>
            </a:solidFill>
            <a:prstDash val="solid"/>
          </a:ln>
        </p:spPr>
        <p:txBody>
          <a:bodyPr/>
          <a:lstStyle/>
          <a:p>
            <a:endParaRPr lang="en-US"/>
          </a:p>
        </p:txBody>
      </p:sp>
      <p:sp>
        <p:nvSpPr>
          <p:cNvPr id="46" name="Text 44"/>
          <p:cNvSpPr txBox="1"/>
          <p:nvPr/>
        </p:nvSpPr>
        <p:spPr>
          <a:xfrm>
            <a:off x="548640" y="6089904"/>
            <a:ext cx="3657600" cy="23774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Who manages memory?</a:t>
            </a:r>
            <a:endParaRPr lang="en-US" sz="1050" dirty="0"/>
          </a:p>
        </p:txBody>
      </p:sp>
      <p:sp>
        <p:nvSpPr>
          <p:cNvPr id="47" name="Text 45"/>
          <p:cNvSpPr txBox="1"/>
          <p:nvPr/>
        </p:nvSpPr>
        <p:spPr>
          <a:xfrm>
            <a:off x="4297680" y="6089904"/>
            <a:ext cx="2240280" cy="23774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Programmer (malloc/free)</a:t>
            </a:r>
            <a:endParaRPr lang="en-US" sz="1050" dirty="0"/>
          </a:p>
        </p:txBody>
      </p:sp>
      <p:sp>
        <p:nvSpPr>
          <p:cNvPr id="48" name="Text 46"/>
          <p:cNvSpPr txBox="1"/>
          <p:nvPr/>
        </p:nvSpPr>
        <p:spPr>
          <a:xfrm>
            <a:off x="6629400" y="6089904"/>
            <a:ext cx="2240280" cy="23774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Runtime (GC)</a:t>
            </a:r>
            <a:endParaRPr lang="en-US" sz="1050" dirty="0"/>
          </a:p>
        </p:txBody>
      </p:sp>
      <p:sp>
        <p:nvSpPr>
          <p:cNvPr id="49" name="Text 47"/>
          <p:cNvSpPr txBox="1"/>
          <p:nvPr/>
        </p:nvSpPr>
        <p:spPr>
          <a:xfrm>
            <a:off x="8961120" y="6089904"/>
            <a:ext cx="3017520" cy="23774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Runtime (ref counting + GC)</a:t>
            </a:r>
            <a:endParaRPr lang="en-US" sz="1050" dirty="0"/>
          </a:p>
        </p:txBody>
      </p:sp>
      <p:sp>
        <p:nvSpPr>
          <p:cNvPr id="50" name="Shape 48"/>
          <p:cNvSpPr/>
          <p:nvPr/>
        </p:nvSpPr>
        <p:spPr>
          <a:xfrm>
            <a:off x="411480" y="6373368"/>
            <a:ext cx="11338560" cy="310896"/>
          </a:xfrm>
          <a:prstGeom prst="rect">
            <a:avLst/>
          </a:prstGeom>
          <a:solidFill>
            <a:srgbClr val="F4F6FC"/>
          </a:solidFill>
          <a:ln w="12700">
            <a:solidFill>
              <a:srgbClr val="D0DAF0"/>
            </a:solidFill>
            <a:prstDash val="solid"/>
          </a:ln>
        </p:spPr>
        <p:txBody>
          <a:bodyPr/>
          <a:lstStyle/>
          <a:p>
            <a:endParaRPr lang="en-US"/>
          </a:p>
        </p:txBody>
      </p:sp>
      <p:sp>
        <p:nvSpPr>
          <p:cNvPr id="51" name="Text 49"/>
          <p:cNvSpPr txBox="1"/>
          <p:nvPr/>
        </p:nvSpPr>
        <p:spPr>
          <a:xfrm>
            <a:off x="548640" y="6419088"/>
            <a:ext cx="3657600" cy="23774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Uninitialized variable?</a:t>
            </a:r>
            <a:endParaRPr lang="en-US" sz="1050" dirty="0"/>
          </a:p>
        </p:txBody>
      </p:sp>
      <p:sp>
        <p:nvSpPr>
          <p:cNvPr id="52" name="Text 50"/>
          <p:cNvSpPr txBox="1"/>
          <p:nvPr/>
        </p:nvSpPr>
        <p:spPr>
          <a:xfrm>
            <a:off x="4297680" y="6419088"/>
            <a:ext cx="2240280" cy="23774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Allowed — dangerous</a:t>
            </a:r>
            <a:endParaRPr lang="en-US" sz="1050" dirty="0"/>
          </a:p>
        </p:txBody>
      </p:sp>
      <p:sp>
        <p:nvSpPr>
          <p:cNvPr id="53" name="Text 51"/>
          <p:cNvSpPr txBox="1"/>
          <p:nvPr/>
        </p:nvSpPr>
        <p:spPr>
          <a:xfrm>
            <a:off x="6629400" y="6419088"/>
            <a:ext cx="2240280" cy="23774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Prevented at compile time</a:t>
            </a:r>
            <a:endParaRPr lang="en-US" sz="1050" dirty="0"/>
          </a:p>
        </p:txBody>
      </p:sp>
      <p:sp>
        <p:nvSpPr>
          <p:cNvPr id="54" name="Text 52"/>
          <p:cNvSpPr txBox="1"/>
          <p:nvPr/>
        </p:nvSpPr>
        <p:spPr>
          <a:xfrm>
            <a:off x="8961120" y="6419088"/>
            <a:ext cx="3017520" cy="23774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Impossible — assign = create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Design Tradeoffs: Why No "Best" Variable Model</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10</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Think like a language designer. Each approach reflects deliberate choices about what to prioritise.</a:t>
            </a:r>
            <a:endParaRPr lang="en-US" sz="1300" dirty="0"/>
          </a:p>
        </p:txBody>
      </p:sp>
      <p:sp>
        <p:nvSpPr>
          <p:cNvPr id="6" name="Shape 4"/>
          <p:cNvSpPr/>
          <p:nvPr/>
        </p:nvSpPr>
        <p:spPr>
          <a:xfrm>
            <a:off x="411480" y="1325880"/>
            <a:ext cx="3730752" cy="4697231"/>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411480" y="1325880"/>
            <a:ext cx="3730752" cy="347472"/>
          </a:xfrm>
          <a:prstGeom prst="rect">
            <a:avLst/>
          </a:prstGeom>
          <a:solidFill>
            <a:srgbClr val="E8F0FE"/>
          </a:solidFill>
          <a:ln w="12700">
            <a:solidFill>
              <a:srgbClr val="E8F0FE"/>
            </a:solidFill>
            <a:prstDash val="solid"/>
          </a:ln>
        </p:spPr>
        <p:txBody>
          <a:bodyPr/>
          <a:lstStyle/>
          <a:p>
            <a:endParaRPr lang="en-US"/>
          </a:p>
        </p:txBody>
      </p:sp>
      <p:sp>
        <p:nvSpPr>
          <p:cNvPr id="8" name="Shape 6"/>
          <p:cNvSpPr/>
          <p:nvPr/>
        </p:nvSpPr>
        <p:spPr>
          <a:xfrm>
            <a:off x="539496" y="1408176"/>
            <a:ext cx="749808" cy="256032"/>
          </a:xfrm>
          <a:prstGeom prst="roundRect">
            <a:avLst>
              <a:gd name="adj" fmla="val 25000"/>
            </a:avLst>
          </a:prstGeom>
          <a:solidFill>
            <a:srgbClr val="E8F0FE"/>
          </a:solidFill>
          <a:ln w="12700">
            <a:solidFill>
              <a:srgbClr val="E8F0FE"/>
            </a:solidFill>
            <a:prstDash val="solid"/>
          </a:ln>
        </p:spPr>
        <p:txBody>
          <a:bodyPr/>
          <a:lstStyle/>
          <a:p>
            <a:endParaRPr lang="en-US"/>
          </a:p>
        </p:txBody>
      </p:sp>
      <p:sp>
        <p:nvSpPr>
          <p:cNvPr id="9" name="Text 7"/>
          <p:cNvSpPr txBox="1"/>
          <p:nvPr/>
        </p:nvSpPr>
        <p:spPr>
          <a:xfrm>
            <a:off x="576072" y="1435608"/>
            <a:ext cx="676656"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10" name="Text 8"/>
          <p:cNvSpPr txBox="1"/>
          <p:nvPr/>
        </p:nvSpPr>
        <p:spPr>
          <a:xfrm>
            <a:off x="539496" y="1755648"/>
            <a:ext cx="3493008" cy="237744"/>
          </a:xfrm>
          <a:prstGeom prst="rect">
            <a:avLst/>
          </a:prstGeom>
          <a:noFill/>
          <a:ln/>
        </p:spPr>
        <p:txBody>
          <a:bodyPr wrap="square" lIns="0" tIns="0" rIns="0" bIns="0" rtlCol="0" anchor="ctr"/>
          <a:lstStyle/>
          <a:p>
            <a:pPr marL="0" indent="0">
              <a:buNone/>
            </a:pPr>
            <a:r>
              <a:rPr lang="en-US" sz="1100" b="1" dirty="0">
                <a:solidFill>
                  <a:srgbClr val="1A7A3C"/>
                </a:solidFill>
                <a:latin typeface="Calibri" pitchFamily="34" charset="0"/>
                <a:ea typeface="Calibri" pitchFamily="34" charset="-122"/>
                <a:cs typeface="Calibri" pitchFamily="34" charset="-120"/>
              </a:rPr>
              <a:t>✓ Advantages</a:t>
            </a:r>
            <a:endParaRPr lang="en-US" sz="1100" dirty="0"/>
          </a:p>
        </p:txBody>
      </p:sp>
      <p:sp>
        <p:nvSpPr>
          <p:cNvPr id="11" name="Shape 9"/>
          <p:cNvSpPr/>
          <p:nvPr/>
        </p:nvSpPr>
        <p:spPr>
          <a:xfrm>
            <a:off x="539496" y="2029968"/>
            <a:ext cx="3493008" cy="402336"/>
          </a:xfrm>
          <a:prstGeom prst="rect">
            <a:avLst/>
          </a:prstGeom>
          <a:solidFill>
            <a:srgbClr val="EAF7EE"/>
          </a:solidFill>
          <a:ln w="12700">
            <a:solidFill>
              <a:srgbClr val="6EE7B7"/>
            </a:solidFill>
            <a:prstDash val="solid"/>
          </a:ln>
        </p:spPr>
        <p:txBody>
          <a:bodyPr/>
          <a:lstStyle/>
          <a:p>
            <a:endParaRPr lang="en-US"/>
          </a:p>
        </p:txBody>
      </p:sp>
      <p:sp>
        <p:nvSpPr>
          <p:cNvPr id="12" name="Text 10"/>
          <p:cNvSpPr txBox="1"/>
          <p:nvPr/>
        </p:nvSpPr>
        <p:spPr>
          <a:xfrm>
            <a:off x="630936" y="2084832"/>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Max control over memory layout and lifetime</a:t>
            </a:r>
            <a:endParaRPr lang="en-US" sz="1100" dirty="0"/>
          </a:p>
        </p:txBody>
      </p:sp>
      <p:sp>
        <p:nvSpPr>
          <p:cNvPr id="13" name="Shape 11"/>
          <p:cNvSpPr/>
          <p:nvPr/>
        </p:nvSpPr>
        <p:spPr>
          <a:xfrm>
            <a:off x="539496" y="2468880"/>
            <a:ext cx="3493008" cy="402336"/>
          </a:xfrm>
          <a:prstGeom prst="rect">
            <a:avLst/>
          </a:prstGeom>
          <a:solidFill>
            <a:srgbClr val="EAF7EE"/>
          </a:solidFill>
          <a:ln w="12700">
            <a:solidFill>
              <a:srgbClr val="6EE7B7"/>
            </a:solidFill>
            <a:prstDash val="solid"/>
          </a:ln>
        </p:spPr>
        <p:txBody>
          <a:bodyPr/>
          <a:lstStyle/>
          <a:p>
            <a:endParaRPr lang="en-US"/>
          </a:p>
        </p:txBody>
      </p:sp>
      <p:sp>
        <p:nvSpPr>
          <p:cNvPr id="14" name="Text 12"/>
          <p:cNvSpPr txBox="1"/>
          <p:nvPr/>
        </p:nvSpPr>
        <p:spPr>
          <a:xfrm>
            <a:off x="630936" y="2523744"/>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Predictable performance — no GC pauses</a:t>
            </a:r>
            <a:endParaRPr lang="en-US" sz="1100" dirty="0"/>
          </a:p>
        </p:txBody>
      </p:sp>
      <p:sp>
        <p:nvSpPr>
          <p:cNvPr id="15" name="Shape 13"/>
          <p:cNvSpPr/>
          <p:nvPr/>
        </p:nvSpPr>
        <p:spPr>
          <a:xfrm>
            <a:off x="539496" y="2907792"/>
            <a:ext cx="3493008" cy="402336"/>
          </a:xfrm>
          <a:prstGeom prst="rect">
            <a:avLst/>
          </a:prstGeom>
          <a:solidFill>
            <a:srgbClr val="EAF7EE"/>
          </a:solidFill>
          <a:ln w="12700">
            <a:solidFill>
              <a:srgbClr val="6EE7B7"/>
            </a:solidFill>
            <a:prstDash val="solid"/>
          </a:ln>
        </p:spPr>
        <p:txBody>
          <a:bodyPr/>
          <a:lstStyle/>
          <a:p>
            <a:endParaRPr lang="en-US"/>
          </a:p>
        </p:txBody>
      </p:sp>
      <p:sp>
        <p:nvSpPr>
          <p:cNvPr id="16" name="Text 14"/>
          <p:cNvSpPr txBox="1"/>
          <p:nvPr/>
        </p:nvSpPr>
        <p:spPr>
          <a:xfrm>
            <a:off x="630936" y="2962656"/>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Type checking at compile time</a:t>
            </a:r>
            <a:endParaRPr lang="en-US" sz="1100" dirty="0"/>
          </a:p>
        </p:txBody>
      </p:sp>
      <p:sp>
        <p:nvSpPr>
          <p:cNvPr id="17" name="Shape 15"/>
          <p:cNvSpPr/>
          <p:nvPr/>
        </p:nvSpPr>
        <p:spPr>
          <a:xfrm>
            <a:off x="539496" y="3346704"/>
            <a:ext cx="3493008" cy="402336"/>
          </a:xfrm>
          <a:prstGeom prst="rect">
            <a:avLst/>
          </a:prstGeom>
          <a:solidFill>
            <a:srgbClr val="EAF7EE"/>
          </a:solidFill>
          <a:ln w="12700">
            <a:solidFill>
              <a:srgbClr val="6EE7B7"/>
            </a:solidFill>
            <a:prstDash val="solid"/>
          </a:ln>
        </p:spPr>
        <p:txBody>
          <a:bodyPr/>
          <a:lstStyle/>
          <a:p>
            <a:endParaRPr lang="en-US"/>
          </a:p>
        </p:txBody>
      </p:sp>
      <p:sp>
        <p:nvSpPr>
          <p:cNvPr id="18" name="Text 16"/>
          <p:cNvSpPr txBox="1"/>
          <p:nvPr/>
        </p:nvSpPr>
        <p:spPr>
          <a:xfrm>
            <a:off x="630936" y="3401568"/>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Suitable for OS, embedded, real-time</a:t>
            </a:r>
            <a:endParaRPr lang="en-US" sz="1100" dirty="0"/>
          </a:p>
        </p:txBody>
      </p:sp>
      <p:sp>
        <p:nvSpPr>
          <p:cNvPr id="19" name="Text 17"/>
          <p:cNvSpPr txBox="1"/>
          <p:nvPr/>
        </p:nvSpPr>
        <p:spPr>
          <a:xfrm>
            <a:off x="539496" y="3858768"/>
            <a:ext cx="3493008" cy="237744"/>
          </a:xfrm>
          <a:prstGeom prst="rect">
            <a:avLst/>
          </a:prstGeom>
          <a:noFill/>
          <a:ln/>
        </p:spPr>
        <p:txBody>
          <a:bodyPr wrap="square" lIns="0" tIns="0" rIns="0" bIns="0" rtlCol="0" anchor="ctr"/>
          <a:lstStyle/>
          <a:p>
            <a:pPr marL="0" indent="0">
              <a:buNone/>
            </a:pPr>
            <a:r>
              <a:rPr lang="en-US" sz="1100" b="1" dirty="0">
                <a:solidFill>
                  <a:srgbClr val="9B1C1C"/>
                </a:solidFill>
                <a:latin typeface="Calibri" pitchFamily="34" charset="0"/>
                <a:ea typeface="Calibri" pitchFamily="34" charset="-122"/>
                <a:cs typeface="Calibri" pitchFamily="34" charset="-120"/>
              </a:rPr>
              <a:t>✗ Costs</a:t>
            </a:r>
            <a:endParaRPr lang="en-US" sz="1100" dirty="0"/>
          </a:p>
        </p:txBody>
      </p:sp>
      <p:sp>
        <p:nvSpPr>
          <p:cNvPr id="20" name="Shape 18"/>
          <p:cNvSpPr/>
          <p:nvPr/>
        </p:nvSpPr>
        <p:spPr>
          <a:xfrm>
            <a:off x="539496" y="4133088"/>
            <a:ext cx="3493008" cy="402336"/>
          </a:xfrm>
          <a:prstGeom prst="rect">
            <a:avLst/>
          </a:prstGeom>
          <a:solidFill>
            <a:srgbClr val="FEF2F2"/>
          </a:solidFill>
          <a:ln w="12700">
            <a:solidFill>
              <a:srgbClr val="FCA5A5"/>
            </a:solidFill>
            <a:prstDash val="solid"/>
          </a:ln>
        </p:spPr>
        <p:txBody>
          <a:bodyPr/>
          <a:lstStyle/>
          <a:p>
            <a:endParaRPr lang="en-US"/>
          </a:p>
        </p:txBody>
      </p:sp>
      <p:sp>
        <p:nvSpPr>
          <p:cNvPr id="21" name="Text 19"/>
          <p:cNvSpPr txBox="1"/>
          <p:nvPr/>
        </p:nvSpPr>
        <p:spPr>
          <a:xfrm>
            <a:off x="630936" y="4187952"/>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Programmer manages memory — serious bugs possible</a:t>
            </a:r>
            <a:endParaRPr lang="en-US" sz="1100" dirty="0"/>
          </a:p>
        </p:txBody>
      </p:sp>
      <p:sp>
        <p:nvSpPr>
          <p:cNvPr id="22" name="Shape 20"/>
          <p:cNvSpPr/>
          <p:nvPr/>
        </p:nvSpPr>
        <p:spPr>
          <a:xfrm>
            <a:off x="539496" y="4572000"/>
            <a:ext cx="3493008" cy="402336"/>
          </a:xfrm>
          <a:prstGeom prst="rect">
            <a:avLst/>
          </a:prstGeom>
          <a:solidFill>
            <a:srgbClr val="FEF2F2"/>
          </a:solidFill>
          <a:ln w="12700">
            <a:solidFill>
              <a:srgbClr val="FCA5A5"/>
            </a:solidFill>
            <a:prstDash val="solid"/>
          </a:ln>
        </p:spPr>
        <p:txBody>
          <a:bodyPr/>
          <a:lstStyle/>
          <a:p>
            <a:endParaRPr lang="en-US"/>
          </a:p>
        </p:txBody>
      </p:sp>
      <p:sp>
        <p:nvSpPr>
          <p:cNvPr id="23" name="Text 21"/>
          <p:cNvSpPr txBox="1"/>
          <p:nvPr/>
        </p:nvSpPr>
        <p:spPr>
          <a:xfrm>
            <a:off x="630936" y="4626864"/>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Verbose — every type must be stated</a:t>
            </a:r>
            <a:endParaRPr lang="en-US" sz="1100" dirty="0"/>
          </a:p>
        </p:txBody>
      </p:sp>
      <p:sp>
        <p:nvSpPr>
          <p:cNvPr id="24" name="Shape 22"/>
          <p:cNvSpPr/>
          <p:nvPr/>
        </p:nvSpPr>
        <p:spPr>
          <a:xfrm>
            <a:off x="539496" y="5010912"/>
            <a:ext cx="3493008" cy="402336"/>
          </a:xfrm>
          <a:prstGeom prst="rect">
            <a:avLst/>
          </a:prstGeom>
          <a:solidFill>
            <a:srgbClr val="FEF2F2"/>
          </a:solidFill>
          <a:ln w="12700">
            <a:solidFill>
              <a:srgbClr val="FCA5A5"/>
            </a:solidFill>
            <a:prstDash val="solid"/>
          </a:ln>
        </p:spPr>
        <p:txBody>
          <a:bodyPr/>
          <a:lstStyle/>
          <a:p>
            <a:endParaRPr lang="en-US"/>
          </a:p>
        </p:txBody>
      </p:sp>
      <p:sp>
        <p:nvSpPr>
          <p:cNvPr id="25" name="Text 23"/>
          <p:cNvSpPr txBox="1"/>
          <p:nvPr/>
        </p:nvSpPr>
        <p:spPr>
          <a:xfrm>
            <a:off x="630936" y="5065776"/>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No safety net for memory errors</a:t>
            </a:r>
            <a:endParaRPr lang="en-US" sz="1100" dirty="0"/>
          </a:p>
        </p:txBody>
      </p:sp>
      <p:sp>
        <p:nvSpPr>
          <p:cNvPr id="26" name="Shape 24"/>
          <p:cNvSpPr/>
          <p:nvPr/>
        </p:nvSpPr>
        <p:spPr>
          <a:xfrm>
            <a:off x="4325112" y="1325879"/>
            <a:ext cx="3730752" cy="4697233"/>
          </a:xfrm>
          <a:prstGeom prst="rect">
            <a:avLst/>
          </a:prstGeom>
          <a:solidFill>
            <a:srgbClr val="FFFFFF"/>
          </a:solidFill>
          <a:ln w="12700">
            <a:solidFill>
              <a:srgbClr val="D0DAF0"/>
            </a:solidFill>
            <a:prstDash val="solid"/>
          </a:ln>
        </p:spPr>
        <p:txBody>
          <a:bodyPr/>
          <a:lstStyle/>
          <a:p>
            <a:endParaRPr lang="en-US"/>
          </a:p>
        </p:txBody>
      </p:sp>
      <p:sp>
        <p:nvSpPr>
          <p:cNvPr id="27" name="Shape 25"/>
          <p:cNvSpPr/>
          <p:nvPr/>
        </p:nvSpPr>
        <p:spPr>
          <a:xfrm>
            <a:off x="4325112" y="1325880"/>
            <a:ext cx="3730752" cy="347472"/>
          </a:xfrm>
          <a:prstGeom prst="rect">
            <a:avLst/>
          </a:prstGeom>
          <a:solidFill>
            <a:srgbClr val="F3E8FE"/>
          </a:solidFill>
          <a:ln w="12700">
            <a:solidFill>
              <a:srgbClr val="F3E8FE"/>
            </a:solidFill>
            <a:prstDash val="solid"/>
          </a:ln>
        </p:spPr>
        <p:txBody>
          <a:bodyPr/>
          <a:lstStyle/>
          <a:p>
            <a:endParaRPr lang="en-US"/>
          </a:p>
        </p:txBody>
      </p:sp>
      <p:sp>
        <p:nvSpPr>
          <p:cNvPr id="28" name="Shape 26"/>
          <p:cNvSpPr/>
          <p:nvPr/>
        </p:nvSpPr>
        <p:spPr>
          <a:xfrm>
            <a:off x="4453128" y="1408176"/>
            <a:ext cx="749808" cy="256032"/>
          </a:xfrm>
          <a:prstGeom prst="roundRect">
            <a:avLst>
              <a:gd name="adj" fmla="val 25000"/>
            </a:avLst>
          </a:prstGeom>
          <a:solidFill>
            <a:srgbClr val="F3E8FE"/>
          </a:solidFill>
          <a:ln w="12700">
            <a:solidFill>
              <a:srgbClr val="F3E8FE"/>
            </a:solidFill>
            <a:prstDash val="solid"/>
          </a:ln>
        </p:spPr>
        <p:txBody>
          <a:bodyPr/>
          <a:lstStyle/>
          <a:p>
            <a:endParaRPr lang="en-US"/>
          </a:p>
        </p:txBody>
      </p:sp>
      <p:sp>
        <p:nvSpPr>
          <p:cNvPr id="29" name="Text 27"/>
          <p:cNvSpPr txBox="1"/>
          <p:nvPr/>
        </p:nvSpPr>
        <p:spPr>
          <a:xfrm>
            <a:off x="4489704" y="1435608"/>
            <a:ext cx="676656"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30" name="Text 28"/>
          <p:cNvSpPr txBox="1"/>
          <p:nvPr/>
        </p:nvSpPr>
        <p:spPr>
          <a:xfrm>
            <a:off x="4453128" y="1755648"/>
            <a:ext cx="3493008" cy="237744"/>
          </a:xfrm>
          <a:prstGeom prst="rect">
            <a:avLst/>
          </a:prstGeom>
          <a:noFill/>
          <a:ln/>
        </p:spPr>
        <p:txBody>
          <a:bodyPr wrap="square" lIns="0" tIns="0" rIns="0" bIns="0" rtlCol="0" anchor="ctr"/>
          <a:lstStyle/>
          <a:p>
            <a:pPr marL="0" indent="0">
              <a:buNone/>
            </a:pPr>
            <a:r>
              <a:rPr lang="en-US" sz="1100" b="1" dirty="0">
                <a:solidFill>
                  <a:srgbClr val="1A7A3C"/>
                </a:solidFill>
                <a:latin typeface="Calibri" pitchFamily="34" charset="0"/>
                <a:ea typeface="Calibri" pitchFamily="34" charset="-122"/>
                <a:cs typeface="Calibri" pitchFamily="34" charset="-120"/>
              </a:rPr>
              <a:t>✓ Advantages</a:t>
            </a:r>
            <a:endParaRPr lang="en-US" sz="1100" dirty="0"/>
          </a:p>
        </p:txBody>
      </p:sp>
      <p:sp>
        <p:nvSpPr>
          <p:cNvPr id="31" name="Shape 29"/>
          <p:cNvSpPr/>
          <p:nvPr/>
        </p:nvSpPr>
        <p:spPr>
          <a:xfrm>
            <a:off x="4453128" y="2029968"/>
            <a:ext cx="3493008" cy="402336"/>
          </a:xfrm>
          <a:prstGeom prst="rect">
            <a:avLst/>
          </a:prstGeom>
          <a:solidFill>
            <a:srgbClr val="EAF7EE"/>
          </a:solidFill>
          <a:ln w="12700">
            <a:solidFill>
              <a:srgbClr val="6EE7B7"/>
            </a:solidFill>
            <a:prstDash val="solid"/>
          </a:ln>
        </p:spPr>
        <p:txBody>
          <a:bodyPr/>
          <a:lstStyle/>
          <a:p>
            <a:endParaRPr lang="en-US"/>
          </a:p>
        </p:txBody>
      </p:sp>
      <p:sp>
        <p:nvSpPr>
          <p:cNvPr id="32" name="Text 30"/>
          <p:cNvSpPr txBox="1"/>
          <p:nvPr/>
        </p:nvSpPr>
        <p:spPr>
          <a:xfrm>
            <a:off x="4544568" y="2084832"/>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Static type checking — errors caught early</a:t>
            </a:r>
            <a:endParaRPr lang="en-US" sz="1100" dirty="0"/>
          </a:p>
        </p:txBody>
      </p:sp>
      <p:sp>
        <p:nvSpPr>
          <p:cNvPr id="33" name="Shape 31"/>
          <p:cNvSpPr/>
          <p:nvPr/>
        </p:nvSpPr>
        <p:spPr>
          <a:xfrm>
            <a:off x="4453128" y="2468880"/>
            <a:ext cx="3493008" cy="402336"/>
          </a:xfrm>
          <a:prstGeom prst="rect">
            <a:avLst/>
          </a:prstGeom>
          <a:solidFill>
            <a:srgbClr val="EAF7EE"/>
          </a:solidFill>
          <a:ln w="12700">
            <a:solidFill>
              <a:srgbClr val="6EE7B7"/>
            </a:solidFill>
            <a:prstDash val="solid"/>
          </a:ln>
        </p:spPr>
        <p:txBody>
          <a:bodyPr/>
          <a:lstStyle/>
          <a:p>
            <a:endParaRPr lang="en-US"/>
          </a:p>
        </p:txBody>
      </p:sp>
      <p:sp>
        <p:nvSpPr>
          <p:cNvPr id="34" name="Text 32"/>
          <p:cNvSpPr txBox="1"/>
          <p:nvPr/>
        </p:nvSpPr>
        <p:spPr>
          <a:xfrm>
            <a:off x="4544568" y="2523744"/>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Type inference reduces verbosity</a:t>
            </a:r>
            <a:endParaRPr lang="en-US" sz="1100" dirty="0"/>
          </a:p>
        </p:txBody>
      </p:sp>
      <p:sp>
        <p:nvSpPr>
          <p:cNvPr id="35" name="Shape 33"/>
          <p:cNvSpPr/>
          <p:nvPr/>
        </p:nvSpPr>
        <p:spPr>
          <a:xfrm>
            <a:off x="4453128" y="2907792"/>
            <a:ext cx="3493008" cy="402336"/>
          </a:xfrm>
          <a:prstGeom prst="rect">
            <a:avLst/>
          </a:prstGeom>
          <a:solidFill>
            <a:srgbClr val="EAF7EE"/>
          </a:solidFill>
          <a:ln w="12700">
            <a:solidFill>
              <a:srgbClr val="6EE7B7"/>
            </a:solidFill>
            <a:prstDash val="solid"/>
          </a:ln>
        </p:spPr>
        <p:txBody>
          <a:bodyPr/>
          <a:lstStyle/>
          <a:p>
            <a:endParaRPr lang="en-US"/>
          </a:p>
        </p:txBody>
      </p:sp>
      <p:sp>
        <p:nvSpPr>
          <p:cNvPr id="36" name="Text 34"/>
          <p:cNvSpPr txBox="1"/>
          <p:nvPr/>
        </p:nvSpPr>
        <p:spPr>
          <a:xfrm>
            <a:off x="4544568" y="2962656"/>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GC prevents most memory bugs</a:t>
            </a:r>
            <a:endParaRPr lang="en-US" sz="1100" dirty="0"/>
          </a:p>
        </p:txBody>
      </p:sp>
      <p:sp>
        <p:nvSpPr>
          <p:cNvPr id="37" name="Shape 35"/>
          <p:cNvSpPr/>
          <p:nvPr/>
        </p:nvSpPr>
        <p:spPr>
          <a:xfrm>
            <a:off x="4453128" y="3346704"/>
            <a:ext cx="3493008" cy="402336"/>
          </a:xfrm>
          <a:prstGeom prst="rect">
            <a:avLst/>
          </a:prstGeom>
          <a:solidFill>
            <a:srgbClr val="EAF7EE"/>
          </a:solidFill>
          <a:ln w="12700">
            <a:solidFill>
              <a:srgbClr val="6EE7B7"/>
            </a:solidFill>
            <a:prstDash val="solid"/>
          </a:ln>
        </p:spPr>
        <p:txBody>
          <a:bodyPr/>
          <a:lstStyle/>
          <a:p>
            <a:endParaRPr lang="en-US"/>
          </a:p>
        </p:txBody>
      </p:sp>
      <p:sp>
        <p:nvSpPr>
          <p:cNvPr id="38" name="Text 36"/>
          <p:cNvSpPr txBox="1"/>
          <p:nvPr/>
        </p:nvSpPr>
        <p:spPr>
          <a:xfrm>
            <a:off x="4544568" y="3401568"/>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Good for large teams</a:t>
            </a:r>
            <a:endParaRPr lang="en-US" sz="1100" dirty="0"/>
          </a:p>
        </p:txBody>
      </p:sp>
      <p:sp>
        <p:nvSpPr>
          <p:cNvPr id="39" name="Text 37"/>
          <p:cNvSpPr txBox="1"/>
          <p:nvPr/>
        </p:nvSpPr>
        <p:spPr>
          <a:xfrm>
            <a:off x="4453128" y="3858768"/>
            <a:ext cx="3493008" cy="237744"/>
          </a:xfrm>
          <a:prstGeom prst="rect">
            <a:avLst/>
          </a:prstGeom>
          <a:noFill/>
          <a:ln/>
        </p:spPr>
        <p:txBody>
          <a:bodyPr wrap="square" lIns="0" tIns="0" rIns="0" bIns="0" rtlCol="0" anchor="ctr"/>
          <a:lstStyle/>
          <a:p>
            <a:pPr marL="0" indent="0">
              <a:buNone/>
            </a:pPr>
            <a:r>
              <a:rPr lang="en-US" sz="1100" b="1" dirty="0">
                <a:solidFill>
                  <a:srgbClr val="9B1C1C"/>
                </a:solidFill>
                <a:latin typeface="Calibri" pitchFamily="34" charset="0"/>
                <a:ea typeface="Calibri" pitchFamily="34" charset="-122"/>
                <a:cs typeface="Calibri" pitchFamily="34" charset="-120"/>
              </a:rPr>
              <a:t>✗ Costs</a:t>
            </a:r>
            <a:endParaRPr lang="en-US" sz="1100" dirty="0"/>
          </a:p>
        </p:txBody>
      </p:sp>
      <p:sp>
        <p:nvSpPr>
          <p:cNvPr id="40" name="Shape 38"/>
          <p:cNvSpPr/>
          <p:nvPr/>
        </p:nvSpPr>
        <p:spPr>
          <a:xfrm>
            <a:off x="4453128" y="4133088"/>
            <a:ext cx="3493008" cy="402336"/>
          </a:xfrm>
          <a:prstGeom prst="rect">
            <a:avLst/>
          </a:prstGeom>
          <a:solidFill>
            <a:srgbClr val="FEF2F2"/>
          </a:solidFill>
          <a:ln w="12700">
            <a:solidFill>
              <a:srgbClr val="FCA5A5"/>
            </a:solidFill>
            <a:prstDash val="solid"/>
          </a:ln>
        </p:spPr>
        <p:txBody>
          <a:bodyPr/>
          <a:lstStyle/>
          <a:p>
            <a:endParaRPr lang="en-US"/>
          </a:p>
        </p:txBody>
      </p:sp>
      <p:sp>
        <p:nvSpPr>
          <p:cNvPr id="41" name="Text 39"/>
          <p:cNvSpPr txBox="1"/>
          <p:nvPr/>
        </p:nvSpPr>
        <p:spPr>
          <a:xfrm>
            <a:off x="4544568" y="4187952"/>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GC overhead — less predictable timing</a:t>
            </a:r>
            <a:endParaRPr lang="en-US" sz="1100" dirty="0"/>
          </a:p>
        </p:txBody>
      </p:sp>
      <p:sp>
        <p:nvSpPr>
          <p:cNvPr id="42" name="Shape 40"/>
          <p:cNvSpPr/>
          <p:nvPr/>
        </p:nvSpPr>
        <p:spPr>
          <a:xfrm>
            <a:off x="4453128" y="4572000"/>
            <a:ext cx="3493008" cy="402336"/>
          </a:xfrm>
          <a:prstGeom prst="rect">
            <a:avLst/>
          </a:prstGeom>
          <a:solidFill>
            <a:srgbClr val="FEF2F2"/>
          </a:solidFill>
          <a:ln w="12700">
            <a:solidFill>
              <a:srgbClr val="FCA5A5"/>
            </a:solidFill>
            <a:prstDash val="solid"/>
          </a:ln>
        </p:spPr>
        <p:txBody>
          <a:bodyPr/>
          <a:lstStyle/>
          <a:p>
            <a:endParaRPr lang="en-US"/>
          </a:p>
        </p:txBody>
      </p:sp>
      <p:sp>
        <p:nvSpPr>
          <p:cNvPr id="43" name="Text 41"/>
          <p:cNvSpPr txBox="1"/>
          <p:nvPr/>
        </p:nvSpPr>
        <p:spPr>
          <a:xfrm>
            <a:off x="4544568" y="4626864"/>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More complex language to learn</a:t>
            </a:r>
            <a:endParaRPr lang="en-US" sz="1100" dirty="0"/>
          </a:p>
        </p:txBody>
      </p:sp>
      <p:sp>
        <p:nvSpPr>
          <p:cNvPr id="44" name="Shape 42"/>
          <p:cNvSpPr/>
          <p:nvPr/>
        </p:nvSpPr>
        <p:spPr>
          <a:xfrm>
            <a:off x="4453128" y="5010912"/>
            <a:ext cx="3493008" cy="402336"/>
          </a:xfrm>
          <a:prstGeom prst="rect">
            <a:avLst/>
          </a:prstGeom>
          <a:solidFill>
            <a:srgbClr val="FEF2F2"/>
          </a:solidFill>
          <a:ln w="12700">
            <a:solidFill>
              <a:srgbClr val="FCA5A5"/>
            </a:solidFill>
            <a:prstDash val="solid"/>
          </a:ln>
        </p:spPr>
        <p:txBody>
          <a:bodyPr/>
          <a:lstStyle/>
          <a:p>
            <a:endParaRPr lang="en-US"/>
          </a:p>
        </p:txBody>
      </p:sp>
      <p:sp>
        <p:nvSpPr>
          <p:cNvPr id="45" name="Text 43"/>
          <p:cNvSpPr txBox="1"/>
          <p:nvPr/>
        </p:nvSpPr>
        <p:spPr>
          <a:xfrm>
            <a:off x="4544568" y="5065776"/>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Less control over memory release</a:t>
            </a:r>
            <a:endParaRPr lang="en-US" sz="1100" dirty="0"/>
          </a:p>
        </p:txBody>
      </p:sp>
      <p:sp>
        <p:nvSpPr>
          <p:cNvPr id="46" name="Shape 44"/>
          <p:cNvSpPr/>
          <p:nvPr/>
        </p:nvSpPr>
        <p:spPr>
          <a:xfrm>
            <a:off x="8238744" y="1325880"/>
            <a:ext cx="3730752" cy="4697233"/>
          </a:xfrm>
          <a:prstGeom prst="rect">
            <a:avLst/>
          </a:prstGeom>
          <a:solidFill>
            <a:srgbClr val="FFFFFF"/>
          </a:solidFill>
          <a:ln w="12700">
            <a:solidFill>
              <a:srgbClr val="D0DAF0"/>
            </a:solidFill>
            <a:prstDash val="solid"/>
          </a:ln>
        </p:spPr>
        <p:txBody>
          <a:bodyPr/>
          <a:lstStyle/>
          <a:p>
            <a:endParaRPr lang="en-US"/>
          </a:p>
        </p:txBody>
      </p:sp>
      <p:sp>
        <p:nvSpPr>
          <p:cNvPr id="47" name="Shape 45"/>
          <p:cNvSpPr/>
          <p:nvPr/>
        </p:nvSpPr>
        <p:spPr>
          <a:xfrm>
            <a:off x="8238744" y="1325880"/>
            <a:ext cx="3730752" cy="347472"/>
          </a:xfrm>
          <a:prstGeom prst="rect">
            <a:avLst/>
          </a:prstGeom>
          <a:solidFill>
            <a:srgbClr val="FEF3E8"/>
          </a:solidFill>
          <a:ln w="12700">
            <a:solidFill>
              <a:srgbClr val="FEF3E8"/>
            </a:solidFill>
            <a:prstDash val="solid"/>
          </a:ln>
        </p:spPr>
        <p:txBody>
          <a:bodyPr/>
          <a:lstStyle/>
          <a:p>
            <a:endParaRPr lang="en-US"/>
          </a:p>
        </p:txBody>
      </p:sp>
      <p:sp>
        <p:nvSpPr>
          <p:cNvPr id="48" name="Shape 46"/>
          <p:cNvSpPr/>
          <p:nvPr/>
        </p:nvSpPr>
        <p:spPr>
          <a:xfrm>
            <a:off x="8366760" y="1408176"/>
            <a:ext cx="749808" cy="256032"/>
          </a:xfrm>
          <a:prstGeom prst="roundRect">
            <a:avLst>
              <a:gd name="adj" fmla="val 25000"/>
            </a:avLst>
          </a:prstGeom>
          <a:solidFill>
            <a:srgbClr val="FEF3E8"/>
          </a:solidFill>
          <a:ln w="12700">
            <a:solidFill>
              <a:srgbClr val="FEF3E8"/>
            </a:solidFill>
            <a:prstDash val="solid"/>
          </a:ln>
        </p:spPr>
        <p:txBody>
          <a:bodyPr/>
          <a:lstStyle/>
          <a:p>
            <a:endParaRPr lang="en-US"/>
          </a:p>
        </p:txBody>
      </p:sp>
      <p:sp>
        <p:nvSpPr>
          <p:cNvPr id="49" name="Text 47"/>
          <p:cNvSpPr txBox="1"/>
          <p:nvPr/>
        </p:nvSpPr>
        <p:spPr>
          <a:xfrm>
            <a:off x="8403336" y="1435608"/>
            <a:ext cx="676656"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50" name="Text 48"/>
          <p:cNvSpPr txBox="1"/>
          <p:nvPr/>
        </p:nvSpPr>
        <p:spPr>
          <a:xfrm>
            <a:off x="8366760" y="1755648"/>
            <a:ext cx="3493008" cy="237744"/>
          </a:xfrm>
          <a:prstGeom prst="rect">
            <a:avLst/>
          </a:prstGeom>
          <a:noFill/>
          <a:ln/>
        </p:spPr>
        <p:txBody>
          <a:bodyPr wrap="square" lIns="0" tIns="0" rIns="0" bIns="0" rtlCol="0" anchor="ctr"/>
          <a:lstStyle/>
          <a:p>
            <a:pPr marL="0" indent="0">
              <a:buNone/>
            </a:pPr>
            <a:r>
              <a:rPr lang="en-US" sz="1100" b="1" dirty="0">
                <a:solidFill>
                  <a:srgbClr val="1A7A3C"/>
                </a:solidFill>
                <a:latin typeface="Calibri" pitchFamily="34" charset="0"/>
                <a:ea typeface="Calibri" pitchFamily="34" charset="-122"/>
                <a:cs typeface="Calibri" pitchFamily="34" charset="-120"/>
              </a:rPr>
              <a:t>✓ Advantages</a:t>
            </a:r>
            <a:endParaRPr lang="en-US" sz="1100" dirty="0"/>
          </a:p>
        </p:txBody>
      </p:sp>
      <p:sp>
        <p:nvSpPr>
          <p:cNvPr id="51" name="Shape 49"/>
          <p:cNvSpPr/>
          <p:nvPr/>
        </p:nvSpPr>
        <p:spPr>
          <a:xfrm>
            <a:off x="8366760" y="2029968"/>
            <a:ext cx="3493008" cy="402336"/>
          </a:xfrm>
          <a:prstGeom prst="rect">
            <a:avLst/>
          </a:prstGeom>
          <a:solidFill>
            <a:srgbClr val="EAF7EE"/>
          </a:solidFill>
          <a:ln w="12700">
            <a:solidFill>
              <a:srgbClr val="6EE7B7"/>
            </a:solidFill>
            <a:prstDash val="solid"/>
          </a:ln>
        </p:spPr>
        <p:txBody>
          <a:bodyPr/>
          <a:lstStyle/>
          <a:p>
            <a:endParaRPr lang="en-US"/>
          </a:p>
        </p:txBody>
      </p:sp>
      <p:sp>
        <p:nvSpPr>
          <p:cNvPr id="52" name="Text 50"/>
          <p:cNvSpPr txBox="1"/>
          <p:nvPr/>
        </p:nvSpPr>
        <p:spPr>
          <a:xfrm>
            <a:off x="8458200" y="2084832"/>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Concise — no type declarations</a:t>
            </a:r>
            <a:endParaRPr lang="en-US" sz="1100" dirty="0"/>
          </a:p>
        </p:txBody>
      </p:sp>
      <p:sp>
        <p:nvSpPr>
          <p:cNvPr id="53" name="Shape 51"/>
          <p:cNvSpPr/>
          <p:nvPr/>
        </p:nvSpPr>
        <p:spPr>
          <a:xfrm>
            <a:off x="8366760" y="2468880"/>
            <a:ext cx="3493008" cy="402336"/>
          </a:xfrm>
          <a:prstGeom prst="rect">
            <a:avLst/>
          </a:prstGeom>
          <a:solidFill>
            <a:srgbClr val="EAF7EE"/>
          </a:solidFill>
          <a:ln w="12700">
            <a:solidFill>
              <a:srgbClr val="6EE7B7"/>
            </a:solidFill>
            <a:prstDash val="solid"/>
          </a:ln>
        </p:spPr>
        <p:txBody>
          <a:bodyPr/>
          <a:lstStyle/>
          <a:p>
            <a:endParaRPr lang="en-US"/>
          </a:p>
        </p:txBody>
      </p:sp>
      <p:sp>
        <p:nvSpPr>
          <p:cNvPr id="54" name="Text 52"/>
          <p:cNvSpPr txBox="1"/>
          <p:nvPr/>
        </p:nvSpPr>
        <p:spPr>
          <a:xfrm>
            <a:off x="8458200" y="2523744"/>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Flexible — names rebind to any object</a:t>
            </a:r>
            <a:endParaRPr lang="en-US" sz="1100" dirty="0"/>
          </a:p>
        </p:txBody>
      </p:sp>
      <p:sp>
        <p:nvSpPr>
          <p:cNvPr id="55" name="Shape 53"/>
          <p:cNvSpPr/>
          <p:nvPr/>
        </p:nvSpPr>
        <p:spPr>
          <a:xfrm>
            <a:off x="8366760" y="2907792"/>
            <a:ext cx="3493008" cy="402336"/>
          </a:xfrm>
          <a:prstGeom prst="rect">
            <a:avLst/>
          </a:prstGeom>
          <a:solidFill>
            <a:srgbClr val="EAF7EE"/>
          </a:solidFill>
          <a:ln w="12700">
            <a:solidFill>
              <a:srgbClr val="6EE7B7"/>
            </a:solidFill>
            <a:prstDash val="solid"/>
          </a:ln>
        </p:spPr>
        <p:txBody>
          <a:bodyPr/>
          <a:lstStyle/>
          <a:p>
            <a:endParaRPr lang="en-US"/>
          </a:p>
        </p:txBody>
      </p:sp>
      <p:sp>
        <p:nvSpPr>
          <p:cNvPr id="56" name="Text 54"/>
          <p:cNvSpPr txBox="1"/>
          <p:nvPr/>
        </p:nvSpPr>
        <p:spPr>
          <a:xfrm>
            <a:off x="8458200" y="2962656"/>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Rapid prototyping</a:t>
            </a:r>
            <a:endParaRPr lang="en-US" sz="1100" dirty="0"/>
          </a:p>
        </p:txBody>
      </p:sp>
      <p:sp>
        <p:nvSpPr>
          <p:cNvPr id="57" name="Shape 55"/>
          <p:cNvSpPr/>
          <p:nvPr/>
        </p:nvSpPr>
        <p:spPr>
          <a:xfrm>
            <a:off x="8366760" y="3346704"/>
            <a:ext cx="3493008" cy="402336"/>
          </a:xfrm>
          <a:prstGeom prst="rect">
            <a:avLst/>
          </a:prstGeom>
          <a:solidFill>
            <a:srgbClr val="EAF7EE"/>
          </a:solidFill>
          <a:ln w="12700">
            <a:solidFill>
              <a:srgbClr val="6EE7B7"/>
            </a:solidFill>
            <a:prstDash val="solid"/>
          </a:ln>
        </p:spPr>
        <p:txBody>
          <a:bodyPr/>
          <a:lstStyle/>
          <a:p>
            <a:endParaRPr lang="en-US"/>
          </a:p>
        </p:txBody>
      </p:sp>
      <p:sp>
        <p:nvSpPr>
          <p:cNvPr id="58" name="Text 56"/>
          <p:cNvSpPr txBox="1"/>
          <p:nvPr/>
        </p:nvSpPr>
        <p:spPr>
          <a:xfrm>
            <a:off x="8458200" y="3401568"/>
            <a:ext cx="3355848"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Automatic memory management</a:t>
            </a:r>
            <a:endParaRPr lang="en-US" sz="1100" dirty="0"/>
          </a:p>
        </p:txBody>
      </p:sp>
      <p:sp>
        <p:nvSpPr>
          <p:cNvPr id="59" name="Text 57"/>
          <p:cNvSpPr txBox="1"/>
          <p:nvPr/>
        </p:nvSpPr>
        <p:spPr>
          <a:xfrm>
            <a:off x="8366760" y="3858768"/>
            <a:ext cx="3493008" cy="237744"/>
          </a:xfrm>
          <a:prstGeom prst="rect">
            <a:avLst/>
          </a:prstGeom>
          <a:noFill/>
          <a:ln/>
        </p:spPr>
        <p:txBody>
          <a:bodyPr wrap="square" lIns="0" tIns="0" rIns="0" bIns="0" rtlCol="0" anchor="ctr"/>
          <a:lstStyle/>
          <a:p>
            <a:pPr marL="0" indent="0">
              <a:buNone/>
            </a:pPr>
            <a:r>
              <a:rPr lang="en-US" sz="1100" b="1" dirty="0">
                <a:solidFill>
                  <a:srgbClr val="9B1C1C"/>
                </a:solidFill>
                <a:latin typeface="Calibri" pitchFamily="34" charset="0"/>
                <a:ea typeface="Calibri" pitchFamily="34" charset="-122"/>
                <a:cs typeface="Calibri" pitchFamily="34" charset="-120"/>
              </a:rPr>
              <a:t>✗ Costs</a:t>
            </a:r>
            <a:endParaRPr lang="en-US" sz="1100" dirty="0"/>
          </a:p>
        </p:txBody>
      </p:sp>
      <p:sp>
        <p:nvSpPr>
          <p:cNvPr id="60" name="Shape 58"/>
          <p:cNvSpPr/>
          <p:nvPr/>
        </p:nvSpPr>
        <p:spPr>
          <a:xfrm>
            <a:off x="8366760" y="4133088"/>
            <a:ext cx="3493008" cy="402336"/>
          </a:xfrm>
          <a:prstGeom prst="rect">
            <a:avLst/>
          </a:prstGeom>
          <a:solidFill>
            <a:srgbClr val="FEF2F2"/>
          </a:solidFill>
          <a:ln w="12700">
            <a:solidFill>
              <a:srgbClr val="FCA5A5"/>
            </a:solidFill>
            <a:prstDash val="solid"/>
          </a:ln>
        </p:spPr>
        <p:txBody>
          <a:bodyPr/>
          <a:lstStyle/>
          <a:p>
            <a:endParaRPr lang="en-US"/>
          </a:p>
        </p:txBody>
      </p:sp>
      <p:sp>
        <p:nvSpPr>
          <p:cNvPr id="61" name="Text 59"/>
          <p:cNvSpPr txBox="1"/>
          <p:nvPr/>
        </p:nvSpPr>
        <p:spPr>
          <a:xfrm>
            <a:off x="8458200" y="4187952"/>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Type errors only at runtime</a:t>
            </a:r>
            <a:endParaRPr lang="en-US" sz="1100" dirty="0"/>
          </a:p>
        </p:txBody>
      </p:sp>
      <p:sp>
        <p:nvSpPr>
          <p:cNvPr id="62" name="Shape 60"/>
          <p:cNvSpPr/>
          <p:nvPr/>
        </p:nvSpPr>
        <p:spPr>
          <a:xfrm>
            <a:off x="8366760" y="4572000"/>
            <a:ext cx="3493008" cy="402336"/>
          </a:xfrm>
          <a:prstGeom prst="rect">
            <a:avLst/>
          </a:prstGeom>
          <a:solidFill>
            <a:srgbClr val="FEF2F2"/>
          </a:solidFill>
          <a:ln w="12700">
            <a:solidFill>
              <a:srgbClr val="FCA5A5"/>
            </a:solidFill>
            <a:prstDash val="solid"/>
          </a:ln>
        </p:spPr>
        <p:txBody>
          <a:bodyPr/>
          <a:lstStyle/>
          <a:p>
            <a:endParaRPr lang="en-US"/>
          </a:p>
        </p:txBody>
      </p:sp>
      <p:sp>
        <p:nvSpPr>
          <p:cNvPr id="63" name="Text 61"/>
          <p:cNvSpPr txBox="1"/>
          <p:nvPr/>
        </p:nvSpPr>
        <p:spPr>
          <a:xfrm>
            <a:off x="8458200" y="4626864"/>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No compile-time enforcement</a:t>
            </a:r>
            <a:endParaRPr lang="en-US" sz="1100" dirty="0"/>
          </a:p>
        </p:txBody>
      </p:sp>
      <p:sp>
        <p:nvSpPr>
          <p:cNvPr id="64" name="Shape 62"/>
          <p:cNvSpPr/>
          <p:nvPr/>
        </p:nvSpPr>
        <p:spPr>
          <a:xfrm>
            <a:off x="8366760" y="5010912"/>
            <a:ext cx="3493008" cy="402336"/>
          </a:xfrm>
          <a:prstGeom prst="rect">
            <a:avLst/>
          </a:prstGeom>
          <a:solidFill>
            <a:srgbClr val="FEF2F2"/>
          </a:solidFill>
          <a:ln w="12700">
            <a:solidFill>
              <a:srgbClr val="FCA5A5"/>
            </a:solidFill>
            <a:prstDash val="solid"/>
          </a:ln>
        </p:spPr>
        <p:txBody>
          <a:bodyPr/>
          <a:lstStyle/>
          <a:p>
            <a:endParaRPr lang="en-US"/>
          </a:p>
        </p:txBody>
      </p:sp>
      <p:sp>
        <p:nvSpPr>
          <p:cNvPr id="65" name="Text 63"/>
          <p:cNvSpPr txBox="1"/>
          <p:nvPr/>
        </p:nvSpPr>
        <p:spPr>
          <a:xfrm>
            <a:off x="8458200" y="5065776"/>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Performance overhead from GC</a:t>
            </a:r>
            <a:endParaRPr lang="en-US" sz="1100" dirty="0"/>
          </a:p>
        </p:txBody>
      </p:sp>
      <p:sp>
        <p:nvSpPr>
          <p:cNvPr id="66" name="Shape 64"/>
          <p:cNvSpPr/>
          <p:nvPr/>
        </p:nvSpPr>
        <p:spPr>
          <a:xfrm>
            <a:off x="8366760" y="5449824"/>
            <a:ext cx="3493008" cy="402336"/>
          </a:xfrm>
          <a:prstGeom prst="rect">
            <a:avLst/>
          </a:prstGeom>
          <a:solidFill>
            <a:srgbClr val="FEF2F2"/>
          </a:solidFill>
          <a:ln w="12700">
            <a:solidFill>
              <a:srgbClr val="FCA5A5"/>
            </a:solidFill>
            <a:prstDash val="solid"/>
          </a:ln>
        </p:spPr>
        <p:txBody>
          <a:bodyPr/>
          <a:lstStyle/>
          <a:p>
            <a:endParaRPr lang="en-US"/>
          </a:p>
        </p:txBody>
      </p:sp>
      <p:sp>
        <p:nvSpPr>
          <p:cNvPr id="67" name="Text 65"/>
          <p:cNvSpPr txBox="1"/>
          <p:nvPr/>
        </p:nvSpPr>
        <p:spPr>
          <a:xfrm>
            <a:off x="8458200" y="5504688"/>
            <a:ext cx="3355848"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Harder to reason about types in large codebases</a:t>
            </a:r>
            <a:endParaRPr lang="en-US" sz="1100" dirty="0"/>
          </a:p>
        </p:txBody>
      </p:sp>
      <p:sp>
        <p:nvSpPr>
          <p:cNvPr id="68" name="Shape 66"/>
          <p:cNvSpPr/>
          <p:nvPr/>
        </p:nvSpPr>
        <p:spPr>
          <a:xfrm>
            <a:off x="411480" y="6583680"/>
            <a:ext cx="54864" cy="0"/>
          </a:xfrm>
          <a:prstGeom prst="rect">
            <a:avLst/>
          </a:prstGeom>
          <a:solidFill>
            <a:srgbClr val="2E5BFF"/>
          </a:solidFill>
          <a:ln/>
        </p:spPr>
        <p:txBody>
          <a:bodyPr/>
          <a:lstStyle/>
          <a:p>
            <a:endParaRPr lang="en-US"/>
          </a:p>
        </p:txBody>
      </p:sp>
      <p:sp>
        <p:nvSpPr>
          <p:cNvPr id="69" name="Shape 67"/>
          <p:cNvSpPr/>
          <p:nvPr/>
        </p:nvSpPr>
        <p:spPr>
          <a:xfrm>
            <a:off x="466344" y="6583680"/>
            <a:ext cx="11283696" cy="0"/>
          </a:xfrm>
          <a:prstGeom prst="rect">
            <a:avLst/>
          </a:prstGeom>
          <a:solidFill>
            <a:srgbClr val="EFF6FF"/>
          </a:solidFill>
          <a:ln w="12700">
            <a:solidFill>
              <a:srgbClr val="BFDBFE"/>
            </a:solidFill>
            <a:prstDash val="solid"/>
          </a:ln>
        </p:spPr>
        <p:txBody>
          <a:bodyPr/>
          <a:lstStyle/>
          <a:p>
            <a:endParaRPr lang="en-US"/>
          </a:p>
        </p:txBody>
      </p:sp>
      <p:sp>
        <p:nvSpPr>
          <p:cNvPr id="70" name="Text 68"/>
          <p:cNvSpPr txBox="1"/>
          <p:nvPr/>
        </p:nvSpPr>
        <p:spPr>
          <a:xfrm>
            <a:off x="594360" y="6675120"/>
            <a:ext cx="11064240" cy="0"/>
          </a:xfrm>
          <a:prstGeom prst="rect">
            <a:avLst/>
          </a:prstGeom>
          <a:noFill/>
          <a:ln/>
        </p:spPr>
        <p:txBody>
          <a:bodyPr wrap="square" lIns="0" tIns="0" rIns="0" bIns="0" rtlCol="0" anchor="ctr"/>
          <a:lstStyle/>
          <a:p>
            <a:pPr marL="0" indent="0">
              <a:lnSpc>
                <a:spcPct val="135000"/>
              </a:lnSpc>
              <a:buNone/>
            </a:pPr>
            <a:endParaRPr lang="en-US" sz="1200" dirty="0"/>
          </a:p>
        </p:txBody>
      </p:sp>
      <p:sp>
        <p:nvSpPr>
          <p:cNvPr id="72" name="TextBox 71">
            <a:extLst>
              <a:ext uri="{FF2B5EF4-FFF2-40B4-BE49-F238E27FC236}">
                <a16:creationId xmlns:a16="http://schemas.microsoft.com/office/drawing/2014/main" id="{453F242B-1002-05B3-A118-0C6AD043CDBC}"/>
              </a:ext>
            </a:extLst>
          </p:cNvPr>
          <p:cNvSpPr txBox="1"/>
          <p:nvPr/>
        </p:nvSpPr>
        <p:spPr>
          <a:xfrm>
            <a:off x="411480" y="6066897"/>
            <a:ext cx="11558016" cy="569258"/>
          </a:xfrm>
          <a:prstGeom prst="rect">
            <a:avLst/>
          </a:prstGeom>
          <a:noFill/>
        </p:spPr>
        <p:txBody>
          <a:bodyPr wrap="square">
            <a:spAutoFit/>
          </a:bodyP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No universally best model. The right design depends on domain, team size, performance needs, and which errors are most dangerous. Language design is about understanding tradeoffs.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Eight Common Misconceptions — Set the Record Straight</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Before the Quiz</a:t>
            </a:r>
            <a:endParaRPr lang="en-US" sz="900" dirty="0"/>
          </a:p>
        </p:txBody>
      </p:sp>
      <p:sp>
        <p:nvSpPr>
          <p:cNvPr id="5" name="Shape 3"/>
          <p:cNvSpPr/>
          <p:nvPr/>
        </p:nvSpPr>
        <p:spPr>
          <a:xfrm>
            <a:off x="411480" y="1005840"/>
            <a:ext cx="5349240" cy="1389888"/>
          </a:xfrm>
          <a:prstGeom prst="rect">
            <a:avLst/>
          </a:prstGeom>
          <a:solidFill>
            <a:srgbClr val="FEF2F2"/>
          </a:solidFill>
          <a:ln w="12700">
            <a:solidFill>
              <a:srgbClr val="FCA5A5"/>
            </a:solidFill>
            <a:prstDash val="solid"/>
          </a:ln>
        </p:spPr>
        <p:txBody>
          <a:bodyPr/>
          <a:lstStyle/>
          <a:p>
            <a:endParaRPr lang="en-US"/>
          </a:p>
        </p:txBody>
      </p:sp>
      <p:sp>
        <p:nvSpPr>
          <p:cNvPr id="6" name="Text 4"/>
          <p:cNvSpPr txBox="1"/>
          <p:nvPr/>
        </p:nvSpPr>
        <p:spPr>
          <a:xfrm>
            <a:off x="594360" y="1115568"/>
            <a:ext cx="5029200" cy="1170432"/>
          </a:xfrm>
          <a:prstGeom prst="rect">
            <a:avLst/>
          </a:prstGeom>
          <a:noFill/>
          <a:ln/>
        </p:spPr>
        <p:txBody>
          <a:bodyPr wrap="square" lIns="0" tIns="0" rIns="0" bIns="0" rtlCol="0" anchor="ctr"/>
          <a:lstStyle/>
          <a:p>
            <a:pPr marL="0" indent="0">
              <a:lnSpc>
                <a:spcPct val="132000"/>
              </a:lnSpc>
              <a:buNone/>
            </a:pPr>
            <a:r>
              <a:rPr lang="en-US" sz="1300" b="1" dirty="0">
                <a:solidFill>
                  <a:srgbClr val="9B1C1C"/>
                </a:solidFill>
                <a:latin typeface="Calibri" pitchFamily="34" charset="0"/>
                <a:ea typeface="Calibri" pitchFamily="34" charset="-122"/>
                <a:cs typeface="Calibri" pitchFamily="34" charset="-120"/>
              </a:rPr>
              <a:t>❌  "Python variables have no type."</a:t>
            </a:r>
            <a:endParaRPr lang="en-US" sz="1300" dirty="0"/>
          </a:p>
        </p:txBody>
      </p:sp>
      <p:sp>
        <p:nvSpPr>
          <p:cNvPr id="7" name="Shape 5"/>
          <p:cNvSpPr/>
          <p:nvPr/>
        </p:nvSpPr>
        <p:spPr>
          <a:xfrm>
            <a:off x="5989320" y="1005840"/>
            <a:ext cx="5760720" cy="1389888"/>
          </a:xfrm>
          <a:prstGeom prst="rect">
            <a:avLst/>
          </a:prstGeom>
          <a:solidFill>
            <a:srgbClr val="EAF7EE"/>
          </a:solidFill>
          <a:ln w="12700">
            <a:solidFill>
              <a:srgbClr val="6EE7B7"/>
            </a:solidFill>
            <a:prstDash val="solid"/>
          </a:ln>
        </p:spPr>
        <p:txBody>
          <a:bodyPr/>
          <a:lstStyle/>
          <a:p>
            <a:endParaRPr lang="en-US"/>
          </a:p>
        </p:txBody>
      </p:sp>
      <p:sp>
        <p:nvSpPr>
          <p:cNvPr id="8" name="Text 6"/>
          <p:cNvSpPr txBox="1"/>
          <p:nvPr/>
        </p:nvSpPr>
        <p:spPr>
          <a:xfrm>
            <a:off x="6172200" y="1115568"/>
            <a:ext cx="5394960" cy="1170432"/>
          </a:xfrm>
          <a:prstGeom prst="rect">
            <a:avLst/>
          </a:prstGeom>
          <a:noFill/>
          <a:ln/>
        </p:spPr>
        <p:txBody>
          <a:bodyPr wrap="square" lIns="0" tIns="0" rIns="0" bIns="0" rtlCol="0" anchor="ctr"/>
          <a:lstStyle/>
          <a:p>
            <a:pPr marL="0" indent="0">
              <a:lnSpc>
                <a:spcPct val="138000"/>
              </a:lnSpc>
              <a:buNone/>
            </a:pPr>
            <a:r>
              <a:rPr lang="en-US" sz="1200" dirty="0">
                <a:solidFill>
                  <a:srgbClr val="1A7A3C"/>
                </a:solidFill>
                <a:latin typeface="Calibri" pitchFamily="34" charset="0"/>
                <a:ea typeface="Calibri" pitchFamily="34" charset="-122"/>
                <a:cs typeface="Calibri" pitchFamily="34" charset="-120"/>
              </a:rPr>
              <a:t>✓  Python objects always have types. type(25) is int. The NAME has no type — the OBJECT does. Python is strongly typed but dynamically typed.</a:t>
            </a:r>
            <a:endParaRPr lang="en-US" sz="1200" dirty="0"/>
          </a:p>
        </p:txBody>
      </p:sp>
      <p:sp>
        <p:nvSpPr>
          <p:cNvPr id="9" name="Shape 7"/>
          <p:cNvSpPr/>
          <p:nvPr/>
        </p:nvSpPr>
        <p:spPr>
          <a:xfrm>
            <a:off x="411480" y="2487168"/>
            <a:ext cx="5349240" cy="1389888"/>
          </a:xfrm>
          <a:prstGeom prst="rect">
            <a:avLst/>
          </a:prstGeom>
          <a:solidFill>
            <a:srgbClr val="FEF2F2"/>
          </a:solidFill>
          <a:ln w="12700">
            <a:solidFill>
              <a:srgbClr val="FCA5A5"/>
            </a:solidFill>
            <a:prstDash val="solid"/>
          </a:ln>
        </p:spPr>
        <p:txBody>
          <a:bodyPr/>
          <a:lstStyle/>
          <a:p>
            <a:endParaRPr lang="en-US"/>
          </a:p>
        </p:txBody>
      </p:sp>
      <p:sp>
        <p:nvSpPr>
          <p:cNvPr id="10" name="Text 8"/>
          <p:cNvSpPr txBox="1"/>
          <p:nvPr/>
        </p:nvSpPr>
        <p:spPr>
          <a:xfrm>
            <a:off x="594360" y="2596896"/>
            <a:ext cx="5029200" cy="1170432"/>
          </a:xfrm>
          <a:prstGeom prst="rect">
            <a:avLst/>
          </a:prstGeom>
          <a:noFill/>
          <a:ln/>
        </p:spPr>
        <p:txBody>
          <a:bodyPr wrap="square" lIns="0" tIns="0" rIns="0" bIns="0" rtlCol="0" anchor="ctr"/>
          <a:lstStyle/>
          <a:p>
            <a:pPr marL="0" indent="0">
              <a:lnSpc>
                <a:spcPct val="132000"/>
              </a:lnSpc>
              <a:buNone/>
            </a:pPr>
            <a:r>
              <a:rPr lang="en-US" sz="1300" b="1" dirty="0">
                <a:solidFill>
                  <a:srgbClr val="9B1C1C"/>
                </a:solidFill>
                <a:latin typeface="Calibri" pitchFamily="34" charset="0"/>
                <a:ea typeface="Calibri" pitchFamily="34" charset="-122"/>
                <a:cs typeface="Calibri" pitchFamily="34" charset="-120"/>
              </a:rPr>
              <a:t>❌  "var in C# means dynamically typed — like Python."</a:t>
            </a:r>
            <a:endParaRPr lang="en-US" sz="1300" dirty="0"/>
          </a:p>
        </p:txBody>
      </p:sp>
      <p:sp>
        <p:nvSpPr>
          <p:cNvPr id="11" name="Shape 9"/>
          <p:cNvSpPr/>
          <p:nvPr/>
        </p:nvSpPr>
        <p:spPr>
          <a:xfrm>
            <a:off x="5989320" y="2487168"/>
            <a:ext cx="5760720" cy="1389888"/>
          </a:xfrm>
          <a:prstGeom prst="rect">
            <a:avLst/>
          </a:prstGeom>
          <a:solidFill>
            <a:srgbClr val="EAF7EE"/>
          </a:solidFill>
          <a:ln w="12700">
            <a:solidFill>
              <a:srgbClr val="6EE7B7"/>
            </a:solidFill>
            <a:prstDash val="solid"/>
          </a:ln>
        </p:spPr>
        <p:txBody>
          <a:bodyPr/>
          <a:lstStyle/>
          <a:p>
            <a:endParaRPr lang="en-US"/>
          </a:p>
        </p:txBody>
      </p:sp>
      <p:sp>
        <p:nvSpPr>
          <p:cNvPr id="12" name="Text 10"/>
          <p:cNvSpPr txBox="1"/>
          <p:nvPr/>
        </p:nvSpPr>
        <p:spPr>
          <a:xfrm>
            <a:off x="6172200" y="2596896"/>
            <a:ext cx="5394960" cy="1170432"/>
          </a:xfrm>
          <a:prstGeom prst="rect">
            <a:avLst/>
          </a:prstGeom>
          <a:noFill/>
          <a:ln/>
        </p:spPr>
        <p:txBody>
          <a:bodyPr wrap="square" lIns="0" tIns="0" rIns="0" bIns="0" rtlCol="0" anchor="ctr"/>
          <a:lstStyle/>
          <a:p>
            <a:pPr marL="0" indent="0">
              <a:lnSpc>
                <a:spcPct val="138000"/>
              </a:lnSpc>
              <a:buNone/>
            </a:pPr>
            <a:r>
              <a:rPr lang="en-US" sz="1200" dirty="0">
                <a:solidFill>
                  <a:srgbClr val="1A7A3C"/>
                </a:solidFill>
                <a:latin typeface="Calibri" pitchFamily="34" charset="0"/>
                <a:ea typeface="Calibri" pitchFamily="34" charset="-122"/>
                <a:cs typeface="Calibri" pitchFamily="34" charset="-120"/>
              </a:rPr>
              <a:t>✓  var is compile-time inference. The compiler infers int from 25 at compile time. That binding is permanent. var x = 25; then x = "hello"; is a compile error.</a:t>
            </a:r>
            <a:endParaRPr lang="en-US" sz="1200" dirty="0"/>
          </a:p>
        </p:txBody>
      </p:sp>
      <p:sp>
        <p:nvSpPr>
          <p:cNvPr id="13" name="Shape 11"/>
          <p:cNvSpPr/>
          <p:nvPr/>
        </p:nvSpPr>
        <p:spPr>
          <a:xfrm>
            <a:off x="411480" y="3968496"/>
            <a:ext cx="5349240" cy="1389888"/>
          </a:xfrm>
          <a:prstGeom prst="rect">
            <a:avLst/>
          </a:prstGeom>
          <a:solidFill>
            <a:srgbClr val="FEF2F2"/>
          </a:solidFill>
          <a:ln w="12700">
            <a:solidFill>
              <a:srgbClr val="FCA5A5"/>
            </a:solidFill>
            <a:prstDash val="solid"/>
          </a:ln>
        </p:spPr>
        <p:txBody>
          <a:bodyPr/>
          <a:lstStyle/>
          <a:p>
            <a:endParaRPr lang="en-US"/>
          </a:p>
        </p:txBody>
      </p:sp>
      <p:sp>
        <p:nvSpPr>
          <p:cNvPr id="14" name="Text 12"/>
          <p:cNvSpPr txBox="1"/>
          <p:nvPr/>
        </p:nvSpPr>
        <p:spPr>
          <a:xfrm>
            <a:off x="594360" y="4078224"/>
            <a:ext cx="5029200" cy="1170432"/>
          </a:xfrm>
          <a:prstGeom prst="rect">
            <a:avLst/>
          </a:prstGeom>
          <a:noFill/>
          <a:ln/>
        </p:spPr>
        <p:txBody>
          <a:bodyPr wrap="square" lIns="0" tIns="0" rIns="0" bIns="0" rtlCol="0" anchor="ctr"/>
          <a:lstStyle/>
          <a:p>
            <a:pPr marL="0" indent="0">
              <a:lnSpc>
                <a:spcPct val="132000"/>
              </a:lnSpc>
              <a:buNone/>
            </a:pPr>
            <a:r>
              <a:rPr lang="en-US" sz="1300" b="1" dirty="0">
                <a:solidFill>
                  <a:srgbClr val="9B1C1C"/>
                </a:solidFill>
                <a:latin typeface="Calibri" pitchFamily="34" charset="0"/>
                <a:ea typeface="Calibri" pitchFamily="34" charset="-122"/>
                <a:cs typeface="Calibri" pitchFamily="34" charset="-120"/>
              </a:rPr>
              <a:t>❌  "A variable is just a box containing a value."</a:t>
            </a:r>
            <a:endParaRPr lang="en-US" sz="1300" dirty="0"/>
          </a:p>
        </p:txBody>
      </p:sp>
      <p:sp>
        <p:nvSpPr>
          <p:cNvPr id="15" name="Shape 13"/>
          <p:cNvSpPr/>
          <p:nvPr/>
        </p:nvSpPr>
        <p:spPr>
          <a:xfrm>
            <a:off x="5989320" y="3968496"/>
            <a:ext cx="5760720" cy="1389888"/>
          </a:xfrm>
          <a:prstGeom prst="rect">
            <a:avLst/>
          </a:prstGeom>
          <a:solidFill>
            <a:srgbClr val="EAF7EE"/>
          </a:solidFill>
          <a:ln w="12700">
            <a:solidFill>
              <a:srgbClr val="6EE7B7"/>
            </a:solidFill>
            <a:prstDash val="solid"/>
          </a:ln>
        </p:spPr>
        <p:txBody>
          <a:bodyPr/>
          <a:lstStyle/>
          <a:p>
            <a:endParaRPr lang="en-US"/>
          </a:p>
        </p:txBody>
      </p:sp>
      <p:sp>
        <p:nvSpPr>
          <p:cNvPr id="16" name="Text 14"/>
          <p:cNvSpPr txBox="1"/>
          <p:nvPr/>
        </p:nvSpPr>
        <p:spPr>
          <a:xfrm>
            <a:off x="6172200" y="4078224"/>
            <a:ext cx="5394960" cy="1170432"/>
          </a:xfrm>
          <a:prstGeom prst="rect">
            <a:avLst/>
          </a:prstGeom>
          <a:noFill/>
          <a:ln/>
        </p:spPr>
        <p:txBody>
          <a:bodyPr wrap="square" lIns="0" tIns="0" rIns="0" bIns="0" rtlCol="0" anchor="ctr"/>
          <a:lstStyle/>
          <a:p>
            <a:pPr marL="0" indent="0">
              <a:lnSpc>
                <a:spcPct val="138000"/>
              </a:lnSpc>
              <a:buNone/>
            </a:pPr>
            <a:r>
              <a:rPr lang="en-US" sz="1200" dirty="0">
                <a:solidFill>
                  <a:srgbClr val="1A7A3C"/>
                </a:solidFill>
                <a:latin typeface="Calibri" pitchFamily="34" charset="0"/>
                <a:ea typeface="Calibri" pitchFamily="34" charset="-122"/>
                <a:cs typeface="Calibri" pitchFamily="34" charset="-120"/>
              </a:rPr>
              <a:t>✓  In Python especially: a name is a reference to an object, not a container. b = a makes both names point to the same object — not a copy.</a:t>
            </a:r>
            <a:endParaRPr lang="en-US" sz="1200" dirty="0"/>
          </a:p>
        </p:txBody>
      </p:sp>
      <p:sp>
        <p:nvSpPr>
          <p:cNvPr id="17" name="Shape 15"/>
          <p:cNvSpPr/>
          <p:nvPr/>
        </p:nvSpPr>
        <p:spPr>
          <a:xfrm>
            <a:off x="411480" y="5449824"/>
            <a:ext cx="5349240" cy="1389888"/>
          </a:xfrm>
          <a:prstGeom prst="rect">
            <a:avLst/>
          </a:prstGeom>
          <a:solidFill>
            <a:srgbClr val="FEF2F2"/>
          </a:solidFill>
          <a:ln w="12700">
            <a:solidFill>
              <a:srgbClr val="FCA5A5"/>
            </a:solidFill>
            <a:prstDash val="solid"/>
          </a:ln>
        </p:spPr>
        <p:txBody>
          <a:bodyPr/>
          <a:lstStyle/>
          <a:p>
            <a:endParaRPr lang="en-US"/>
          </a:p>
        </p:txBody>
      </p:sp>
      <p:sp>
        <p:nvSpPr>
          <p:cNvPr id="18" name="Text 16"/>
          <p:cNvSpPr txBox="1"/>
          <p:nvPr/>
        </p:nvSpPr>
        <p:spPr>
          <a:xfrm>
            <a:off x="594360" y="5559552"/>
            <a:ext cx="5029200" cy="1170432"/>
          </a:xfrm>
          <a:prstGeom prst="rect">
            <a:avLst/>
          </a:prstGeom>
          <a:noFill/>
          <a:ln/>
        </p:spPr>
        <p:txBody>
          <a:bodyPr wrap="square" lIns="0" tIns="0" rIns="0" bIns="0" rtlCol="0" anchor="ctr"/>
          <a:lstStyle/>
          <a:p>
            <a:pPr marL="0" indent="0">
              <a:lnSpc>
                <a:spcPct val="132000"/>
              </a:lnSpc>
              <a:buNone/>
            </a:pPr>
            <a:r>
              <a:rPr lang="en-US" sz="1300" b="1" dirty="0">
                <a:solidFill>
                  <a:srgbClr val="9B1C1C"/>
                </a:solidFill>
                <a:latin typeface="Calibri" pitchFamily="34" charset="0"/>
                <a:ea typeface="Calibri" pitchFamily="34" charset="-122"/>
                <a:cs typeface="Calibri" pitchFamily="34" charset="-120"/>
              </a:rPr>
              <a:t>❌  "Scope and lifetime are the same thing."</a:t>
            </a:r>
            <a:endParaRPr lang="en-US" sz="1300" dirty="0"/>
          </a:p>
        </p:txBody>
      </p:sp>
      <p:sp>
        <p:nvSpPr>
          <p:cNvPr id="19" name="Shape 17"/>
          <p:cNvSpPr/>
          <p:nvPr/>
        </p:nvSpPr>
        <p:spPr>
          <a:xfrm>
            <a:off x="5989320" y="5449824"/>
            <a:ext cx="5760720" cy="1389888"/>
          </a:xfrm>
          <a:prstGeom prst="rect">
            <a:avLst/>
          </a:prstGeom>
          <a:solidFill>
            <a:srgbClr val="EAF7EE"/>
          </a:solidFill>
          <a:ln w="12700">
            <a:solidFill>
              <a:srgbClr val="6EE7B7"/>
            </a:solidFill>
            <a:prstDash val="solid"/>
          </a:ln>
        </p:spPr>
        <p:txBody>
          <a:bodyPr/>
          <a:lstStyle/>
          <a:p>
            <a:endParaRPr lang="en-US"/>
          </a:p>
        </p:txBody>
      </p:sp>
      <p:sp>
        <p:nvSpPr>
          <p:cNvPr id="20" name="Text 18"/>
          <p:cNvSpPr txBox="1"/>
          <p:nvPr/>
        </p:nvSpPr>
        <p:spPr>
          <a:xfrm>
            <a:off x="6172200" y="5559552"/>
            <a:ext cx="5394960" cy="1170432"/>
          </a:xfrm>
          <a:prstGeom prst="rect">
            <a:avLst/>
          </a:prstGeom>
          <a:noFill/>
          <a:ln/>
        </p:spPr>
        <p:txBody>
          <a:bodyPr wrap="square" lIns="0" tIns="0" rIns="0" bIns="0" rtlCol="0" anchor="ctr"/>
          <a:lstStyle/>
          <a:p>
            <a:pPr marL="0" indent="0">
              <a:lnSpc>
                <a:spcPct val="138000"/>
              </a:lnSpc>
              <a:buNone/>
            </a:pPr>
            <a:r>
              <a:rPr lang="en-US" sz="1200" dirty="0">
                <a:solidFill>
                  <a:srgbClr val="1A7A3C"/>
                </a:solidFill>
                <a:latin typeface="Calibri" pitchFamily="34" charset="0"/>
                <a:ea typeface="Calibri" pitchFamily="34" charset="-122"/>
                <a:cs typeface="Calibri" pitchFamily="34" charset="-120"/>
              </a:rPr>
              <a:t>✓  Scope = WHERE in source code a name is visible (static). Lifetime = HOW LONG during execution the variable exists (runtime). Often correspond but are distinct concepts.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More Misconceptions (continued)</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Before the Quiz</a:t>
            </a:r>
            <a:endParaRPr lang="en-US" sz="900" dirty="0"/>
          </a:p>
        </p:txBody>
      </p:sp>
      <p:sp>
        <p:nvSpPr>
          <p:cNvPr id="5" name="Shape 3"/>
          <p:cNvSpPr/>
          <p:nvPr/>
        </p:nvSpPr>
        <p:spPr>
          <a:xfrm>
            <a:off x="411480" y="1005840"/>
            <a:ext cx="5349240" cy="1389888"/>
          </a:xfrm>
          <a:prstGeom prst="rect">
            <a:avLst/>
          </a:prstGeom>
          <a:solidFill>
            <a:srgbClr val="FEF2F2"/>
          </a:solidFill>
          <a:ln w="12700">
            <a:solidFill>
              <a:srgbClr val="FCA5A5"/>
            </a:solidFill>
            <a:prstDash val="solid"/>
          </a:ln>
        </p:spPr>
        <p:txBody>
          <a:bodyPr/>
          <a:lstStyle/>
          <a:p>
            <a:endParaRPr lang="en-US"/>
          </a:p>
        </p:txBody>
      </p:sp>
      <p:sp>
        <p:nvSpPr>
          <p:cNvPr id="6" name="Text 4"/>
          <p:cNvSpPr txBox="1"/>
          <p:nvPr/>
        </p:nvSpPr>
        <p:spPr>
          <a:xfrm>
            <a:off x="594360" y="1115568"/>
            <a:ext cx="5029200" cy="1170432"/>
          </a:xfrm>
          <a:prstGeom prst="rect">
            <a:avLst/>
          </a:prstGeom>
          <a:noFill/>
          <a:ln/>
        </p:spPr>
        <p:txBody>
          <a:bodyPr wrap="square" lIns="0" tIns="0" rIns="0" bIns="0" rtlCol="0" anchor="ctr"/>
          <a:lstStyle/>
          <a:p>
            <a:pPr marL="0" indent="0">
              <a:lnSpc>
                <a:spcPct val="132000"/>
              </a:lnSpc>
              <a:buNone/>
            </a:pPr>
            <a:r>
              <a:rPr lang="en-US" sz="1300" b="1" dirty="0">
                <a:solidFill>
                  <a:srgbClr val="9B1C1C"/>
                </a:solidFill>
                <a:latin typeface="Calibri" pitchFamily="34" charset="0"/>
                <a:ea typeface="Calibri" pitchFamily="34" charset="-122"/>
                <a:cs typeface="Calibri" pitchFamily="34" charset="-120"/>
              </a:rPr>
              <a:t>❌  "Dynamic typing means Python has weak typing."</a:t>
            </a:r>
            <a:endParaRPr lang="en-US" sz="1300" dirty="0"/>
          </a:p>
        </p:txBody>
      </p:sp>
      <p:sp>
        <p:nvSpPr>
          <p:cNvPr id="7" name="Shape 5"/>
          <p:cNvSpPr/>
          <p:nvPr/>
        </p:nvSpPr>
        <p:spPr>
          <a:xfrm>
            <a:off x="5989320" y="1005840"/>
            <a:ext cx="5760720" cy="1389888"/>
          </a:xfrm>
          <a:prstGeom prst="rect">
            <a:avLst/>
          </a:prstGeom>
          <a:solidFill>
            <a:srgbClr val="EAF7EE"/>
          </a:solidFill>
          <a:ln w="12700">
            <a:solidFill>
              <a:srgbClr val="6EE7B7"/>
            </a:solidFill>
            <a:prstDash val="solid"/>
          </a:ln>
        </p:spPr>
        <p:txBody>
          <a:bodyPr/>
          <a:lstStyle/>
          <a:p>
            <a:endParaRPr lang="en-US"/>
          </a:p>
        </p:txBody>
      </p:sp>
      <p:sp>
        <p:nvSpPr>
          <p:cNvPr id="8" name="Text 6"/>
          <p:cNvSpPr txBox="1"/>
          <p:nvPr/>
        </p:nvSpPr>
        <p:spPr>
          <a:xfrm>
            <a:off x="6172200" y="1115568"/>
            <a:ext cx="5394960" cy="1170432"/>
          </a:xfrm>
          <a:prstGeom prst="rect">
            <a:avLst/>
          </a:prstGeom>
          <a:noFill/>
          <a:ln/>
        </p:spPr>
        <p:txBody>
          <a:bodyPr wrap="square" lIns="0" tIns="0" rIns="0" bIns="0" rtlCol="0" anchor="ctr"/>
          <a:lstStyle/>
          <a:p>
            <a:pPr marL="0" indent="0">
              <a:lnSpc>
                <a:spcPct val="138000"/>
              </a:lnSpc>
              <a:buNone/>
            </a:pPr>
            <a:r>
              <a:rPr lang="en-US" sz="1200" dirty="0">
                <a:solidFill>
                  <a:srgbClr val="1A7A3C"/>
                </a:solidFill>
                <a:latin typeface="Calibri" pitchFamily="34" charset="0"/>
                <a:ea typeface="Calibri" pitchFamily="34" charset="-122"/>
                <a:cs typeface="Calibri" pitchFamily="34" charset="-120"/>
              </a:rPr>
              <a:t>✓  Dynamic = type checked at runtime. Weak = types silently coerced. Python is dynamically typed but STRONGLY typed — it raises TypeError on "hello" + 5. JavaScript is weakly typed (silently returns "hello5").</a:t>
            </a:r>
            <a:endParaRPr lang="en-US" sz="1200" dirty="0"/>
          </a:p>
        </p:txBody>
      </p:sp>
      <p:sp>
        <p:nvSpPr>
          <p:cNvPr id="9" name="Shape 7"/>
          <p:cNvSpPr/>
          <p:nvPr/>
        </p:nvSpPr>
        <p:spPr>
          <a:xfrm>
            <a:off x="411480" y="2487168"/>
            <a:ext cx="5349240" cy="1389888"/>
          </a:xfrm>
          <a:prstGeom prst="rect">
            <a:avLst/>
          </a:prstGeom>
          <a:solidFill>
            <a:srgbClr val="FEF2F2"/>
          </a:solidFill>
          <a:ln w="12700">
            <a:solidFill>
              <a:srgbClr val="FCA5A5"/>
            </a:solidFill>
            <a:prstDash val="solid"/>
          </a:ln>
        </p:spPr>
        <p:txBody>
          <a:bodyPr/>
          <a:lstStyle/>
          <a:p>
            <a:endParaRPr lang="en-US"/>
          </a:p>
        </p:txBody>
      </p:sp>
      <p:sp>
        <p:nvSpPr>
          <p:cNvPr id="10" name="Text 8"/>
          <p:cNvSpPr txBox="1"/>
          <p:nvPr/>
        </p:nvSpPr>
        <p:spPr>
          <a:xfrm>
            <a:off x="594360" y="2596896"/>
            <a:ext cx="5029200" cy="1170432"/>
          </a:xfrm>
          <a:prstGeom prst="rect">
            <a:avLst/>
          </a:prstGeom>
          <a:noFill/>
          <a:ln/>
        </p:spPr>
        <p:txBody>
          <a:bodyPr wrap="square" lIns="0" tIns="0" rIns="0" bIns="0" rtlCol="0" anchor="ctr"/>
          <a:lstStyle/>
          <a:p>
            <a:pPr marL="0" indent="0">
              <a:lnSpc>
                <a:spcPct val="132000"/>
              </a:lnSpc>
              <a:buNone/>
            </a:pPr>
            <a:r>
              <a:rPr lang="en-US" sz="1300" b="1" dirty="0">
                <a:solidFill>
                  <a:srgbClr val="9B1C1C"/>
                </a:solidFill>
                <a:latin typeface="Calibri" pitchFamily="34" charset="0"/>
                <a:ea typeface="Calibri" pitchFamily="34" charset="-122"/>
                <a:cs typeface="Calibri" pitchFamily="34" charset="-120"/>
              </a:rPr>
              <a:t>❌  "When Python rebinds x, the object changed type."</a:t>
            </a:r>
            <a:endParaRPr lang="en-US" sz="1300" dirty="0"/>
          </a:p>
        </p:txBody>
      </p:sp>
      <p:sp>
        <p:nvSpPr>
          <p:cNvPr id="11" name="Shape 9"/>
          <p:cNvSpPr/>
          <p:nvPr/>
        </p:nvSpPr>
        <p:spPr>
          <a:xfrm>
            <a:off x="5989320" y="2487168"/>
            <a:ext cx="5760720" cy="1389888"/>
          </a:xfrm>
          <a:prstGeom prst="rect">
            <a:avLst/>
          </a:prstGeom>
          <a:solidFill>
            <a:srgbClr val="EAF7EE"/>
          </a:solidFill>
          <a:ln w="12700">
            <a:solidFill>
              <a:srgbClr val="6EE7B7"/>
            </a:solidFill>
            <a:prstDash val="solid"/>
          </a:ln>
        </p:spPr>
        <p:txBody>
          <a:bodyPr/>
          <a:lstStyle/>
          <a:p>
            <a:endParaRPr lang="en-US"/>
          </a:p>
        </p:txBody>
      </p:sp>
      <p:sp>
        <p:nvSpPr>
          <p:cNvPr id="12" name="Text 10"/>
          <p:cNvSpPr txBox="1"/>
          <p:nvPr/>
        </p:nvSpPr>
        <p:spPr>
          <a:xfrm>
            <a:off x="6172200" y="2596896"/>
            <a:ext cx="5394960" cy="1170432"/>
          </a:xfrm>
          <a:prstGeom prst="rect">
            <a:avLst/>
          </a:prstGeom>
          <a:noFill/>
          <a:ln/>
        </p:spPr>
        <p:txBody>
          <a:bodyPr wrap="square" lIns="0" tIns="0" rIns="0" bIns="0" rtlCol="0" anchor="ctr"/>
          <a:lstStyle/>
          <a:p>
            <a:pPr marL="0" indent="0">
              <a:lnSpc>
                <a:spcPct val="138000"/>
              </a:lnSpc>
              <a:buNone/>
            </a:pPr>
            <a:r>
              <a:rPr lang="en-US" sz="1200" dirty="0">
                <a:solidFill>
                  <a:srgbClr val="1A7A3C"/>
                </a:solidFill>
                <a:latin typeface="Calibri" pitchFamily="34" charset="0"/>
                <a:ea typeface="Calibri" pitchFamily="34" charset="-122"/>
                <a:cs typeface="Calibri" pitchFamily="34" charset="-120"/>
              </a:rPr>
              <a:t>✓  Objects never change type. When x = "hello" follows x = 25, the integer 25 is unchanged (still int). The name x was redirected to a different object. Original object still exists until GC.</a:t>
            </a:r>
            <a:endParaRPr lang="en-US" sz="1200" dirty="0"/>
          </a:p>
        </p:txBody>
      </p:sp>
      <p:sp>
        <p:nvSpPr>
          <p:cNvPr id="13" name="Shape 11"/>
          <p:cNvSpPr/>
          <p:nvPr/>
        </p:nvSpPr>
        <p:spPr>
          <a:xfrm>
            <a:off x="411480" y="3968496"/>
            <a:ext cx="5349240" cy="1389888"/>
          </a:xfrm>
          <a:prstGeom prst="rect">
            <a:avLst/>
          </a:prstGeom>
          <a:solidFill>
            <a:srgbClr val="FEF2F2"/>
          </a:solidFill>
          <a:ln w="12700">
            <a:solidFill>
              <a:srgbClr val="FCA5A5"/>
            </a:solidFill>
            <a:prstDash val="solid"/>
          </a:ln>
        </p:spPr>
        <p:txBody>
          <a:bodyPr/>
          <a:lstStyle/>
          <a:p>
            <a:endParaRPr lang="en-US"/>
          </a:p>
        </p:txBody>
      </p:sp>
      <p:sp>
        <p:nvSpPr>
          <p:cNvPr id="14" name="Text 12"/>
          <p:cNvSpPr txBox="1"/>
          <p:nvPr/>
        </p:nvSpPr>
        <p:spPr>
          <a:xfrm>
            <a:off x="594360" y="4078224"/>
            <a:ext cx="5029200" cy="1170432"/>
          </a:xfrm>
          <a:prstGeom prst="rect">
            <a:avLst/>
          </a:prstGeom>
          <a:noFill/>
          <a:ln/>
        </p:spPr>
        <p:txBody>
          <a:bodyPr wrap="square" lIns="0" tIns="0" rIns="0" bIns="0" rtlCol="0" anchor="ctr"/>
          <a:lstStyle/>
          <a:p>
            <a:pPr marL="0" indent="0">
              <a:lnSpc>
                <a:spcPct val="132000"/>
              </a:lnSpc>
              <a:buNone/>
            </a:pPr>
            <a:r>
              <a:rPr lang="en-US" sz="1300" b="1" dirty="0">
                <a:solidFill>
                  <a:srgbClr val="9B1C1C"/>
                </a:solidFill>
                <a:latin typeface="Calibri" pitchFamily="34" charset="0"/>
                <a:ea typeface="Calibri" pitchFamily="34" charset="-122"/>
                <a:cs typeface="Calibri" pitchFamily="34" charset="-120"/>
              </a:rPr>
              <a:t>❌  "All local variables always go on the stack."</a:t>
            </a:r>
            <a:endParaRPr lang="en-US" sz="1300" dirty="0"/>
          </a:p>
        </p:txBody>
      </p:sp>
      <p:sp>
        <p:nvSpPr>
          <p:cNvPr id="15" name="Shape 13"/>
          <p:cNvSpPr/>
          <p:nvPr/>
        </p:nvSpPr>
        <p:spPr>
          <a:xfrm>
            <a:off x="5989320" y="3968496"/>
            <a:ext cx="5760720" cy="1389888"/>
          </a:xfrm>
          <a:prstGeom prst="rect">
            <a:avLst/>
          </a:prstGeom>
          <a:solidFill>
            <a:srgbClr val="EAF7EE"/>
          </a:solidFill>
          <a:ln w="12700">
            <a:solidFill>
              <a:srgbClr val="6EE7B7"/>
            </a:solidFill>
            <a:prstDash val="solid"/>
          </a:ln>
        </p:spPr>
        <p:txBody>
          <a:bodyPr/>
          <a:lstStyle/>
          <a:p>
            <a:endParaRPr lang="en-US"/>
          </a:p>
        </p:txBody>
      </p:sp>
      <p:sp>
        <p:nvSpPr>
          <p:cNvPr id="16" name="Text 14"/>
          <p:cNvSpPr txBox="1"/>
          <p:nvPr/>
        </p:nvSpPr>
        <p:spPr>
          <a:xfrm>
            <a:off x="6172200" y="4078224"/>
            <a:ext cx="5394960" cy="1170432"/>
          </a:xfrm>
          <a:prstGeom prst="rect">
            <a:avLst/>
          </a:prstGeom>
          <a:noFill/>
          <a:ln/>
        </p:spPr>
        <p:txBody>
          <a:bodyPr wrap="square" lIns="0" tIns="0" rIns="0" bIns="0" rtlCol="0" anchor="ctr"/>
          <a:lstStyle/>
          <a:p>
            <a:pPr marL="0" indent="0">
              <a:lnSpc>
                <a:spcPct val="138000"/>
              </a:lnSpc>
              <a:buNone/>
            </a:pPr>
            <a:r>
              <a:rPr lang="en-US" sz="1200" dirty="0">
                <a:solidFill>
                  <a:srgbClr val="1A7A3C"/>
                </a:solidFill>
                <a:latin typeface="Calibri" pitchFamily="34" charset="0"/>
                <a:ea typeface="Calibri" pitchFamily="34" charset="-122"/>
                <a:cs typeface="Calibri" pitchFamily="34" charset="-120"/>
              </a:rPr>
              <a:t>✓  Stack/heap is a conceptual model, not a universal rule. In Python, all objects go on the heap. The useful question is not where — it's who manages memory.</a:t>
            </a:r>
            <a:endParaRPr lang="en-US" sz="1200" dirty="0"/>
          </a:p>
        </p:txBody>
      </p:sp>
      <p:sp>
        <p:nvSpPr>
          <p:cNvPr id="17" name="Shape 15"/>
          <p:cNvSpPr/>
          <p:nvPr/>
        </p:nvSpPr>
        <p:spPr>
          <a:xfrm>
            <a:off x="411480" y="5449824"/>
            <a:ext cx="5349240" cy="1389888"/>
          </a:xfrm>
          <a:prstGeom prst="rect">
            <a:avLst/>
          </a:prstGeom>
          <a:solidFill>
            <a:srgbClr val="FEF2F2"/>
          </a:solidFill>
          <a:ln w="12700">
            <a:solidFill>
              <a:srgbClr val="FCA5A5"/>
            </a:solidFill>
            <a:prstDash val="solid"/>
          </a:ln>
        </p:spPr>
        <p:txBody>
          <a:bodyPr/>
          <a:lstStyle/>
          <a:p>
            <a:endParaRPr lang="en-US"/>
          </a:p>
        </p:txBody>
      </p:sp>
      <p:sp>
        <p:nvSpPr>
          <p:cNvPr id="18" name="Text 16"/>
          <p:cNvSpPr txBox="1"/>
          <p:nvPr/>
        </p:nvSpPr>
        <p:spPr>
          <a:xfrm>
            <a:off x="594360" y="5559552"/>
            <a:ext cx="5029200" cy="1170432"/>
          </a:xfrm>
          <a:prstGeom prst="rect">
            <a:avLst/>
          </a:prstGeom>
          <a:noFill/>
          <a:ln/>
        </p:spPr>
        <p:txBody>
          <a:bodyPr wrap="square" lIns="0" tIns="0" rIns="0" bIns="0" rtlCol="0" anchor="ctr"/>
          <a:lstStyle/>
          <a:p>
            <a:pPr marL="0" indent="0">
              <a:lnSpc>
                <a:spcPct val="132000"/>
              </a:lnSpc>
              <a:buNone/>
            </a:pPr>
            <a:r>
              <a:rPr lang="en-US" sz="1300" b="1" dirty="0">
                <a:solidFill>
                  <a:srgbClr val="9B1C1C"/>
                </a:solidFill>
                <a:latin typeface="Calibri" pitchFamily="34" charset="0"/>
                <a:ea typeface="Calibri" pitchFamily="34" charset="-122"/>
                <a:cs typeface="Calibri" pitchFamily="34" charset="-120"/>
              </a:rPr>
              <a:t>❌  "b = a in Python copies a's value into b."</a:t>
            </a:r>
            <a:endParaRPr lang="en-US" sz="1300" dirty="0"/>
          </a:p>
        </p:txBody>
      </p:sp>
      <p:sp>
        <p:nvSpPr>
          <p:cNvPr id="19" name="Shape 17"/>
          <p:cNvSpPr/>
          <p:nvPr/>
        </p:nvSpPr>
        <p:spPr>
          <a:xfrm>
            <a:off x="5989320" y="5449824"/>
            <a:ext cx="5760720" cy="1389888"/>
          </a:xfrm>
          <a:prstGeom prst="rect">
            <a:avLst/>
          </a:prstGeom>
          <a:solidFill>
            <a:srgbClr val="EAF7EE"/>
          </a:solidFill>
          <a:ln w="12700">
            <a:solidFill>
              <a:srgbClr val="6EE7B7"/>
            </a:solidFill>
            <a:prstDash val="solid"/>
          </a:ln>
        </p:spPr>
        <p:txBody>
          <a:bodyPr/>
          <a:lstStyle/>
          <a:p>
            <a:endParaRPr lang="en-US"/>
          </a:p>
        </p:txBody>
      </p:sp>
      <p:sp>
        <p:nvSpPr>
          <p:cNvPr id="20" name="Text 18"/>
          <p:cNvSpPr txBox="1"/>
          <p:nvPr/>
        </p:nvSpPr>
        <p:spPr>
          <a:xfrm>
            <a:off x="6172200" y="5559552"/>
            <a:ext cx="5394960" cy="1170432"/>
          </a:xfrm>
          <a:prstGeom prst="rect">
            <a:avLst/>
          </a:prstGeom>
          <a:noFill/>
          <a:ln/>
        </p:spPr>
        <p:txBody>
          <a:bodyPr wrap="square" lIns="0" tIns="0" rIns="0" bIns="0" rtlCol="0" anchor="ctr"/>
          <a:lstStyle/>
          <a:p>
            <a:pPr marL="0" indent="0">
              <a:lnSpc>
                <a:spcPct val="138000"/>
              </a:lnSpc>
              <a:buNone/>
            </a:pPr>
            <a:r>
              <a:rPr lang="en-US" sz="1200" dirty="0">
                <a:solidFill>
                  <a:srgbClr val="1A7A3C"/>
                </a:solidFill>
                <a:latin typeface="Calibri" pitchFamily="34" charset="0"/>
                <a:ea typeface="Calibri" pitchFamily="34" charset="-122"/>
                <a:cs typeface="Calibri" pitchFamily="34" charset="-120"/>
              </a:rPr>
              <a:t>✓  b = a makes b refer to the SAME object as a. For mutable objects (lists), changes through either name are visible to the other. It is not a copy — it is aliasing.</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Practice — 4 Key Questions to Discuss</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11 · Practice</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The tutorial has 12 graded questions. Here are four to work through together:</a:t>
            </a:r>
            <a:endParaRPr lang="en-US" sz="1300" dirty="0"/>
          </a:p>
        </p:txBody>
      </p:sp>
      <p:sp>
        <p:nvSpPr>
          <p:cNvPr id="6" name="Shape 4"/>
          <p:cNvSpPr/>
          <p:nvPr/>
        </p:nvSpPr>
        <p:spPr>
          <a:xfrm>
            <a:off x="411480" y="1335024"/>
            <a:ext cx="11338560" cy="1280160"/>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411480" y="1335024"/>
            <a:ext cx="658368" cy="1280160"/>
          </a:xfrm>
          <a:prstGeom prst="rect">
            <a:avLst/>
          </a:prstGeom>
          <a:solidFill>
            <a:srgbClr val="1A2B5E"/>
          </a:solidFill>
          <a:ln/>
        </p:spPr>
        <p:txBody>
          <a:bodyPr/>
          <a:lstStyle/>
          <a:p>
            <a:endParaRPr lang="en-US"/>
          </a:p>
        </p:txBody>
      </p:sp>
      <p:sp>
        <p:nvSpPr>
          <p:cNvPr id="8" name="Text 6"/>
          <p:cNvSpPr txBox="1"/>
          <p:nvPr/>
        </p:nvSpPr>
        <p:spPr>
          <a:xfrm>
            <a:off x="411480" y="1591056"/>
            <a:ext cx="65836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9" name="Text 7"/>
          <p:cNvSpPr txBox="1"/>
          <p:nvPr/>
        </p:nvSpPr>
        <p:spPr>
          <a:xfrm>
            <a:off x="1152144" y="1408176"/>
            <a:ext cx="164592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Python types</a:t>
            </a:r>
            <a:endParaRPr lang="en-US" sz="1000" dirty="0"/>
          </a:p>
        </p:txBody>
      </p:sp>
      <p:sp>
        <p:nvSpPr>
          <p:cNvPr id="10" name="Text 8"/>
          <p:cNvSpPr txBox="1"/>
          <p:nvPr/>
        </p:nvSpPr>
        <p:spPr>
          <a:xfrm>
            <a:off x="1152144" y="1627632"/>
            <a:ext cx="4572000" cy="603504"/>
          </a:xfrm>
          <a:prstGeom prst="rect">
            <a:avLst/>
          </a:prstGeom>
          <a:noFill/>
          <a:ln/>
        </p:spPr>
        <p:txBody>
          <a:bodyPr wrap="square" lIns="0" tIns="0" rIns="0" bIns="0" rtlCol="0" anchor="ctr"/>
          <a:lstStyle/>
          <a:p>
            <a:pPr marL="0" indent="0">
              <a:lnSpc>
                <a:spcPct val="130000"/>
              </a:lnSpc>
              <a:buNone/>
            </a:pPr>
            <a:r>
              <a:rPr lang="en-US" sz="1200" b="1" dirty="0">
                <a:solidFill>
                  <a:srgbClr val="1E2A3A"/>
                </a:solidFill>
                <a:latin typeface="Calibri" pitchFamily="34" charset="0"/>
                <a:ea typeface="Calibri" pitchFamily="34" charset="-122"/>
                <a:cs typeface="Calibri" pitchFamily="34" charset="-120"/>
              </a:rPr>
              <a:t>In Python, after  x = 42 , which is most accurate?</a:t>
            </a:r>
            <a:endParaRPr lang="en-US" sz="1200" dirty="0"/>
          </a:p>
        </p:txBody>
      </p:sp>
      <p:sp>
        <p:nvSpPr>
          <p:cNvPr id="11" name="Shape 9"/>
          <p:cNvSpPr/>
          <p:nvPr/>
        </p:nvSpPr>
        <p:spPr>
          <a:xfrm>
            <a:off x="5943600" y="1408176"/>
            <a:ext cx="5257800" cy="1133856"/>
          </a:xfrm>
          <a:prstGeom prst="rect">
            <a:avLst/>
          </a:prstGeom>
          <a:solidFill>
            <a:srgbClr val="EAF7EE"/>
          </a:solidFill>
          <a:ln w="12700">
            <a:solidFill>
              <a:srgbClr val="6EE7B7"/>
            </a:solidFill>
            <a:prstDash val="solid"/>
          </a:ln>
        </p:spPr>
        <p:txBody>
          <a:bodyPr/>
          <a:lstStyle/>
          <a:p>
            <a:endParaRPr lang="en-US"/>
          </a:p>
        </p:txBody>
      </p:sp>
      <p:sp>
        <p:nvSpPr>
          <p:cNvPr id="12" name="Text 10"/>
          <p:cNvSpPr txBox="1"/>
          <p:nvPr/>
        </p:nvSpPr>
        <p:spPr>
          <a:xfrm>
            <a:off x="6126480" y="1463040"/>
            <a:ext cx="4937760" cy="603504"/>
          </a:xfrm>
          <a:prstGeom prst="rect">
            <a:avLst/>
          </a:prstGeom>
          <a:noFill/>
          <a:ln/>
        </p:spPr>
        <p:txBody>
          <a:bodyPr wrap="square" lIns="0" tIns="0" rIns="0" bIns="0" rtlCol="0" anchor="ctr"/>
          <a:lstStyle/>
          <a:p>
            <a:pPr marL="0" indent="0">
              <a:lnSpc>
                <a:spcPct val="130000"/>
              </a:lnSpc>
              <a:buNone/>
            </a:pPr>
            <a:r>
              <a:rPr lang="en-US" sz="1150" dirty="0">
                <a:solidFill>
                  <a:srgbClr val="1A7A3C"/>
                </a:solidFill>
                <a:latin typeface="Calibri" pitchFamily="34" charset="0"/>
                <a:ea typeface="Calibri" pitchFamily="34" charset="-122"/>
                <a:cs typeface="Calibri" pitchFamily="34" charset="-120"/>
              </a:rPr>
              <a:t>C: The name x refers to an integer object, and the object has type int — the name itself has no type.</a:t>
            </a:r>
            <a:endParaRPr lang="en-US" sz="1150" dirty="0"/>
          </a:p>
        </p:txBody>
      </p:sp>
      <p:sp>
        <p:nvSpPr>
          <p:cNvPr id="13" name="Text 11"/>
          <p:cNvSpPr txBox="1"/>
          <p:nvPr/>
        </p:nvSpPr>
        <p:spPr>
          <a:xfrm>
            <a:off x="6126480" y="2084832"/>
            <a:ext cx="4937760" cy="384048"/>
          </a:xfrm>
          <a:prstGeom prst="rect">
            <a:avLst/>
          </a:prstGeom>
          <a:noFill/>
          <a:ln/>
        </p:spPr>
        <p:txBody>
          <a:bodyPr wrap="square" lIns="0" tIns="0" rIns="0" bIns="0" rtlCol="0" anchor="ctr"/>
          <a:lstStyle/>
          <a:p>
            <a:pPr marL="0" indent="0">
              <a:lnSpc>
                <a:spcPct val="120000"/>
              </a:lnSpc>
              <a:buNone/>
            </a:pPr>
            <a:r>
              <a:rPr lang="en-US" sz="1100" i="1" dirty="0">
                <a:solidFill>
                  <a:srgbClr val="5A6A82"/>
                </a:solidFill>
                <a:latin typeface="Calibri" pitchFamily="34" charset="0"/>
                <a:ea typeface="Calibri" pitchFamily="34" charset="-122"/>
                <a:cs typeface="Calibri" pitchFamily="34" charset="-120"/>
              </a:rPr>
              <a:t>The name has no type. The object does. x is a label pointing at an int object.</a:t>
            </a:r>
            <a:endParaRPr lang="en-US" sz="1100" dirty="0"/>
          </a:p>
        </p:txBody>
      </p:sp>
      <p:sp>
        <p:nvSpPr>
          <p:cNvPr id="14" name="Shape 12"/>
          <p:cNvSpPr/>
          <p:nvPr/>
        </p:nvSpPr>
        <p:spPr>
          <a:xfrm>
            <a:off x="411480" y="2724912"/>
            <a:ext cx="11338560" cy="1280160"/>
          </a:xfrm>
          <a:prstGeom prst="rect">
            <a:avLst/>
          </a:prstGeom>
          <a:solidFill>
            <a:srgbClr val="FFFFFF"/>
          </a:solidFill>
          <a:ln w="12700">
            <a:solidFill>
              <a:srgbClr val="D0DAF0"/>
            </a:solidFill>
            <a:prstDash val="solid"/>
          </a:ln>
        </p:spPr>
        <p:txBody>
          <a:bodyPr/>
          <a:lstStyle/>
          <a:p>
            <a:endParaRPr lang="en-US"/>
          </a:p>
        </p:txBody>
      </p:sp>
      <p:sp>
        <p:nvSpPr>
          <p:cNvPr id="15" name="Shape 13"/>
          <p:cNvSpPr/>
          <p:nvPr/>
        </p:nvSpPr>
        <p:spPr>
          <a:xfrm>
            <a:off x="411480" y="2724912"/>
            <a:ext cx="658368" cy="1280160"/>
          </a:xfrm>
          <a:prstGeom prst="rect">
            <a:avLst/>
          </a:prstGeom>
          <a:solidFill>
            <a:srgbClr val="1A2B5E"/>
          </a:solidFill>
          <a:ln/>
        </p:spPr>
        <p:txBody>
          <a:bodyPr/>
          <a:lstStyle/>
          <a:p>
            <a:endParaRPr lang="en-US"/>
          </a:p>
        </p:txBody>
      </p:sp>
      <p:sp>
        <p:nvSpPr>
          <p:cNvPr id="16" name="Text 14"/>
          <p:cNvSpPr txBox="1"/>
          <p:nvPr/>
        </p:nvSpPr>
        <p:spPr>
          <a:xfrm>
            <a:off x="411480" y="2980944"/>
            <a:ext cx="65836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Q5</a:t>
            </a:r>
            <a:endParaRPr lang="en-US" sz="1200" dirty="0"/>
          </a:p>
        </p:txBody>
      </p:sp>
      <p:sp>
        <p:nvSpPr>
          <p:cNvPr id="17" name="Text 15"/>
          <p:cNvSpPr txBox="1"/>
          <p:nvPr/>
        </p:nvSpPr>
        <p:spPr>
          <a:xfrm>
            <a:off x="1152144" y="2798064"/>
            <a:ext cx="164592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C# var</a:t>
            </a:r>
            <a:endParaRPr lang="en-US" sz="1000" dirty="0"/>
          </a:p>
        </p:txBody>
      </p:sp>
      <p:sp>
        <p:nvSpPr>
          <p:cNvPr id="18" name="Text 16"/>
          <p:cNvSpPr txBox="1"/>
          <p:nvPr/>
        </p:nvSpPr>
        <p:spPr>
          <a:xfrm>
            <a:off x="1152144" y="3017520"/>
            <a:ext cx="4572000" cy="603504"/>
          </a:xfrm>
          <a:prstGeom prst="rect">
            <a:avLst/>
          </a:prstGeom>
          <a:noFill/>
          <a:ln/>
        </p:spPr>
        <p:txBody>
          <a:bodyPr wrap="square" lIns="0" tIns="0" rIns="0" bIns="0" rtlCol="0" anchor="ctr"/>
          <a:lstStyle/>
          <a:p>
            <a:pPr marL="0" indent="0">
              <a:lnSpc>
                <a:spcPct val="130000"/>
              </a:lnSpc>
              <a:buNone/>
            </a:pPr>
            <a:r>
              <a:rPr lang="en-US" sz="1200" b="1" dirty="0">
                <a:solidFill>
                  <a:srgbClr val="1E2A3A"/>
                </a:solidFill>
                <a:latin typeface="Calibri" pitchFamily="34" charset="0"/>
                <a:ea typeface="Calibri" pitchFamily="34" charset="-122"/>
                <a:cs typeface="Calibri" pitchFamily="34" charset="-120"/>
              </a:rPr>
              <a:t>A developer writes  var score = 95;  then  score = "excellent";  in C#. What happens?</a:t>
            </a:r>
            <a:endParaRPr lang="en-US" sz="1200" dirty="0"/>
          </a:p>
        </p:txBody>
      </p:sp>
      <p:sp>
        <p:nvSpPr>
          <p:cNvPr id="19" name="Shape 17"/>
          <p:cNvSpPr/>
          <p:nvPr/>
        </p:nvSpPr>
        <p:spPr>
          <a:xfrm>
            <a:off x="5943600" y="2798064"/>
            <a:ext cx="5257800" cy="1133856"/>
          </a:xfrm>
          <a:prstGeom prst="rect">
            <a:avLst/>
          </a:prstGeom>
          <a:solidFill>
            <a:srgbClr val="EAF7EE"/>
          </a:solidFill>
          <a:ln w="12700">
            <a:solidFill>
              <a:srgbClr val="6EE7B7"/>
            </a:solidFill>
            <a:prstDash val="solid"/>
          </a:ln>
        </p:spPr>
        <p:txBody>
          <a:bodyPr/>
          <a:lstStyle/>
          <a:p>
            <a:endParaRPr lang="en-US"/>
          </a:p>
        </p:txBody>
      </p:sp>
      <p:sp>
        <p:nvSpPr>
          <p:cNvPr id="20" name="Text 18"/>
          <p:cNvSpPr txBox="1"/>
          <p:nvPr/>
        </p:nvSpPr>
        <p:spPr>
          <a:xfrm>
            <a:off x="6126480" y="2852928"/>
            <a:ext cx="4937760" cy="603504"/>
          </a:xfrm>
          <a:prstGeom prst="rect">
            <a:avLst/>
          </a:prstGeom>
          <a:noFill/>
          <a:ln/>
        </p:spPr>
        <p:txBody>
          <a:bodyPr wrap="square" lIns="0" tIns="0" rIns="0" bIns="0" rtlCol="0" anchor="ctr"/>
          <a:lstStyle/>
          <a:p>
            <a:pPr marL="0" indent="0">
              <a:lnSpc>
                <a:spcPct val="130000"/>
              </a:lnSpc>
              <a:buNone/>
            </a:pPr>
            <a:r>
              <a:rPr lang="en-US" sz="1150" dirty="0">
                <a:solidFill>
                  <a:srgbClr val="1A7A3C"/>
                </a:solidFill>
                <a:latin typeface="Calibri" pitchFamily="34" charset="0"/>
                <a:ea typeface="Calibri" pitchFamily="34" charset="-122"/>
                <a:cs typeface="Calibri" pitchFamily="34" charset="-120"/>
              </a:rPr>
              <a:t>B: Compile-time error — compiler inferred int from 95; string is not compatible.</a:t>
            </a:r>
            <a:endParaRPr lang="en-US" sz="1150" dirty="0"/>
          </a:p>
        </p:txBody>
      </p:sp>
      <p:sp>
        <p:nvSpPr>
          <p:cNvPr id="21" name="Text 19"/>
          <p:cNvSpPr txBox="1"/>
          <p:nvPr/>
        </p:nvSpPr>
        <p:spPr>
          <a:xfrm>
            <a:off x="6126480" y="3474720"/>
            <a:ext cx="4937760" cy="384048"/>
          </a:xfrm>
          <a:prstGeom prst="rect">
            <a:avLst/>
          </a:prstGeom>
          <a:noFill/>
          <a:ln/>
        </p:spPr>
        <p:txBody>
          <a:bodyPr wrap="square" lIns="0" tIns="0" rIns="0" bIns="0" rtlCol="0" anchor="ctr"/>
          <a:lstStyle/>
          <a:p>
            <a:pPr marL="0" indent="0">
              <a:lnSpc>
                <a:spcPct val="120000"/>
              </a:lnSpc>
              <a:buNone/>
            </a:pPr>
            <a:r>
              <a:rPr lang="en-US" sz="1100" i="1" dirty="0">
                <a:solidFill>
                  <a:srgbClr val="5A6A82"/>
                </a:solidFill>
                <a:latin typeface="Calibri" pitchFamily="34" charset="0"/>
                <a:ea typeface="Calibri" pitchFamily="34" charset="-122"/>
                <a:cs typeface="Calibri" pitchFamily="34" charset="-120"/>
              </a:rPr>
              <a:t>var is compile-time inference. The type is fixed at compile time. This is not Python.</a:t>
            </a:r>
            <a:endParaRPr lang="en-US" sz="1100" dirty="0"/>
          </a:p>
        </p:txBody>
      </p:sp>
      <p:sp>
        <p:nvSpPr>
          <p:cNvPr id="22" name="Shape 20"/>
          <p:cNvSpPr/>
          <p:nvPr/>
        </p:nvSpPr>
        <p:spPr>
          <a:xfrm>
            <a:off x="411480" y="4114800"/>
            <a:ext cx="11338560" cy="1280160"/>
          </a:xfrm>
          <a:prstGeom prst="rect">
            <a:avLst/>
          </a:prstGeom>
          <a:solidFill>
            <a:srgbClr val="FFFFFF"/>
          </a:solidFill>
          <a:ln w="12700">
            <a:solidFill>
              <a:srgbClr val="D0DAF0"/>
            </a:solidFill>
            <a:prstDash val="solid"/>
          </a:ln>
        </p:spPr>
        <p:txBody>
          <a:bodyPr/>
          <a:lstStyle/>
          <a:p>
            <a:endParaRPr lang="en-US"/>
          </a:p>
        </p:txBody>
      </p:sp>
      <p:sp>
        <p:nvSpPr>
          <p:cNvPr id="23" name="Shape 21"/>
          <p:cNvSpPr/>
          <p:nvPr/>
        </p:nvSpPr>
        <p:spPr>
          <a:xfrm>
            <a:off x="411480" y="4114800"/>
            <a:ext cx="658368" cy="1280160"/>
          </a:xfrm>
          <a:prstGeom prst="rect">
            <a:avLst/>
          </a:prstGeom>
          <a:solidFill>
            <a:srgbClr val="1A2B5E"/>
          </a:solidFill>
          <a:ln/>
        </p:spPr>
        <p:txBody>
          <a:bodyPr/>
          <a:lstStyle/>
          <a:p>
            <a:endParaRPr lang="en-US"/>
          </a:p>
        </p:txBody>
      </p:sp>
      <p:sp>
        <p:nvSpPr>
          <p:cNvPr id="24" name="Text 22"/>
          <p:cNvSpPr txBox="1"/>
          <p:nvPr/>
        </p:nvSpPr>
        <p:spPr>
          <a:xfrm>
            <a:off x="411480" y="4370832"/>
            <a:ext cx="65836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Q9</a:t>
            </a:r>
            <a:endParaRPr lang="en-US" sz="1200" dirty="0"/>
          </a:p>
        </p:txBody>
      </p:sp>
      <p:sp>
        <p:nvSpPr>
          <p:cNvPr id="25" name="Text 23"/>
          <p:cNvSpPr txBox="1"/>
          <p:nvPr/>
        </p:nvSpPr>
        <p:spPr>
          <a:xfrm>
            <a:off x="1152144" y="4187952"/>
            <a:ext cx="164592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Predict output</a:t>
            </a:r>
            <a:endParaRPr lang="en-US" sz="1000" dirty="0"/>
          </a:p>
        </p:txBody>
      </p:sp>
      <p:sp>
        <p:nvSpPr>
          <p:cNvPr id="26" name="Text 24"/>
          <p:cNvSpPr txBox="1"/>
          <p:nvPr/>
        </p:nvSpPr>
        <p:spPr>
          <a:xfrm>
            <a:off x="1152144" y="4407408"/>
            <a:ext cx="4572000" cy="603504"/>
          </a:xfrm>
          <a:prstGeom prst="rect">
            <a:avLst/>
          </a:prstGeom>
          <a:noFill/>
          <a:ln/>
        </p:spPr>
        <p:txBody>
          <a:bodyPr wrap="square" lIns="0" tIns="0" rIns="0" bIns="0" rtlCol="0" anchor="ctr"/>
          <a:lstStyle/>
          <a:p>
            <a:pPr marL="0" indent="0">
              <a:lnSpc>
                <a:spcPct val="130000"/>
              </a:lnSpc>
              <a:buNone/>
            </a:pPr>
            <a:r>
              <a:rPr lang="en-US" sz="1200" b="1" dirty="0">
                <a:solidFill>
                  <a:srgbClr val="1E2A3A"/>
                </a:solidFill>
                <a:latin typeface="Calibri" pitchFamily="34" charset="0"/>
                <a:ea typeface="Calibri" pitchFamily="34" charset="-122"/>
                <a:cs typeface="Calibri" pitchFamily="34" charset="-120"/>
              </a:rPr>
              <a:t>a = 5  ·  b = a  ·  a = 10  ·  print(b) — what prints?</a:t>
            </a:r>
            <a:endParaRPr lang="en-US" sz="1200" dirty="0"/>
          </a:p>
        </p:txBody>
      </p:sp>
      <p:sp>
        <p:nvSpPr>
          <p:cNvPr id="27" name="Shape 25"/>
          <p:cNvSpPr/>
          <p:nvPr/>
        </p:nvSpPr>
        <p:spPr>
          <a:xfrm>
            <a:off x="5943600" y="4187952"/>
            <a:ext cx="5257800" cy="1133856"/>
          </a:xfrm>
          <a:prstGeom prst="rect">
            <a:avLst/>
          </a:prstGeom>
          <a:solidFill>
            <a:srgbClr val="EAF7EE"/>
          </a:solidFill>
          <a:ln w="12700">
            <a:solidFill>
              <a:srgbClr val="6EE7B7"/>
            </a:solidFill>
            <a:prstDash val="solid"/>
          </a:ln>
        </p:spPr>
        <p:txBody>
          <a:bodyPr/>
          <a:lstStyle/>
          <a:p>
            <a:endParaRPr lang="en-US"/>
          </a:p>
        </p:txBody>
      </p:sp>
      <p:sp>
        <p:nvSpPr>
          <p:cNvPr id="28" name="Text 26"/>
          <p:cNvSpPr txBox="1"/>
          <p:nvPr/>
        </p:nvSpPr>
        <p:spPr>
          <a:xfrm>
            <a:off x="6126480" y="4242816"/>
            <a:ext cx="4937760" cy="603504"/>
          </a:xfrm>
          <a:prstGeom prst="rect">
            <a:avLst/>
          </a:prstGeom>
          <a:noFill/>
          <a:ln/>
        </p:spPr>
        <p:txBody>
          <a:bodyPr wrap="square" lIns="0" tIns="0" rIns="0" bIns="0" rtlCol="0" anchor="ctr"/>
          <a:lstStyle/>
          <a:p>
            <a:pPr marL="0" indent="0">
              <a:lnSpc>
                <a:spcPct val="130000"/>
              </a:lnSpc>
              <a:buNone/>
            </a:pPr>
            <a:r>
              <a:rPr lang="en-US" sz="1150" dirty="0">
                <a:solidFill>
                  <a:srgbClr val="1A7A3C"/>
                </a:solidFill>
                <a:latin typeface="Calibri" pitchFamily="34" charset="0"/>
                <a:ea typeface="Calibri" pitchFamily="34" charset="-122"/>
                <a:cs typeface="Calibri" pitchFamily="34" charset="-120"/>
              </a:rPr>
              <a:t>B: 5 — b refers to the original integer object 5; rebinding a doesn't affect b.</a:t>
            </a:r>
            <a:endParaRPr lang="en-US" sz="1150" dirty="0"/>
          </a:p>
        </p:txBody>
      </p:sp>
      <p:sp>
        <p:nvSpPr>
          <p:cNvPr id="29" name="Text 27"/>
          <p:cNvSpPr txBox="1"/>
          <p:nvPr/>
        </p:nvSpPr>
        <p:spPr>
          <a:xfrm>
            <a:off x="6126480" y="4864608"/>
            <a:ext cx="4937760" cy="384048"/>
          </a:xfrm>
          <a:prstGeom prst="rect">
            <a:avLst/>
          </a:prstGeom>
          <a:noFill/>
          <a:ln/>
        </p:spPr>
        <p:txBody>
          <a:bodyPr wrap="square" lIns="0" tIns="0" rIns="0" bIns="0" rtlCol="0" anchor="ctr"/>
          <a:lstStyle/>
          <a:p>
            <a:pPr marL="0" indent="0">
              <a:lnSpc>
                <a:spcPct val="120000"/>
              </a:lnSpc>
              <a:buNone/>
            </a:pPr>
            <a:r>
              <a:rPr lang="en-US" sz="1100" i="1" dirty="0">
                <a:solidFill>
                  <a:srgbClr val="5A6A82"/>
                </a:solidFill>
                <a:latin typeface="Calibri" pitchFamily="34" charset="0"/>
                <a:ea typeface="Calibri" pitchFamily="34" charset="-122"/>
                <a:cs typeface="Calibri" pitchFamily="34" charset="-120"/>
              </a:rPr>
              <a:t>Rebinding a to 10 redirects a to a new object. b still refers to 5.</a:t>
            </a:r>
            <a:endParaRPr lang="en-US" sz="1100" dirty="0"/>
          </a:p>
        </p:txBody>
      </p:sp>
      <p:sp>
        <p:nvSpPr>
          <p:cNvPr id="30" name="Shape 28"/>
          <p:cNvSpPr/>
          <p:nvPr/>
        </p:nvSpPr>
        <p:spPr>
          <a:xfrm>
            <a:off x="411480" y="5504688"/>
            <a:ext cx="11338560" cy="1280160"/>
          </a:xfrm>
          <a:prstGeom prst="rect">
            <a:avLst/>
          </a:prstGeom>
          <a:solidFill>
            <a:srgbClr val="FFFFFF"/>
          </a:solidFill>
          <a:ln w="12700">
            <a:solidFill>
              <a:srgbClr val="D0DAF0"/>
            </a:solidFill>
            <a:prstDash val="solid"/>
          </a:ln>
        </p:spPr>
        <p:txBody>
          <a:bodyPr/>
          <a:lstStyle/>
          <a:p>
            <a:endParaRPr lang="en-US"/>
          </a:p>
        </p:txBody>
      </p:sp>
      <p:sp>
        <p:nvSpPr>
          <p:cNvPr id="31" name="Shape 29"/>
          <p:cNvSpPr/>
          <p:nvPr/>
        </p:nvSpPr>
        <p:spPr>
          <a:xfrm>
            <a:off x="411480" y="5504688"/>
            <a:ext cx="658368" cy="1280160"/>
          </a:xfrm>
          <a:prstGeom prst="rect">
            <a:avLst/>
          </a:prstGeom>
          <a:solidFill>
            <a:srgbClr val="1A2B5E"/>
          </a:solidFill>
          <a:ln/>
        </p:spPr>
        <p:txBody>
          <a:bodyPr/>
          <a:lstStyle/>
          <a:p>
            <a:endParaRPr lang="en-US"/>
          </a:p>
        </p:txBody>
      </p:sp>
      <p:sp>
        <p:nvSpPr>
          <p:cNvPr id="32" name="Text 30"/>
          <p:cNvSpPr txBox="1"/>
          <p:nvPr/>
        </p:nvSpPr>
        <p:spPr>
          <a:xfrm>
            <a:off x="411480" y="5760720"/>
            <a:ext cx="65836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Q12</a:t>
            </a:r>
            <a:endParaRPr lang="en-US" sz="1200" dirty="0"/>
          </a:p>
        </p:txBody>
      </p:sp>
      <p:sp>
        <p:nvSpPr>
          <p:cNvPr id="33" name="Text 31"/>
          <p:cNvSpPr txBox="1"/>
          <p:nvPr/>
        </p:nvSpPr>
        <p:spPr>
          <a:xfrm>
            <a:off x="1152144" y="5577840"/>
            <a:ext cx="164592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Big picture</a:t>
            </a:r>
            <a:endParaRPr lang="en-US" sz="1000" dirty="0"/>
          </a:p>
        </p:txBody>
      </p:sp>
      <p:sp>
        <p:nvSpPr>
          <p:cNvPr id="34" name="Text 32"/>
          <p:cNvSpPr txBox="1"/>
          <p:nvPr/>
        </p:nvSpPr>
        <p:spPr>
          <a:xfrm>
            <a:off x="1152144" y="5797296"/>
            <a:ext cx="4572000" cy="603504"/>
          </a:xfrm>
          <a:prstGeom prst="rect">
            <a:avLst/>
          </a:prstGeom>
          <a:noFill/>
          <a:ln/>
        </p:spPr>
        <p:txBody>
          <a:bodyPr wrap="square" lIns="0" tIns="0" rIns="0" bIns="0" rtlCol="0" anchor="ctr"/>
          <a:lstStyle/>
          <a:p>
            <a:pPr marL="0" indent="0">
              <a:lnSpc>
                <a:spcPct val="130000"/>
              </a:lnSpc>
              <a:buNone/>
            </a:pPr>
            <a:r>
              <a:rPr lang="en-US" sz="1200" b="1" dirty="0">
                <a:solidFill>
                  <a:srgbClr val="1E2A3A"/>
                </a:solidFill>
                <a:latin typeface="Calibri" pitchFamily="34" charset="0"/>
                <a:ea typeface="Calibri" pitchFamily="34" charset="-122"/>
                <a:cs typeface="Calibri" pitchFamily="34" charset="-120"/>
              </a:rPr>
              <a:t>Why can Python write  x = 10  then  x = "hello"  when C cannot?</a:t>
            </a:r>
            <a:endParaRPr lang="en-US" sz="1200" dirty="0"/>
          </a:p>
        </p:txBody>
      </p:sp>
      <p:sp>
        <p:nvSpPr>
          <p:cNvPr id="35" name="Shape 33"/>
          <p:cNvSpPr/>
          <p:nvPr/>
        </p:nvSpPr>
        <p:spPr>
          <a:xfrm>
            <a:off x="5943600" y="5577840"/>
            <a:ext cx="5257800" cy="1133856"/>
          </a:xfrm>
          <a:prstGeom prst="rect">
            <a:avLst/>
          </a:prstGeom>
          <a:solidFill>
            <a:srgbClr val="EAF7EE"/>
          </a:solidFill>
          <a:ln w="12700">
            <a:solidFill>
              <a:srgbClr val="6EE7B7"/>
            </a:solidFill>
            <a:prstDash val="solid"/>
          </a:ln>
        </p:spPr>
        <p:txBody>
          <a:bodyPr/>
          <a:lstStyle/>
          <a:p>
            <a:endParaRPr lang="en-US"/>
          </a:p>
        </p:txBody>
      </p:sp>
      <p:sp>
        <p:nvSpPr>
          <p:cNvPr id="36" name="Text 34"/>
          <p:cNvSpPr txBox="1"/>
          <p:nvPr/>
        </p:nvSpPr>
        <p:spPr>
          <a:xfrm>
            <a:off x="6126480" y="5632704"/>
            <a:ext cx="4937760" cy="603504"/>
          </a:xfrm>
          <a:prstGeom prst="rect">
            <a:avLst/>
          </a:prstGeom>
          <a:noFill/>
          <a:ln/>
        </p:spPr>
        <p:txBody>
          <a:bodyPr wrap="square" lIns="0" tIns="0" rIns="0" bIns="0" rtlCol="0" anchor="ctr"/>
          <a:lstStyle/>
          <a:p>
            <a:pPr marL="0" indent="0">
              <a:lnSpc>
                <a:spcPct val="130000"/>
              </a:lnSpc>
              <a:buNone/>
            </a:pPr>
            <a:r>
              <a:rPr lang="en-US" sz="1150" dirty="0">
                <a:solidFill>
                  <a:srgbClr val="1A7A3C"/>
                </a:solidFill>
                <a:latin typeface="Calibri" pitchFamily="34" charset="0"/>
                <a:ea typeface="Calibri" pitchFamily="34" charset="-122"/>
                <a:cs typeface="Calibri" pitchFamily="34" charset="-120"/>
              </a:rPr>
              <a:t>C: In C, name is statically bound to type int at compile time. In Python, name is bound to an object at runtime — no type constraint.</a:t>
            </a:r>
            <a:endParaRPr lang="en-US" sz="1150" dirty="0"/>
          </a:p>
        </p:txBody>
      </p:sp>
      <p:sp>
        <p:nvSpPr>
          <p:cNvPr id="37" name="Text 35"/>
          <p:cNvSpPr txBox="1"/>
          <p:nvPr/>
        </p:nvSpPr>
        <p:spPr>
          <a:xfrm>
            <a:off x="6126480" y="6254496"/>
            <a:ext cx="4937760" cy="384048"/>
          </a:xfrm>
          <a:prstGeom prst="rect">
            <a:avLst/>
          </a:prstGeom>
          <a:noFill/>
          <a:ln/>
        </p:spPr>
        <p:txBody>
          <a:bodyPr wrap="square" lIns="0" tIns="0" rIns="0" bIns="0" rtlCol="0" anchor="ctr"/>
          <a:lstStyle/>
          <a:p>
            <a:pPr marL="0" indent="0">
              <a:lnSpc>
                <a:spcPct val="120000"/>
              </a:lnSpc>
              <a:buNone/>
            </a:pPr>
            <a:r>
              <a:rPr lang="en-US" sz="1100" i="1" dirty="0">
                <a:solidFill>
                  <a:srgbClr val="5A6A82"/>
                </a:solidFill>
                <a:latin typeface="Calibri" pitchFamily="34" charset="0"/>
                <a:ea typeface="Calibri" pitchFamily="34" charset="-122"/>
                <a:cs typeface="Calibri" pitchFamily="34" charset="-120"/>
              </a:rPr>
              <a:t>The core answer: static type binding (C) vs dynamic name-to-object binding (Python).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Chapter Summary and What Comes Next</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Synthesis</a:t>
            </a:r>
            <a:endParaRPr lang="en-US" sz="900" dirty="0"/>
          </a:p>
        </p:txBody>
      </p:sp>
      <p:sp>
        <p:nvSpPr>
          <p:cNvPr id="5" name="Text 3"/>
          <p:cNvSpPr txBox="1"/>
          <p:nvPr/>
        </p:nvSpPr>
        <p:spPr>
          <a:xfrm>
            <a:off x="411480" y="987552"/>
            <a:ext cx="113385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Key concepts introduced in this chapter:</a:t>
            </a:r>
            <a:endParaRPr lang="en-US" sz="1300" dirty="0"/>
          </a:p>
        </p:txBody>
      </p:sp>
      <p:sp>
        <p:nvSpPr>
          <p:cNvPr id="6" name="Shape 4"/>
          <p:cNvSpPr/>
          <p:nvPr/>
        </p:nvSpPr>
        <p:spPr>
          <a:xfrm>
            <a:off x="411480" y="1298448"/>
            <a:ext cx="11338560" cy="292608"/>
          </a:xfrm>
          <a:prstGeom prst="rect">
            <a:avLst/>
          </a:prstGeom>
          <a:solidFill>
            <a:srgbClr val="1A2B5E"/>
          </a:solidFill>
          <a:ln/>
        </p:spPr>
        <p:txBody>
          <a:bodyPr/>
          <a:lstStyle/>
          <a:p>
            <a:endParaRPr lang="en-US"/>
          </a:p>
        </p:txBody>
      </p:sp>
      <p:sp>
        <p:nvSpPr>
          <p:cNvPr id="7" name="Text 5"/>
          <p:cNvSpPr txBox="1"/>
          <p:nvPr/>
        </p:nvSpPr>
        <p:spPr>
          <a:xfrm>
            <a:off x="548640" y="1371600"/>
            <a:ext cx="265176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8" name="Text 6"/>
          <p:cNvSpPr txBox="1"/>
          <p:nvPr/>
        </p:nvSpPr>
        <p:spPr>
          <a:xfrm>
            <a:off x="3291840" y="1371600"/>
            <a:ext cx="832104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9" name="Shape 7"/>
          <p:cNvSpPr/>
          <p:nvPr/>
        </p:nvSpPr>
        <p:spPr>
          <a:xfrm>
            <a:off x="411480" y="1627632"/>
            <a:ext cx="11338560" cy="493776"/>
          </a:xfrm>
          <a:prstGeom prst="rect">
            <a:avLst/>
          </a:prstGeom>
          <a:solidFill>
            <a:srgbClr val="F4F6FC"/>
          </a:solidFill>
          <a:ln w="12700">
            <a:solidFill>
              <a:srgbClr val="D0DAF0"/>
            </a:solidFill>
            <a:prstDash val="solid"/>
          </a:ln>
        </p:spPr>
        <p:txBody>
          <a:bodyPr/>
          <a:lstStyle/>
          <a:p>
            <a:endParaRPr lang="en-US"/>
          </a:p>
        </p:txBody>
      </p:sp>
      <p:sp>
        <p:nvSpPr>
          <p:cNvPr id="10" name="Text 8"/>
          <p:cNvSpPr txBox="1"/>
          <p:nvPr/>
        </p:nvSpPr>
        <p:spPr>
          <a:xfrm>
            <a:off x="548640" y="1719072"/>
            <a:ext cx="2651760"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Binding</a:t>
            </a:r>
            <a:endParaRPr lang="en-US" sz="1200" dirty="0"/>
          </a:p>
        </p:txBody>
      </p:sp>
      <p:sp>
        <p:nvSpPr>
          <p:cNvPr id="11" name="Text 9"/>
          <p:cNvSpPr txBox="1"/>
          <p:nvPr/>
        </p:nvSpPr>
        <p:spPr>
          <a:xfrm>
            <a:off x="3291840" y="1719072"/>
            <a:ext cx="832104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Establishing a connection between a program entity and something associated with it</a:t>
            </a:r>
            <a:endParaRPr lang="en-US" sz="1200" dirty="0"/>
          </a:p>
        </p:txBody>
      </p:sp>
      <p:sp>
        <p:nvSpPr>
          <p:cNvPr id="12" name="Shape 10"/>
          <p:cNvSpPr/>
          <p:nvPr/>
        </p:nvSpPr>
        <p:spPr>
          <a:xfrm>
            <a:off x="411480" y="2139696"/>
            <a:ext cx="11338560" cy="493776"/>
          </a:xfrm>
          <a:prstGeom prst="rect">
            <a:avLst/>
          </a:prstGeom>
          <a:solidFill>
            <a:srgbClr val="FFFFFF"/>
          </a:solidFill>
          <a:ln w="12700">
            <a:solidFill>
              <a:srgbClr val="D0DAF0"/>
            </a:solidFill>
            <a:prstDash val="solid"/>
          </a:ln>
        </p:spPr>
        <p:txBody>
          <a:bodyPr/>
          <a:lstStyle/>
          <a:p>
            <a:endParaRPr lang="en-US"/>
          </a:p>
        </p:txBody>
      </p:sp>
      <p:sp>
        <p:nvSpPr>
          <p:cNvPr id="13" name="Text 11"/>
          <p:cNvSpPr txBox="1"/>
          <p:nvPr/>
        </p:nvSpPr>
        <p:spPr>
          <a:xfrm>
            <a:off x="548640" y="2231136"/>
            <a:ext cx="2651760"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Static binding</a:t>
            </a:r>
            <a:endParaRPr lang="en-US" sz="1200" dirty="0"/>
          </a:p>
        </p:txBody>
      </p:sp>
      <p:sp>
        <p:nvSpPr>
          <p:cNvPr id="14" name="Text 12"/>
          <p:cNvSpPr txBox="1"/>
          <p:nvPr/>
        </p:nvSpPr>
        <p:spPr>
          <a:xfrm>
            <a:off x="3291840" y="2231136"/>
            <a:ext cx="832104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Connection established before execution (compile time) — type stays fixed</a:t>
            </a:r>
            <a:endParaRPr lang="en-US" sz="1200" dirty="0"/>
          </a:p>
        </p:txBody>
      </p:sp>
      <p:sp>
        <p:nvSpPr>
          <p:cNvPr id="15" name="Shape 13"/>
          <p:cNvSpPr/>
          <p:nvPr/>
        </p:nvSpPr>
        <p:spPr>
          <a:xfrm>
            <a:off x="411480" y="2651760"/>
            <a:ext cx="11338560" cy="493776"/>
          </a:xfrm>
          <a:prstGeom prst="rect">
            <a:avLst/>
          </a:prstGeom>
          <a:solidFill>
            <a:srgbClr val="F4F6FC"/>
          </a:solidFill>
          <a:ln w="12700">
            <a:solidFill>
              <a:srgbClr val="D0DAF0"/>
            </a:solidFill>
            <a:prstDash val="solid"/>
          </a:ln>
        </p:spPr>
        <p:txBody>
          <a:bodyPr/>
          <a:lstStyle/>
          <a:p>
            <a:endParaRPr lang="en-US"/>
          </a:p>
        </p:txBody>
      </p:sp>
      <p:sp>
        <p:nvSpPr>
          <p:cNvPr id="16" name="Text 14"/>
          <p:cNvSpPr txBox="1"/>
          <p:nvPr/>
        </p:nvSpPr>
        <p:spPr>
          <a:xfrm>
            <a:off x="548640" y="2743200"/>
            <a:ext cx="2651760"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Dynamic binding</a:t>
            </a:r>
            <a:endParaRPr lang="en-US" sz="1200" dirty="0"/>
          </a:p>
        </p:txBody>
      </p:sp>
      <p:sp>
        <p:nvSpPr>
          <p:cNvPr id="17" name="Text 15"/>
          <p:cNvSpPr txBox="1"/>
          <p:nvPr/>
        </p:nvSpPr>
        <p:spPr>
          <a:xfrm>
            <a:off x="3291840" y="2743200"/>
            <a:ext cx="832104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Connection established at runtime — name bound to object, not type</a:t>
            </a:r>
            <a:endParaRPr lang="en-US" sz="1200" dirty="0"/>
          </a:p>
        </p:txBody>
      </p:sp>
      <p:sp>
        <p:nvSpPr>
          <p:cNvPr id="18" name="Shape 16"/>
          <p:cNvSpPr/>
          <p:nvPr/>
        </p:nvSpPr>
        <p:spPr>
          <a:xfrm>
            <a:off x="411480" y="3163824"/>
            <a:ext cx="11338560" cy="493776"/>
          </a:xfrm>
          <a:prstGeom prst="rect">
            <a:avLst/>
          </a:prstGeom>
          <a:solidFill>
            <a:srgbClr val="FFFFFF"/>
          </a:solidFill>
          <a:ln w="12700">
            <a:solidFill>
              <a:srgbClr val="D0DAF0"/>
            </a:solidFill>
            <a:prstDash val="solid"/>
          </a:ln>
        </p:spPr>
        <p:txBody>
          <a:bodyPr/>
          <a:lstStyle/>
          <a:p>
            <a:endParaRPr lang="en-US"/>
          </a:p>
        </p:txBody>
      </p:sp>
      <p:sp>
        <p:nvSpPr>
          <p:cNvPr id="19" name="Text 17"/>
          <p:cNvSpPr txBox="1"/>
          <p:nvPr/>
        </p:nvSpPr>
        <p:spPr>
          <a:xfrm>
            <a:off x="548640" y="3255264"/>
            <a:ext cx="2651760"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Aliasing</a:t>
            </a:r>
            <a:endParaRPr lang="en-US" sz="1200" dirty="0"/>
          </a:p>
        </p:txBody>
      </p:sp>
      <p:sp>
        <p:nvSpPr>
          <p:cNvPr id="20" name="Text 18"/>
          <p:cNvSpPr txBox="1"/>
          <p:nvPr/>
        </p:nvSpPr>
        <p:spPr>
          <a:xfrm>
            <a:off x="3291840" y="3255264"/>
            <a:ext cx="832104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Two or more names referring to the same object in memory</a:t>
            </a:r>
            <a:endParaRPr lang="en-US" sz="1200" dirty="0"/>
          </a:p>
        </p:txBody>
      </p:sp>
      <p:sp>
        <p:nvSpPr>
          <p:cNvPr id="21" name="Shape 19"/>
          <p:cNvSpPr/>
          <p:nvPr/>
        </p:nvSpPr>
        <p:spPr>
          <a:xfrm>
            <a:off x="411480" y="3675888"/>
            <a:ext cx="11338560" cy="493776"/>
          </a:xfrm>
          <a:prstGeom prst="rect">
            <a:avLst/>
          </a:prstGeom>
          <a:solidFill>
            <a:srgbClr val="F4F6FC"/>
          </a:solidFill>
          <a:ln w="12700">
            <a:solidFill>
              <a:srgbClr val="D0DAF0"/>
            </a:solidFill>
            <a:prstDash val="solid"/>
          </a:ln>
        </p:spPr>
        <p:txBody>
          <a:bodyPr/>
          <a:lstStyle/>
          <a:p>
            <a:endParaRPr lang="en-US"/>
          </a:p>
        </p:txBody>
      </p:sp>
      <p:sp>
        <p:nvSpPr>
          <p:cNvPr id="22" name="Text 20"/>
          <p:cNvSpPr txBox="1"/>
          <p:nvPr/>
        </p:nvSpPr>
        <p:spPr>
          <a:xfrm>
            <a:off x="548640" y="3767328"/>
            <a:ext cx="2651760"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Lifetime</a:t>
            </a:r>
            <a:endParaRPr lang="en-US" sz="1200" dirty="0"/>
          </a:p>
        </p:txBody>
      </p:sp>
      <p:sp>
        <p:nvSpPr>
          <p:cNvPr id="23" name="Text 21"/>
          <p:cNvSpPr txBox="1"/>
          <p:nvPr/>
        </p:nvSpPr>
        <p:spPr>
          <a:xfrm>
            <a:off x="3291840" y="3767328"/>
            <a:ext cx="832104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How long during execution the variable or object exists</a:t>
            </a:r>
            <a:endParaRPr lang="en-US" sz="1200" dirty="0"/>
          </a:p>
        </p:txBody>
      </p:sp>
      <p:sp>
        <p:nvSpPr>
          <p:cNvPr id="24" name="Shape 22"/>
          <p:cNvSpPr/>
          <p:nvPr/>
        </p:nvSpPr>
        <p:spPr>
          <a:xfrm>
            <a:off x="411480" y="4187952"/>
            <a:ext cx="11338560" cy="493776"/>
          </a:xfrm>
          <a:prstGeom prst="rect">
            <a:avLst/>
          </a:prstGeom>
          <a:solidFill>
            <a:srgbClr val="FFFFFF"/>
          </a:solidFill>
          <a:ln w="12700">
            <a:solidFill>
              <a:srgbClr val="D0DAF0"/>
            </a:solidFill>
            <a:prstDash val="solid"/>
          </a:ln>
        </p:spPr>
        <p:txBody>
          <a:bodyPr/>
          <a:lstStyle/>
          <a:p>
            <a:endParaRPr lang="en-US"/>
          </a:p>
        </p:txBody>
      </p:sp>
      <p:sp>
        <p:nvSpPr>
          <p:cNvPr id="25" name="Text 23"/>
          <p:cNvSpPr txBox="1"/>
          <p:nvPr/>
        </p:nvSpPr>
        <p:spPr>
          <a:xfrm>
            <a:off x="548640" y="4279392"/>
            <a:ext cx="2651760"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Name vs object lifetime</a:t>
            </a:r>
            <a:endParaRPr lang="en-US" sz="1200" dirty="0"/>
          </a:p>
        </p:txBody>
      </p:sp>
      <p:sp>
        <p:nvSpPr>
          <p:cNvPr id="26" name="Text 24"/>
          <p:cNvSpPr txBox="1"/>
          <p:nvPr/>
        </p:nvSpPr>
        <p:spPr>
          <a:xfrm>
            <a:off x="3291840" y="4279392"/>
            <a:ext cx="832104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In Python: name can disappear while object lives on if another name refers to it</a:t>
            </a:r>
            <a:endParaRPr lang="en-US" sz="1200" dirty="0"/>
          </a:p>
        </p:txBody>
      </p:sp>
      <p:sp>
        <p:nvSpPr>
          <p:cNvPr id="27" name="Shape 25"/>
          <p:cNvSpPr/>
          <p:nvPr/>
        </p:nvSpPr>
        <p:spPr>
          <a:xfrm>
            <a:off x="411480" y="4846320"/>
            <a:ext cx="3730752" cy="694944"/>
          </a:xfrm>
          <a:prstGeom prst="rect">
            <a:avLst/>
          </a:prstGeom>
          <a:solidFill>
            <a:srgbClr val="E8F0FE"/>
          </a:solidFill>
          <a:ln w="12700">
            <a:solidFill>
              <a:srgbClr val="E8F0FE"/>
            </a:solidFill>
            <a:prstDash val="solid"/>
          </a:ln>
        </p:spPr>
        <p:txBody>
          <a:bodyPr/>
          <a:lstStyle/>
          <a:p>
            <a:endParaRPr lang="en-US"/>
          </a:p>
        </p:txBody>
      </p:sp>
      <p:sp>
        <p:nvSpPr>
          <p:cNvPr id="28" name="Shape 26"/>
          <p:cNvSpPr/>
          <p:nvPr/>
        </p:nvSpPr>
        <p:spPr>
          <a:xfrm>
            <a:off x="539496" y="4919472"/>
            <a:ext cx="749808" cy="256032"/>
          </a:xfrm>
          <a:prstGeom prst="roundRect">
            <a:avLst>
              <a:gd name="adj" fmla="val 25000"/>
            </a:avLst>
          </a:prstGeom>
          <a:solidFill>
            <a:srgbClr val="E8F0FE"/>
          </a:solidFill>
          <a:ln w="12700">
            <a:solidFill>
              <a:srgbClr val="E8F0FE"/>
            </a:solidFill>
            <a:prstDash val="solid"/>
          </a:ln>
        </p:spPr>
        <p:txBody>
          <a:bodyPr/>
          <a:lstStyle/>
          <a:p>
            <a:endParaRPr lang="en-US"/>
          </a:p>
        </p:txBody>
      </p:sp>
      <p:sp>
        <p:nvSpPr>
          <p:cNvPr id="29" name="Text 27"/>
          <p:cNvSpPr txBox="1"/>
          <p:nvPr/>
        </p:nvSpPr>
        <p:spPr>
          <a:xfrm>
            <a:off x="576072" y="4946904"/>
            <a:ext cx="676656"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30" name="Text 28"/>
          <p:cNvSpPr txBox="1"/>
          <p:nvPr/>
        </p:nvSpPr>
        <p:spPr>
          <a:xfrm>
            <a:off x="539496" y="5230368"/>
            <a:ext cx="3493008" cy="804672"/>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Explicit declarations. Static typing. Programmer controls memory. Maximum control, maximum responsibility.</a:t>
            </a:r>
            <a:endParaRPr lang="en-US" sz="1200" dirty="0"/>
          </a:p>
        </p:txBody>
      </p:sp>
      <p:sp>
        <p:nvSpPr>
          <p:cNvPr id="31" name="Shape 29"/>
          <p:cNvSpPr/>
          <p:nvPr/>
        </p:nvSpPr>
        <p:spPr>
          <a:xfrm>
            <a:off x="4325112" y="4846320"/>
            <a:ext cx="3730752" cy="694944"/>
          </a:xfrm>
          <a:prstGeom prst="rect">
            <a:avLst/>
          </a:prstGeom>
          <a:solidFill>
            <a:srgbClr val="F3E8FE"/>
          </a:solidFill>
          <a:ln w="12700">
            <a:solidFill>
              <a:srgbClr val="F3E8FE"/>
            </a:solidFill>
            <a:prstDash val="solid"/>
          </a:ln>
        </p:spPr>
        <p:txBody>
          <a:bodyPr/>
          <a:lstStyle/>
          <a:p>
            <a:endParaRPr lang="en-US"/>
          </a:p>
        </p:txBody>
      </p:sp>
      <p:sp>
        <p:nvSpPr>
          <p:cNvPr id="32" name="Shape 30"/>
          <p:cNvSpPr/>
          <p:nvPr/>
        </p:nvSpPr>
        <p:spPr>
          <a:xfrm>
            <a:off x="4453128" y="4919472"/>
            <a:ext cx="749808" cy="256032"/>
          </a:xfrm>
          <a:prstGeom prst="roundRect">
            <a:avLst>
              <a:gd name="adj" fmla="val 25000"/>
            </a:avLst>
          </a:prstGeom>
          <a:solidFill>
            <a:srgbClr val="F3E8FE"/>
          </a:solidFill>
          <a:ln w="12700">
            <a:solidFill>
              <a:srgbClr val="F3E8FE"/>
            </a:solidFill>
            <a:prstDash val="solid"/>
          </a:ln>
        </p:spPr>
        <p:txBody>
          <a:bodyPr/>
          <a:lstStyle/>
          <a:p>
            <a:endParaRPr lang="en-US"/>
          </a:p>
        </p:txBody>
      </p:sp>
      <p:sp>
        <p:nvSpPr>
          <p:cNvPr id="33" name="Text 31"/>
          <p:cNvSpPr txBox="1"/>
          <p:nvPr/>
        </p:nvSpPr>
        <p:spPr>
          <a:xfrm>
            <a:off x="4489704" y="4946904"/>
            <a:ext cx="676656"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34" name="Text 32"/>
          <p:cNvSpPr txBox="1"/>
          <p:nvPr/>
        </p:nvSpPr>
        <p:spPr>
          <a:xfrm>
            <a:off x="4453128" y="5230368"/>
            <a:ext cx="3493008" cy="804672"/>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Static typing with var inference. Managed memory (GC). Safety + productivity balance.</a:t>
            </a:r>
            <a:endParaRPr lang="en-US" sz="1200" dirty="0"/>
          </a:p>
        </p:txBody>
      </p:sp>
      <p:sp>
        <p:nvSpPr>
          <p:cNvPr id="35" name="Shape 33"/>
          <p:cNvSpPr/>
          <p:nvPr/>
        </p:nvSpPr>
        <p:spPr>
          <a:xfrm>
            <a:off x="8238744" y="4846320"/>
            <a:ext cx="3730752" cy="694944"/>
          </a:xfrm>
          <a:prstGeom prst="rect">
            <a:avLst/>
          </a:prstGeom>
          <a:solidFill>
            <a:srgbClr val="FEF3E8"/>
          </a:solidFill>
          <a:ln w="12700">
            <a:solidFill>
              <a:srgbClr val="FEF3E8"/>
            </a:solidFill>
            <a:prstDash val="solid"/>
          </a:ln>
        </p:spPr>
        <p:txBody>
          <a:bodyPr/>
          <a:lstStyle/>
          <a:p>
            <a:endParaRPr lang="en-US"/>
          </a:p>
        </p:txBody>
      </p:sp>
      <p:sp>
        <p:nvSpPr>
          <p:cNvPr id="36" name="Shape 34"/>
          <p:cNvSpPr/>
          <p:nvPr/>
        </p:nvSpPr>
        <p:spPr>
          <a:xfrm>
            <a:off x="8366760" y="4919472"/>
            <a:ext cx="749808" cy="256032"/>
          </a:xfrm>
          <a:prstGeom prst="roundRect">
            <a:avLst>
              <a:gd name="adj" fmla="val 25000"/>
            </a:avLst>
          </a:prstGeom>
          <a:solidFill>
            <a:srgbClr val="FEF3E8"/>
          </a:solidFill>
          <a:ln w="12700">
            <a:solidFill>
              <a:srgbClr val="FEF3E8"/>
            </a:solidFill>
            <a:prstDash val="solid"/>
          </a:ln>
        </p:spPr>
        <p:txBody>
          <a:bodyPr/>
          <a:lstStyle/>
          <a:p>
            <a:endParaRPr lang="en-US"/>
          </a:p>
        </p:txBody>
      </p:sp>
      <p:sp>
        <p:nvSpPr>
          <p:cNvPr id="37" name="Text 35"/>
          <p:cNvSpPr txBox="1"/>
          <p:nvPr/>
        </p:nvSpPr>
        <p:spPr>
          <a:xfrm>
            <a:off x="8403336" y="4946904"/>
            <a:ext cx="676656"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38" name="Text 36"/>
          <p:cNvSpPr txBox="1"/>
          <p:nvPr/>
        </p:nvSpPr>
        <p:spPr>
          <a:xfrm>
            <a:off x="8366760" y="5230368"/>
            <a:ext cx="3493008" cy="804672"/>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Names bound to objects, not types. No declarations. Dynamic binding. Fully automatic memory.</a:t>
            </a:r>
            <a:endParaRPr lang="en-US" sz="1200" dirty="0"/>
          </a:p>
        </p:txBody>
      </p:sp>
      <p:sp>
        <p:nvSpPr>
          <p:cNvPr id="39" name="Shape 37"/>
          <p:cNvSpPr/>
          <p:nvPr/>
        </p:nvSpPr>
        <p:spPr>
          <a:xfrm>
            <a:off x="411480" y="6172200"/>
            <a:ext cx="54864" cy="621792"/>
          </a:xfrm>
          <a:prstGeom prst="rect">
            <a:avLst/>
          </a:prstGeom>
          <a:solidFill>
            <a:srgbClr val="2E5BFF"/>
          </a:solidFill>
          <a:ln/>
        </p:spPr>
        <p:txBody>
          <a:bodyPr/>
          <a:lstStyle/>
          <a:p>
            <a:endParaRPr lang="en-US"/>
          </a:p>
        </p:txBody>
      </p:sp>
      <p:sp>
        <p:nvSpPr>
          <p:cNvPr id="40" name="Shape 38"/>
          <p:cNvSpPr/>
          <p:nvPr/>
        </p:nvSpPr>
        <p:spPr>
          <a:xfrm>
            <a:off x="466344" y="6172200"/>
            <a:ext cx="5202936" cy="621792"/>
          </a:xfrm>
          <a:prstGeom prst="rect">
            <a:avLst/>
          </a:prstGeom>
          <a:solidFill>
            <a:srgbClr val="EFF6FF"/>
          </a:solidFill>
          <a:ln w="12700">
            <a:solidFill>
              <a:srgbClr val="BFDBFE"/>
            </a:solidFill>
            <a:prstDash val="solid"/>
          </a:ln>
        </p:spPr>
        <p:txBody>
          <a:bodyPr/>
          <a:lstStyle/>
          <a:p>
            <a:endParaRPr lang="en-US"/>
          </a:p>
        </p:txBody>
      </p:sp>
      <p:sp>
        <p:nvSpPr>
          <p:cNvPr id="41" name="Text 39"/>
          <p:cNvSpPr txBox="1"/>
          <p:nvPr/>
        </p:nvSpPr>
        <p:spPr>
          <a:xfrm>
            <a:off x="594360" y="6263640"/>
            <a:ext cx="4983480" cy="438912"/>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 Chapter 2 explained how code is recognised. Now you know what recognised constructs (variable declarations) actually mean.</a:t>
            </a:r>
            <a:endParaRPr lang="en-US" sz="1200" dirty="0"/>
          </a:p>
        </p:txBody>
      </p:sp>
      <p:sp>
        <p:nvSpPr>
          <p:cNvPr id="42" name="Shape 40"/>
          <p:cNvSpPr/>
          <p:nvPr/>
        </p:nvSpPr>
        <p:spPr>
          <a:xfrm>
            <a:off x="5943600" y="6172200"/>
            <a:ext cx="5760720" cy="621792"/>
          </a:xfrm>
          <a:prstGeom prst="rect">
            <a:avLst/>
          </a:prstGeom>
          <a:solidFill>
            <a:srgbClr val="EAF7EE"/>
          </a:solidFill>
          <a:ln w="12700">
            <a:solidFill>
              <a:srgbClr val="6EE7B7"/>
            </a:solidFill>
            <a:prstDash val="solid"/>
          </a:ln>
        </p:spPr>
        <p:txBody>
          <a:bodyPr/>
          <a:lstStyle/>
          <a:p>
            <a:endParaRPr lang="en-US"/>
          </a:p>
        </p:txBody>
      </p:sp>
      <p:sp>
        <p:nvSpPr>
          <p:cNvPr id="43" name="Text 41"/>
          <p:cNvSpPr txBox="1"/>
          <p:nvPr/>
        </p:nvSpPr>
        <p:spPr>
          <a:xfrm>
            <a:off x="6126480" y="6236208"/>
            <a:ext cx="5394960" cy="502920"/>
          </a:xfrm>
          <a:prstGeom prst="rect">
            <a:avLst/>
          </a:prstGeom>
          <a:noFill/>
          <a:ln/>
        </p:spPr>
        <p:txBody>
          <a:bodyPr wrap="square" lIns="0" tIns="0" rIns="0" bIns="0" rtlCol="0" anchor="ctr"/>
          <a:lstStyle/>
          <a:p>
            <a:pPr marL="0" indent="0">
              <a:lnSpc>
                <a:spcPct val="132000"/>
              </a:lnSpc>
              <a:buNone/>
            </a:pPr>
            <a:r>
              <a:rPr lang="en-US" sz="1200" dirty="0">
                <a:solidFill>
                  <a:srgbClr val="1A7A3C"/>
                </a:solidFill>
                <a:latin typeface="Calibri" pitchFamily="34" charset="0"/>
                <a:ea typeface="Calibri" pitchFamily="34" charset="-122"/>
                <a:cs typeface="Calibri" pitchFamily="34" charset="-120"/>
              </a:rPr>
              <a:t>→ Chapter 4: Scope Rules — where in source code can a name be accessed? What happens when two variables share a name?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2B5E"/>
          </a:solidFill>
          <a:ln/>
        </p:spPr>
        <p:txBody>
          <a:bodyPr/>
          <a:lstStyle/>
          <a:p>
            <a:endParaRPr lang="en-US"/>
          </a:p>
        </p:txBody>
      </p:sp>
      <p:sp>
        <p:nvSpPr>
          <p:cNvPr id="3" name="Shape 1"/>
          <p:cNvSpPr/>
          <p:nvPr/>
        </p:nvSpPr>
        <p:spPr>
          <a:xfrm>
            <a:off x="8686800" y="3840480"/>
            <a:ext cx="4572000" cy="4572000"/>
          </a:xfrm>
          <a:prstGeom prst="ellipse">
            <a:avLst/>
          </a:prstGeom>
          <a:solidFill>
            <a:srgbClr val="FFFFFF">
              <a:alpha val="7000"/>
            </a:srgbClr>
          </a:solidFill>
          <a:ln w="12700">
            <a:solidFill>
              <a:srgbClr val="FFFFFF">
                <a:alpha val="7000"/>
              </a:srgbClr>
            </a:solidFill>
            <a:prstDash val="solid"/>
          </a:ln>
        </p:spPr>
        <p:txBody>
          <a:bodyPr/>
          <a:lstStyle/>
          <a:p>
            <a:endParaRPr lang="en-US"/>
          </a:p>
        </p:txBody>
      </p:sp>
      <p:sp>
        <p:nvSpPr>
          <p:cNvPr id="4" name="Shape 2"/>
          <p:cNvSpPr/>
          <p:nvPr/>
        </p:nvSpPr>
        <p:spPr>
          <a:xfrm>
            <a:off x="10241280" y="5303520"/>
            <a:ext cx="2743200" cy="2743200"/>
          </a:xfrm>
          <a:prstGeom prst="ellipse">
            <a:avLst/>
          </a:prstGeom>
          <a:solidFill>
            <a:srgbClr val="FFFFFF">
              <a:alpha val="11000"/>
            </a:srgbClr>
          </a:solidFill>
          <a:ln w="12700">
            <a:solidFill>
              <a:srgbClr val="FFFFFF">
                <a:alpha val="11000"/>
              </a:srgbClr>
            </a:solidFill>
            <a:prstDash val="solid"/>
          </a:ln>
        </p:spPr>
        <p:txBody>
          <a:bodyPr/>
          <a:lstStyle/>
          <a:p>
            <a:endParaRPr lang="en-US"/>
          </a:p>
        </p:txBody>
      </p:sp>
      <p:sp>
        <p:nvSpPr>
          <p:cNvPr id="5" name="Text 3"/>
          <p:cNvSpPr txBox="1"/>
          <p:nvPr/>
        </p:nvSpPr>
        <p:spPr>
          <a:xfrm>
            <a:off x="640080" y="1828800"/>
            <a:ext cx="9144000" cy="21945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CSBS 315</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Variables, Binding &amp; Lifetime</a:t>
            </a:r>
            <a:endParaRPr lang="en-US" sz="3600" dirty="0"/>
          </a:p>
        </p:txBody>
      </p:sp>
      <p:sp>
        <p:nvSpPr>
          <p:cNvPr id="6" name="Text 4"/>
          <p:cNvSpPr txBox="1"/>
          <p:nvPr/>
        </p:nvSpPr>
        <p:spPr>
          <a:xfrm>
            <a:off x="640080" y="4114800"/>
            <a:ext cx="8229600" cy="594360"/>
          </a:xfrm>
          <a:prstGeom prst="rect">
            <a:avLst/>
          </a:prstGeom>
          <a:noFill/>
          <a:ln/>
        </p:spPr>
        <p:txBody>
          <a:bodyPr wrap="square" lIns="0" tIns="0" rIns="0" bIns="0" rtlCol="0" anchor="ctr"/>
          <a:lstStyle/>
          <a:p>
            <a:pPr marL="0" indent="0">
              <a:buNone/>
            </a:pPr>
            <a:r>
              <a:rPr lang="en-US" sz="1700" dirty="0">
                <a:solidFill>
                  <a:srgbClr val="B8C8F8"/>
                </a:solidFill>
                <a:latin typeface="Calibri" pitchFamily="34" charset="0"/>
                <a:ea typeface="Calibri" pitchFamily="34" charset="-122"/>
                <a:cs typeface="Calibri" pitchFamily="34" charset="-120"/>
              </a:rPr>
              <a:t>Chapter 3 Complete · Complete the 12-question quiz before next session</a:t>
            </a:r>
            <a:endParaRPr lang="en-US" sz="1700" dirty="0"/>
          </a:p>
        </p:txBody>
      </p:sp>
      <p:sp>
        <p:nvSpPr>
          <p:cNvPr id="7" name="Text 5"/>
          <p:cNvSpPr txBox="1"/>
          <p:nvPr/>
        </p:nvSpPr>
        <p:spPr>
          <a:xfrm>
            <a:off x="640080" y="6309360"/>
            <a:ext cx="5486400" cy="32004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CSBS 315 · Chapter 3 of 12</a:t>
            </a:r>
            <a:endParaRPr lang="en-US" sz="1100" dirty="0"/>
          </a:p>
        </p:txBody>
      </p:sp>
      <p:sp>
        <p:nvSpPr>
          <p:cNvPr id="8" name="Text 6"/>
          <p:cNvSpPr txBox="1"/>
          <p:nvPr/>
        </p:nvSpPr>
        <p:spPr>
          <a:xfrm>
            <a:off x="640080" y="5074920"/>
            <a:ext cx="7315200" cy="320040"/>
          </a:xfrm>
          <a:prstGeom prst="rect">
            <a:avLst/>
          </a:prstGeom>
          <a:noFill/>
          <a:ln/>
        </p:spPr>
        <p:txBody>
          <a:bodyPr wrap="square" lIns="0" tIns="0" rIns="0" bIns="0" rtlCol="0" anchor="ctr"/>
          <a:lstStyle/>
          <a:p>
            <a:pPr marL="0" indent="0">
              <a:buNone/>
            </a:pPr>
            <a:r>
              <a:rPr lang="en-US" sz="1300" dirty="0">
                <a:solidFill>
                  <a:srgbClr val="7A90B8"/>
                </a:solidFill>
                <a:latin typeface="Calibri" pitchFamily="34" charset="0"/>
                <a:ea typeface="Calibri" pitchFamily="34" charset="-122"/>
                <a:cs typeface="Calibri" pitchFamily="34" charset="-120"/>
              </a:rPr>
              <a:t>dgill@clark.edu  ·  STEM Building Room 113</a:t>
            </a:r>
            <a:endParaRPr lang="en-US" sz="1300" dirty="0"/>
          </a:p>
        </p:txBody>
      </p:sp>
      <p:sp>
        <p:nvSpPr>
          <p:cNvPr id="9" name="Text 7"/>
          <p:cNvSpPr txBox="1"/>
          <p:nvPr/>
        </p:nvSpPr>
        <p:spPr>
          <a:xfrm>
            <a:off x="640080" y="5440680"/>
            <a:ext cx="8229600" cy="320040"/>
          </a:xfrm>
          <a:prstGeom prst="rect">
            <a:avLst/>
          </a:prstGeom>
          <a:noFill/>
          <a:ln/>
        </p:spPr>
        <p:txBody>
          <a:bodyPr wrap="square" lIns="0" tIns="0" rIns="0" bIns="0" rtlCol="0" anchor="ctr"/>
          <a:lstStyle/>
          <a:p>
            <a:pPr marL="0" indent="0">
              <a:buNone/>
            </a:pPr>
            <a:r>
              <a:rPr lang="en-US" sz="1300" dirty="0">
                <a:solidFill>
                  <a:srgbClr val="B8C8F8"/>
                </a:solidFill>
                <a:latin typeface="Calibri" pitchFamily="34" charset="0"/>
                <a:ea typeface="Calibri" pitchFamily="34" charset="-122"/>
                <a:cs typeface="Calibri" pitchFamily="34" charset="-120"/>
              </a:rPr>
              <a:t>Tutorial available in Canvas — 13 sections, 12 quiz questions, 7 interactive activities.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9975</Words>
  <Application>Microsoft Office PowerPoint</Application>
  <PresentationFormat>Widescreen</PresentationFormat>
  <Paragraphs>500</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Gill, Dimpy</cp:lastModifiedBy>
  <cp:revision>2</cp:revision>
  <dcterms:created xsi:type="dcterms:W3CDTF">2026-09-15T13:25:58Z</dcterms:created>
  <dcterms:modified xsi:type="dcterms:W3CDTF">2026-09-15T13:48:17Z</dcterms:modified>
</cp:coreProperties>
</file>